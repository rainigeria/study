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E0"/>
          </a:solidFill>
          <a:ln w="12700">
            <a:solidFill>
              <a:srgbClr val="00D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01  ·  MAY 2026  ·  IBADAN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228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INDABAX NIGERIA · U.I.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" cy="3200400"/>
          </a:xfrm>
          <a:prstGeom prst="rect">
            <a:avLst/>
          </a:prstGeom>
          <a:solidFill>
            <a:srgbClr val="00D9E0"/>
          </a:solidFill>
          <a:ln w="12700">
            <a:solidFill>
              <a:srgbClr val="00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KEYNOTE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Scalable AI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actually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00D9E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WORKS.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research to development — in resource-constrained environments.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82296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44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OLUSOLA AYOOLA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18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RAIN  ·  rainigeria.com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4544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13—14 MAY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4818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IBADAN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0" b="1" spc="-600" kern="0" dirty="0">
                <a:solidFill>
                  <a:srgbClr val="E8DF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274320" y="233172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0" b="1" spc="-600" kern="0" dirty="0">
                <a:solidFill>
                  <a:srgbClr val="E0785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21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475488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  ·  THE THEN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0" y="777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Cast your mind back.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conversation, just five years ago: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2267712"/>
            <a:ext cx="164592" cy="16459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194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"AI is coming for your jobs."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770632"/>
            <a:ext cx="164592" cy="16459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697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"Are we ready for the revolution?"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3273552"/>
            <a:ext cx="164592" cy="16459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200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must protect our data."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776472"/>
            <a:ext cx="164592" cy="16459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703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if the machines outpace us?"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4389120"/>
            <a:ext cx="914400" cy="0"/>
          </a:xfrm>
          <a:prstGeom prst="line">
            <a:avLst/>
          </a:prstGeom>
          <a:noFill/>
          <a:ln w="25400">
            <a:solidFill>
              <a:srgbClr val="E078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480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Loud. Anxious. Theoretical.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864608"/>
            <a:ext cx="7772400" cy="13716"/>
          </a:xfrm>
          <a:prstGeom prst="rect">
            <a:avLst/>
          </a:prstGeom>
          <a:solidFill>
            <a:srgbClr val="8A8580"/>
          </a:solidFill>
          <a:ln w="12700">
            <a:solidFill>
              <a:srgbClr val="8A85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SCALABLE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TWO  ·  THE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conversation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00D9E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IS OVER.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because we resolved it 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because the thing we feared already happened.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DESIGNS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48840" y="4023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WRITES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0" y="4023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CODES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4023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CLONES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23760" y="4023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SPEAKS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4864608"/>
            <a:ext cx="7772400" cy="137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SCALABLE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6200000">
            <a:off x="182880" y="1371600"/>
            <a:ext cx="365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100" kern="0" dirty="0">
                <a:solidFill>
                  <a:srgbClr val="5C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AI take our jobs?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5943600" cy="0"/>
          </a:xfrm>
          <a:prstGeom prst="line">
            <a:avLst/>
          </a:prstGeom>
          <a:noFill/>
          <a:ln w="38100">
            <a:solidFill>
              <a:srgbClr val="E078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now: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DO WE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E0785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HOLD ON TO OURS?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457200" y="4864608"/>
            <a:ext cx="7772400" cy="13716"/>
          </a:xfrm>
          <a:prstGeom prst="rect">
            <a:avLst/>
          </a:prstGeom>
          <a:solidFill>
            <a:srgbClr val="8A8580"/>
          </a:solidFill>
          <a:ln w="12700">
            <a:solidFill>
              <a:srgbClr val="8A8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CONVERSATIONS PREPARE NATIONS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  ·  THE NEXT FRONTIER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five years,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cloud will be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-100" kern="0" dirty="0">
                <a:solidFill>
                  <a:srgbClr val="F4B9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BORING.</a:t>
            </a:r>
            <a:endParaRPr lang="en-US" sz="84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12700">
            <a:solidFill>
              <a:srgbClr val="00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FRIDGE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food AI. No internet needed.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3703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TRAFFIC LIGHT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4612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flow. No server latency.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3703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VEHICLE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inference. Zero connectivity.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864608"/>
            <a:ext cx="7772400" cy="137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THE EDGE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371600" y="7772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-200" kern="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GRAVEYARD.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C5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the research lab and the real world.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606040" cy="1691640"/>
          </a:xfrm>
          <a:prstGeom prst="rect">
            <a:avLst/>
          </a:prstGeom>
          <a:solidFill>
            <a:srgbClr val="0A0F1F"/>
          </a:solidFill>
          <a:ln w="12700">
            <a:solidFill>
              <a:srgbClr val="0A0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17520"/>
            <a:ext cx="73152" cy="16916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 FUEL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1792" y="3794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data from California and Beijing fail on Yoruba accents, cassava leaves, Naira transactions.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3017520"/>
            <a:ext cx="2606040" cy="1691640"/>
          </a:xfrm>
          <a:prstGeom prst="rect">
            <a:avLst/>
          </a:prstGeom>
          <a:solidFill>
            <a:srgbClr val="0A0F1F"/>
          </a:solidFill>
          <a:ln w="12700">
            <a:solidFill>
              <a:srgbClr val="0A0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3017520"/>
            <a:ext cx="73152" cy="16916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10712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 PIPELINE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10712" y="3794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result is not a product. Testing, validation, monitoring — where ideas die.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3017520"/>
            <a:ext cx="2606040" cy="1691640"/>
          </a:xfrm>
          <a:prstGeom prst="rect">
            <a:avLst/>
          </a:prstGeom>
          <a:solidFill>
            <a:srgbClr val="0A0F1F"/>
          </a:solidFill>
          <a:ln w="12700">
            <a:solidFill>
              <a:srgbClr val="0A0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017520"/>
            <a:ext cx="73152" cy="16916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9632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 SIGNAL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99632" y="3794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hires outside consultants. Our best minds solve the wrong problems for the wrong people.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864608"/>
            <a:ext cx="7772400" cy="13716"/>
          </a:xfrm>
          <a:prstGeom prst="rect">
            <a:avLst/>
          </a:prstGeom>
          <a:solidFill>
            <a:srgbClr val="8A8580"/>
          </a:solidFill>
          <a:ln w="12700">
            <a:solidFill>
              <a:srgbClr val="8A85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GOOD IDEAS DIE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 SUCCESS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C5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optimise for the wrong metric,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build the wrong thing.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3504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 on benchmark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 on real questions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5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+ 100% uptime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sec on A100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 sec on 3G network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$0.20 / query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$0.01 / query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ML PhDs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engineers + 1 ops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12700">
            <a:solidFill>
              <a:srgbClr val="E8DF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it cannot survive this table, it cannot survive Nigeria.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PRESCRIPTION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Seven Pillars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0D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Scalable African AI.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2011680" cy="1097280"/>
          </a:xfrm>
          <a:prstGeom prst="rect">
            <a:avLst/>
          </a:prstGeom>
          <a:solidFill>
            <a:srgbClr val="050812"/>
          </a:solidFill>
          <a:ln w="12700">
            <a:solidFill>
              <a:srgbClr val="0A0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23160"/>
            <a:ext cx="2011680" cy="36576"/>
          </a:xfrm>
          <a:prstGeom prst="rect">
            <a:avLst/>
          </a:prstGeom>
          <a:solidFill>
            <a:srgbClr val="00D9E0"/>
          </a:solidFill>
          <a:ln w="12700">
            <a:solidFill>
              <a:srgbClr val="00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807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 ARMY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· clinics · markets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2423160"/>
            <a:ext cx="2011680" cy="1097280"/>
          </a:xfrm>
          <a:prstGeom prst="rect">
            <a:avLst/>
          </a:prstGeom>
          <a:solidFill>
            <a:srgbClr val="050812"/>
          </a:solidFill>
          <a:ln w="12700">
            <a:solidFill>
              <a:srgbClr val="0A0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2423160"/>
            <a:ext cx="2011680" cy="36576"/>
          </a:xfrm>
          <a:prstGeom prst="rect">
            <a:avLst/>
          </a:prstGeom>
          <a:solidFill>
            <a:srgbClr val="00D9E0"/>
          </a:solidFill>
          <a:ln w="12700">
            <a:solidFill>
              <a:srgbClr val="00D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807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SOVEREIGNTY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gateways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2011680" cy="1097280"/>
          </a:xfrm>
          <a:prstGeom prst="rect">
            <a:avLst/>
          </a:prstGeom>
          <a:solidFill>
            <a:srgbClr val="050812"/>
          </a:solidFill>
          <a:ln w="12700">
            <a:solidFill>
              <a:srgbClr val="0A0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423160"/>
            <a:ext cx="2011680" cy="36576"/>
          </a:xfrm>
          <a:prstGeom prst="rect">
            <a:avLst/>
          </a:prstGeom>
          <a:solidFill>
            <a:srgbClr val="00D9E0"/>
          </a:solidFill>
          <a:ln w="12700">
            <a:solidFill>
              <a:srgbClr val="00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807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EDGE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· IoT · offline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2423160"/>
            <a:ext cx="2011680" cy="1097280"/>
          </a:xfrm>
          <a:prstGeom prst="rect">
            <a:avLst/>
          </a:prstGeom>
          <a:solidFill>
            <a:srgbClr val="050812"/>
          </a:solidFill>
          <a:ln w="12700">
            <a:solidFill>
              <a:srgbClr val="0A0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423160"/>
            <a:ext cx="2011680" cy="36576"/>
          </a:xfrm>
          <a:prstGeom prst="rect">
            <a:avLst/>
          </a:prstGeom>
          <a:solidFill>
            <a:srgbClr val="00D9E0"/>
          </a:solidFill>
          <a:ln w="12700">
            <a:solidFill>
              <a:srgbClr val="00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807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FEDERATED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collab.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2011680" cy="1097280"/>
          </a:xfrm>
          <a:prstGeom prst="rect">
            <a:avLst/>
          </a:prstGeom>
          <a:solidFill>
            <a:srgbClr val="050812"/>
          </a:solidFill>
          <a:ln w="12700">
            <a:solidFill>
              <a:srgbClr val="0A0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57600"/>
            <a:ext cx="2011680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00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DIGITAL TWINS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4407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before deploy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3657600"/>
            <a:ext cx="2011680" cy="1097280"/>
          </a:xfrm>
          <a:prstGeom prst="rect">
            <a:avLst/>
          </a:prstGeom>
          <a:solidFill>
            <a:srgbClr val="050812"/>
          </a:solidFill>
          <a:ln w="12700">
            <a:solidFill>
              <a:srgbClr val="0A0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3657600"/>
            <a:ext cx="2011680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00D9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FRUGAL ARCH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43200" y="4407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pattern · cheap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2011680" cy="1097280"/>
          </a:xfrm>
          <a:prstGeom prst="rect">
            <a:avLst/>
          </a:prstGeom>
          <a:solidFill>
            <a:srgbClr val="050812"/>
          </a:solidFill>
          <a:ln w="12700">
            <a:solidFill>
              <a:srgbClr val="0A0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657600"/>
            <a:ext cx="2011680" cy="36576"/>
          </a:xfrm>
          <a:prstGeom prst="rect">
            <a:avLst/>
          </a:prstGeom>
          <a:solidFill>
            <a:srgbClr val="E07856"/>
          </a:solidFill>
          <a:ln w="12700">
            <a:solidFill>
              <a:srgbClr val="00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INDUSTRY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92040" y="4407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= real AI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864608"/>
            <a:ext cx="7772400" cy="137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OF POSSIBILITY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6200000">
            <a:off x="182880" y="1371600"/>
            <a:ext cx="365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· FEDERATED · TWIN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E0785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ARE A DESIGN BRIEF.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2606040" cy="2011680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72000"/>
            <a:ext cx="260604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TinyML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 microcontrollers with 256KB of RAM. Runs on a solar cell. Decides locally.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2606040"/>
            <a:ext cx="2606040" cy="2011680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4572000"/>
            <a:ext cx="260604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Learning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9476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hospitals collaborate to train one model. Zero patient records leave the building.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2606040" cy="2011680"/>
          </a:xfrm>
          <a:prstGeom prst="rect">
            <a:avLst/>
          </a:prstGeom>
          <a:solidFill>
            <a:srgbClr val="E8DFC8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572000"/>
            <a:ext cx="2606040" cy="457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8368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robot, drone, or hospital system in simulation before reality charges the bill.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use a sledgehammer for a nail.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theory. This is a production system running today.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371600" cy="0"/>
          </a:xfrm>
          <a:prstGeom prst="line">
            <a:avLst/>
          </a:prstGeom>
          <a:noFill/>
          <a:ln w="38100">
            <a:solidFill>
              <a:srgbClr val="00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00D9E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1,200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daily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00D9E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₦420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606040" y="3200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STUDENT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00D9E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$380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00D9E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3.2s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903720" y="3200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latency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AutomatedLearning  ·  WhatsApp-native AI tutoring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864608"/>
            <a:ext cx="7772400" cy="137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THEORY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CHINA, 2024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E0785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breed genius.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606040" cy="457200"/>
          </a:xfrm>
          <a:prstGeom prst="rect">
            <a:avLst/>
          </a:prstGeom>
          <a:solidFill>
            <a:srgbClr val="8A8580"/>
          </a:solidFill>
          <a:ln w="12700">
            <a:solidFill>
              <a:srgbClr val="8A85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ASSUMPTION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A100. No H100. No top NVIDIA hardware.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4434840"/>
            <a:ext cx="548640" cy="0"/>
          </a:xfrm>
          <a:prstGeom prst="line">
            <a:avLst/>
          </a:prstGeom>
          <a:noFill/>
          <a:ln w="25400">
            <a:solidFill>
              <a:srgbClr val="8A85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526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Chinese AI stalls.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743200"/>
            <a:ext cx="26060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383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optimisation. Quantisation. Hardware-aware training pipelines.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4434840"/>
            <a:ext cx="5486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4526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matched the West. At a fraction of the cost.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743200"/>
            <a:ext cx="2606040" cy="4572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LESSON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33832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lack compute. But we have radical contextual knowledge.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4434840"/>
            <a:ext cx="548640" cy="0"/>
          </a:xfrm>
          <a:prstGeom prst="line">
            <a:avLst/>
          </a:prstGeom>
          <a:noFill/>
          <a:ln w="25400">
            <a:solidFill>
              <a:srgbClr val="E078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4526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languages. Our diseases. Our markets.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not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00D9E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STARTING FROM ZERO.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DSN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Science Nigeria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largest grassroots data community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8412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NCAIR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Nat'l Centre for AI &amp; Robotics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capacity. Institutional weight.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412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NINJA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 Innovation &amp; Startup Accelerator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3703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ideas to investment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412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06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INDABA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0" y="4206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Indaba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AI identity. Continental pride.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412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864608"/>
            <a:ext cx="7772400" cy="1371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92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STAND ON SHOULDERS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spc="-200" kern="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BRING US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548640" cy="0"/>
          </a:xfrm>
          <a:prstGeom prst="line">
            <a:avLst/>
          </a:prstGeom>
          <a:noFill/>
          <a:ln w="38100">
            <a:solidFill>
              <a:srgbClr val="E078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46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YOUR</a:t>
            </a:r>
            <a:endParaRPr lang="en-US" sz="1800" dirty="0"/>
          </a:p>
          <a:p>
            <a:pPr indent="0" marL="0">
              <a:buNone/>
            </a:pPr>
            <a:r>
              <a:rPr lang="en-US" sz="1800" b="1" spc="100" kern="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one. The one keeping your CTO awake.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3108960"/>
            <a:ext cx="548640" cy="0"/>
          </a:xfrm>
          <a:prstGeom prst="line">
            <a:avLst/>
          </a:prstGeom>
          <a:noFill/>
          <a:ln w="38100">
            <a:solidFill>
              <a:srgbClr val="E078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3246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YOUR</a:t>
            </a:r>
            <a:endParaRPr lang="en-US" sz="1800" dirty="0"/>
          </a:p>
          <a:p>
            <a:pPr indent="0" marL="0">
              <a:buNone/>
            </a:pPr>
            <a:r>
              <a:rPr lang="en-US" sz="1800" b="1" spc="100" kern="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40690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Real, messy, contextual. We will govern it properly.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108960"/>
            <a:ext cx="548640" cy="0"/>
          </a:xfrm>
          <a:prstGeom prst="line">
            <a:avLst/>
          </a:prstGeom>
          <a:noFill/>
          <a:ln w="38100">
            <a:solidFill>
              <a:srgbClr val="E078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246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YOUR</a:t>
            </a:r>
            <a:endParaRPr lang="en-US" sz="1800" dirty="0"/>
          </a:p>
          <a:p>
            <a:pPr indent="0" marL="0">
              <a:buNone/>
            </a:pPr>
            <a:r>
              <a:rPr lang="en-US" sz="1800" b="1" spc="100" kern="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EXPERTS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5040" y="40690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Engineers, clinicians, logisticians. Domain knowledge transforms AI.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B85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money is where the problems are. Let us meet you there.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 proved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 produce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100" kern="0" dirty="0">
                <a:solidFill>
                  <a:srgbClr val="00D9E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GENIUS.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3657600" y="2788920"/>
            <a:ext cx="182880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 will prove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produces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-100" kern="0" dirty="0">
                <a:solidFill>
                  <a:srgbClr val="E0785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DOMINANCE.</a:t>
            </a:r>
            <a:endParaRPr lang="en-US" sz="6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LAST THING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 not need AI that is 99% accurate in a lab.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need AI that 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85% accurate.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9E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99.9% available.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costs less than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F4B9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SACHET OF WATER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student.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0" y="4937760"/>
            <a:ext cx="1828800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4983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HERE. NOW. US.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Scalable AI That Works</dc:title>
  <dc:subject>PptxGenJS Presentation</dc:subject>
  <dc:creator>Dr. Olusola Ayoola</dc:creator>
  <cp:lastModifiedBy>Dr. Olusola Ayoola</cp:lastModifiedBy>
  <cp:revision>1</cp:revision>
  <dcterms:created xsi:type="dcterms:W3CDTF">2026-05-13T23:39:45Z</dcterms:created>
  <dcterms:modified xsi:type="dcterms:W3CDTF">2026-05-13T23:39:45Z</dcterms:modified>
</cp:coreProperties>
</file>