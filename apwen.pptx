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APWEN  ·  OYO STATE BRANCH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Engineers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Age of Artificial Intelligence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Olusola Sayeed Ayoola   ·   Founder/CEO, RAIN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ROOM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engineers see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others overlook.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2741828"/>
            <a:ext cx="231343" cy="231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606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of observation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3319272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68" y="3455060"/>
            <a:ext cx="231343" cy="231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3192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the vulnerable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40080" y="4032504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8" y="4168292"/>
            <a:ext cx="231343" cy="2313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403250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for consequences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 HAS ALWAYS BEEN CLEAR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COREN frowns at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840480" cy="868680"/>
          </a:xfrm>
          <a:prstGeom prst="roundRect">
            <a:avLst>
              <a:gd name="adj" fmla="val 7368"/>
            </a:avLst>
          </a:prstGeom>
          <a:solidFill>
            <a:srgbClr val="F7F2E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75688"/>
            <a:ext cx="384048" cy="38404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941" y="2179381"/>
            <a:ext cx="176662" cy="176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Unlicensed practice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754880" y="1828800"/>
            <a:ext cx="3840480" cy="868680"/>
          </a:xfrm>
          <a:prstGeom prst="roundRect">
            <a:avLst>
              <a:gd name="adj" fmla="val 7368"/>
            </a:avLst>
          </a:prstGeom>
          <a:solidFill>
            <a:srgbClr val="F7F2EA"/>
          </a:solidFill>
          <a:ln/>
        </p:spPr>
      </p:sp>
      <p:sp>
        <p:nvSpPr>
          <p:cNvPr id="9" name="Shape 6"/>
          <p:cNvSpPr/>
          <p:nvPr/>
        </p:nvSpPr>
        <p:spPr>
          <a:xfrm>
            <a:off x="4956048" y="2075688"/>
            <a:ext cx="384048" cy="38404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741" y="2179381"/>
            <a:ext cx="176662" cy="176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828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negligence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40080" y="2862072"/>
            <a:ext cx="3840480" cy="868680"/>
          </a:xfrm>
          <a:prstGeom prst="roundRect">
            <a:avLst>
              <a:gd name="adj" fmla="val 7368"/>
            </a:avLst>
          </a:prstGeom>
          <a:solidFill>
            <a:srgbClr val="F7F2EA"/>
          </a:solidFill>
          <a:ln/>
        </p:spPr>
      </p:sp>
      <p:sp>
        <p:nvSpPr>
          <p:cNvPr id="13" name="Shape 9"/>
          <p:cNvSpPr/>
          <p:nvPr/>
        </p:nvSpPr>
        <p:spPr>
          <a:xfrm>
            <a:off x="841248" y="3108960"/>
            <a:ext cx="384048" cy="38404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941" y="3212653"/>
            <a:ext cx="176662" cy="1766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86207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 results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4754880" y="2862072"/>
            <a:ext cx="3840480" cy="868680"/>
          </a:xfrm>
          <a:prstGeom prst="roundRect">
            <a:avLst>
              <a:gd name="adj" fmla="val 7368"/>
            </a:avLst>
          </a:prstGeom>
          <a:solidFill>
            <a:srgbClr val="F7F2EA"/>
          </a:solidFill>
          <a:ln/>
        </p:spPr>
      </p:sp>
      <p:sp>
        <p:nvSpPr>
          <p:cNvPr id="17" name="Shape 12"/>
          <p:cNvSpPr/>
          <p:nvPr/>
        </p:nvSpPr>
        <p:spPr>
          <a:xfrm>
            <a:off x="4956048" y="3108960"/>
            <a:ext cx="384048" cy="38404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741" y="3212653"/>
            <a:ext cx="176662" cy="1766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286207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corruption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640080" y="3895344"/>
            <a:ext cx="3840480" cy="868680"/>
          </a:xfrm>
          <a:prstGeom prst="roundRect">
            <a:avLst>
              <a:gd name="adj" fmla="val 7368"/>
            </a:avLst>
          </a:prstGeom>
          <a:solidFill>
            <a:srgbClr val="F7F2EA"/>
          </a:solidFill>
          <a:ln/>
        </p:spPr>
      </p:sp>
      <p:sp>
        <p:nvSpPr>
          <p:cNvPr id="21" name="Shape 15"/>
          <p:cNvSpPr/>
          <p:nvPr/>
        </p:nvSpPr>
        <p:spPr>
          <a:xfrm>
            <a:off x="841248" y="4142232"/>
            <a:ext cx="384048" cy="38404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941" y="4245925"/>
            <a:ext cx="176662" cy="1766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389534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abandonment</a:t>
            </a:r>
            <a:endParaRPr lang="en-US" sz="1900" dirty="0"/>
          </a:p>
        </p:txBody>
      </p:sp>
      <p:sp>
        <p:nvSpPr>
          <p:cNvPr id="24" name="Shape 17"/>
          <p:cNvSpPr/>
          <p:nvPr/>
        </p:nvSpPr>
        <p:spPr>
          <a:xfrm>
            <a:off x="4754880" y="3895344"/>
            <a:ext cx="3840480" cy="868680"/>
          </a:xfrm>
          <a:prstGeom prst="roundRect">
            <a:avLst>
              <a:gd name="adj" fmla="val 7368"/>
            </a:avLst>
          </a:prstGeom>
          <a:solidFill>
            <a:srgbClr val="F7F2EA"/>
          </a:solidFill>
          <a:ln/>
        </p:spPr>
      </p:sp>
      <p:sp>
        <p:nvSpPr>
          <p:cNvPr id="25" name="Shape 18"/>
          <p:cNvSpPr/>
          <p:nvPr/>
        </p:nvSpPr>
        <p:spPr>
          <a:xfrm>
            <a:off x="4956048" y="4142232"/>
            <a:ext cx="384048" cy="38404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9741" y="4245925"/>
            <a:ext cx="176662" cy="17666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32120" y="389534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qualifications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technology good—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evil?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morality is not in the tool.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in the application.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knife. A drone. An algorithm.  The tool does not choose — people choose.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BURDEN OF THE BUILDER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Double Duty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840480" cy="2651760"/>
          </a:xfrm>
          <a:prstGeom prst="roundRect">
            <a:avLst>
              <a:gd name="adj" fmla="val 2759"/>
            </a:avLst>
          </a:prstGeom>
          <a:solidFill>
            <a:srgbClr val="F7F2E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think it is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design. The intention. The brief.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840480" cy="2651760"/>
          </a:xfrm>
          <a:prstGeom prst="roundRect">
            <a:avLst>
              <a:gd name="adj" fmla="val 2759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can be used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29200" y="3474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hands you will never meet,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conditions you did not plan for.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ENGINEER'S HIGHEST CRAFT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out the cheating.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" cy="53035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275" y="1971995"/>
            <a:ext cx="243962" cy="243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pump that cannot be re-wired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2578608"/>
            <a:ext cx="530352" cy="53035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75" y="2721803"/>
            <a:ext cx="243962" cy="2439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7860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meter that cannot be bypassed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40080" y="3328416"/>
            <a:ext cx="530352" cy="53035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" y="3471611"/>
            <a:ext cx="243962" cy="2439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328416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that cannot be back-dated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dishonesty impossible — by design.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without work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mood of our age.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has no shortcut.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corner cut is not a small sin.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7F2E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bridge that falls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383280" y="20116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7F2EA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201168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building that collapses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26480" y="20116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01168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device that kills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AROUND 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systems are cheated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97693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105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theft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22128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 bypassed, power stolen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82880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013" y="197693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8105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fraud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486400" y="22128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cooked to look clean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334853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1821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E-voting attacks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371600" y="35844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machines manipulated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754880" y="320040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013" y="3348533"/>
            <a:ext cx="252374" cy="25237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1821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Substandard goods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5486400" y="35844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products, no maintenance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HOME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construction site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" cy="512064"/>
          </a:xfrm>
          <a:prstGeom prst="ellipse">
            <a:avLst/>
          </a:prstGeom>
          <a:solidFill>
            <a:srgbClr val="8A4D6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337" y="1921337"/>
            <a:ext cx="235549" cy="235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watered down to pour easy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512064" cy="512064"/>
          </a:xfrm>
          <a:prstGeom prst="ellipse">
            <a:avLst/>
          </a:prstGeom>
          <a:solidFill>
            <a:srgbClr val="8A4D6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37" y="2652857"/>
            <a:ext cx="235549" cy="2355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14600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60 iron swapped for grade 40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40080" y="3246120"/>
            <a:ext cx="512064" cy="512064"/>
          </a:xfrm>
          <a:prstGeom prst="ellipse">
            <a:avLst/>
          </a:prstGeom>
          <a:solidFill>
            <a:srgbClr val="8A4D6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7" y="3384377"/>
            <a:ext cx="235549" cy="23554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246120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quietly back-dated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when the building falls —  where was the engineer?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ADVANTAGE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gives the engineer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eyes everywhere.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94360" cy="5943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557" y="2629357"/>
            <a:ext cx="273406" cy="2734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overflights, AI-read imagery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83280" y="2468880"/>
            <a:ext cx="594360" cy="5943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757" y="2629357"/>
            <a:ext cx="273406" cy="2734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338328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Curing, density, integrity — live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126480" y="2468880"/>
            <a:ext cx="594360" cy="5943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957" y="2629357"/>
            <a:ext cx="273406" cy="2734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612648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delivery tied to a test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8A4D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35" y="1261415"/>
            <a:ext cx="357530" cy="3575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031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AI: a tireless conscience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our institutions.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watches what no human has the patience to watch.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WAIT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itself can be unethical.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202265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562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data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71600" y="22402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Prejudice wearing the mask of objectivity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3" y="289133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2491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371600" y="31089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it? Who consented? Who profits?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361188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376001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9359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1371600" y="397764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that lock the excluded out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THE MATTER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ethics, not one.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840480" cy="2560320"/>
          </a:xfrm>
          <a:prstGeom prst="roundRect">
            <a:avLst>
              <a:gd name="adj" fmla="val 2857"/>
            </a:avLst>
          </a:prstGeom>
          <a:solidFill>
            <a:srgbClr val="F7F2E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Competence. Honesty.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Safety. Integrity.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840480" cy="2560320"/>
          </a:xfrm>
          <a:prstGeom prst="roundRect">
            <a:avLst>
              <a:gd name="adj" fmla="val 2857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103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02920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data. Just access.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left behind.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LINE PLAINLY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 /  Not ethical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47088"/>
            <a:ext cx="365760" cy="365760"/>
          </a:xfrm>
          <a:prstGeom prst="ellipse">
            <a:avLst/>
          </a:prstGeom>
          <a:solidFill>
            <a:srgbClr val="DDEB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945843"/>
            <a:ext cx="168250" cy="168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first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709160" y="1847088"/>
            <a:ext cx="365760" cy="365760"/>
          </a:xfrm>
          <a:prstGeom prst="ellipse">
            <a:avLst/>
          </a:prstGeom>
          <a:solidFill>
            <a:srgbClr val="F3E0D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1945843"/>
            <a:ext cx="168250" cy="168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Releasing what you know is dangerous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40080" y="2560320"/>
            <a:ext cx="365760" cy="365760"/>
          </a:xfrm>
          <a:prstGeom prst="ellipse">
            <a:avLst/>
          </a:prstGeom>
          <a:solidFill>
            <a:srgbClr val="DDEBD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659075"/>
            <a:ext cx="168250" cy="1682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496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 not yet know”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4709160" y="2560320"/>
            <a:ext cx="365760" cy="365760"/>
          </a:xfrm>
          <a:prstGeom prst="ellipse">
            <a:avLst/>
          </a:prstGeom>
          <a:solidFill>
            <a:srgbClr val="F3E0D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915" y="2659075"/>
            <a:ext cx="168250" cy="1682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2496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Pretending to unearned mastery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640080" y="3273552"/>
            <a:ext cx="365760" cy="365760"/>
          </a:xfrm>
          <a:prstGeom prst="ellipse">
            <a:avLst/>
          </a:prstGeom>
          <a:solidFill>
            <a:srgbClr val="DDEBD9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372307"/>
            <a:ext cx="168250" cy="1682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32095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data and reports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4709160" y="3273552"/>
            <a:ext cx="365760" cy="365760"/>
          </a:xfrm>
          <a:prstGeom prst="ellipse">
            <a:avLst/>
          </a:prstGeom>
          <a:solidFill>
            <a:srgbClr val="F3E0DC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915" y="3372307"/>
            <a:ext cx="168250" cy="1682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32095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Fabricating figures</a:t>
            </a:r>
            <a:endParaRPr lang="en-US" sz="1700" dirty="0"/>
          </a:p>
        </p:txBody>
      </p:sp>
      <p:sp>
        <p:nvSpPr>
          <p:cNvPr id="22" name="Shape 14"/>
          <p:cNvSpPr/>
          <p:nvPr/>
        </p:nvSpPr>
        <p:spPr>
          <a:xfrm>
            <a:off x="640080" y="3986784"/>
            <a:ext cx="365760" cy="365760"/>
          </a:xfrm>
          <a:prstGeom prst="ellipse">
            <a:avLst/>
          </a:prstGeom>
          <a:solidFill>
            <a:srgbClr val="DDEBD9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4085539"/>
            <a:ext cx="168250" cy="1682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43000" y="39227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against misuse</a:t>
            </a:r>
            <a:endParaRPr lang="en-US" sz="1700" dirty="0"/>
          </a:p>
        </p:txBody>
      </p:sp>
      <p:sp>
        <p:nvSpPr>
          <p:cNvPr id="25" name="Shape 16"/>
          <p:cNvSpPr/>
          <p:nvPr/>
        </p:nvSpPr>
        <p:spPr>
          <a:xfrm>
            <a:off x="4709160" y="3986784"/>
            <a:ext cx="365760" cy="365760"/>
          </a:xfrm>
          <a:prstGeom prst="ellipse">
            <a:avLst/>
          </a:prstGeom>
          <a:solidFill>
            <a:srgbClr val="F3E0DC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7915" y="4085539"/>
            <a:ext cx="168250" cy="16825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12080" y="39227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only built it”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ethical engineers come from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143000" y="196596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855" y="217581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336499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woven into the craft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196596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255" y="2175815"/>
            <a:ext cx="357530" cy="3575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697480" y="336499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honest labour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257800" y="196596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655" y="2175815"/>
            <a:ext cx="357530" cy="3575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754880" y="336499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is caught, not taught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315200" y="196596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055" y="2175815"/>
            <a:ext cx="357530" cy="3575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Forums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812280" y="336499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problem out loud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USING AI. NOW WHAT?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fight AI — teach them to lead it.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17320" y="181051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AI alone cannot answer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22199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judgement. Context. Defence under pressure.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17320" y="27066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them audit AI outputs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311810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designs: which fail our codes, our soils?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621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417320" y="360273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them to detect the fake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40142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images, data and reports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OBJECTION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integrity profitable.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pricing for honest work.  Standards with teeth.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that prize the properly made.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i="1" dirty="0">
                <a:solidFill>
                  <a:srgbClr val="8A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doing it right is also the way to get paid,</a:t>
            </a:r>
            <a:endParaRPr lang="en-US" sz="21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100" i="1" dirty="0">
                <a:solidFill>
                  <a:srgbClr val="8A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stops being a sacrifice — and becomes good sense.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bridge does not ask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whether you were in a hurry.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only asks whether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built it right.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  ·   Dr. Olusola Sayeed Ayoola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Ethical Engineers in the Age of Artificial Intelligence</dc:title>
  <dc:subject>PptxGenJS Presentation</dc:subject>
  <dc:creator>Dr. Olusola Sayeed Ayoola</dc:creator>
  <cp:lastModifiedBy>Dr. Olusola Sayeed Ayoola</cp:lastModifiedBy>
  <cp:revision>1</cp:revision>
  <dcterms:created xsi:type="dcterms:W3CDTF">2026-06-11T12:14:54Z</dcterms:created>
  <dcterms:modified xsi:type="dcterms:W3CDTF">2026-06-11T12:14:54Z</dcterms:modified>
</cp:coreProperties>
</file>