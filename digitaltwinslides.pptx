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0" y="137160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91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60920" y="137160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0A1830"/>
          </a:solidFill>
          <a:ln w="15875">
            <a:solidFill>
              <a:srgbClr val="14B8A6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9164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059168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669280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· both ways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TRAINEE PROGRAMME · THIS WEEK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17373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Robotics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502920" y="3611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living virtual copy of a real machine — and learn why every serious robotics team on earth now tests in software before touching hardware.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pack · Intermediate track · Includes simulation + physical weekend practicals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Digital Twin?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0243E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13716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twin is a virtual model of a physical object or system, continuously updated with real data from that object, and able to influence it in return.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ingredients — remove any one and it is no longer a twin: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" y="292608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" y="3456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thing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" y="37673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motor, a robot, a generator, a whole factory — something real that exists and behaves.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19272" y="2743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20440" y="292608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5" name="Text 22"/>
          <p:cNvSpPr/>
          <p:nvPr/>
        </p:nvSpPr>
        <p:spPr>
          <a:xfrm>
            <a:off x="35204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520440" y="3456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virtual model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520440" y="37673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representation: geometry, physics, behaviour — detailed enough to answer real questions.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81344" y="2743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82512" y="292608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0" name="Text 27"/>
          <p:cNvSpPr/>
          <p:nvPr/>
        </p:nvSpPr>
        <p:spPr>
          <a:xfrm>
            <a:off x="6382512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382512" y="3456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connection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82512" y="37673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stream reality into the model; decisions flow back. This link is what separates a twin from a mere simulation.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vs Shadow vs Twin: The Data-Flow Test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abuses the word “twin.” Classify any system by asking: which way does the data flow automatically?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173736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18288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MODEL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97480" y="1828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built by hand, updated by hand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577840" y="18288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 file of your robot; a Gazebo world you edited manually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76148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28529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SHADOW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697480" y="2852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→ virtual (one way, automatic)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577840" y="285292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that live-plots your robot's battery and pose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78561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85800" y="387705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697480" y="38770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⇄ virtual (both ways, automatic)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577840" y="38770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detects motor overheating and commands the real robot to slow down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question guaranteed: give one Nigerian example of each. Start thinking now.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Twin: The Loop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4630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1609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Physical asset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robot, motor, plant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72384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319272" y="14630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02152" y="1609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Sensors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502152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IMU, encoders, temp, LiDAR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34456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181344" y="14630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64224" y="1609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Data pipeline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364224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serial, MQTT, cloud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0632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Virtual model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40080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+ state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072384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3319272" y="30632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502152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Analytics / AI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502152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predict, detect, optimise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34456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6181344" y="306324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64224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Actuation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364224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back to hardware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63840" y="24871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4846320" y="25420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(wraps to stage 4, bottom row → read left to right)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43984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051560" y="4334256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 feeds back into Stage 1 — the loop never stops. </a:t>
            </a:r>
            <a:pPr indent="0" marL="0">
              <a:buNone/>
            </a:pPr>
            <a:r>
              <a:rPr lang="en-US" sz="120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twin is a control loop wrapped around the whole system, not a picture of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Deep Should the Twin Go? Fidelity Levels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is a budget decision. Match the model depth to the question you need answered — no deeper.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1691640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Geometric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00400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and layout only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760720" y="1764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“Will the robot fit through that corridor?”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496312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25694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Kinematic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00400" y="25694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without forces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760720" y="25694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the arm's gripper when joint 2 is at 40°?”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300984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33741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Physics / dynamic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00400" y="33741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Forces, friction, inertia, torque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760720" y="33741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“Will this payload tip the robot on a ramp?”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105656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1788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Behavioural + data-driven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00400" y="41788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models, wear, failure statistics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76072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motor will fail first, and when?”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practicals live at L1–L2. RAIN's drone work lives at L3. Predictive maintenance contracts live at L4.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Robotics Cannot Live Without Twins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32588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in software, not steel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 path in simulation costs nothing. The same bug on a physical robot costs a chassis, a motor driver — or a teammate's ankle.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09160" y="132588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10328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10,000× faster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10328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robots run faster than real time and in parallel. One weekend of simulation = months of physical trials.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8368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AI safely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needs millions of trials. You cannot do millions of trials on one physical robot — you can in its twin.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709160" y="310896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10328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before failure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910328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twin fed with vibration and temperature data flags a failing bearing weeks early. Downtime becomes a scheduled event.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last week's rule: hardware is the last step, never the 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Twins Are Working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721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727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lines tuned virtually before retooling; robots re-programmed offline while production keeps running.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19272" y="132588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14721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727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energy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02152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and turbine twins predict faults. Imagine a twin of a Nigerian feeder line flagging overloads before load-shedding.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181344" y="132588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64224" y="14721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727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31152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64224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twins test interventions virtually. A Lagos BRT-corridor twin could trial signal timings without touching a single junction.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3558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Patient-specific heart and organ models let surgeons rehearse procedures before the first incision.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3319272" y="31089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502152" y="325526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35584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02152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twins fuse soil sensors, weather and drone imagery — irrigation and fertiliser decisions tested in software first.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6181344" y="31089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364224" y="325526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35584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1152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drones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64224" y="3794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serious lab flies the mission in the twin first. This is exactly how RAIN prototypes drone behaviour.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Twin-Builder's Toolbox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98448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286000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/ ESP32, IMUs, encoders, ultrasonic, DHT22, current sensors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22376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nervous system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194560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2677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286000" y="22677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Serial/USB for the bench; MQTT + Wi-Fi for the field; databases for history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23760" y="226771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bloodstream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090672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31638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simulate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286000" y="3163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(NumPy, Matplotlib), Webots, Gazebo, PyBullet, URDF robot descriptions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223760" y="316382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imagination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98678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405993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&amp; display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286000" y="40599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(Matplotlib live plots, Grafana, web apps), anomaly detection, ML models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223760" y="4059936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and face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this slide is already in the RAIN lab or free to install. No excuses.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Sim-to-Real Gap: Where Twins Lie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twin is only as honest as its calibration. Reality always disagrees with the model somewhere: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169164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7E6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17830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&amp; slip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simulated wheels never slip. Your real wheels slip on RAIN's tiled floor every single run.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709160" y="169164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7E6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7830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noise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ultrasonic returns 42.0 cm. The real HC-SR04 returns 41, 44, 39, 213(!), 42…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898648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7E6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9900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simulation, commands act instantly. In reality: serial delay + motor spin-up + battery sag.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709160" y="2898648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FF7E6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29900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&amp; wear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 weaken as voltage drops. A twin that ignores battery state drifts within minutes.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9976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78992" y="426110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habit — calibrate: </a:t>
            </a:r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real system, feed measurements back into the model, repeat until twin and reality agree within tolerance. That loop IS the job.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Twinning This Week's Grid Runner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the pathfinding lecture becomes a digital twin the moment we close the loop: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181051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occupancy grid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twin's world model — a live map of the arena.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243230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2359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A* planner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twin's analytics layer — it reasons about the world model.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305409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298094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overhead photo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sensor feed — physical → virtual, updating the map.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2920" y="367588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360273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 string (F, L, R)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actuation — virtual → physical, closing the loop.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2920" y="429768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0120" y="42245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Re-photograph + re-plan when a box moves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congratulations: you have built a genuine two-way digital twin.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project, two lectures, one loop. This is deliberate.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Twin in 30 Lines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188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streams reality; Python mirrors it live. This skeleton is your weekend starting point.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— the physical side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1874520"/>
            <a:ext cx="4114800" cy="2743200"/>
          </a:xfrm>
          <a:prstGeom prst="roundRect">
            <a:avLst>
              <a:gd name="adj" fmla="val 2000"/>
            </a:avLst>
          </a:prstGeom>
          <a:solidFill>
            <a:srgbClr val="0B182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1965960"/>
            <a:ext cx="3785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HC-SR04 -&gt; serial stream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readDistanceCm() 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  delayMicroseconds(2);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HIGH); delayMicroseconds(10);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pulseIn(ECHO, HIGH) / 58;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Serial.println(readDistanceCm());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delay(100);   // 10 Hz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the virtual side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1874520"/>
            <a:ext cx="4023360" cy="2743200"/>
          </a:xfrm>
          <a:prstGeom prst="roundRect">
            <a:avLst>
              <a:gd name="adj" fmla="val 2000"/>
            </a:avLst>
          </a:prstGeom>
          <a:solidFill>
            <a:srgbClr val="0B1826"/>
          </a:solidFill>
          <a:ln/>
        </p:spPr>
      </p:sp>
      <p:sp>
        <p:nvSpPr>
          <p:cNvPr id="21" name="Text 18"/>
          <p:cNvSpPr/>
          <p:nvPr/>
        </p:nvSpPr>
        <p:spPr>
          <a:xfrm>
            <a:off x="4919472" y="1965960"/>
            <a:ext cx="3694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serial, collections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  = serial.Serial('COM5', 9600)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 = collections.deque(maxlen=100)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plt.ion()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float(ser.readline())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hist.append(d)          # twin state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plt.cla()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plt.plot(hist); plt.ylim(0, 200)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plt.title(f'Twin: {d:.0f} cm')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plt.pause(0.01)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rule — “if d &lt; 15, send STOP back over serial” — and the shadow becomes a twin.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Ladder — Climb During the Week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" y="1380744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12893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it   </a:t>
            </a:r>
            <a:pPr indent="0" marL="0">
              <a:buNone/>
            </a:pPr>
            <a:r>
              <a:rPr lang="en-US" sz="850" b="1" spc="150" kern="0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1536192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6 systems (Google Maps traffic, a CAD drawing, a CBT exam dashboard, a thermostat, a flight simulator, RAIN's LMS analytics), label each: model, shadow, or twin — and defend your answer in one sentence.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57200" y="198424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" y="2130552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20391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 twin on paper   </a:t>
            </a:r>
            <a:pPr indent="0" marL="0">
              <a:buNone/>
            </a:pPr>
            <a:r>
              <a:rPr lang="en-US" sz="850" b="1" spc="150" kern="0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228600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any machine in the RAIN lab. List: 3 sensors you would attach, the data each produces, one decision the twin could automate. One page max.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621792" y="2880360"/>
            <a:ext cx="365760" cy="365760"/>
          </a:xfrm>
          <a:prstGeom prst="ellipse">
            <a:avLst/>
          </a:prstGeom>
          <a:solidFill>
            <a:srgbClr val="0D8478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27889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 twin   </a:t>
            </a:r>
            <a:pPr indent="0" marL="0">
              <a:buNone/>
            </a:pPr>
            <a:r>
              <a:rPr lang="en-US" sz="850" b="1" spc="150" kern="0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" y="303580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Python class DiffDriveTwin(x, y, theta) that updates pose from wheel speeds (unicycle model). Animate it driving a square with matplotlib.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457200" y="348386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1792" y="3630168"/>
            <a:ext cx="365760" cy="365760"/>
          </a:xfrm>
          <a:prstGeom prst="ellipse">
            <a:avLst/>
          </a:prstGeom>
          <a:solidFill>
            <a:srgbClr val="0D8478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43000" y="35387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modelling   </a:t>
            </a:r>
            <a:pPr indent="0" marL="0">
              <a:buNone/>
            </a:pPr>
            <a:r>
              <a:rPr lang="en-US" sz="850" b="1" spc="150" kern="0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" y="378561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200 real HC-SR04 readings of a fixed target. Plot the histogram, compute mean and std-dev, then make your simulated sensor produce the same distribution.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457200" y="423367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36" name="Shape 33"/>
          <p:cNvSpPr/>
          <p:nvPr/>
        </p:nvSpPr>
        <p:spPr>
          <a:xfrm>
            <a:off x="621792" y="4379976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143000" y="42885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rule   </a:t>
            </a:r>
            <a:pPr indent="0" marL="0"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4535424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motor current while loading the shaft by hand. Design a rule (threshold or moving average) that flags “abnormal load” — your first predictive-maintenance twin.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1–3 due before Friday's lab. 4–5 earn bonus marks.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66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Practical A — Simulation Mission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98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OR PAIRS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48840" y="1298448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1298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MATPLOTLIB (WEBOTS OPTIONAL)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29844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298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CODE + 60-SEC SCREEN RECORDING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Ghost Robot” — a kinematic twin that replays your A* mission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DiffDriveTwin: state (x, y, θ), method step(v_left, v_right, dt) using the unicycle/differential-drive equations.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84378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it the F/L/R command string from your pathfinding weekend task. The twin should trace the same route through the same grid — draw both.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35584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310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realism: add Gaussian noise to wheel speeds (σ = 5%). Run 20 trials and plot all 20 ghost trajectories over the ideal path.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86791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822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drift: report mean final-position error across the 20 runs. This number is your sim-to-real gap, quantified.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37997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43342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implement simple closed-loop correction (re-aim at the next waypoint each step) and show the error shrink.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Webots installed: replicate steps 1–2 with the e-puck robot in a matching arena for extra credit.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66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Practical B — Physical Build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65960" y="129844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9" name="Text 6"/>
          <p:cNvSpPr/>
          <p:nvPr/>
        </p:nvSpPr>
        <p:spPr>
          <a:xfrm>
            <a:off x="1965960" y="1298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+ HC-SR04 + SERVO (LAB KITS)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129844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1298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RUNNING THE PYTHON TWIN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Room Twin” — a live radar map of a real corner of the lab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the HC-SR04 on a servo. Sweep 0–180° in 5° steps; at each angle print “angle,distance” over serial.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843784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side: read the stream and convert to Cartesian points — x = d·cos(θ), y = d·sin(θ). Plot a live polar/scatter map.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35584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310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2–3 boxes in front of the rig. Your twin's map should show them as point clusters. Move a box — the map must follow within one sweep.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86791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822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loop: if any object enters the 20 cm “keep-out zone,” Python sends 'A' back over serial and the Arduino sounds a buzzer / LED.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379976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43342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honestly: measure one box with a tape rule vs your map. Report the error in cm — every good twin ships with an accuracy figure.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2-minute video — rig, live map reacting to a moving box, buzzer firing. Demo day: Monday 9 AM.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= physical asset + virtual model + a live two-way data link. All three, always.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data-flow test separates model (no auto flow), shadow (one way) and twin (both ways).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is a budget: model only as deep as the question you need answered.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173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7492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Twins let robotics teams crash in software, test thousands of times faster, and train AI safely.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3774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7492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sim-to-real gap is permanent — calibration against real measurements is the core professional skill.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33756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7492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weekend projects ARE twins: the sweep map mirrors reality; the STOP command closes the loop.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57200" y="4343400"/>
            <a:ext cx="8321040" cy="594360"/>
          </a:xfrm>
          <a:prstGeom prst="roundRect">
            <a:avLst>
              <a:gd name="adj" fmla="val 13846"/>
            </a:avLst>
          </a:prstGeom>
          <a:solidFill>
            <a:srgbClr val="10243E"/>
          </a:solidFill>
          <a:ln/>
        </p:spPr>
      </p:sp>
      <p:sp>
        <p:nvSpPr>
          <p:cNvPr id="28" name="Text 19"/>
          <p:cNvSpPr/>
          <p:nvPr/>
        </p:nvSpPr>
        <p:spPr>
          <a:xfrm>
            <a:off x="685800" y="4389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we join the two threads: the Grid Runner drives inside its own twin, and the twin re-plans with A* when the world changes.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Twins for Robotics</dc:title>
  <dc:subject>PptxGenJS Presentation</dc:subject>
  <dc:creator>RAIN — Robotics and Artificial Intelligence Nigeria</dc:creator>
  <cp:lastModifiedBy>RAIN — Robotics and Artificial Intelligence Nigeria</cp:lastModifiedBy>
  <cp:revision>1</cp:revision>
  <dcterms:created xsi:type="dcterms:W3CDTF">2026-07-05T17:26:40Z</dcterms:created>
  <dcterms:modified xsi:type="dcterms:W3CDTF">2026-07-05T17:26:40Z</dcterms:modified>
</cp:coreProperties>
</file>