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27"/>
    <p:sldId id="277" r:id="rId28"/>
    <p:sldId id="278" r:id="rId2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APWEN  ·  OYO STATE BRANCH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Engineers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Age of Artificial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Sayeed Ayoola   ·   Founder/CEO, RAIN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ROOM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engineers see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others overlook.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274182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observation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331927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8" y="3455060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192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the vulnerable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40080" y="4032504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4168292"/>
            <a:ext cx="231343" cy="231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03250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for consequences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HAS ALWAYS BEEN CLEAR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COREN frowns 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75688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941" y="217938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practice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9" name="Shape 6"/>
          <p:cNvSpPr/>
          <p:nvPr/>
        </p:nvSpPr>
        <p:spPr>
          <a:xfrm>
            <a:off x="4956048" y="2075688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41" y="2179381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negligence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40080" y="2862072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3108960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41" y="3212653"/>
            <a:ext cx="176662" cy="176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8620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results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4754880" y="2862072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17" name="Shape 12"/>
          <p:cNvSpPr/>
          <p:nvPr/>
        </p:nvSpPr>
        <p:spPr>
          <a:xfrm>
            <a:off x="4956048" y="3108960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741" y="3212653"/>
            <a:ext cx="176662" cy="176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8620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corruption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640080" y="3895344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4142232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41" y="4245925"/>
            <a:ext cx="176662" cy="1766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8953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abandonment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4754880" y="3895344"/>
            <a:ext cx="3840480" cy="868680"/>
          </a:xfrm>
          <a:prstGeom prst="roundRect">
            <a:avLst>
              <a:gd name="adj" fmla="val 7368"/>
            </a:avLst>
          </a:prstGeom>
          <a:solidFill>
            <a:srgbClr val="F7F2EA"/>
          </a:solidFill>
          <a:ln/>
        </p:spPr>
      </p:sp>
      <p:sp>
        <p:nvSpPr>
          <p:cNvPr id="25" name="Shape 18"/>
          <p:cNvSpPr/>
          <p:nvPr/>
        </p:nvSpPr>
        <p:spPr>
          <a:xfrm>
            <a:off x="4956048" y="4142232"/>
            <a:ext cx="384048" cy="38404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741" y="4245925"/>
            <a:ext cx="176662" cy="176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8953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qualifications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technology good—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evil?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morality is not in the tool.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in the application.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knife. A drone. An algorithm.  The tool does not choose — people choose.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OF THE BUILDER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Double Duty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F7F2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think it 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design. The intention. The brief.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can be used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hands you will never meet,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conditions you did not plan for.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ENGINEER'S HIGHEST CRAFT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out the cheating.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75" y="1971995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pump that cannot be re-wired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578608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" y="2721803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786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that cannot be bypassed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40080" y="3328416"/>
            <a:ext cx="530352" cy="53035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471611"/>
            <a:ext cx="243962" cy="2439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2841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cannot be back-dated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dishonesty impossible — by design.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without work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mood of our age.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has no shortcut.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corner cut is not a small sin.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7F2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bridge that falls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7F2EA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building that collapses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116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device that kills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systems are cheated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9769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theft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bypassed, power stolen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19769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810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fraud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cooked to look clean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3485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E-voting attacks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37160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machines manipulated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754880" y="32004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13" y="334853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Substandard goods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548640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products, no maintenance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 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192133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watered down to pour easy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" y="2652857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1460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60 iron swapped for grade 40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40080" y="3246120"/>
            <a:ext cx="512064" cy="512064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3384377"/>
            <a:ext cx="235549" cy="2355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24612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quietly back-dated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when the building falls —  where was the engineer?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gives the engineer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eyes everywhere.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26293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overflights, AI-read imagery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832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757" y="2629357"/>
            <a:ext cx="273406" cy="2734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33832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Curing, density, integrity — live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0" y="24688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957" y="2629357"/>
            <a:ext cx="273406" cy="2734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612648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tied to a test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8A4D6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26141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a tireless conscience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our institutions.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what no human has the patience to watch.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itself can be unethical.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202265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562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data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71600" y="2240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Prejudice wearing the mask of objectivity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2891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249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371600" y="3108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it? Who consented? Who profits?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7600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935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371600" y="39776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that lock the excluded out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ethics, not one.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F7F2E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Competence. Honesty.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Safety. Integrity.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data. Just access.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left behind.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LINE PLAINLY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 /  Not ethical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945843"/>
            <a:ext cx="168250" cy="168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first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09160" y="1847088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45843"/>
            <a:ext cx="168250" cy="168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what you know is dangerous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659075"/>
            <a:ext cx="168250" cy="168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yet know”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4709160" y="2560320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2659075"/>
            <a:ext cx="168250" cy="168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unearned mastery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40080" y="3273552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372307"/>
            <a:ext cx="168250" cy="168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209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data and reports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4709160" y="3273552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15" y="3372307"/>
            <a:ext cx="168250" cy="1682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209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figures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DDEBD9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4085539"/>
            <a:ext cx="168250" cy="1682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4300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against misuse</a:t>
            </a:r>
            <a:endParaRPr lang="en-US" sz="1700" dirty="0"/>
          </a:p>
        </p:txBody>
      </p:sp>
      <p:sp>
        <p:nvSpPr>
          <p:cNvPr id="25" name="Shape 16"/>
          <p:cNvSpPr/>
          <p:nvPr/>
        </p:nvSpPr>
        <p:spPr>
          <a:xfrm>
            <a:off x="4709160" y="3986784"/>
            <a:ext cx="365760" cy="365760"/>
          </a:xfrm>
          <a:prstGeom prst="ellipse">
            <a:avLst/>
          </a:prstGeom>
          <a:solidFill>
            <a:srgbClr val="F3E0DC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915" y="4085539"/>
            <a:ext cx="168250" cy="1682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only built it”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ethical engineers come from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1430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855" y="21758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woven into the craft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255" y="2175815"/>
            <a:ext cx="357530" cy="3575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6974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honest labour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2578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655" y="217581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7548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caught, not taught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0" y="196596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055" y="2175815"/>
            <a:ext cx="357530" cy="3575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812280" y="33649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problem out loud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USING AI. NOW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fight AI — teach them to lead it.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17320" y="18105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AI alone cannot answer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2219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judgement. Context. Defence under pressure.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17320" y="27066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audit AI outputs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11810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designs: which fail our codes, our soils?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17320" y="36027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them to detect the fake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4014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images, data and reports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OBJECTION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integrity profitable.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 for honest work.  Standards with teeth.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that prize the properly made.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8A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doing it right is also the way to get paid,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8A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stops being a sacrifice — and becomes good sense.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does not ask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D9B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you were in a hurry.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only asks whether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 right.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·   Dr. Olusola Sayeed Ayoola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</a:rPr>
              <a:t>WHERE THE PRESSURE REALLY COMES FROM</a:t>
            </a:r>
          </a:p>
        </p:txBody>
      </p:sp>
      <p:sp>
        <p:nvSpPr>
          <p:cNvPr id="3" name="Headline"/>
          <p:cNvSpPr/>
          <p:nvPr/>
        </p:nvSpPr>
        <p:spPr>
          <a:xfrm>
            <a:off x="640080" y="914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</a:rPr>
              <a:t>We were taught pressure has</a:t>
            </a:r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</a:rPr>
              <a:t>three variables.</a:t>
            </a:r>
          </a:p>
        </p:txBody>
      </p:sp>
      <p:sp>
        <p:nvSpPr>
          <p:cNvPr id="4" name="Card1"/>
          <p:cNvSpPr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Card1Text"/>
          <p:cNvSpPr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Boyle’s Law</a:t>
            </a:r>
          </a:p>
          <a:p>
            <a:pPr algn="ctr">
              <a:buNone/>
            </a:pPr>
            <a:r>
              <a:rPr lang="en-US" sz="1400" dirty="0">
                <a:solidFill>
                  <a:srgbClr val="D9B8B3"/>
                </a:solidFill>
                <a:latin typeface="Calibri" pitchFamily="34" charset="0"/>
              </a:rPr>
              <a:t>Volume</a:t>
            </a:r>
          </a:p>
        </p:txBody>
      </p:sp>
      <p:sp>
        <p:nvSpPr>
          <p:cNvPr id="6" name="Card2"/>
          <p:cNvSpPr/>
          <p:nvPr/>
        </p:nvSpPr>
        <p:spPr>
          <a:xfrm>
            <a:off x="3152160" y="2194560"/>
            <a:ext cx="2377440" cy="18288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Card2Text"/>
          <p:cNvSpPr/>
          <p:nvPr/>
        </p:nvSpPr>
        <p:spPr>
          <a:xfrm>
            <a:off x="3152160" y="2194560"/>
            <a:ext cx="2377440" cy="1828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Charles’ Law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Temperature</a:t>
            </a:r>
          </a:p>
        </p:txBody>
      </p:sp>
      <p:sp>
        <p:nvSpPr>
          <p:cNvPr id="8" name="Card3"/>
          <p:cNvSpPr/>
          <p:nvPr/>
        </p:nvSpPr>
        <p:spPr>
          <a:xfrm>
            <a:off x="5666160" y="2194560"/>
            <a:ext cx="2377440" cy="182880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9" name="Card3Text"/>
          <p:cNvSpPr/>
          <p:nvPr/>
        </p:nvSpPr>
        <p:spPr>
          <a:xfrm>
            <a:off x="5666160" y="2194560"/>
            <a:ext cx="2377440" cy="1828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</a:rPr>
              <a:t>Pressure Law</a:t>
            </a:r>
          </a:p>
          <a:p>
            <a:pPr algn="ctr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</a:rPr>
              <a:t>Molecules</a:t>
            </a:r>
          </a:p>
        </p:txBody>
      </p:sp>
      <p:sp>
        <p:nvSpPr>
          <p:cNvPr id="10" name="Tagline"/>
          <p:cNvSpPr/>
          <p:nvPr/>
        </p:nvSpPr>
        <p:spPr>
          <a:xfrm>
            <a:off x="640080" y="4206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26769"/>
                </a:solidFill>
                <a:latin typeface="Cambria" pitchFamily="34" charset="0"/>
              </a:rPr>
              <a:t>Real-world engineering pressure is far more complex than that.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B8B3"/>
                </a:solidFill>
                <a:latin typeface="Calibri" pitchFamily="34" charset="0"/>
              </a:rPr>
              <a:t>THE FOUR PLAYERS</a:t>
            </a:r>
          </a:p>
        </p:txBody>
      </p:sp>
      <p:sp>
        <p:nvSpPr>
          <p:cNvPr id="3" name="Main"/>
          <p:cNvSpPr/>
          <p:nvPr/>
        </p:nvSpPr>
        <p:spPr>
          <a:xfrm>
            <a:off x="640080" y="868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</a:rPr>
              <a:t>Between them, something</a:t>
            </a:r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</a:rPr>
              <a:t>is always created.</a:t>
            </a:r>
          </a:p>
        </p:txBody>
      </p:sp>
      <p:sp>
        <p:nvSpPr>
          <p:cNvPr id="4" name="P1bg"/>
          <p:cNvSpPr/>
          <p:nvPr/>
        </p:nvSpPr>
        <p:spPr>
          <a:xfrm>
            <a:off x="640080" y="2194560"/>
            <a:ext cx="3657600" cy="685800"/>
          </a:xfrm>
          <a:prstGeom prst="rect">
            <a:avLst/>
          </a:prstGeom>
          <a:solidFill>
            <a:srgbClr val="542338"/>
          </a:solidFill>
          <a:ln/>
        </p:spPr>
      </p:sp>
      <p:sp>
        <p:nvSpPr>
          <p:cNvPr id="5" name="P1"/>
          <p:cNvSpPr/>
          <p:nvPr/>
        </p:nvSpPr>
        <p:spPr>
          <a:xfrm>
            <a:off x="64008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l">
              <a:buNone/>
            </a:pPr>
            <a:r>
              <a:rPr lang="en-US" sz="2000" b="1" dirty="0">
                <a:solidFill>
                  <a:srgbClr val="ECE2D0"/>
                </a:solidFill>
                <a:latin typeface="Calibri" pitchFamily="34" charset="0"/>
              </a:rPr>
              <a:t>Clients</a:t>
            </a:r>
          </a:p>
        </p:txBody>
      </p:sp>
      <p:sp>
        <p:nvSpPr>
          <p:cNvPr id="6" name="P2bg"/>
          <p:cNvSpPr/>
          <p:nvPr/>
        </p:nvSpPr>
        <p:spPr>
          <a:xfrm>
            <a:off x="4480560" y="2194560"/>
            <a:ext cx="3657600" cy="685800"/>
          </a:xfrm>
          <a:prstGeom prst="rect">
            <a:avLst/>
          </a:prstGeom>
          <a:solidFill>
            <a:srgbClr val="542338"/>
          </a:solidFill>
          <a:ln/>
        </p:spPr>
      </p:sp>
      <p:sp>
        <p:nvSpPr>
          <p:cNvPr id="7" name="P2"/>
          <p:cNvSpPr/>
          <p:nvPr/>
        </p:nvSpPr>
        <p:spPr>
          <a:xfrm>
            <a:off x="448056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l">
              <a:buNone/>
            </a:pPr>
            <a:r>
              <a:rPr lang="en-US" sz="2000" b="1" dirty="0">
                <a:solidFill>
                  <a:srgbClr val="ECE2D0"/>
                </a:solidFill>
                <a:latin typeface="Calibri" pitchFamily="34" charset="0"/>
              </a:rPr>
              <a:t>Engineering Firms</a:t>
            </a:r>
          </a:p>
        </p:txBody>
      </p:sp>
      <p:sp>
        <p:nvSpPr>
          <p:cNvPr id="8" name="P3bg"/>
          <p:cNvSpPr/>
          <p:nvPr/>
        </p:nvSpPr>
        <p:spPr>
          <a:xfrm>
            <a:off x="640080" y="3017520"/>
            <a:ext cx="3657600" cy="685800"/>
          </a:xfrm>
          <a:prstGeom prst="rect">
            <a:avLst/>
          </a:prstGeom>
          <a:solidFill>
            <a:srgbClr val="542338"/>
          </a:solidFill>
          <a:ln/>
        </p:spPr>
      </p:sp>
      <p:sp>
        <p:nvSpPr>
          <p:cNvPr id="9" name="P3"/>
          <p:cNvSpPr/>
          <p:nvPr/>
        </p:nvSpPr>
        <p:spPr>
          <a:xfrm>
            <a:off x="64008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l">
              <a:buNone/>
            </a:pPr>
            <a:r>
              <a:rPr lang="en-US" sz="2000" b="1" dirty="0">
                <a:solidFill>
                  <a:srgbClr val="ECE2D0"/>
                </a:solidFill>
                <a:latin typeface="Calibri" pitchFamily="34" charset="0"/>
              </a:rPr>
              <a:t>Artisans</a:t>
            </a:r>
          </a:p>
        </p:txBody>
      </p:sp>
      <p:sp>
        <p:nvSpPr>
          <p:cNvPr id="10" name="P4bg"/>
          <p:cNvSpPr/>
          <p:nvPr/>
        </p:nvSpPr>
        <p:spPr>
          <a:xfrm>
            <a:off x="4480560" y="3017520"/>
            <a:ext cx="3657600" cy="685800"/>
          </a:xfrm>
          <a:prstGeom prst="rect">
            <a:avLst/>
          </a:prstGeom>
          <a:solidFill>
            <a:srgbClr val="542338"/>
          </a:solidFill>
          <a:ln/>
        </p:spPr>
      </p:sp>
      <p:sp>
        <p:nvSpPr>
          <p:cNvPr id="11" name="P4"/>
          <p:cNvSpPr/>
          <p:nvPr/>
        </p:nvSpPr>
        <p:spPr>
          <a:xfrm>
            <a:off x="448056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l">
              <a:buNone/>
            </a:pPr>
            <a:r>
              <a:rPr lang="en-US" sz="2000" b="1" dirty="0">
                <a:solidFill>
                  <a:srgbClr val="ECE2D0"/>
                </a:solidFill>
                <a:latin typeface="Calibri" pitchFamily="34" charset="0"/>
              </a:rPr>
              <a:t>Regulators (COREN)</a:t>
            </a:r>
          </a:p>
        </p:txBody>
      </p:sp>
      <p:sp>
        <p:nvSpPr>
          <p:cNvPr id="12" name="Punch"/>
          <p:cNvSpPr/>
          <p:nvPr/>
        </p:nvSpPr>
        <p:spPr>
          <a:xfrm>
            <a:off x="640080" y="3932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B8B3"/>
                </a:solidFill>
                <a:latin typeface="Cambria" pitchFamily="34" charset="0"/>
              </a:rPr>
              <a:t>It is called ethical pressure.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26769"/>
                </a:solidFill>
                <a:latin typeface="Calibri" pitchFamily="34" charset="0"/>
              </a:rPr>
              <a:t>THE TRIPLE SQUEEZE</a:t>
            </a:r>
          </a:p>
        </p:txBody>
      </p:sp>
      <p:sp>
        <p:nvSpPr>
          <p:cNvPr id="3" name="Headline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Cambria" pitchFamily="34" charset="0"/>
              </a:rPr>
              <a:t>Time. Money. Scope.</a:t>
            </a:r>
          </a:p>
        </p:txBody>
      </p:sp>
      <p:sp>
        <p:nvSpPr>
          <p:cNvPr id="4" name="TimeBg"/>
          <p:cNvSpPr/>
          <p:nvPr/>
        </p:nvSpPr>
        <p:spPr>
          <a:xfrm>
            <a:off x="640080" y="1920240"/>
            <a:ext cx="237744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5" name="TimeText"/>
          <p:cNvSpPr/>
          <p:nvPr/>
        </p:nvSpPr>
        <p:spPr>
          <a:xfrm>
            <a:off x="64008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</a:rPr>
              <a:t>Time</a:t>
            </a:r>
          </a:p>
          <a:p>
            <a:pPr algn="l">
              <a:lnSpc>
                <a:spcPts val="3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</a:rPr>
              <a:t>“We need it by Friday.” Deadlines move. Standards get skipped.</a:t>
            </a:r>
          </a:p>
        </p:txBody>
      </p:sp>
      <p:sp>
        <p:nvSpPr>
          <p:cNvPr id="6" name="MoneyBg"/>
          <p:cNvSpPr/>
          <p:nvPr/>
        </p:nvSpPr>
        <p:spPr>
          <a:xfrm>
            <a:off x="3152160" y="1920240"/>
            <a:ext cx="2377440" cy="1920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MoneyText"/>
          <p:cNvSpPr/>
          <p:nvPr/>
        </p:nvSpPr>
        <p:spPr>
          <a:xfrm>
            <a:off x="315216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n-US" sz="2400" b="1" dirty="0">
                <a:solidFill>
                  <a:srgbClr val="ECE2D0"/>
                </a:solidFill>
                <a:latin typeface="Cambria" pitchFamily="34" charset="0"/>
              </a:rPr>
              <a:t>Money</a:t>
            </a:r>
          </a:p>
          <a:p>
            <a:pPr algn="l">
              <a:lnSpc>
                <a:spcPts val="3200"/>
              </a:lnSpc>
              <a:buNone/>
            </a:pPr>
            <a:r>
              <a:rPr lang="en-US" sz="1400" dirty="0">
                <a:solidFill>
                  <a:srgbClr val="D9B8B3"/>
                </a:solidFill>
                <a:latin typeface="Calibri" pitchFamily="34" charset="0"/>
              </a:rPr>
              <a:t>“The other firm will do it for less.” Fees pressed down until honest work is priced out.</a:t>
            </a:r>
          </a:p>
        </p:txBody>
      </p:sp>
      <p:sp>
        <p:nvSpPr>
          <p:cNvPr id="8" name="ScopeBg"/>
          <p:cNvSpPr/>
          <p:nvPr/>
        </p:nvSpPr>
        <p:spPr>
          <a:xfrm>
            <a:off x="5666160" y="1920240"/>
            <a:ext cx="237744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9" name="ScopeText"/>
          <p:cNvSpPr/>
          <p:nvPr/>
        </p:nvSpPr>
        <p:spPr>
          <a:xfrm>
            <a:off x="566616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</a:rPr>
              <a:t>Scope</a:t>
            </a:r>
          </a:p>
          <a:p>
            <a:pPr algn="l">
              <a:lnSpc>
                <a:spcPts val="3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</a:rPr>
              <a:t>“Just one more thing…” A reasonable job quietly becomes an impossible one.</a:t>
            </a:r>
          </a:p>
        </p:txBody>
      </p:sp>
      <p:sp>
        <p:nvSpPr>
          <p:cNvPr id="10" name="Punch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b="1" dirty="0">
                <a:solidFill>
                  <a:srgbClr val="6D2E46"/>
                </a:solidFill>
                <a:latin typeface="Cambria" pitchFamily="34" charset="0"/>
              </a:rPr>
              <a:t>People beg and bargain until the impossible gives way. And what gives way with it is the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Ethical Engineers in the Age of Artificial Intelligence</dc:title>
  <dc:subject>PptxGenJS Presentation</dc:subject>
  <dc:creator>Dr. Olusola Sayeed Ayoola</dc:creator>
  <cp:lastModifiedBy>Dr. Olusola Sayeed Ayoola</cp:lastModifiedBy>
  <cp:revision>1</cp:revision>
  <dcterms:created xsi:type="dcterms:W3CDTF">2026-06-11T12:14:54Z</dcterms:created>
  <dcterms:modified xsi:type="dcterms:W3CDTF">2026-06-11T12:14:54Z</dcterms:modified>
</cp:coreProperties>
</file>