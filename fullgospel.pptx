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71A4A"/>
                </a:solidFill>
                <a:latin typeface="Bookman Old Style"/>
              </a:defRPr>
            </a:pPr>
            <a:r>
              <a:rPr sz="1500" b="0" i="0" u="none" strike="noStrike">
                <a:solidFill>
                  <a:srgbClr val="171A4A"/>
                </a:solidFill>
                <a:latin typeface="Bookman Old Style"/>
              </a:rPr>
              <a:t>Broadband penetration, 2024 → 2025</a:t>
            </a:r>
          </a:p>
        </c:rich>
      </c:tx>
      <c:layout/>
      <c:overlay val="0"/>
    </c:title>
    <c:autoTitleDeleted val="0"/>
    <c:plotArea>
      <c:layout/>
      <c:lineChart>
        <c:varyColors val="0"/>
        <c:ser>
          <c:idx val="0"/>
          <c:order val="0"/>
          <c:tx>
            <c:strRef>
              <c:f>Sheet1!$B$1</c:f>
              <c:strCache>
                <c:ptCount val="1"/>
                <c:pt idx="0">
                  <c:v>Broadband penetration (%)</c:v>
                </c:pt>
              </c:strCache>
            </c:strRef>
          </c:tx>
          <c:spPr>
            <a:solidFill>
              <a:srgbClr val="23286B"/>
            </a:solidFill>
            <a:ln w="40640" cap="flat">
              <a:solidFill>
                <a:srgbClr val="23286B"/>
              </a:solidFill>
              <a:prstDash val="solid"/>
              <a:round/>
            </a:ln>
            <a:effectLst/>
          </c:spPr>
          <c:invertIfNegative val="0"/>
          <c:dLbls>
            <c:numFmt formatCode="#,##0" sourceLinked="0"/>
            <c:txPr>
              <a:bodyPr/>
              <a:lstStyle/>
              <a:p>
                <a:pPr>
                  <a:defRPr b="0" i="0" strike="noStrike" sz="900" u="none">
                    <a:solidFill>
                      <a:srgbClr val="23286B"/>
                    </a:solidFill>
                    <a:latin typeface="Calibri"/>
                  </a:defRPr>
                </a:pPr>
              </a:p>
            </c:txPr>
            <c:dLblPos val="t"/>
            <c:showLegendKey val="0"/>
            <c:showVal val="1"/>
            <c:showCatName val="0"/>
            <c:showSerName val="0"/>
            <c:showPercent val="0"/>
            <c:showBubbleSize val="0"/>
            <c:showLeaderLines val="0"/>
          </c:dLbls>
          <c:marker>
            <c:symbol val="circle"/>
            <c:size val="6"/>
            <c:spPr>
              <a:solidFill>
                <a:srgbClr val="23286B"/>
              </a:solidFill>
              <a:ln w="9525" cap="flat">
                <a:solidFill>
                  <a:srgbClr val="23286B"/>
                </a:solidFill>
                <a:prstDash val="solid"/>
                <a:round/>
              </a:ln>
              <a:effectLst/>
            </c:spPr>
          </c:marker>
          <c:cat>
            <c:multiLvlStrRef>
              <c:f>Sheet1!$A$2:$A$8</c:f>
              <c:multiLvlStrCache>
                <c:ptCount val="7"/>
                <c:lvl>
                  <c:pt idx="0">
                    <c:v>Oct '24</c:v>
                  </c:pt>
                  <c:pt idx="1">
                    <c:v>Jan '25</c:v>
                  </c:pt>
                  <c:pt idx="2">
                    <c:v>Mar '25</c:v>
                  </c:pt>
                  <c:pt idx="3">
                    <c:v>Apr '25</c:v>
                  </c:pt>
                  <c:pt idx="4">
                    <c:v>Aug '25</c:v>
                  </c:pt>
                  <c:pt idx="5">
                    <c:v>Sep '25</c:v>
                  </c:pt>
                  <c:pt idx="6">
                    <c:v>Nov '25</c:v>
                  </c:pt>
                </c:lvl>
              </c:multiLvlStrCache>
            </c:multiLvlStrRef>
          </c:cat>
          <c:val>
            <c:numRef>
              <c:f>Sheet1!$B$2:$B$8</c:f>
              <c:numCache>
                <c:formatCode>General</c:formatCode>
                <c:ptCount val="7"/>
                <c:pt idx="0">
                  <c:v>42.2</c:v>
                </c:pt>
                <c:pt idx="1">
                  <c:v>45.61</c:v>
                </c:pt>
                <c:pt idx="2">
                  <c:v>47.73</c:v>
                </c:pt>
                <c:pt idx="3">
                  <c:v>48.15</c:v>
                </c:pt>
                <c:pt idx="4">
                  <c:v>48.81</c:v>
                </c:pt>
                <c:pt idx="5">
                  <c:v>49.34</c:v>
                </c:pt>
                <c:pt idx="6">
                  <c:v>50.58</c:v>
                </c:pt>
              </c:numCache>
            </c:numRef>
          </c:val>
          <c:smooth val="1"/>
        </c:ser>
        <c:dLbls>
          <c:numFmt formatCode="#,##0" sourceLinked="0"/>
          <c:txPr>
            <a:bodyPr/>
            <a:lstStyle/>
            <a:p>
              <a:pPr>
                <a:defRPr b="0" i="0" strike="noStrike" sz="900" u="none">
                  <a:solidFill>
                    <a:srgbClr val="23286B"/>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8A8A"/>
                </a:solidFill>
                <a:latin typeface="Calibri"/>
              </a:defRPr>
            </a:pPr>
            <a:endParaRPr lang="en-US"/>
          </a:p>
        </c:txPr>
        <c:crossAx val="2094734552"/>
        <c:crosses val="autoZero"/>
        <c:auto val="1"/>
        <c:lblAlgn val="ctr"/>
        <c:noMultiLvlLbl val="1"/>
      </c:catAx>
      <c:valAx>
        <c:axId val="2094734552"/>
        <c:scaling>
          <c:orientation val="minMax"/>
          <c:max val="54"/>
          <c:min val="40"/>
        </c:scaling>
        <c:delete val="0"/>
        <c:axPos val="l"/>
        <c:majorGridlines>
          <c:spPr>
            <a:ln w="6350" cap="flat">
              <a:solidFill>
                <a:srgbClr val="ECE9E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majorUnit val="2"/>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Ask the room: how many of you argued in a WhatsApp group this week — and lost because you didn't have the facts at your fingertips? That's why we're here. Set the frame: AI is not magic, not a spirit, not a replacement for your hustle or your faith. It is the most hardworking assistant you have ever hired — works at 2am, no leave, no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Everyday proof of pattern recognition they already trust: a bank flagging a transaction that breaks your spending pattern; Netflix or Jumia recommending what people like you buy. Same mechanism, pointed at YOUR business data. Land the punchline hard: data is your most valuable asset — not the building, not the vehicles.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defeat the 'it's not here yet' excuse. NCC data — November 2025 is the first month more than half the population had active broadband. Mobile dominates. Note: many of these tools sip data — a few MB per image on WhatsApp. The businessman who waits is not waiting for technology; he is choosing to fall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in the room already have the blue circle and never explored it. Demystify by relating to what they do daily — group arguments, voice messages, quick image needs. Stress the voice angle for those who hate typing on a phone. Meta AI is confirmed available in Nigeria across all four apps (Meta / Social Media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around the businessman's scarcest resource: time to learn. Each row is a time-saver. The inbox point is the bridge to automation later — plant that seed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tool — point to the categories and let the deck carry the names. Key message at the end: don't try all at once. Pick one, use it daily for two weeks, then add the next. Compounding small AI habits is the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slowly. Pause on 'three years.' This is the slide that makes the room lean forward — every owner with staff handling money feels it. Be careful to present it as an illustrative scenario, not a verified named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fear: 'if I automate, what happens to my staff?' Answer honestly — they move to higher-value work; the business scales rather than shrinks. Be accurate on open banking: CBN approved it (first in Africa) but the Aug 2025 go-live slipped; phased rollout expected early 2026. So frame as 'prepare now,' not 'it's fully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visionary peak of the talk. Keep it concrete: OpenAI, Google and Anthropic are building agent frameworks now. The takeaway is not panic — it's preparation. Your website, WhatsApp and inventory must be machine-readable and transactable. Early movers' agents close deals at 3am.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'so what do I do Monday morning' slide. Hammer Phase 1 as non-negotiable: nothing else works if the business runs on paper and memory. Mention YardCode again for field operations and GPS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FGBMFI-appropriate conscience of the talk — ethics, stewardship, responsibility. Don't moralise; keep it practical. 'Nobody says it's perfect — but calculated risk is what makes people great.'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close-the-loop ask. Two clear calls to action: train with RAIN, hire RAIN graduates. Reinforce the risk message — the wrong hire on AI/digital systems can expose data and automate bad processes. End on the invitation to partner with the fellowship.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slowly, looking up from the slide. Land 'leading' on the gold word. Then the final line — pause — 'Make it wisely.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slide for credibility. Every headline statistic in the talk is sourced to the NCC or CBN via named outlets. Be transparent that open banking is approved but not fully live, and that the audit/school stories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Shape 0"/>
          <p:cNvSpPr/>
          <p:nvPr/>
        </p:nvSpPr>
        <p:spPr>
          <a:xfrm>
            <a:off x="8351215" y="-2194560"/>
            <a:ext cx="5486400" cy="4572000"/>
          </a:xfrm>
          <a:prstGeom prst="ellipse">
            <a:avLst/>
          </a:prstGeom>
          <a:solidFill>
            <a:srgbClr val="E8B84B">
              <a:alpha val="14000"/>
            </a:srgbClr>
          </a:solidFill>
          <a:ln/>
        </p:spPr>
      </p:sp>
      <p:sp>
        <p:nvSpPr>
          <p:cNvPr id="4" name="Shape 1"/>
          <p:cNvSpPr/>
          <p:nvPr/>
        </p:nvSpPr>
        <p:spPr>
          <a:xfrm>
            <a:off x="-2011680" y="4114800"/>
            <a:ext cx="4937760" cy="4572000"/>
          </a:xfrm>
          <a:prstGeom prst="ellipse">
            <a:avLst/>
          </a:prstGeom>
          <a:solidFill>
            <a:srgbClr val="C45A3B">
              <a:alpha val="12000"/>
            </a:srgbClr>
          </a:solidFill>
          <a:ln/>
        </p:spPr>
      </p:sp>
      <p:sp>
        <p:nvSpPr>
          <p:cNvPr id="5" name="Shape 2"/>
          <p:cNvSpPr/>
          <p:nvPr/>
        </p:nvSpPr>
        <p:spPr>
          <a:xfrm>
            <a:off x="640080" y="548640"/>
            <a:ext cx="457200" cy="457200"/>
          </a:xfrm>
          <a:prstGeom prst="roundRect">
            <a:avLst>
              <a:gd name="adj" fmla="val 20000"/>
            </a:avLst>
          </a:prstGeom>
          <a:solidFill>
            <a:srgbClr val="E8B84B"/>
          </a:solidFill>
          <a:ln/>
        </p:spPr>
      </p:sp>
      <p:sp>
        <p:nvSpPr>
          <p:cNvPr id="6" name="Text 3"/>
          <p:cNvSpPr/>
          <p:nvPr/>
        </p:nvSpPr>
        <p:spPr>
          <a:xfrm>
            <a:off x="640080" y="548640"/>
            <a:ext cx="457200" cy="457200"/>
          </a:xfrm>
          <a:prstGeom prst="rect">
            <a:avLst/>
          </a:prstGeom>
          <a:noFill/>
          <a:ln/>
        </p:spPr>
        <p:txBody>
          <a:bodyPr wrap="square" lIns="0" tIns="0" rIns="0" bIns="0" rtlCol="0" anchor="ctr"/>
          <a:lstStyle/>
          <a:p>
            <a:pPr algn="ctr" indent="0" marL="0">
              <a:buNone/>
            </a:pPr>
            <a:r>
              <a:rPr lang="en-US" sz="2200" b="1" dirty="0">
                <a:solidFill>
                  <a:srgbClr val="171A4A"/>
                </a:solidFill>
                <a:latin typeface="Bookman Old Style" pitchFamily="34" charset="0"/>
                <a:ea typeface="Bookman Old Style" pitchFamily="34" charset="-122"/>
                <a:cs typeface="Bookman Old Style" pitchFamily="34" charset="-120"/>
              </a:rPr>
              <a:t>R</a:t>
            </a:r>
            <a:endParaRPr lang="en-US" sz="2200" dirty="0"/>
          </a:p>
        </p:txBody>
      </p:sp>
      <p:sp>
        <p:nvSpPr>
          <p:cNvPr id="7" name="Text 4"/>
          <p:cNvSpPr/>
          <p:nvPr/>
        </p:nvSpPr>
        <p:spPr>
          <a:xfrm>
            <a:off x="1207008" y="548640"/>
            <a:ext cx="731520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RAIN · Robotics &amp; Artificial Intelligence Nigeria</a:t>
            </a:r>
            <a:endParaRPr lang="en-US" sz="1300" dirty="0"/>
          </a:p>
        </p:txBody>
      </p:sp>
      <p:sp>
        <p:nvSpPr>
          <p:cNvPr id="8" name="Text 5"/>
          <p:cNvSpPr/>
          <p:nvPr/>
        </p:nvSpPr>
        <p:spPr>
          <a:xfrm>
            <a:off x="640080" y="1828800"/>
            <a:ext cx="5486400" cy="320040"/>
          </a:xfrm>
          <a:prstGeom prst="rect">
            <a:avLst/>
          </a:prstGeom>
          <a:noFill/>
          <a:ln/>
        </p:spPr>
        <p:txBody>
          <a:bodyPr wrap="square" rtlCol="0" anchor="ctr"/>
          <a:lstStyle/>
          <a:p>
            <a:pPr indent="0" marL="0">
              <a:buNone/>
            </a:pPr>
            <a:r>
              <a:rPr lang="en-US" sz="1300" b="1" spc="300" kern="0" dirty="0">
                <a:solidFill>
                  <a:srgbClr val="E8B84B"/>
                </a:solidFill>
                <a:latin typeface="Calibri" pitchFamily="34" charset="0"/>
                <a:ea typeface="Calibri" pitchFamily="34" charset="-122"/>
                <a:cs typeface="Calibri" pitchFamily="34" charset="-120"/>
              </a:rPr>
              <a:t>ONE-HOUR BUSINESS KEYNOTE</a:t>
            </a:r>
            <a:endParaRPr lang="en-US" sz="1300" dirty="0"/>
          </a:p>
        </p:txBody>
      </p:sp>
      <p:sp>
        <p:nvSpPr>
          <p:cNvPr id="9" name="Text 6"/>
          <p:cNvSpPr/>
          <p:nvPr/>
        </p:nvSpPr>
        <p:spPr>
          <a:xfrm>
            <a:off x="603504" y="2240280"/>
            <a:ext cx="10515600" cy="2377440"/>
          </a:xfrm>
          <a:prstGeom prst="rect">
            <a:avLst/>
          </a:prstGeom>
          <a:noFill/>
          <a:ln/>
        </p:spPr>
        <p:txBody>
          <a:bodyPr wrap="square" lIns="0" tIns="0" rIns="0" bIns="0" rtlCol="0" anchor="ctr"/>
          <a:lstStyle/>
          <a:p>
            <a:pPr indent="0" marL="0">
              <a:lnSpc>
                <a:spcPts val="6000"/>
              </a:lnSpc>
              <a:buNone/>
            </a:pPr>
            <a:r>
              <a:rPr lang="en-US" sz="6000" b="1" dirty="0">
                <a:solidFill>
                  <a:srgbClr val="FFFFFF"/>
                </a:solidFill>
                <a:latin typeface="Bookman Old Style" pitchFamily="34" charset="0"/>
                <a:ea typeface="Bookman Old Style" pitchFamily="34" charset="-122"/>
                <a:cs typeface="Bookman Old Style" pitchFamily="34" charset="-120"/>
              </a:rPr>
              <a:t>AI Tools for </a:t>
            </a:r>
            <a:pPr indent="0" marL="0">
              <a:lnSpc>
                <a:spcPts val="6000"/>
              </a:lnSpc>
              <a:buNone/>
            </a:pPr>
            <a:r>
              <a:rPr lang="en-US" sz="6000" b="1" i="1" dirty="0">
                <a:solidFill>
                  <a:srgbClr val="E8B84B"/>
                </a:solidFill>
                <a:latin typeface="Bookman Old Style" pitchFamily="34" charset="0"/>
                <a:ea typeface="Bookman Old Style" pitchFamily="34" charset="-122"/>
                <a:cs typeface="Bookman Old Style" pitchFamily="34" charset="-120"/>
              </a:rPr>
              <a:t>Personal</a:t>
            </a:r>
            <a:pPr indent="0" marL="0">
              <a:lnSpc>
                <a:spcPts val="6000"/>
              </a:lnSpc>
              <a:buNone/>
            </a:pPr>
            <a:r>
              <a:rPr lang="en-US" sz="6000" b="1" dirty="0">
                <a:solidFill>
                  <a:srgbClr val="FFFFFF"/>
                </a:solidFill>
                <a:latin typeface="Bookman Old Style" pitchFamily="34" charset="0"/>
                <a:ea typeface="Bookman Old Style" pitchFamily="34" charset="-122"/>
                <a:cs typeface="Bookman Old Style" pitchFamily="34" charset="-120"/>
              </a:rPr>
              <a:t> &amp;</a:t>
            </a:r>
            <a:pPr indent="0" marL="0">
              <a:lnSpc>
                <a:spcPts val="6000"/>
              </a:lnSpc>
              <a:buNone/>
            </a:pPr>
            <a:endParaRPr lang="en-US" sz="6000" dirty="0"/>
          </a:p>
          <a:p>
            <a:pPr indent="0" marL="0">
              <a:lnSpc>
                <a:spcPts val="6000"/>
              </a:lnSpc>
              <a:buNone/>
            </a:pPr>
            <a:r>
              <a:rPr lang="en-US" sz="6000" b="1" dirty="0">
                <a:solidFill>
                  <a:srgbClr val="FFFFFF"/>
                </a:solidFill>
                <a:latin typeface="Bookman Old Style" pitchFamily="34" charset="0"/>
                <a:ea typeface="Bookman Old Style" pitchFamily="34" charset="-122"/>
                <a:cs typeface="Bookman Old Style" pitchFamily="34" charset="-120"/>
              </a:rPr>
              <a:t>Business Growth</a:t>
            </a:r>
            <a:endParaRPr lang="en-US" sz="6000" dirty="0"/>
          </a:p>
        </p:txBody>
      </p:sp>
      <p:sp>
        <p:nvSpPr>
          <p:cNvPr id="10" name="Text 7"/>
          <p:cNvSpPr/>
          <p:nvPr/>
        </p:nvSpPr>
        <p:spPr>
          <a:xfrm>
            <a:off x="640080" y="4709160"/>
            <a:ext cx="7863840" cy="1005840"/>
          </a:xfrm>
          <a:prstGeom prst="rect">
            <a:avLst/>
          </a:prstGeom>
          <a:noFill/>
          <a:ln/>
        </p:spPr>
        <p:txBody>
          <a:bodyPr wrap="square" rtlCol="0" anchor="ctr"/>
          <a:lstStyle/>
          <a:p>
            <a:pPr indent="0" marL="0">
              <a:buNone/>
            </a:pPr>
            <a:r>
              <a:rPr lang="en-US" sz="1600" dirty="0">
                <a:solidFill>
                  <a:srgbClr val="CFCEE6"/>
                </a:solidFill>
                <a:latin typeface="Calibri" pitchFamily="34" charset="0"/>
                <a:ea typeface="Calibri" pitchFamily="34" charset="-122"/>
                <a:cs typeface="Calibri" pitchFamily="34" charset="-120"/>
              </a:rPr>
              <a:t>The intelligence that once belonged only to professors and consultants now sits in the phone in your pocket. A practical map for the Nigerian businessman — what to adopt today, how to prepare for tomorrow, and how to do both wisely.</a:t>
            </a:r>
            <a:endParaRPr lang="en-US" sz="1600" dirty="0"/>
          </a:p>
        </p:txBody>
      </p:sp>
      <p:sp>
        <p:nvSpPr>
          <p:cNvPr id="11" name="Text 8"/>
          <p:cNvSpPr/>
          <p:nvPr/>
        </p:nvSpPr>
        <p:spPr>
          <a:xfrm>
            <a:off x="640080" y="6126480"/>
            <a:ext cx="10058400" cy="365760"/>
          </a:xfrm>
          <a:prstGeom prst="rect">
            <a:avLst/>
          </a:prstGeom>
          <a:noFill/>
          <a:ln/>
        </p:spPr>
        <p:txBody>
          <a:bodyPr wrap="square" rtlCol="0" anchor="ctr"/>
          <a:lstStyle/>
          <a:p>
            <a:pPr indent="0" marL="0">
              <a:buNone/>
            </a:pPr>
            <a:r>
              <a:rPr lang="en-US" sz="1300" i="1" dirty="0">
                <a:solidFill>
                  <a:srgbClr val="8E90B8"/>
                </a:solidFill>
                <a:latin typeface="Calibri" pitchFamily="34" charset="0"/>
                <a:ea typeface="Calibri" pitchFamily="34" charset="-122"/>
                <a:cs typeface="Calibri" pitchFamily="34" charset="-120"/>
              </a:rPr>
              <a:t>Full Gospel Business Men's Fellowship International  ·  Southwest Nigeria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THE FOUNDATION</a:t>
            </a:r>
            <a:endParaRPr lang="en-US" sz="120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indent="0" marL="0">
              <a:buNone/>
            </a:pPr>
            <a:r>
              <a:rPr lang="en-US" sz="3200" b="1" dirty="0">
                <a:solidFill>
                  <a:srgbClr val="171A4A"/>
                </a:solidFill>
                <a:latin typeface="Bookman Old Style" pitchFamily="34" charset="0"/>
                <a:ea typeface="Bookman Old Style" pitchFamily="34" charset="-122"/>
                <a:cs typeface="Bookman Old Style" pitchFamily="34" charset="-120"/>
              </a:rPr>
              <a:t>AI is pattern recognition — and your data is the raw material</a:t>
            </a:r>
            <a:endParaRPr lang="en-US" sz="3200" dirty="0"/>
          </a:p>
        </p:txBody>
      </p:sp>
      <p:sp>
        <p:nvSpPr>
          <p:cNvPr id="4" name="Text 2"/>
          <p:cNvSpPr/>
          <p:nvPr/>
        </p:nvSpPr>
        <p:spPr>
          <a:xfrm>
            <a:off x="640080" y="1783080"/>
            <a:ext cx="10881360" cy="731520"/>
          </a:xfrm>
          <a:prstGeom prst="rect">
            <a:avLst/>
          </a:prstGeom>
          <a:noFill/>
          <a:ln/>
        </p:spPr>
        <p:txBody>
          <a:bodyPr wrap="square" rtlCol="0" anchor="ctr"/>
          <a:lstStyle/>
          <a:p>
            <a:pPr indent="0" marL="0">
              <a:buNone/>
            </a:pPr>
            <a:r>
              <a:rPr lang="en-US" sz="1500" dirty="0">
                <a:solidFill>
                  <a:srgbClr val="55586F"/>
                </a:solidFill>
                <a:latin typeface="Calibri" pitchFamily="34" charset="0"/>
                <a:ea typeface="Calibri" pitchFamily="34" charset="-122"/>
                <a:cs typeface="Calibri" pitchFamily="34" charset="-120"/>
              </a:rPr>
              <a:t>After twenty years in business you read a customer's face or feel which month will be hard. That is pattern recognition from stored experience. AI does the same — trained on enormous data, it finds patterns faster than any person can.</a:t>
            </a:r>
            <a:endParaRPr lang="en-US" sz="1500" dirty="0"/>
          </a:p>
        </p:txBody>
      </p:sp>
      <p:sp>
        <p:nvSpPr>
          <p:cNvPr id="5" name="Shape 3"/>
          <p:cNvSpPr/>
          <p:nvPr/>
        </p:nvSpPr>
        <p:spPr>
          <a:xfrm>
            <a:off x="640080" y="2788920"/>
            <a:ext cx="3429000" cy="2468880"/>
          </a:xfrm>
          <a:prstGeom prst="roundRect">
            <a:avLst>
              <a:gd name="adj" fmla="val 3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932688" y="3081528"/>
            <a:ext cx="713232" cy="713232"/>
          </a:xfrm>
          <a:prstGeom prst="roundRect">
            <a:avLst>
              <a:gd name="adj" fmla="val 15385"/>
            </a:avLst>
          </a:prstGeom>
          <a:solidFill>
            <a:srgbClr val="171A4A"/>
          </a:solidFill>
          <a:ln/>
        </p:spPr>
      </p:sp>
      <p:pic>
        <p:nvPicPr>
          <p:cNvPr id="7" name="Image 0" descr="preencoded.png">    </p:cNvPr>
          <p:cNvPicPr>
            <a:picLocks noChangeAspect="1"/>
          </p:cNvPicPr>
          <p:nvPr/>
        </p:nvPicPr>
        <p:blipFill>
          <a:blip r:embed="rId1"/>
          <a:stretch>
            <a:fillRect/>
          </a:stretch>
        </p:blipFill>
        <p:spPr>
          <a:xfrm>
            <a:off x="1097280" y="3246120"/>
            <a:ext cx="384048" cy="384048"/>
          </a:xfrm>
          <a:prstGeom prst="rect">
            <a:avLst/>
          </a:prstGeom>
        </p:spPr>
      </p:pic>
      <p:sp>
        <p:nvSpPr>
          <p:cNvPr id="8" name="Text 5"/>
          <p:cNvSpPr/>
          <p:nvPr/>
        </p:nvSpPr>
        <p:spPr>
          <a:xfrm>
            <a:off x="3154680" y="3044952"/>
            <a:ext cx="731520" cy="548640"/>
          </a:xfrm>
          <a:prstGeom prst="rect">
            <a:avLst/>
          </a:prstGeom>
          <a:noFill/>
          <a:ln/>
        </p:spPr>
        <p:txBody>
          <a:bodyPr wrap="square" lIns="0" tIns="0" rIns="0" bIns="0" rtlCol="0" anchor="ctr"/>
          <a:lstStyle/>
          <a:p>
            <a:pPr algn="r" indent="0" marL="0">
              <a:buNone/>
            </a:pPr>
            <a:r>
              <a:rPr lang="en-US" sz="3000" b="1" dirty="0">
                <a:solidFill>
                  <a:srgbClr val="DCD8CC"/>
                </a:solidFill>
                <a:latin typeface="Bookman Old Style" pitchFamily="34" charset="0"/>
                <a:ea typeface="Bookman Old Style" pitchFamily="34" charset="-122"/>
                <a:cs typeface="Bookman Old Style" pitchFamily="34" charset="-120"/>
              </a:rPr>
              <a:t>01</a:t>
            </a:r>
            <a:endParaRPr lang="en-US" sz="3000" dirty="0"/>
          </a:p>
        </p:txBody>
      </p:sp>
      <p:sp>
        <p:nvSpPr>
          <p:cNvPr id="9" name="Text 6"/>
          <p:cNvSpPr/>
          <p:nvPr/>
        </p:nvSpPr>
        <p:spPr>
          <a:xfrm>
            <a:off x="932688" y="3931920"/>
            <a:ext cx="2880360" cy="365760"/>
          </a:xfrm>
          <a:prstGeom prst="rect">
            <a:avLst/>
          </a:prstGeom>
          <a:noFill/>
          <a:ln/>
        </p:spPr>
        <p:txBody>
          <a:bodyPr wrap="square" lIns="0" tIns="0" rIns="0" bIns="0" rtlCol="0" anchor="ctr"/>
          <a:lstStyle/>
          <a:p>
            <a:pPr indent="0" marL="0">
              <a:buNone/>
            </a:pPr>
            <a:r>
              <a:rPr lang="en-US" sz="1900" b="1" dirty="0">
                <a:solidFill>
                  <a:srgbClr val="171A4A"/>
                </a:solidFill>
                <a:latin typeface="Calibri" pitchFamily="34" charset="0"/>
                <a:ea typeface="Calibri" pitchFamily="34" charset="-122"/>
                <a:cs typeface="Calibri" pitchFamily="34" charset="-120"/>
              </a:rPr>
              <a:t>Data</a:t>
            </a:r>
            <a:endParaRPr lang="en-US" sz="1900" dirty="0"/>
          </a:p>
        </p:txBody>
      </p:sp>
      <p:sp>
        <p:nvSpPr>
          <p:cNvPr id="10" name="Text 7"/>
          <p:cNvSpPr/>
          <p:nvPr/>
        </p:nvSpPr>
        <p:spPr>
          <a:xfrm>
            <a:off x="932688" y="4325112"/>
            <a:ext cx="2862072" cy="82296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Every sale, complaint, enquiry, WhatsApp message and referral. The raw material — most businesses let it vanish into a jotter.</a:t>
            </a:r>
            <a:endParaRPr lang="en-US" sz="1250" dirty="0"/>
          </a:p>
        </p:txBody>
      </p:sp>
      <p:sp>
        <p:nvSpPr>
          <p:cNvPr id="11" name="Shape 8"/>
          <p:cNvSpPr/>
          <p:nvPr/>
        </p:nvSpPr>
        <p:spPr>
          <a:xfrm>
            <a:off x="4453128" y="2788920"/>
            <a:ext cx="3429000" cy="2468880"/>
          </a:xfrm>
          <a:prstGeom prst="roundRect">
            <a:avLst>
              <a:gd name="adj" fmla="val 3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2" name="Shape 9"/>
          <p:cNvSpPr/>
          <p:nvPr/>
        </p:nvSpPr>
        <p:spPr>
          <a:xfrm>
            <a:off x="4745736" y="3081528"/>
            <a:ext cx="713232" cy="713232"/>
          </a:xfrm>
          <a:prstGeom prst="roundRect">
            <a:avLst>
              <a:gd name="adj" fmla="val 15385"/>
            </a:avLst>
          </a:prstGeom>
          <a:solidFill>
            <a:srgbClr val="171A4A"/>
          </a:solidFill>
          <a:ln/>
        </p:spPr>
      </p:sp>
      <p:pic>
        <p:nvPicPr>
          <p:cNvPr id="13" name="Image 1" descr="preencoded.png">    </p:cNvPr>
          <p:cNvPicPr>
            <a:picLocks noChangeAspect="1"/>
          </p:cNvPicPr>
          <p:nvPr/>
        </p:nvPicPr>
        <p:blipFill>
          <a:blip r:embed="rId2"/>
          <a:stretch>
            <a:fillRect/>
          </a:stretch>
        </p:blipFill>
        <p:spPr>
          <a:xfrm>
            <a:off x="4910328" y="3246120"/>
            <a:ext cx="384048" cy="384048"/>
          </a:xfrm>
          <a:prstGeom prst="rect">
            <a:avLst/>
          </a:prstGeom>
        </p:spPr>
      </p:pic>
      <p:sp>
        <p:nvSpPr>
          <p:cNvPr id="14" name="Text 10"/>
          <p:cNvSpPr/>
          <p:nvPr/>
        </p:nvSpPr>
        <p:spPr>
          <a:xfrm>
            <a:off x="6967728" y="3044952"/>
            <a:ext cx="731520" cy="548640"/>
          </a:xfrm>
          <a:prstGeom prst="rect">
            <a:avLst/>
          </a:prstGeom>
          <a:noFill/>
          <a:ln/>
        </p:spPr>
        <p:txBody>
          <a:bodyPr wrap="square" lIns="0" tIns="0" rIns="0" bIns="0" rtlCol="0" anchor="ctr"/>
          <a:lstStyle/>
          <a:p>
            <a:pPr algn="r" indent="0" marL="0">
              <a:buNone/>
            </a:pPr>
            <a:r>
              <a:rPr lang="en-US" sz="3000" b="1" dirty="0">
                <a:solidFill>
                  <a:srgbClr val="DCD8CC"/>
                </a:solidFill>
                <a:latin typeface="Bookman Old Style" pitchFamily="34" charset="0"/>
                <a:ea typeface="Bookman Old Style" pitchFamily="34" charset="-122"/>
                <a:cs typeface="Bookman Old Style" pitchFamily="34" charset="-120"/>
              </a:rPr>
              <a:t>02</a:t>
            </a:r>
            <a:endParaRPr lang="en-US" sz="3000" dirty="0"/>
          </a:p>
        </p:txBody>
      </p:sp>
      <p:sp>
        <p:nvSpPr>
          <p:cNvPr id="15" name="Text 11"/>
          <p:cNvSpPr/>
          <p:nvPr/>
        </p:nvSpPr>
        <p:spPr>
          <a:xfrm>
            <a:off x="4745736" y="3931920"/>
            <a:ext cx="2880360" cy="365760"/>
          </a:xfrm>
          <a:prstGeom prst="rect">
            <a:avLst/>
          </a:prstGeom>
          <a:noFill/>
          <a:ln/>
        </p:spPr>
        <p:txBody>
          <a:bodyPr wrap="square" lIns="0" tIns="0" rIns="0" bIns="0" rtlCol="0" anchor="ctr"/>
          <a:lstStyle/>
          <a:p>
            <a:pPr indent="0" marL="0">
              <a:buNone/>
            </a:pPr>
            <a:r>
              <a:rPr lang="en-US" sz="1900" b="1" dirty="0">
                <a:solidFill>
                  <a:srgbClr val="171A4A"/>
                </a:solidFill>
                <a:latin typeface="Calibri" pitchFamily="34" charset="0"/>
                <a:ea typeface="Calibri" pitchFamily="34" charset="-122"/>
                <a:cs typeface="Calibri" pitchFamily="34" charset="-120"/>
              </a:rPr>
              <a:t>Patterns</a:t>
            </a:r>
            <a:endParaRPr lang="en-US" sz="1900" dirty="0"/>
          </a:p>
        </p:txBody>
      </p:sp>
      <p:sp>
        <p:nvSpPr>
          <p:cNvPr id="16" name="Text 12"/>
          <p:cNvSpPr/>
          <p:nvPr/>
        </p:nvSpPr>
        <p:spPr>
          <a:xfrm>
            <a:off x="4745736" y="4325112"/>
            <a:ext cx="2862072" cy="82296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What you extract: who churns, which products sell together, which seller builds loyal clients. Invisible until the data is clean.</a:t>
            </a:r>
            <a:endParaRPr lang="en-US" sz="1250" dirty="0"/>
          </a:p>
        </p:txBody>
      </p:sp>
      <p:sp>
        <p:nvSpPr>
          <p:cNvPr id="17" name="Shape 13"/>
          <p:cNvSpPr/>
          <p:nvPr/>
        </p:nvSpPr>
        <p:spPr>
          <a:xfrm>
            <a:off x="8266176" y="2788920"/>
            <a:ext cx="3429000" cy="2468880"/>
          </a:xfrm>
          <a:prstGeom prst="roundRect">
            <a:avLst>
              <a:gd name="adj" fmla="val 3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8" name="Shape 14"/>
          <p:cNvSpPr/>
          <p:nvPr/>
        </p:nvSpPr>
        <p:spPr>
          <a:xfrm>
            <a:off x="8558784" y="3081528"/>
            <a:ext cx="713232" cy="713232"/>
          </a:xfrm>
          <a:prstGeom prst="roundRect">
            <a:avLst>
              <a:gd name="adj" fmla="val 15385"/>
            </a:avLst>
          </a:prstGeom>
          <a:solidFill>
            <a:srgbClr val="171A4A"/>
          </a:solidFill>
          <a:ln/>
        </p:spPr>
      </p:sp>
      <p:pic>
        <p:nvPicPr>
          <p:cNvPr id="19" name="Image 2" descr="preencoded.png">    </p:cNvPr>
          <p:cNvPicPr>
            <a:picLocks noChangeAspect="1"/>
          </p:cNvPicPr>
          <p:nvPr/>
        </p:nvPicPr>
        <p:blipFill>
          <a:blip r:embed="rId3"/>
          <a:stretch>
            <a:fillRect/>
          </a:stretch>
        </p:blipFill>
        <p:spPr>
          <a:xfrm>
            <a:off x="8723376" y="3246120"/>
            <a:ext cx="384048" cy="384048"/>
          </a:xfrm>
          <a:prstGeom prst="rect">
            <a:avLst/>
          </a:prstGeom>
        </p:spPr>
      </p:pic>
      <p:sp>
        <p:nvSpPr>
          <p:cNvPr id="20" name="Text 15"/>
          <p:cNvSpPr/>
          <p:nvPr/>
        </p:nvSpPr>
        <p:spPr>
          <a:xfrm>
            <a:off x="10780776" y="3044952"/>
            <a:ext cx="731520" cy="548640"/>
          </a:xfrm>
          <a:prstGeom prst="rect">
            <a:avLst/>
          </a:prstGeom>
          <a:noFill/>
          <a:ln/>
        </p:spPr>
        <p:txBody>
          <a:bodyPr wrap="square" lIns="0" tIns="0" rIns="0" bIns="0" rtlCol="0" anchor="ctr"/>
          <a:lstStyle/>
          <a:p>
            <a:pPr algn="r" indent="0" marL="0">
              <a:buNone/>
            </a:pPr>
            <a:r>
              <a:rPr lang="en-US" sz="3000" b="1" dirty="0">
                <a:solidFill>
                  <a:srgbClr val="DCD8CC"/>
                </a:solidFill>
                <a:latin typeface="Bookman Old Style" pitchFamily="34" charset="0"/>
                <a:ea typeface="Bookman Old Style" pitchFamily="34" charset="-122"/>
                <a:cs typeface="Bookman Old Style" pitchFamily="34" charset="-120"/>
              </a:rPr>
              <a:t>03</a:t>
            </a:r>
            <a:endParaRPr lang="en-US" sz="3000" dirty="0"/>
          </a:p>
        </p:txBody>
      </p:sp>
      <p:sp>
        <p:nvSpPr>
          <p:cNvPr id="21" name="Text 16"/>
          <p:cNvSpPr/>
          <p:nvPr/>
        </p:nvSpPr>
        <p:spPr>
          <a:xfrm>
            <a:off x="8558784" y="3931920"/>
            <a:ext cx="2880360" cy="365760"/>
          </a:xfrm>
          <a:prstGeom prst="rect">
            <a:avLst/>
          </a:prstGeom>
          <a:noFill/>
          <a:ln/>
        </p:spPr>
        <p:txBody>
          <a:bodyPr wrap="square" lIns="0" tIns="0" rIns="0" bIns="0" rtlCol="0" anchor="ctr"/>
          <a:lstStyle/>
          <a:p>
            <a:pPr indent="0" marL="0">
              <a:buNone/>
            </a:pPr>
            <a:r>
              <a:rPr lang="en-US" sz="1900" b="1" dirty="0">
                <a:solidFill>
                  <a:srgbClr val="171A4A"/>
                </a:solidFill>
                <a:latin typeface="Calibri" pitchFamily="34" charset="0"/>
                <a:ea typeface="Calibri" pitchFamily="34" charset="-122"/>
                <a:cs typeface="Calibri" pitchFamily="34" charset="-120"/>
              </a:rPr>
              <a:t>AI Decisions</a:t>
            </a:r>
            <a:endParaRPr lang="en-US" sz="1900" dirty="0"/>
          </a:p>
        </p:txBody>
      </p:sp>
      <p:sp>
        <p:nvSpPr>
          <p:cNvPr id="22" name="Text 17"/>
          <p:cNvSpPr/>
          <p:nvPr/>
        </p:nvSpPr>
        <p:spPr>
          <a:xfrm>
            <a:off x="8558784" y="4325112"/>
            <a:ext cx="2862072" cy="82296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The engine that acts on patterns — flagging fraud, recommending, drafting, dispatching. Your most tireless analyst.</a:t>
            </a:r>
            <a:endParaRPr lang="en-US" sz="1250" dirty="0"/>
          </a:p>
        </p:txBody>
      </p:sp>
      <p:sp>
        <p:nvSpPr>
          <p:cNvPr id="23" name="Text 18"/>
          <p:cNvSpPr/>
          <p:nvPr/>
        </p:nvSpPr>
        <p:spPr>
          <a:xfrm>
            <a:off x="640080" y="5532120"/>
            <a:ext cx="10881360" cy="457200"/>
          </a:xfrm>
          <a:prstGeom prst="rect">
            <a:avLst/>
          </a:prstGeom>
          <a:noFill/>
          <a:ln/>
        </p:spPr>
        <p:txBody>
          <a:bodyPr wrap="square" rtlCol="0" anchor="ctr"/>
          <a:lstStyle/>
          <a:p>
            <a:pPr indent="0" marL="0">
              <a:buNone/>
            </a:pPr>
            <a:r>
              <a:rPr lang="en-US" sz="1500" b="1" i="1" dirty="0">
                <a:solidFill>
                  <a:srgbClr val="C8941F"/>
                </a:solidFill>
                <a:latin typeface="Calibri" pitchFamily="34" charset="0"/>
                <a:ea typeface="Calibri" pitchFamily="34" charset="-122"/>
                <a:cs typeface="Calibri" pitchFamily="34" charset="-120"/>
              </a:rPr>
              <a:t>The lesson: the richer your data, the more powerful AI becomes for you.</a:t>
            </a:r>
            <a:endParaRPr lang="en-US" sz="1500" dirty="0"/>
          </a:p>
        </p:txBody>
      </p:sp>
      <p:sp>
        <p:nvSpPr>
          <p:cNvPr id="24" name="Text 19"/>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3200" b="1" dirty="0">
                <a:solidFill>
                  <a:srgbClr val="171A4A"/>
                </a:solidFill>
                <a:latin typeface="Bookman Old Style" pitchFamily="34" charset="0"/>
                <a:ea typeface="Bookman Old Style" pitchFamily="34" charset="-122"/>
                <a:cs typeface="Bookman Old Style" pitchFamily="34" charset="-120"/>
              </a:rPr>
              <a:t>The Nigerian ground has shifted</a:t>
            </a:r>
            <a:endParaRPr lang="en-US" sz="3200" dirty="0"/>
          </a:p>
        </p:txBody>
      </p:sp>
      <p:sp>
        <p:nvSpPr>
          <p:cNvPr id="4" name="Text 2"/>
          <p:cNvSpPr/>
          <p:nvPr/>
        </p:nvSpPr>
        <p:spPr>
          <a:xfrm>
            <a:off x="640080" y="1554480"/>
            <a:ext cx="5486400" cy="1463040"/>
          </a:xfrm>
          <a:prstGeom prst="rect">
            <a:avLst/>
          </a:prstGeom>
          <a:noFill/>
          <a:ln/>
        </p:spPr>
        <p:txBody>
          <a:bodyPr wrap="square" rtlCol="0" anchor="ctr"/>
          <a:lstStyle/>
          <a:p>
            <a:pPr indent="0" marL="0">
              <a:buNone/>
            </a:pPr>
            <a:r>
              <a:rPr lang="en-US" sz="1500" dirty="0">
                <a:solidFill>
                  <a:srgbClr val="55586F"/>
                </a:solidFill>
                <a:latin typeface="Calibri" pitchFamily="34" charset="0"/>
                <a:ea typeface="Calibri" pitchFamily="34" charset="-122"/>
                <a:cs typeface="Calibri" pitchFamily="34" charset="-120"/>
              </a:rPr>
              <a:t>Connectivity is no longer the bottleneck. Broadband penetration crossed the symbolic 50% line in late 2025, and mobile data is now the dominant on-ramp. The technology has already arrived.</a:t>
            </a:r>
            <a:endParaRPr lang="en-US" sz="1500" dirty="0"/>
          </a:p>
        </p:txBody>
      </p:sp>
      <p:sp>
        <p:nvSpPr>
          <p:cNvPr id="5" name="Shape 3"/>
          <p:cNvSpPr/>
          <p:nvPr/>
        </p:nvSpPr>
        <p:spPr>
          <a:xfrm>
            <a:off x="640080" y="3200400"/>
            <a:ext cx="5394960" cy="914400"/>
          </a:xfrm>
          <a:prstGeom prst="roundRect">
            <a:avLst>
              <a:gd name="adj" fmla="val 8000"/>
            </a:avLst>
          </a:prstGeom>
          <a:solidFill>
            <a:srgbClr val="F6F4EE"/>
          </a:solidFill>
          <a:ln w="12700">
            <a:solidFill>
              <a:srgbClr val="DCD8CC"/>
            </a:solidFill>
            <a:prstDash val="solid"/>
          </a:ln>
        </p:spPr>
      </p:sp>
      <p:sp>
        <p:nvSpPr>
          <p:cNvPr id="6" name="Text 4"/>
          <p:cNvSpPr/>
          <p:nvPr/>
        </p:nvSpPr>
        <p:spPr>
          <a:xfrm>
            <a:off x="868680" y="3246120"/>
            <a:ext cx="1828800" cy="822960"/>
          </a:xfrm>
          <a:prstGeom prst="rect">
            <a:avLst/>
          </a:prstGeom>
          <a:noFill/>
          <a:ln/>
        </p:spPr>
        <p:txBody>
          <a:bodyPr wrap="square" lIns="0" tIns="0" rIns="0" bIns="0" rtlCol="0" anchor="ctr"/>
          <a:lstStyle/>
          <a:p>
            <a:pPr indent="0" marL="0">
              <a:buNone/>
            </a:pPr>
            <a:r>
              <a:rPr lang="en-US" sz="3000" b="1" dirty="0">
                <a:solidFill>
                  <a:srgbClr val="171A4A"/>
                </a:solidFill>
                <a:latin typeface="Bookman Old Style" pitchFamily="34" charset="0"/>
                <a:ea typeface="Bookman Old Style" pitchFamily="34" charset="-122"/>
                <a:cs typeface="Bookman Old Style" pitchFamily="34" charset="-120"/>
              </a:rPr>
              <a:t>~140m</a:t>
            </a:r>
            <a:endParaRPr lang="en-US" sz="3000" dirty="0"/>
          </a:p>
        </p:txBody>
      </p:sp>
      <p:sp>
        <p:nvSpPr>
          <p:cNvPr id="7" name="Text 5"/>
          <p:cNvSpPr/>
          <p:nvPr/>
        </p:nvSpPr>
        <p:spPr>
          <a:xfrm>
            <a:off x="2743200" y="3246120"/>
            <a:ext cx="3154680" cy="822960"/>
          </a:xfrm>
          <a:prstGeom prst="rect">
            <a:avLst/>
          </a:prstGeom>
          <a:noFill/>
          <a:ln/>
        </p:spPr>
        <p:txBody>
          <a:bodyPr wrap="square" lIns="0" tIns="0" rIns="0" bIns="0" rtlCol="0" anchor="ctr"/>
          <a:lstStyle/>
          <a:p>
            <a:pPr indent="0" marL="0">
              <a:buNone/>
            </a:pPr>
            <a:r>
              <a:rPr lang="en-US" sz="1400" b="1" dirty="0">
                <a:solidFill>
                  <a:srgbClr val="14152B"/>
                </a:solidFill>
                <a:latin typeface="Calibri" pitchFamily="34" charset="0"/>
                <a:ea typeface="Calibri" pitchFamily="34" charset="-122"/>
                <a:cs typeface="Calibri" pitchFamily="34" charset="-120"/>
              </a:rPr>
              <a:t>internet subscriptions</a:t>
            </a:r>
            <a:endParaRPr lang="en-US" sz="1400" dirty="0"/>
          </a:p>
          <a:p>
            <a:pPr indent="0" marL="0">
              <a:buNone/>
            </a:pPr>
            <a:r>
              <a:rPr lang="en-US" sz="1100" dirty="0">
                <a:solidFill>
                  <a:srgbClr val="55586F"/>
                </a:solidFill>
                <a:latin typeface="Calibri" pitchFamily="34" charset="0"/>
                <a:ea typeface="Calibri" pitchFamily="34" charset="-122"/>
                <a:cs typeface="Calibri" pitchFamily="34" charset="-120"/>
              </a:rPr>
              <a:t>NCC, Sept 2025</a:t>
            </a:r>
            <a:endParaRPr lang="en-US" sz="1400" dirty="0"/>
          </a:p>
        </p:txBody>
      </p:sp>
      <p:sp>
        <p:nvSpPr>
          <p:cNvPr id="8" name="Shape 6"/>
          <p:cNvSpPr/>
          <p:nvPr/>
        </p:nvSpPr>
        <p:spPr>
          <a:xfrm>
            <a:off x="640080" y="4251960"/>
            <a:ext cx="5394960" cy="914400"/>
          </a:xfrm>
          <a:prstGeom prst="roundRect">
            <a:avLst>
              <a:gd name="adj" fmla="val 8000"/>
            </a:avLst>
          </a:prstGeom>
          <a:solidFill>
            <a:srgbClr val="F6F4EE"/>
          </a:solidFill>
          <a:ln w="12700">
            <a:solidFill>
              <a:srgbClr val="DCD8CC"/>
            </a:solidFill>
            <a:prstDash val="solid"/>
          </a:ln>
        </p:spPr>
      </p:sp>
      <p:sp>
        <p:nvSpPr>
          <p:cNvPr id="9" name="Text 7"/>
          <p:cNvSpPr/>
          <p:nvPr/>
        </p:nvSpPr>
        <p:spPr>
          <a:xfrm>
            <a:off x="868680" y="4297680"/>
            <a:ext cx="1828800" cy="822960"/>
          </a:xfrm>
          <a:prstGeom prst="rect">
            <a:avLst/>
          </a:prstGeom>
          <a:noFill/>
          <a:ln/>
        </p:spPr>
        <p:txBody>
          <a:bodyPr wrap="square" lIns="0" tIns="0" rIns="0" bIns="0" rtlCol="0" anchor="ctr"/>
          <a:lstStyle/>
          <a:p>
            <a:pPr indent="0" marL="0">
              <a:buNone/>
            </a:pPr>
            <a:r>
              <a:rPr lang="en-US" sz="3000" b="1" dirty="0">
                <a:solidFill>
                  <a:srgbClr val="171A4A"/>
                </a:solidFill>
                <a:latin typeface="Bookman Old Style" pitchFamily="34" charset="0"/>
                <a:ea typeface="Bookman Old Style" pitchFamily="34" charset="-122"/>
                <a:cs typeface="Bookman Old Style" pitchFamily="34" charset="-120"/>
              </a:rPr>
              <a:t>50.6%</a:t>
            </a:r>
            <a:endParaRPr lang="en-US" sz="3000" dirty="0"/>
          </a:p>
        </p:txBody>
      </p:sp>
      <p:sp>
        <p:nvSpPr>
          <p:cNvPr id="10" name="Text 8"/>
          <p:cNvSpPr/>
          <p:nvPr/>
        </p:nvSpPr>
        <p:spPr>
          <a:xfrm>
            <a:off x="2743200" y="4297680"/>
            <a:ext cx="3154680" cy="822960"/>
          </a:xfrm>
          <a:prstGeom prst="rect">
            <a:avLst/>
          </a:prstGeom>
          <a:noFill/>
          <a:ln/>
        </p:spPr>
        <p:txBody>
          <a:bodyPr wrap="square" lIns="0" tIns="0" rIns="0" bIns="0" rtlCol="0" anchor="ctr"/>
          <a:lstStyle/>
          <a:p>
            <a:pPr indent="0" marL="0">
              <a:buNone/>
            </a:pPr>
            <a:r>
              <a:rPr lang="en-US" sz="1400" b="1" dirty="0">
                <a:solidFill>
                  <a:srgbClr val="14152B"/>
                </a:solidFill>
                <a:latin typeface="Calibri" pitchFamily="34" charset="0"/>
                <a:ea typeface="Calibri" pitchFamily="34" charset="-122"/>
                <a:cs typeface="Calibri" pitchFamily="34" charset="-120"/>
              </a:rPr>
              <a:t>broadband penetration</a:t>
            </a:r>
            <a:endParaRPr lang="en-US" sz="1400" dirty="0"/>
          </a:p>
          <a:p>
            <a:pPr indent="0" marL="0">
              <a:buNone/>
            </a:pPr>
            <a:r>
              <a:rPr lang="en-US" sz="1100" dirty="0">
                <a:solidFill>
                  <a:srgbClr val="55586F"/>
                </a:solidFill>
                <a:latin typeface="Calibri" pitchFamily="34" charset="0"/>
                <a:ea typeface="Calibri" pitchFamily="34" charset="-122"/>
                <a:cs typeface="Calibri" pitchFamily="34" charset="-120"/>
              </a:rPr>
              <a:t>NCC, Nov 2025</a:t>
            </a:r>
            <a:endParaRPr lang="en-US" sz="1400" dirty="0"/>
          </a:p>
        </p:txBody>
      </p:sp>
      <p:sp>
        <p:nvSpPr>
          <p:cNvPr id="11" name="Shape 9"/>
          <p:cNvSpPr/>
          <p:nvPr/>
        </p:nvSpPr>
        <p:spPr>
          <a:xfrm>
            <a:off x="640080" y="5303520"/>
            <a:ext cx="5394960" cy="914400"/>
          </a:xfrm>
          <a:prstGeom prst="roundRect">
            <a:avLst>
              <a:gd name="adj" fmla="val 8000"/>
            </a:avLst>
          </a:prstGeom>
          <a:solidFill>
            <a:srgbClr val="F6F4EE"/>
          </a:solidFill>
          <a:ln w="12700">
            <a:solidFill>
              <a:srgbClr val="DCD8CC"/>
            </a:solidFill>
            <a:prstDash val="solid"/>
          </a:ln>
        </p:spPr>
      </p:sp>
      <p:sp>
        <p:nvSpPr>
          <p:cNvPr id="12" name="Text 10"/>
          <p:cNvSpPr/>
          <p:nvPr/>
        </p:nvSpPr>
        <p:spPr>
          <a:xfrm>
            <a:off x="868680" y="5349240"/>
            <a:ext cx="1828800" cy="822960"/>
          </a:xfrm>
          <a:prstGeom prst="rect">
            <a:avLst/>
          </a:prstGeom>
          <a:noFill/>
          <a:ln/>
        </p:spPr>
        <p:txBody>
          <a:bodyPr wrap="square" lIns="0" tIns="0" rIns="0" bIns="0" rtlCol="0" anchor="ctr"/>
          <a:lstStyle/>
          <a:p>
            <a:pPr indent="0" marL="0">
              <a:buNone/>
            </a:pPr>
            <a:r>
              <a:rPr lang="en-US" sz="3000" b="1" dirty="0">
                <a:solidFill>
                  <a:srgbClr val="171A4A"/>
                </a:solidFill>
                <a:latin typeface="Bookman Old Style" pitchFamily="34" charset="0"/>
                <a:ea typeface="Bookman Old Style" pitchFamily="34" charset="-122"/>
                <a:cs typeface="Bookman Old Style" pitchFamily="34" charset="-120"/>
              </a:rPr>
              <a:t>9.2%</a:t>
            </a:r>
            <a:endParaRPr lang="en-US" sz="3000" dirty="0"/>
          </a:p>
        </p:txBody>
      </p:sp>
      <p:sp>
        <p:nvSpPr>
          <p:cNvPr id="13" name="Text 11"/>
          <p:cNvSpPr/>
          <p:nvPr/>
        </p:nvSpPr>
        <p:spPr>
          <a:xfrm>
            <a:off x="2743200" y="5349240"/>
            <a:ext cx="3154680" cy="822960"/>
          </a:xfrm>
          <a:prstGeom prst="rect">
            <a:avLst/>
          </a:prstGeom>
          <a:noFill/>
          <a:ln/>
        </p:spPr>
        <p:txBody>
          <a:bodyPr wrap="square" lIns="0" tIns="0" rIns="0" bIns="0" rtlCol="0" anchor="ctr"/>
          <a:lstStyle/>
          <a:p>
            <a:pPr indent="0" marL="0">
              <a:buNone/>
            </a:pPr>
            <a:r>
              <a:rPr lang="en-US" sz="1400" b="1" dirty="0">
                <a:solidFill>
                  <a:srgbClr val="14152B"/>
                </a:solidFill>
                <a:latin typeface="Calibri" pitchFamily="34" charset="0"/>
                <a:ea typeface="Calibri" pitchFamily="34" charset="-122"/>
                <a:cs typeface="Calibri" pitchFamily="34" charset="-120"/>
              </a:rPr>
              <a:t>telecoms' share of GDP</a:t>
            </a:r>
            <a:endParaRPr lang="en-US" sz="1400" dirty="0"/>
          </a:p>
          <a:p>
            <a:pPr indent="0" marL="0">
              <a:buNone/>
            </a:pPr>
            <a:r>
              <a:rPr lang="en-US" sz="1100" dirty="0">
                <a:solidFill>
                  <a:srgbClr val="55586F"/>
                </a:solidFill>
                <a:latin typeface="Calibri" pitchFamily="34" charset="0"/>
                <a:ea typeface="Calibri" pitchFamily="34" charset="-122"/>
                <a:cs typeface="Calibri" pitchFamily="34" charset="-120"/>
              </a:rPr>
              <a:t>NCC, Q2 2025</a:t>
            </a:r>
            <a:endParaRPr lang="en-US" sz="1400" dirty="0"/>
          </a:p>
        </p:txBody>
      </p:sp>
      <p:graphicFrame>
        <p:nvGraphicFramePr>
          <p:cNvPr id="14" name="Chart 0" descr=""/>
          <p:cNvGraphicFramePr/>
          <p:nvPr/>
        </p:nvGraphicFramePr>
        <p:xfrm>
          <a:off x="6400800" y="1554480"/>
          <a:ext cx="5349240" cy="47548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200" b="1" spc="300" kern="0" dirty="0">
                <a:solidFill>
                  <a:srgbClr val="E8B84B"/>
                </a:solidFill>
                <a:latin typeface="Calibri" pitchFamily="34" charset="0"/>
                <a:ea typeface="Calibri" pitchFamily="34" charset="-122"/>
                <a:cs typeface="Calibri" pitchFamily="34" charset="-120"/>
              </a:rPr>
              <a:t>THE TOOL ALREADY IN YOUR POCKET</a:t>
            </a:r>
            <a:endParaRPr lang="en-US" sz="1200" dirty="0"/>
          </a:p>
        </p:txBody>
      </p:sp>
      <p:sp>
        <p:nvSpPr>
          <p:cNvPr id="4" name="Text 1"/>
          <p:cNvSpPr/>
          <p:nvPr/>
        </p:nvSpPr>
        <p:spPr>
          <a:xfrm>
            <a:off x="640080" y="896112"/>
            <a:ext cx="10881360" cy="73152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Meta AI — you are probably already using it</a:t>
            </a:r>
            <a:endParaRPr lang="en-US" sz="3000" dirty="0"/>
          </a:p>
        </p:txBody>
      </p:sp>
      <p:sp>
        <p:nvSpPr>
          <p:cNvPr id="5" name="Shape 2"/>
          <p:cNvSpPr/>
          <p:nvPr/>
        </p:nvSpPr>
        <p:spPr>
          <a:xfrm>
            <a:off x="640080" y="1920240"/>
            <a:ext cx="5257800" cy="1691640"/>
          </a:xfrm>
          <a:prstGeom prst="roundRect">
            <a:avLst>
              <a:gd name="adj" fmla="val 4324"/>
            </a:avLst>
          </a:prstGeom>
          <a:solidFill>
            <a:srgbClr val="FFFFFF">
              <a:alpha val="8000"/>
            </a:srgbClr>
          </a:solidFill>
          <a:ln w="12700">
            <a:solidFill>
              <a:srgbClr val="FFFFFF"/>
            </a:solidFill>
            <a:prstDash val="solid"/>
          </a:ln>
        </p:spPr>
      </p:sp>
      <p:sp>
        <p:nvSpPr>
          <p:cNvPr id="6" name="Shape 3"/>
          <p:cNvSpPr/>
          <p:nvPr/>
        </p:nvSpPr>
        <p:spPr>
          <a:xfrm>
            <a:off x="914400" y="2212848"/>
            <a:ext cx="566928" cy="566928"/>
          </a:xfrm>
          <a:prstGeom prst="roundRect">
            <a:avLst>
              <a:gd name="adj" fmla="val 16129"/>
            </a:avLst>
          </a:prstGeom>
          <a:solidFill>
            <a:srgbClr val="0866FF"/>
          </a:solidFill>
          <a:ln/>
        </p:spPr>
      </p:sp>
      <p:pic>
        <p:nvPicPr>
          <p:cNvPr id="7" name="Image 1" descr="preencoded.png">    </p:cNvPr>
          <p:cNvPicPr>
            <a:picLocks noChangeAspect="1"/>
          </p:cNvPicPr>
          <p:nvPr/>
        </p:nvPicPr>
        <p:blipFill>
          <a:blip r:embed="rId3"/>
          <a:stretch>
            <a:fillRect/>
          </a:stretch>
        </p:blipFill>
        <p:spPr>
          <a:xfrm>
            <a:off x="1042416" y="2340864"/>
            <a:ext cx="310896" cy="310896"/>
          </a:xfrm>
          <a:prstGeom prst="rect">
            <a:avLst/>
          </a:prstGeom>
        </p:spPr>
      </p:pic>
      <p:sp>
        <p:nvSpPr>
          <p:cNvPr id="8" name="Text 4"/>
          <p:cNvSpPr/>
          <p:nvPr/>
        </p:nvSpPr>
        <p:spPr>
          <a:xfrm>
            <a:off x="1645920" y="2194560"/>
            <a:ext cx="4023360" cy="411480"/>
          </a:xfrm>
          <a:prstGeom prst="rect">
            <a:avLst/>
          </a:prstGeom>
          <a:noFill/>
          <a:ln/>
        </p:spPr>
        <p:txBody>
          <a:bodyPr wrap="square" lIns="0" tIns="0" rIns="0" bIns="0" rtlCol="0" anchor="ctr"/>
          <a:lstStyle/>
          <a:p>
            <a:pPr indent="0" marL="0">
              <a:buNone/>
            </a:pPr>
            <a:r>
              <a:rPr lang="en-US" sz="1700" b="1" dirty="0">
                <a:solidFill>
                  <a:srgbClr val="E8B84B"/>
                </a:solidFill>
                <a:latin typeface="Calibri" pitchFamily="34" charset="0"/>
                <a:ea typeface="Calibri" pitchFamily="34" charset="-122"/>
                <a:cs typeface="Calibri" pitchFamily="34" charset="-120"/>
              </a:rPr>
              <a:t>Settle the argument</a:t>
            </a:r>
            <a:endParaRPr lang="en-US" sz="1700" dirty="0"/>
          </a:p>
        </p:txBody>
      </p:sp>
      <p:sp>
        <p:nvSpPr>
          <p:cNvPr id="9" name="Text 5"/>
          <p:cNvSpPr/>
          <p:nvPr/>
        </p:nvSpPr>
        <p:spPr>
          <a:xfrm>
            <a:off x="932688" y="2834640"/>
            <a:ext cx="4709160" cy="685800"/>
          </a:xfrm>
          <a:prstGeom prst="rect">
            <a:avLst/>
          </a:prstGeom>
          <a:noFill/>
          <a:ln/>
        </p:spPr>
        <p:txBody>
          <a:bodyPr wrap="square" lIns="0" tIns="0" rIns="0" bIns="0" rtlCol="0" anchor="ctr"/>
          <a:lstStyle/>
          <a:p>
            <a:pPr indent="0" marL="0">
              <a:buNone/>
            </a:pPr>
            <a:r>
              <a:rPr lang="en-US" sz="1300" dirty="0">
                <a:solidFill>
                  <a:srgbClr val="DEDDF0"/>
                </a:solidFill>
                <a:latin typeface="Calibri" pitchFamily="34" charset="0"/>
                <a:ea typeface="Calibri" pitchFamily="34" charset="-122"/>
                <a:cs typeface="Calibri" pitchFamily="34" charset="-120"/>
              </a:rPr>
              <a:t>Type @Meta AI inside any WhatsApp group and it answers in real time, in front of everyone.</a:t>
            </a:r>
            <a:endParaRPr lang="en-US" sz="1300" dirty="0"/>
          </a:p>
        </p:txBody>
      </p:sp>
      <p:sp>
        <p:nvSpPr>
          <p:cNvPr id="10" name="Shape 6"/>
          <p:cNvSpPr/>
          <p:nvPr/>
        </p:nvSpPr>
        <p:spPr>
          <a:xfrm>
            <a:off x="6172200" y="1920240"/>
            <a:ext cx="5257800" cy="1691640"/>
          </a:xfrm>
          <a:prstGeom prst="roundRect">
            <a:avLst>
              <a:gd name="adj" fmla="val 4324"/>
            </a:avLst>
          </a:prstGeom>
          <a:solidFill>
            <a:srgbClr val="FFFFFF">
              <a:alpha val="8000"/>
            </a:srgbClr>
          </a:solidFill>
          <a:ln w="12700">
            <a:solidFill>
              <a:srgbClr val="FFFFFF"/>
            </a:solidFill>
            <a:prstDash val="solid"/>
          </a:ln>
        </p:spPr>
      </p:sp>
      <p:sp>
        <p:nvSpPr>
          <p:cNvPr id="11" name="Shape 7"/>
          <p:cNvSpPr/>
          <p:nvPr/>
        </p:nvSpPr>
        <p:spPr>
          <a:xfrm>
            <a:off x="6446520" y="2212848"/>
            <a:ext cx="566928" cy="566928"/>
          </a:xfrm>
          <a:prstGeom prst="roundRect">
            <a:avLst>
              <a:gd name="adj" fmla="val 16129"/>
            </a:avLst>
          </a:prstGeom>
          <a:solidFill>
            <a:srgbClr val="0866FF"/>
          </a:solidFill>
          <a:ln/>
        </p:spPr>
      </p:sp>
      <p:pic>
        <p:nvPicPr>
          <p:cNvPr id="12" name="Image 2" descr="preencoded.png">    </p:cNvPr>
          <p:cNvPicPr>
            <a:picLocks noChangeAspect="1"/>
          </p:cNvPicPr>
          <p:nvPr/>
        </p:nvPicPr>
        <p:blipFill>
          <a:blip r:embed="rId4"/>
          <a:stretch>
            <a:fillRect/>
          </a:stretch>
        </p:blipFill>
        <p:spPr>
          <a:xfrm>
            <a:off x="6574536" y="2340864"/>
            <a:ext cx="310896" cy="310896"/>
          </a:xfrm>
          <a:prstGeom prst="rect">
            <a:avLst/>
          </a:prstGeom>
        </p:spPr>
      </p:pic>
      <p:sp>
        <p:nvSpPr>
          <p:cNvPr id="13" name="Text 8"/>
          <p:cNvSpPr/>
          <p:nvPr/>
        </p:nvSpPr>
        <p:spPr>
          <a:xfrm>
            <a:off x="7178040" y="2194560"/>
            <a:ext cx="4023360" cy="411480"/>
          </a:xfrm>
          <a:prstGeom prst="rect">
            <a:avLst/>
          </a:prstGeom>
          <a:noFill/>
          <a:ln/>
        </p:spPr>
        <p:txBody>
          <a:bodyPr wrap="square" lIns="0" tIns="0" rIns="0" bIns="0" rtlCol="0" anchor="ctr"/>
          <a:lstStyle/>
          <a:p>
            <a:pPr indent="0" marL="0">
              <a:buNone/>
            </a:pPr>
            <a:r>
              <a:rPr lang="en-US" sz="1700" b="1" dirty="0">
                <a:solidFill>
                  <a:srgbClr val="E8B84B"/>
                </a:solidFill>
                <a:latin typeface="Calibri" pitchFamily="34" charset="0"/>
                <a:ea typeface="Calibri" pitchFamily="34" charset="-122"/>
                <a:cs typeface="Calibri" pitchFamily="34" charset="-120"/>
              </a:rPr>
              <a:t>Just speak to it</a:t>
            </a:r>
            <a:endParaRPr lang="en-US" sz="1700" dirty="0"/>
          </a:p>
        </p:txBody>
      </p:sp>
      <p:sp>
        <p:nvSpPr>
          <p:cNvPr id="14" name="Text 9"/>
          <p:cNvSpPr/>
          <p:nvPr/>
        </p:nvSpPr>
        <p:spPr>
          <a:xfrm>
            <a:off x="6464808" y="2834640"/>
            <a:ext cx="4709160" cy="685800"/>
          </a:xfrm>
          <a:prstGeom prst="rect">
            <a:avLst/>
          </a:prstGeom>
          <a:noFill/>
          <a:ln/>
        </p:spPr>
        <p:txBody>
          <a:bodyPr wrap="square" lIns="0" tIns="0" rIns="0" bIns="0" rtlCol="0" anchor="ctr"/>
          <a:lstStyle/>
          <a:p>
            <a:pPr indent="0" marL="0">
              <a:buNone/>
            </a:pPr>
            <a:r>
              <a:rPr lang="en-US" sz="1300" dirty="0">
                <a:solidFill>
                  <a:srgbClr val="DEDDF0"/>
                </a:solidFill>
                <a:latin typeface="Calibri" pitchFamily="34" charset="0"/>
                <a:ea typeface="Calibri" pitchFamily="34" charset="-122"/>
                <a:cs typeface="Calibri" pitchFamily="34" charset="-120"/>
              </a:rPr>
              <a:t>Hold the phone up and talk. Draft a reply, summarise a long document, think through a decision — by voice.</a:t>
            </a:r>
            <a:endParaRPr lang="en-US" sz="1300" dirty="0"/>
          </a:p>
        </p:txBody>
      </p:sp>
      <p:sp>
        <p:nvSpPr>
          <p:cNvPr id="15" name="Shape 10"/>
          <p:cNvSpPr/>
          <p:nvPr/>
        </p:nvSpPr>
        <p:spPr>
          <a:xfrm>
            <a:off x="640080" y="3886200"/>
            <a:ext cx="5257800" cy="1691640"/>
          </a:xfrm>
          <a:prstGeom prst="roundRect">
            <a:avLst>
              <a:gd name="adj" fmla="val 4324"/>
            </a:avLst>
          </a:prstGeom>
          <a:solidFill>
            <a:srgbClr val="FFFFFF">
              <a:alpha val="8000"/>
            </a:srgbClr>
          </a:solidFill>
          <a:ln w="12700">
            <a:solidFill>
              <a:srgbClr val="FFFFFF"/>
            </a:solidFill>
            <a:prstDash val="solid"/>
          </a:ln>
        </p:spPr>
      </p:sp>
      <p:sp>
        <p:nvSpPr>
          <p:cNvPr id="16" name="Shape 11"/>
          <p:cNvSpPr/>
          <p:nvPr/>
        </p:nvSpPr>
        <p:spPr>
          <a:xfrm>
            <a:off x="914400" y="4178808"/>
            <a:ext cx="566928" cy="566928"/>
          </a:xfrm>
          <a:prstGeom prst="roundRect">
            <a:avLst>
              <a:gd name="adj" fmla="val 16129"/>
            </a:avLst>
          </a:prstGeom>
          <a:solidFill>
            <a:srgbClr val="0866FF"/>
          </a:solidFill>
          <a:ln/>
        </p:spPr>
      </p:sp>
      <p:pic>
        <p:nvPicPr>
          <p:cNvPr id="17" name="Image 3" descr="preencoded.png">    </p:cNvPr>
          <p:cNvPicPr>
            <a:picLocks noChangeAspect="1"/>
          </p:cNvPicPr>
          <p:nvPr/>
        </p:nvPicPr>
        <p:blipFill>
          <a:blip r:embed="rId5"/>
          <a:stretch>
            <a:fillRect/>
          </a:stretch>
        </p:blipFill>
        <p:spPr>
          <a:xfrm>
            <a:off x="1042416" y="4306824"/>
            <a:ext cx="310896" cy="310896"/>
          </a:xfrm>
          <a:prstGeom prst="rect">
            <a:avLst/>
          </a:prstGeom>
        </p:spPr>
      </p:pic>
      <p:sp>
        <p:nvSpPr>
          <p:cNvPr id="18" name="Text 12"/>
          <p:cNvSpPr/>
          <p:nvPr/>
        </p:nvSpPr>
        <p:spPr>
          <a:xfrm>
            <a:off x="1645920" y="4160520"/>
            <a:ext cx="4023360" cy="411480"/>
          </a:xfrm>
          <a:prstGeom prst="rect">
            <a:avLst/>
          </a:prstGeom>
          <a:noFill/>
          <a:ln/>
        </p:spPr>
        <p:txBody>
          <a:bodyPr wrap="square" lIns="0" tIns="0" rIns="0" bIns="0" rtlCol="0" anchor="ctr"/>
          <a:lstStyle/>
          <a:p>
            <a:pPr indent="0" marL="0">
              <a:buNone/>
            </a:pPr>
            <a:r>
              <a:rPr lang="en-US" sz="1700" b="1" dirty="0">
                <a:solidFill>
                  <a:srgbClr val="E8B84B"/>
                </a:solidFill>
                <a:latin typeface="Calibri" pitchFamily="34" charset="0"/>
                <a:ea typeface="Calibri" pitchFamily="34" charset="-122"/>
                <a:cs typeface="Calibri" pitchFamily="34" charset="-120"/>
              </a:rPr>
              <a:t>Everywhere at once</a:t>
            </a:r>
            <a:endParaRPr lang="en-US" sz="1700" dirty="0"/>
          </a:p>
        </p:txBody>
      </p:sp>
      <p:sp>
        <p:nvSpPr>
          <p:cNvPr id="19" name="Text 13"/>
          <p:cNvSpPr/>
          <p:nvPr/>
        </p:nvSpPr>
        <p:spPr>
          <a:xfrm>
            <a:off x="932688" y="4800600"/>
            <a:ext cx="4709160" cy="685800"/>
          </a:xfrm>
          <a:prstGeom prst="rect">
            <a:avLst/>
          </a:prstGeom>
          <a:noFill/>
          <a:ln/>
        </p:spPr>
        <p:txBody>
          <a:bodyPr wrap="square" lIns="0" tIns="0" rIns="0" bIns="0" rtlCol="0" anchor="ctr"/>
          <a:lstStyle/>
          <a:p>
            <a:pPr indent="0" marL="0">
              <a:buNone/>
            </a:pPr>
            <a:r>
              <a:rPr lang="en-US" sz="1300" dirty="0">
                <a:solidFill>
                  <a:srgbClr val="DEDDF0"/>
                </a:solidFill>
                <a:latin typeface="Calibri" pitchFamily="34" charset="0"/>
                <a:ea typeface="Calibri" pitchFamily="34" charset="-122"/>
                <a:cs typeface="Calibri" pitchFamily="34" charset="-120"/>
              </a:rPr>
              <a:t>The same intelligence across WhatsApp, Facebook, Instagram and Messenger — and it works on Nigerian mobile data.</a:t>
            </a:r>
            <a:endParaRPr lang="en-US" sz="1300" dirty="0"/>
          </a:p>
        </p:txBody>
      </p:sp>
      <p:sp>
        <p:nvSpPr>
          <p:cNvPr id="20" name="Shape 14"/>
          <p:cNvSpPr/>
          <p:nvPr/>
        </p:nvSpPr>
        <p:spPr>
          <a:xfrm>
            <a:off x="6172200" y="3886200"/>
            <a:ext cx="5257800" cy="1691640"/>
          </a:xfrm>
          <a:prstGeom prst="roundRect">
            <a:avLst>
              <a:gd name="adj" fmla="val 4324"/>
            </a:avLst>
          </a:prstGeom>
          <a:solidFill>
            <a:srgbClr val="FFFFFF">
              <a:alpha val="8000"/>
            </a:srgbClr>
          </a:solidFill>
          <a:ln w="12700">
            <a:solidFill>
              <a:srgbClr val="FFFFFF"/>
            </a:solidFill>
            <a:prstDash val="solid"/>
          </a:ln>
        </p:spPr>
      </p:sp>
      <p:sp>
        <p:nvSpPr>
          <p:cNvPr id="21" name="Shape 15"/>
          <p:cNvSpPr/>
          <p:nvPr/>
        </p:nvSpPr>
        <p:spPr>
          <a:xfrm>
            <a:off x="6446520" y="4178808"/>
            <a:ext cx="566928" cy="566928"/>
          </a:xfrm>
          <a:prstGeom prst="roundRect">
            <a:avLst>
              <a:gd name="adj" fmla="val 16129"/>
            </a:avLst>
          </a:prstGeom>
          <a:solidFill>
            <a:srgbClr val="0866FF"/>
          </a:solidFill>
          <a:ln/>
        </p:spPr>
      </p:sp>
      <p:pic>
        <p:nvPicPr>
          <p:cNvPr id="22" name="Image 4" descr="preencoded.png">    </p:cNvPr>
          <p:cNvPicPr>
            <a:picLocks noChangeAspect="1"/>
          </p:cNvPicPr>
          <p:nvPr/>
        </p:nvPicPr>
        <p:blipFill>
          <a:blip r:embed="rId6"/>
          <a:stretch>
            <a:fillRect/>
          </a:stretch>
        </p:blipFill>
        <p:spPr>
          <a:xfrm>
            <a:off x="6574536" y="4306824"/>
            <a:ext cx="310896" cy="310896"/>
          </a:xfrm>
          <a:prstGeom prst="rect">
            <a:avLst/>
          </a:prstGeom>
        </p:spPr>
      </p:pic>
      <p:sp>
        <p:nvSpPr>
          <p:cNvPr id="23" name="Text 16"/>
          <p:cNvSpPr/>
          <p:nvPr/>
        </p:nvSpPr>
        <p:spPr>
          <a:xfrm>
            <a:off x="7178040" y="4160520"/>
            <a:ext cx="4023360" cy="411480"/>
          </a:xfrm>
          <a:prstGeom prst="rect">
            <a:avLst/>
          </a:prstGeom>
          <a:noFill/>
          <a:ln/>
        </p:spPr>
        <p:txBody>
          <a:bodyPr wrap="square" lIns="0" tIns="0" rIns="0" bIns="0" rtlCol="0" anchor="ctr"/>
          <a:lstStyle/>
          <a:p>
            <a:pPr indent="0" marL="0">
              <a:buNone/>
            </a:pPr>
            <a:r>
              <a:rPr lang="en-US" sz="1700" b="1" dirty="0">
                <a:solidFill>
                  <a:srgbClr val="E8B84B"/>
                </a:solidFill>
                <a:latin typeface="Calibri" pitchFamily="34" charset="0"/>
                <a:ea typeface="Calibri" pitchFamily="34" charset="-122"/>
                <a:cs typeface="Calibri" pitchFamily="34" charset="-120"/>
              </a:rPr>
              <a:t>Create on the spot</a:t>
            </a:r>
            <a:endParaRPr lang="en-US" sz="1700" dirty="0"/>
          </a:p>
        </p:txBody>
      </p:sp>
      <p:sp>
        <p:nvSpPr>
          <p:cNvPr id="24" name="Text 17"/>
          <p:cNvSpPr/>
          <p:nvPr/>
        </p:nvSpPr>
        <p:spPr>
          <a:xfrm>
            <a:off x="6464808" y="4800600"/>
            <a:ext cx="4709160" cy="685800"/>
          </a:xfrm>
          <a:prstGeom prst="rect">
            <a:avLst/>
          </a:prstGeom>
          <a:noFill/>
          <a:ln/>
        </p:spPr>
        <p:txBody>
          <a:bodyPr wrap="square" lIns="0" tIns="0" rIns="0" bIns="0" rtlCol="0" anchor="ctr"/>
          <a:lstStyle/>
          <a:p>
            <a:pPr indent="0" marL="0">
              <a:buNone/>
            </a:pPr>
            <a:r>
              <a:rPr lang="en-US" sz="1300" dirty="0">
                <a:solidFill>
                  <a:srgbClr val="DEDDF0"/>
                </a:solidFill>
                <a:latin typeface="Calibri" pitchFamily="34" charset="0"/>
                <a:ea typeface="Calibri" pitchFamily="34" charset="-122"/>
                <a:cs typeface="Calibri" pitchFamily="34" charset="-120"/>
              </a:rPr>
              <a:t>Generate marketing images and ad copy without leaving the app you already open every day.</a:t>
            </a:r>
            <a:endParaRPr lang="en-US" sz="1300" dirty="0"/>
          </a:p>
        </p:txBody>
      </p:sp>
      <p:sp>
        <p:nvSpPr>
          <p:cNvPr id="25" name="Text 18"/>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PERSONAL GROWTH</a:t>
            </a:r>
            <a:endParaRPr lang="en-US" sz="120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3000" b="1" dirty="0">
                <a:solidFill>
                  <a:srgbClr val="171A4A"/>
                </a:solidFill>
                <a:latin typeface="Bookman Old Style" pitchFamily="34" charset="0"/>
                <a:ea typeface="Bookman Old Style" pitchFamily="34" charset="-122"/>
                <a:cs typeface="Bookman Old Style" pitchFamily="34" charset="-120"/>
              </a:rPr>
              <a:t>You, upgraded — a brilliant adviser on call</a:t>
            </a:r>
            <a:endParaRPr lang="en-US" sz="3000" dirty="0"/>
          </a:p>
        </p:txBody>
      </p:sp>
      <p:sp>
        <p:nvSpPr>
          <p:cNvPr id="4" name="Shape 2"/>
          <p:cNvSpPr/>
          <p:nvPr/>
        </p:nvSpPr>
        <p:spPr>
          <a:xfrm>
            <a:off x="640080" y="1783080"/>
            <a:ext cx="10927080" cy="987552"/>
          </a:xfrm>
          <a:prstGeom prst="roundRect">
            <a:avLst>
              <a:gd name="adj" fmla="val 6481"/>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914400" y="2075688"/>
            <a:ext cx="420624" cy="420624"/>
          </a:xfrm>
          <a:prstGeom prst="ellipse">
            <a:avLst/>
          </a:prstGeom>
          <a:solidFill>
            <a:srgbClr val="E8B84B"/>
          </a:solidFill>
          <a:ln/>
        </p:spPr>
      </p:sp>
      <p:sp>
        <p:nvSpPr>
          <p:cNvPr id="6" name="Text 4"/>
          <p:cNvSpPr/>
          <p:nvPr/>
        </p:nvSpPr>
        <p:spPr>
          <a:xfrm>
            <a:off x="914400" y="2075688"/>
            <a:ext cx="420624" cy="420624"/>
          </a:xfrm>
          <a:prstGeom prst="rect">
            <a:avLst/>
          </a:prstGeom>
          <a:noFill/>
          <a:ln/>
        </p:spPr>
        <p:txBody>
          <a:bodyPr wrap="square" lIns="0" tIns="0" rIns="0" bIns="0" rtlCol="0" anchor="ctr"/>
          <a:lstStyle/>
          <a:p>
            <a:pPr algn="ctr" indent="0" marL="0">
              <a:buNone/>
            </a:pPr>
            <a:r>
              <a:rPr lang="en-US" sz="1800" b="1" dirty="0">
                <a:solidFill>
                  <a:srgbClr val="171A4A"/>
                </a:solidFill>
                <a:latin typeface="Bookman Old Style" pitchFamily="34" charset="0"/>
                <a:ea typeface="Bookman Old Style" pitchFamily="34" charset="-122"/>
                <a:cs typeface="Bookman Old Style" pitchFamily="34" charset="-120"/>
              </a:rPr>
              <a:t>1</a:t>
            </a:r>
            <a:endParaRPr lang="en-US" sz="1800" dirty="0"/>
          </a:p>
        </p:txBody>
      </p:sp>
      <p:sp>
        <p:nvSpPr>
          <p:cNvPr id="7" name="Text 5"/>
          <p:cNvSpPr/>
          <p:nvPr/>
        </p:nvSpPr>
        <p:spPr>
          <a:xfrm>
            <a:off x="1600200" y="1901952"/>
            <a:ext cx="3657600" cy="749808"/>
          </a:xfrm>
          <a:prstGeom prst="rect">
            <a:avLst/>
          </a:prstGeom>
          <a:noFill/>
          <a:ln/>
        </p:spPr>
        <p:txBody>
          <a:bodyPr wrap="square" lIns="0" tIns="0" rIns="0" bIns="0" rtlCol="0" anchor="ctr"/>
          <a:lstStyle/>
          <a:p>
            <a:pPr indent="0" marL="0">
              <a:buNone/>
            </a:pPr>
            <a:r>
              <a:rPr lang="en-US" sz="1650" b="1" dirty="0">
                <a:solidFill>
                  <a:srgbClr val="171A4A"/>
                </a:solidFill>
                <a:latin typeface="Calibri" pitchFamily="34" charset="0"/>
                <a:ea typeface="Calibri" pitchFamily="34" charset="-122"/>
                <a:cs typeface="Calibri" pitchFamily="34" charset="-120"/>
              </a:rPr>
              <a:t>Understand anything, fast</a:t>
            </a:r>
            <a:endParaRPr lang="en-US" sz="1650" dirty="0"/>
          </a:p>
        </p:txBody>
      </p:sp>
      <p:sp>
        <p:nvSpPr>
          <p:cNvPr id="8" name="Text 6"/>
          <p:cNvSpPr/>
          <p:nvPr/>
        </p:nvSpPr>
        <p:spPr>
          <a:xfrm>
            <a:off x="5349240" y="1901952"/>
            <a:ext cx="6035040" cy="749808"/>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Ask ChatGPT, Claude or Gemini to explain a new CAMA amendment in plain English instead of paying a five-figure consultation. Ask follow-ups until it's clear.</a:t>
            </a:r>
            <a:endParaRPr lang="en-US" sz="1250" dirty="0"/>
          </a:p>
        </p:txBody>
      </p:sp>
      <p:sp>
        <p:nvSpPr>
          <p:cNvPr id="9" name="Shape 7"/>
          <p:cNvSpPr/>
          <p:nvPr/>
        </p:nvSpPr>
        <p:spPr>
          <a:xfrm>
            <a:off x="640080" y="2926080"/>
            <a:ext cx="10927080" cy="987552"/>
          </a:xfrm>
          <a:prstGeom prst="roundRect">
            <a:avLst>
              <a:gd name="adj" fmla="val 6481"/>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0" name="Shape 8"/>
          <p:cNvSpPr/>
          <p:nvPr/>
        </p:nvSpPr>
        <p:spPr>
          <a:xfrm>
            <a:off x="914400" y="3218688"/>
            <a:ext cx="420624" cy="420624"/>
          </a:xfrm>
          <a:prstGeom prst="ellipse">
            <a:avLst/>
          </a:prstGeom>
          <a:solidFill>
            <a:srgbClr val="E8B84B"/>
          </a:solidFill>
          <a:ln/>
        </p:spPr>
      </p:sp>
      <p:sp>
        <p:nvSpPr>
          <p:cNvPr id="11" name="Text 9"/>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800" b="1" dirty="0">
                <a:solidFill>
                  <a:srgbClr val="171A4A"/>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00200" y="3044952"/>
            <a:ext cx="3657600" cy="749808"/>
          </a:xfrm>
          <a:prstGeom prst="rect">
            <a:avLst/>
          </a:prstGeom>
          <a:noFill/>
          <a:ln/>
        </p:spPr>
        <p:txBody>
          <a:bodyPr wrap="square" lIns="0" tIns="0" rIns="0" bIns="0" rtlCol="0" anchor="ctr"/>
          <a:lstStyle/>
          <a:p>
            <a:pPr indent="0" marL="0">
              <a:buNone/>
            </a:pPr>
            <a:r>
              <a:rPr lang="en-US" sz="1650" b="1" dirty="0">
                <a:solidFill>
                  <a:srgbClr val="171A4A"/>
                </a:solidFill>
                <a:latin typeface="Calibri" pitchFamily="34" charset="0"/>
                <a:ea typeface="Calibri" pitchFamily="34" charset="-122"/>
                <a:cs typeface="Calibri" pitchFamily="34" charset="-120"/>
              </a:rPr>
              <a:t>Prepare like a pro</a:t>
            </a:r>
            <a:endParaRPr lang="en-US" sz="1650" dirty="0"/>
          </a:p>
        </p:txBody>
      </p:sp>
      <p:sp>
        <p:nvSpPr>
          <p:cNvPr id="13" name="Text 11"/>
          <p:cNvSpPr/>
          <p:nvPr/>
        </p:nvSpPr>
        <p:spPr>
          <a:xfrm>
            <a:off x="5349240" y="3044952"/>
            <a:ext cx="6035040" cy="749808"/>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“Help me structure talking points on cash-flow management for a businessmen's forum.” A full outline in minutes — then make it your own.</a:t>
            </a:r>
            <a:endParaRPr lang="en-US" sz="1250" dirty="0"/>
          </a:p>
        </p:txBody>
      </p:sp>
      <p:sp>
        <p:nvSpPr>
          <p:cNvPr id="14" name="Shape 12"/>
          <p:cNvSpPr/>
          <p:nvPr/>
        </p:nvSpPr>
        <p:spPr>
          <a:xfrm>
            <a:off x="640080" y="4069080"/>
            <a:ext cx="10927080" cy="987552"/>
          </a:xfrm>
          <a:prstGeom prst="roundRect">
            <a:avLst>
              <a:gd name="adj" fmla="val 6481"/>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5" name="Shape 13"/>
          <p:cNvSpPr/>
          <p:nvPr/>
        </p:nvSpPr>
        <p:spPr>
          <a:xfrm>
            <a:off x="914400" y="4361688"/>
            <a:ext cx="420624" cy="420624"/>
          </a:xfrm>
          <a:prstGeom prst="ellipse">
            <a:avLst/>
          </a:prstGeom>
          <a:solidFill>
            <a:srgbClr val="E8B84B"/>
          </a:solidFill>
          <a:ln/>
        </p:spPr>
      </p:sp>
      <p:sp>
        <p:nvSpPr>
          <p:cNvPr id="16" name="Text 14"/>
          <p:cNvSpPr/>
          <p:nvPr/>
        </p:nvSpPr>
        <p:spPr>
          <a:xfrm>
            <a:off x="914400" y="4361688"/>
            <a:ext cx="420624" cy="420624"/>
          </a:xfrm>
          <a:prstGeom prst="rect">
            <a:avLst/>
          </a:prstGeom>
          <a:noFill/>
          <a:ln/>
        </p:spPr>
        <p:txBody>
          <a:bodyPr wrap="square" lIns="0" tIns="0" rIns="0" bIns="0" rtlCol="0" anchor="ctr"/>
          <a:lstStyle/>
          <a:p>
            <a:pPr algn="ctr" indent="0" marL="0">
              <a:buNone/>
            </a:pPr>
            <a:r>
              <a:rPr lang="en-US" sz="1800" b="1" dirty="0">
                <a:solidFill>
                  <a:srgbClr val="171A4A"/>
                </a:solidFill>
                <a:latin typeface="Bookman Old Style" pitchFamily="34" charset="0"/>
                <a:ea typeface="Bookman Old Style" pitchFamily="34" charset="-122"/>
                <a:cs typeface="Bookman Old Style" pitchFamily="34" charset="-120"/>
              </a:rPr>
              <a:t>3</a:t>
            </a:r>
            <a:endParaRPr lang="en-US" sz="1800" dirty="0"/>
          </a:p>
        </p:txBody>
      </p:sp>
      <p:sp>
        <p:nvSpPr>
          <p:cNvPr id="17" name="Text 15"/>
          <p:cNvSpPr/>
          <p:nvPr/>
        </p:nvSpPr>
        <p:spPr>
          <a:xfrm>
            <a:off x="1600200" y="4187952"/>
            <a:ext cx="3657600" cy="749808"/>
          </a:xfrm>
          <a:prstGeom prst="rect">
            <a:avLst/>
          </a:prstGeom>
          <a:noFill/>
          <a:ln/>
        </p:spPr>
        <p:txBody>
          <a:bodyPr wrap="square" lIns="0" tIns="0" rIns="0" bIns="0" rtlCol="0" anchor="ctr"/>
          <a:lstStyle/>
          <a:p>
            <a:pPr indent="0" marL="0">
              <a:buNone/>
            </a:pPr>
            <a:r>
              <a:rPr lang="en-US" sz="1650" b="1" dirty="0">
                <a:solidFill>
                  <a:srgbClr val="171A4A"/>
                </a:solidFill>
                <a:latin typeface="Calibri" pitchFamily="34" charset="0"/>
                <a:ea typeface="Calibri" pitchFamily="34" charset="-122"/>
                <a:cs typeface="Calibri" pitchFamily="34" charset="-120"/>
              </a:rPr>
              <a:t>Read less, know more</a:t>
            </a:r>
            <a:endParaRPr lang="en-US" sz="1650" dirty="0"/>
          </a:p>
        </p:txBody>
      </p:sp>
      <p:sp>
        <p:nvSpPr>
          <p:cNvPr id="18" name="Text 16"/>
          <p:cNvSpPr/>
          <p:nvPr/>
        </p:nvSpPr>
        <p:spPr>
          <a:xfrm>
            <a:off x="5349240" y="4187952"/>
            <a:ext cx="6035040" cy="749808"/>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Upload a 200-page report to NotebookLM and ask: what are the three main risks? Brief yourself in fifteen minutes.</a:t>
            </a:r>
            <a:endParaRPr lang="en-US" sz="1250" dirty="0"/>
          </a:p>
        </p:txBody>
      </p:sp>
      <p:sp>
        <p:nvSpPr>
          <p:cNvPr id="19" name="Shape 17"/>
          <p:cNvSpPr/>
          <p:nvPr/>
        </p:nvSpPr>
        <p:spPr>
          <a:xfrm>
            <a:off x="640080" y="5212080"/>
            <a:ext cx="10927080" cy="987552"/>
          </a:xfrm>
          <a:prstGeom prst="roundRect">
            <a:avLst>
              <a:gd name="adj" fmla="val 6481"/>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20" name="Shape 18"/>
          <p:cNvSpPr/>
          <p:nvPr/>
        </p:nvSpPr>
        <p:spPr>
          <a:xfrm>
            <a:off x="914400" y="5504688"/>
            <a:ext cx="420624" cy="420624"/>
          </a:xfrm>
          <a:prstGeom prst="ellipse">
            <a:avLst/>
          </a:prstGeom>
          <a:solidFill>
            <a:srgbClr val="E8B84B"/>
          </a:solidFill>
          <a:ln/>
        </p:spPr>
      </p:sp>
      <p:sp>
        <p:nvSpPr>
          <p:cNvPr id="21" name="Text 19"/>
          <p:cNvSpPr/>
          <p:nvPr/>
        </p:nvSpPr>
        <p:spPr>
          <a:xfrm>
            <a:off x="914400" y="5504688"/>
            <a:ext cx="420624" cy="420624"/>
          </a:xfrm>
          <a:prstGeom prst="rect">
            <a:avLst/>
          </a:prstGeom>
          <a:noFill/>
          <a:ln/>
        </p:spPr>
        <p:txBody>
          <a:bodyPr wrap="square" lIns="0" tIns="0" rIns="0" bIns="0" rtlCol="0" anchor="ctr"/>
          <a:lstStyle/>
          <a:p>
            <a:pPr algn="ctr" indent="0" marL="0">
              <a:buNone/>
            </a:pPr>
            <a:r>
              <a:rPr lang="en-US" sz="1800" b="1" dirty="0">
                <a:solidFill>
                  <a:srgbClr val="171A4A"/>
                </a:solidFill>
                <a:latin typeface="Bookman Old Style" pitchFamily="34" charset="0"/>
                <a:ea typeface="Bookman Old Style" pitchFamily="34" charset="-122"/>
                <a:cs typeface="Bookman Old Style" pitchFamily="34" charset="-120"/>
              </a:rPr>
              <a:t>4</a:t>
            </a:r>
            <a:endParaRPr lang="en-US" sz="1800" dirty="0"/>
          </a:p>
        </p:txBody>
      </p:sp>
      <p:sp>
        <p:nvSpPr>
          <p:cNvPr id="22" name="Text 20"/>
          <p:cNvSpPr/>
          <p:nvPr/>
        </p:nvSpPr>
        <p:spPr>
          <a:xfrm>
            <a:off x="1600200" y="5330952"/>
            <a:ext cx="3657600" cy="749808"/>
          </a:xfrm>
          <a:prstGeom prst="rect">
            <a:avLst/>
          </a:prstGeom>
          <a:noFill/>
          <a:ln/>
        </p:spPr>
        <p:txBody>
          <a:bodyPr wrap="square" lIns="0" tIns="0" rIns="0" bIns="0" rtlCol="0" anchor="ctr"/>
          <a:lstStyle/>
          <a:p>
            <a:pPr indent="0" marL="0">
              <a:buNone/>
            </a:pPr>
            <a:r>
              <a:rPr lang="en-US" sz="1650" b="1" dirty="0">
                <a:solidFill>
                  <a:srgbClr val="171A4A"/>
                </a:solidFill>
                <a:latin typeface="Calibri" pitchFamily="34" charset="0"/>
                <a:ea typeface="Calibri" pitchFamily="34" charset="-122"/>
                <a:cs typeface="Calibri" pitchFamily="34" charset="-120"/>
              </a:rPr>
              <a:t>Your inbox, handled</a:t>
            </a:r>
            <a:endParaRPr lang="en-US" sz="1650" dirty="0"/>
          </a:p>
        </p:txBody>
      </p:sp>
      <p:sp>
        <p:nvSpPr>
          <p:cNvPr id="23" name="Text 21"/>
          <p:cNvSpPr/>
          <p:nvPr/>
        </p:nvSpPr>
        <p:spPr>
          <a:xfrm>
            <a:off x="5349240" y="5330952"/>
            <a:ext cx="6035040" cy="749808"/>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AI that learns how you write can draft replies in your voice. You review, approve, send — without typing a word.</a:t>
            </a:r>
            <a:endParaRPr lang="en-US" sz="1250" dirty="0"/>
          </a:p>
        </p:txBody>
      </p:sp>
      <p:sp>
        <p:nvSpPr>
          <p:cNvPr id="24" name="Text 22"/>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WHAT TO ADOPT TODAY</a:t>
            </a:r>
            <a:endParaRPr lang="en-US" sz="120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2800" b="1" dirty="0">
                <a:solidFill>
                  <a:srgbClr val="171A4A"/>
                </a:solidFill>
                <a:latin typeface="Bookman Old Style" pitchFamily="34" charset="0"/>
                <a:ea typeface="Bookman Old Style" pitchFamily="34" charset="-122"/>
                <a:cs typeface="Bookman Old Style" pitchFamily="34" charset="-120"/>
              </a:rPr>
              <a:t>The working toolkit — by what it does for your business</a:t>
            </a:r>
            <a:endParaRPr lang="en-US" sz="2800" dirty="0"/>
          </a:p>
        </p:txBody>
      </p:sp>
      <p:sp>
        <p:nvSpPr>
          <p:cNvPr id="4" name="Shape 2"/>
          <p:cNvSpPr/>
          <p:nvPr/>
        </p:nvSpPr>
        <p:spPr>
          <a:xfrm>
            <a:off x="640080" y="1691640"/>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96112" y="1947672"/>
            <a:ext cx="640080" cy="640080"/>
          </a:xfrm>
          <a:prstGeom prst="roundRect">
            <a:avLst>
              <a:gd name="adj" fmla="val 15714"/>
            </a:avLst>
          </a:prstGeom>
          <a:solidFill>
            <a:srgbClr val="C45A3B"/>
          </a:solidFill>
          <a:ln/>
        </p:spPr>
      </p:sp>
      <p:pic>
        <p:nvPicPr>
          <p:cNvPr id="6" name="Image 0" descr="preencoded.png">    </p:cNvPr>
          <p:cNvPicPr>
            <a:picLocks noChangeAspect="1"/>
          </p:cNvPicPr>
          <p:nvPr/>
        </p:nvPicPr>
        <p:blipFill>
          <a:blip r:embed="rId1"/>
          <a:stretch>
            <a:fillRect/>
          </a:stretch>
        </p:blipFill>
        <p:spPr>
          <a:xfrm>
            <a:off x="1033272" y="2084832"/>
            <a:ext cx="365760" cy="365760"/>
          </a:xfrm>
          <a:prstGeom prst="rect">
            <a:avLst/>
          </a:prstGeom>
        </p:spPr>
      </p:pic>
      <p:sp>
        <p:nvSpPr>
          <p:cNvPr id="7" name="Text 4"/>
          <p:cNvSpPr/>
          <p:nvPr/>
        </p:nvSpPr>
        <p:spPr>
          <a:xfrm>
            <a:off x="1664208" y="1965960"/>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AI Video &amp; Voice</a:t>
            </a:r>
            <a:endParaRPr lang="en-US" sz="1500" dirty="0"/>
          </a:p>
        </p:txBody>
      </p:sp>
      <p:sp>
        <p:nvSpPr>
          <p:cNvPr id="8" name="Text 5"/>
          <p:cNvSpPr/>
          <p:nvPr/>
        </p:nvSpPr>
        <p:spPr>
          <a:xfrm>
            <a:off x="914400" y="2715768"/>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Ad, training &amp; demo videos with no camera or actors. Clone your own voice; clean noisy audio.</a:t>
            </a:r>
            <a:endParaRPr lang="en-US" sz="1150" dirty="0"/>
          </a:p>
        </p:txBody>
      </p:sp>
      <p:sp>
        <p:nvSpPr>
          <p:cNvPr id="9" name="Text 6"/>
          <p:cNvSpPr/>
          <p:nvPr/>
        </p:nvSpPr>
        <p:spPr>
          <a:xfrm>
            <a:off x="914400" y="3474720"/>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Runway · Sora · HeyGen · ElevenLabs</a:t>
            </a:r>
            <a:endParaRPr lang="en-US" sz="950" dirty="0"/>
          </a:p>
        </p:txBody>
      </p:sp>
      <p:sp>
        <p:nvSpPr>
          <p:cNvPr id="10" name="Shape 7"/>
          <p:cNvSpPr/>
          <p:nvPr/>
        </p:nvSpPr>
        <p:spPr>
          <a:xfrm>
            <a:off x="4507992" y="1691640"/>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1" name="Shape 8"/>
          <p:cNvSpPr/>
          <p:nvPr/>
        </p:nvSpPr>
        <p:spPr>
          <a:xfrm>
            <a:off x="4764024" y="1947672"/>
            <a:ext cx="640080" cy="640080"/>
          </a:xfrm>
          <a:prstGeom prst="roundRect">
            <a:avLst>
              <a:gd name="adj" fmla="val 15714"/>
            </a:avLst>
          </a:prstGeom>
          <a:solidFill>
            <a:srgbClr val="1FA855"/>
          </a:solidFill>
          <a:ln/>
        </p:spPr>
      </p:sp>
      <p:pic>
        <p:nvPicPr>
          <p:cNvPr id="12" name="Image 1" descr="preencoded.png">    </p:cNvPr>
          <p:cNvPicPr>
            <a:picLocks noChangeAspect="1"/>
          </p:cNvPicPr>
          <p:nvPr/>
        </p:nvPicPr>
        <p:blipFill>
          <a:blip r:embed="rId2"/>
          <a:stretch>
            <a:fillRect/>
          </a:stretch>
        </p:blipFill>
        <p:spPr>
          <a:xfrm>
            <a:off x="4901184" y="2084832"/>
            <a:ext cx="365760" cy="365760"/>
          </a:xfrm>
          <a:prstGeom prst="rect">
            <a:avLst/>
          </a:prstGeom>
        </p:spPr>
      </p:pic>
      <p:sp>
        <p:nvSpPr>
          <p:cNvPr id="13" name="Text 9"/>
          <p:cNvSpPr/>
          <p:nvPr/>
        </p:nvSpPr>
        <p:spPr>
          <a:xfrm>
            <a:off x="5532120" y="1965960"/>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WhatsApp Automation</a:t>
            </a:r>
            <a:endParaRPr lang="en-US" sz="1500" dirty="0"/>
          </a:p>
        </p:txBody>
      </p:sp>
      <p:sp>
        <p:nvSpPr>
          <p:cNvPr id="14" name="Text 10"/>
          <p:cNvSpPr/>
          <p:nvPr/>
        </p:nvSpPr>
        <p:spPr>
          <a:xfrm>
            <a:off x="4782312" y="2715768"/>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24/7 FAQ bots and broadcasts to thousands — connected to the WhatsApp Business API, no code.</a:t>
            </a:r>
            <a:endParaRPr lang="en-US" sz="1150" dirty="0"/>
          </a:p>
        </p:txBody>
      </p:sp>
      <p:sp>
        <p:nvSpPr>
          <p:cNvPr id="15" name="Text 11"/>
          <p:cNvSpPr/>
          <p:nvPr/>
        </p:nvSpPr>
        <p:spPr>
          <a:xfrm>
            <a:off x="4782312" y="3474720"/>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Wati · ManyChat · Respond.io · Tidio</a:t>
            </a:r>
            <a:endParaRPr lang="en-US" sz="950" dirty="0"/>
          </a:p>
        </p:txBody>
      </p:sp>
      <p:sp>
        <p:nvSpPr>
          <p:cNvPr id="16" name="Shape 12"/>
          <p:cNvSpPr/>
          <p:nvPr/>
        </p:nvSpPr>
        <p:spPr>
          <a:xfrm>
            <a:off x="8375904" y="1691640"/>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7" name="Shape 13"/>
          <p:cNvSpPr/>
          <p:nvPr/>
        </p:nvSpPr>
        <p:spPr>
          <a:xfrm>
            <a:off x="8631936" y="1947672"/>
            <a:ext cx="640080" cy="640080"/>
          </a:xfrm>
          <a:prstGeom prst="roundRect">
            <a:avLst>
              <a:gd name="adj" fmla="val 15714"/>
            </a:avLst>
          </a:prstGeom>
          <a:solidFill>
            <a:srgbClr val="6D2E46"/>
          </a:solidFill>
          <a:ln/>
        </p:spPr>
      </p:sp>
      <p:pic>
        <p:nvPicPr>
          <p:cNvPr id="18" name="Image 2" descr="preencoded.png">    </p:cNvPr>
          <p:cNvPicPr>
            <a:picLocks noChangeAspect="1"/>
          </p:cNvPicPr>
          <p:nvPr/>
        </p:nvPicPr>
        <p:blipFill>
          <a:blip r:embed="rId3"/>
          <a:stretch>
            <a:fillRect/>
          </a:stretch>
        </p:blipFill>
        <p:spPr>
          <a:xfrm>
            <a:off x="8769096" y="2084832"/>
            <a:ext cx="365760" cy="365760"/>
          </a:xfrm>
          <a:prstGeom prst="rect">
            <a:avLst/>
          </a:prstGeom>
        </p:spPr>
      </p:pic>
      <p:sp>
        <p:nvSpPr>
          <p:cNvPr id="19" name="Text 14"/>
          <p:cNvSpPr/>
          <p:nvPr/>
        </p:nvSpPr>
        <p:spPr>
          <a:xfrm>
            <a:off x="9400032" y="1965960"/>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AI Auditing &amp; Finance</a:t>
            </a:r>
            <a:endParaRPr lang="en-US" sz="1500" dirty="0"/>
          </a:p>
        </p:txBody>
      </p:sp>
      <p:sp>
        <p:nvSpPr>
          <p:cNvPr id="20" name="Text 15"/>
          <p:cNvSpPr/>
          <p:nvPr/>
        </p:nvSpPr>
        <p:spPr>
          <a:xfrm>
            <a:off x="8650224" y="2715768"/>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Compare bank statements to records to catch fraud; analyse cash flow in plain language.</a:t>
            </a:r>
            <a:endParaRPr lang="en-US" sz="1150" dirty="0"/>
          </a:p>
        </p:txBody>
      </p:sp>
      <p:sp>
        <p:nvSpPr>
          <p:cNvPr id="21" name="Text 16"/>
          <p:cNvSpPr/>
          <p:nvPr/>
        </p:nvSpPr>
        <p:spPr>
          <a:xfrm>
            <a:off x="8650224" y="3474720"/>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Datarails · Sage AI · Excel Copilot</a:t>
            </a:r>
            <a:endParaRPr lang="en-US" sz="950" dirty="0"/>
          </a:p>
        </p:txBody>
      </p:sp>
      <p:sp>
        <p:nvSpPr>
          <p:cNvPr id="22" name="Shape 17"/>
          <p:cNvSpPr/>
          <p:nvPr/>
        </p:nvSpPr>
        <p:spPr>
          <a:xfrm>
            <a:off x="640080" y="4187952"/>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23" name="Shape 18"/>
          <p:cNvSpPr/>
          <p:nvPr/>
        </p:nvSpPr>
        <p:spPr>
          <a:xfrm>
            <a:off x="896112" y="4443984"/>
            <a:ext cx="640080" cy="640080"/>
          </a:xfrm>
          <a:prstGeom prst="roundRect">
            <a:avLst>
              <a:gd name="adj" fmla="val 15714"/>
            </a:avLst>
          </a:prstGeom>
          <a:solidFill>
            <a:srgbClr val="23286B"/>
          </a:solidFill>
          <a:ln/>
        </p:spPr>
      </p:sp>
      <p:pic>
        <p:nvPicPr>
          <p:cNvPr id="24" name="Image 3" descr="preencoded.png">    </p:cNvPr>
          <p:cNvPicPr>
            <a:picLocks noChangeAspect="1"/>
          </p:cNvPicPr>
          <p:nvPr/>
        </p:nvPicPr>
        <p:blipFill>
          <a:blip r:embed="rId4"/>
          <a:stretch>
            <a:fillRect/>
          </a:stretch>
        </p:blipFill>
        <p:spPr>
          <a:xfrm>
            <a:off x="1033272" y="4581144"/>
            <a:ext cx="365760" cy="365760"/>
          </a:xfrm>
          <a:prstGeom prst="rect">
            <a:avLst/>
          </a:prstGeom>
        </p:spPr>
      </p:pic>
      <p:sp>
        <p:nvSpPr>
          <p:cNvPr id="25" name="Text 19"/>
          <p:cNvSpPr/>
          <p:nvPr/>
        </p:nvSpPr>
        <p:spPr>
          <a:xfrm>
            <a:off x="1664208" y="4462272"/>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AI Website Builders</a:t>
            </a:r>
            <a:endParaRPr lang="en-US" sz="1500" dirty="0"/>
          </a:p>
        </p:txBody>
      </p:sp>
      <p:sp>
        <p:nvSpPr>
          <p:cNvPr id="26" name="Text 20"/>
          <p:cNvSpPr/>
          <p:nvPr/>
        </p:nvSpPr>
        <p:spPr>
          <a:xfrm>
            <a:off x="914400" y="5212080"/>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A full professional site from one paragraph, in under a minute. No developer needed.</a:t>
            </a:r>
            <a:endParaRPr lang="en-US" sz="1150" dirty="0"/>
          </a:p>
        </p:txBody>
      </p:sp>
      <p:sp>
        <p:nvSpPr>
          <p:cNvPr id="27" name="Text 21"/>
          <p:cNvSpPr/>
          <p:nvPr/>
        </p:nvSpPr>
        <p:spPr>
          <a:xfrm>
            <a:off x="914400" y="5971032"/>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Durable · Framer AI · Hostinger AI</a:t>
            </a:r>
            <a:endParaRPr lang="en-US" sz="950" dirty="0"/>
          </a:p>
        </p:txBody>
      </p:sp>
      <p:sp>
        <p:nvSpPr>
          <p:cNvPr id="28" name="Shape 22"/>
          <p:cNvSpPr/>
          <p:nvPr/>
        </p:nvSpPr>
        <p:spPr>
          <a:xfrm>
            <a:off x="4507992" y="4187952"/>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29" name="Shape 23"/>
          <p:cNvSpPr/>
          <p:nvPr/>
        </p:nvSpPr>
        <p:spPr>
          <a:xfrm>
            <a:off x="4764024" y="4443984"/>
            <a:ext cx="640080" cy="640080"/>
          </a:xfrm>
          <a:prstGeom prst="roundRect">
            <a:avLst>
              <a:gd name="adj" fmla="val 15714"/>
            </a:avLst>
          </a:prstGeom>
          <a:solidFill>
            <a:srgbClr val="C8941F"/>
          </a:solidFill>
          <a:ln/>
        </p:spPr>
      </p:sp>
      <p:pic>
        <p:nvPicPr>
          <p:cNvPr id="30" name="Image 4" descr="preencoded.png">    </p:cNvPr>
          <p:cNvPicPr>
            <a:picLocks noChangeAspect="1"/>
          </p:cNvPicPr>
          <p:nvPr/>
        </p:nvPicPr>
        <p:blipFill>
          <a:blip r:embed="rId5"/>
          <a:stretch>
            <a:fillRect/>
          </a:stretch>
        </p:blipFill>
        <p:spPr>
          <a:xfrm>
            <a:off x="4901184" y="4581144"/>
            <a:ext cx="365760" cy="365760"/>
          </a:xfrm>
          <a:prstGeom prst="rect">
            <a:avLst/>
          </a:prstGeom>
        </p:spPr>
      </p:pic>
      <p:sp>
        <p:nvSpPr>
          <p:cNvPr id="31" name="Text 24"/>
          <p:cNvSpPr/>
          <p:nvPr/>
        </p:nvSpPr>
        <p:spPr>
          <a:xfrm>
            <a:off x="5532120" y="4462272"/>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AI Recruitment</a:t>
            </a:r>
            <a:endParaRPr lang="en-US" sz="1500" dirty="0"/>
          </a:p>
        </p:txBody>
      </p:sp>
      <p:sp>
        <p:nvSpPr>
          <p:cNvPr id="32" name="Text 25"/>
          <p:cNvSpPr/>
          <p:nvPr/>
        </p:nvSpPr>
        <p:spPr>
          <a:xfrm>
            <a:off x="4782312" y="5212080"/>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Screen a hundred CVs in minutes; machine learning sharpens who you shortlist next time.</a:t>
            </a:r>
            <a:endParaRPr lang="en-US" sz="1150" dirty="0"/>
          </a:p>
        </p:txBody>
      </p:sp>
      <p:sp>
        <p:nvSpPr>
          <p:cNvPr id="33" name="Text 26"/>
          <p:cNvSpPr/>
          <p:nvPr/>
        </p:nvSpPr>
        <p:spPr>
          <a:xfrm>
            <a:off x="4782312" y="5971032"/>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Workable · Manatal</a:t>
            </a:r>
            <a:endParaRPr lang="en-US" sz="950" dirty="0"/>
          </a:p>
        </p:txBody>
      </p:sp>
      <p:sp>
        <p:nvSpPr>
          <p:cNvPr id="34" name="Shape 27"/>
          <p:cNvSpPr/>
          <p:nvPr/>
        </p:nvSpPr>
        <p:spPr>
          <a:xfrm>
            <a:off x="8375904" y="4187952"/>
            <a:ext cx="3611880" cy="2240280"/>
          </a:xfrm>
          <a:prstGeom prst="roundRect">
            <a:avLst>
              <a:gd name="adj" fmla="val 3265"/>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35" name="Shape 28"/>
          <p:cNvSpPr/>
          <p:nvPr/>
        </p:nvSpPr>
        <p:spPr>
          <a:xfrm>
            <a:off x="8631936" y="4443984"/>
            <a:ext cx="640080" cy="640080"/>
          </a:xfrm>
          <a:prstGeom prst="roundRect">
            <a:avLst>
              <a:gd name="adj" fmla="val 15714"/>
            </a:avLst>
          </a:prstGeom>
          <a:solidFill>
            <a:srgbClr val="028090"/>
          </a:solidFill>
          <a:ln/>
        </p:spPr>
      </p:sp>
      <p:pic>
        <p:nvPicPr>
          <p:cNvPr id="36" name="Image 5" descr="preencoded.png">    </p:cNvPr>
          <p:cNvPicPr>
            <a:picLocks noChangeAspect="1"/>
          </p:cNvPicPr>
          <p:nvPr/>
        </p:nvPicPr>
        <p:blipFill>
          <a:blip r:embed="rId6"/>
          <a:stretch>
            <a:fillRect/>
          </a:stretch>
        </p:blipFill>
        <p:spPr>
          <a:xfrm>
            <a:off x="8769096" y="4581144"/>
            <a:ext cx="365760" cy="365760"/>
          </a:xfrm>
          <a:prstGeom prst="rect">
            <a:avLst/>
          </a:prstGeom>
        </p:spPr>
      </p:pic>
      <p:sp>
        <p:nvSpPr>
          <p:cNvPr id="37" name="Text 29"/>
          <p:cNvSpPr/>
          <p:nvPr/>
        </p:nvSpPr>
        <p:spPr>
          <a:xfrm>
            <a:off x="9400032" y="4462272"/>
            <a:ext cx="2423160" cy="603504"/>
          </a:xfrm>
          <a:prstGeom prst="rect">
            <a:avLst/>
          </a:prstGeom>
          <a:noFill/>
          <a:ln/>
        </p:spPr>
        <p:txBody>
          <a:bodyPr wrap="square" lIns="0" tIns="0" rIns="0" bIns="0" rtlCol="0" anchor="ctr"/>
          <a:lstStyle/>
          <a:p>
            <a:pPr indent="0" marL="0">
              <a:buNone/>
            </a:pPr>
            <a:r>
              <a:rPr lang="en-US" sz="1500" b="1" dirty="0">
                <a:solidFill>
                  <a:srgbClr val="171A4A"/>
                </a:solidFill>
                <a:latin typeface="Calibri" pitchFamily="34" charset="0"/>
                <a:ea typeface="Calibri" pitchFamily="34" charset="-122"/>
                <a:cs typeface="Calibri" pitchFamily="34" charset="-120"/>
              </a:rPr>
              <a:t>Data, Tracking &amp; YardCode</a:t>
            </a:r>
            <a:endParaRPr lang="en-US" sz="1500" dirty="0"/>
          </a:p>
        </p:txBody>
      </p:sp>
      <p:sp>
        <p:nvSpPr>
          <p:cNvPr id="38" name="Text 30"/>
          <p:cNvSpPr/>
          <p:nvPr/>
        </p:nvSpPr>
        <p:spPr>
          <a:xfrm>
            <a:off x="8650224" y="5212080"/>
            <a:ext cx="3108960" cy="777240"/>
          </a:xfrm>
          <a:prstGeom prst="rect">
            <a:avLst/>
          </a:prstGeom>
          <a:noFill/>
          <a:ln/>
        </p:spPr>
        <p:txBody>
          <a:bodyPr wrap="square" lIns="0" tIns="0" rIns="0" bIns="0" rtlCol="0" anchor="ctr"/>
          <a:lstStyle/>
          <a:p>
            <a:pPr indent="0" marL="0">
              <a:buNone/>
            </a:pPr>
            <a:r>
              <a:rPr lang="en-US" sz="1150" dirty="0">
                <a:solidFill>
                  <a:srgbClr val="55586F"/>
                </a:solidFill>
                <a:latin typeface="Calibri" pitchFamily="34" charset="0"/>
                <a:ea typeface="Calibri" pitchFamily="34" charset="-122"/>
                <a:cs typeface="Calibri" pitchFamily="34" charset="-120"/>
              </a:rPr>
              <a:t>Collect on low bandwidth, dashboard it, and GPS-track field staff with Nigerian-built geo-addressing.</a:t>
            </a:r>
            <a:endParaRPr lang="en-US" sz="1150" dirty="0"/>
          </a:p>
        </p:txBody>
      </p:sp>
      <p:sp>
        <p:nvSpPr>
          <p:cNvPr id="39" name="Text 31"/>
          <p:cNvSpPr/>
          <p:nvPr/>
        </p:nvSpPr>
        <p:spPr>
          <a:xfrm>
            <a:off x="8650224" y="5971032"/>
            <a:ext cx="3108960" cy="365760"/>
          </a:xfrm>
          <a:prstGeom prst="rect">
            <a:avLst/>
          </a:prstGeom>
          <a:noFill/>
          <a:ln/>
        </p:spPr>
        <p:txBody>
          <a:bodyPr wrap="square" lIns="0" tIns="0" rIns="0" bIns="0" rtlCol="0" anchor="ctr"/>
          <a:lstStyle/>
          <a:p>
            <a:pPr indent="0" marL="0">
              <a:buNone/>
            </a:pPr>
            <a:r>
              <a:rPr lang="en-US" sz="950" dirty="0">
                <a:solidFill>
                  <a:srgbClr val="C8941F"/>
                </a:solidFill>
                <a:latin typeface="Consolas" pitchFamily="34" charset="0"/>
                <a:ea typeface="Consolas" pitchFamily="34" charset="-122"/>
                <a:cs typeface="Consolas" pitchFamily="34" charset="-120"/>
              </a:rPr>
              <a:t>Kobo · Airtable · Power BI · YardCode</a:t>
            </a:r>
            <a:endParaRPr lang="en-US" sz="950" dirty="0"/>
          </a:p>
        </p:txBody>
      </p:sp>
      <p:sp>
        <p:nvSpPr>
          <p:cNvPr id="40" name="Text 32"/>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86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3"/>
          <a:stretch>
            <a:fillRect/>
          </a:stretch>
        </p:blipFill>
        <p:spPr>
          <a:xfrm>
            <a:off x="731520" y="914400"/>
            <a:ext cx="914400" cy="914400"/>
          </a:xfrm>
          <a:prstGeom prst="rect">
            <a:avLst/>
          </a:prstGeom>
        </p:spPr>
      </p:pic>
      <p:sp>
        <p:nvSpPr>
          <p:cNvPr id="4" name="Text 0"/>
          <p:cNvSpPr/>
          <p:nvPr/>
        </p:nvSpPr>
        <p:spPr>
          <a:xfrm>
            <a:off x="731520" y="2011680"/>
            <a:ext cx="10515600" cy="1280160"/>
          </a:xfrm>
          <a:prstGeom prst="rect">
            <a:avLst/>
          </a:prstGeom>
          <a:noFill/>
          <a:ln/>
        </p:spPr>
        <p:txBody>
          <a:bodyPr wrap="square" lIns="0" tIns="0" rIns="0" bIns="0" rtlCol="0" anchor="ctr"/>
          <a:lstStyle/>
          <a:p>
            <a:pPr indent="0" marL="0">
              <a:lnSpc>
                <a:spcPts val="4400"/>
              </a:lnSpc>
              <a:buNone/>
            </a:pPr>
            <a:r>
              <a:rPr lang="en-US" sz="3800" b="1" i="1" dirty="0">
                <a:solidFill>
                  <a:srgbClr val="FFFFFF"/>
                </a:solidFill>
                <a:latin typeface="Bookman Old Style" pitchFamily="34" charset="0"/>
                <a:ea typeface="Bookman Old Style" pitchFamily="34" charset="-122"/>
                <a:cs typeface="Bookman Old Style" pitchFamily="34" charset="-120"/>
              </a:rPr>
              <a:t>Three years of systematic theft, hidden in plain sight.</a:t>
            </a:r>
            <a:endParaRPr lang="en-US" sz="3800" dirty="0"/>
          </a:p>
        </p:txBody>
      </p:sp>
      <p:sp>
        <p:nvSpPr>
          <p:cNvPr id="5" name="Text 1"/>
          <p:cNvSpPr/>
          <p:nvPr/>
        </p:nvSpPr>
        <p:spPr>
          <a:xfrm>
            <a:off x="731520" y="3657600"/>
            <a:ext cx="9601200" cy="1371600"/>
          </a:xfrm>
          <a:prstGeom prst="rect">
            <a:avLst/>
          </a:prstGeom>
          <a:noFill/>
          <a:ln/>
        </p:spPr>
        <p:txBody>
          <a:bodyPr wrap="square" rtlCol="0" anchor="ctr"/>
          <a:lstStyle/>
          <a:p>
            <a:pPr indent="0" marL="0">
              <a:buNone/>
            </a:pPr>
            <a:r>
              <a:rPr lang="en-US" sz="1800" dirty="0">
                <a:solidFill>
                  <a:srgbClr val="D6D6EC"/>
                </a:solidFill>
                <a:latin typeface="Calibri" pitchFamily="34" charset="0"/>
                <a:ea typeface="Calibri" pitchFamily="34" charset="-122"/>
                <a:cs typeface="Calibri" pitchFamily="34" charset="-120"/>
              </a:rPr>
              <a:t>Run the bank statements against the internal records through an AI reconciliation tool, and the small, regular discrepancies a human eye glides past form an unmistakable pattern — in minutes, not months. Don't wait until you are in trouble. Audit routinely.</a:t>
            </a:r>
            <a:endParaRPr lang="en-US" sz="1800" dirty="0"/>
          </a:p>
        </p:txBody>
      </p:sp>
      <p:sp>
        <p:nvSpPr>
          <p:cNvPr id="6" name="Text 2"/>
          <p:cNvSpPr/>
          <p:nvPr/>
        </p:nvSpPr>
        <p:spPr>
          <a:xfrm>
            <a:off x="731520" y="5394960"/>
            <a:ext cx="10058400" cy="365760"/>
          </a:xfrm>
          <a:prstGeom prst="rect">
            <a:avLst/>
          </a:prstGeom>
          <a:noFill/>
          <a:ln/>
        </p:spPr>
        <p:txBody>
          <a:bodyPr wrap="square" rtlCol="0" anchor="ctr"/>
          <a:lstStyle/>
          <a:p>
            <a:pPr indent="0" marL="0">
              <a:buNone/>
            </a:pPr>
            <a:r>
              <a:rPr lang="en-US" sz="1200" b="1" spc="200" kern="0" dirty="0">
                <a:solidFill>
                  <a:srgbClr val="E8B84B"/>
                </a:solidFill>
                <a:latin typeface="Calibri" pitchFamily="34" charset="0"/>
                <a:ea typeface="Calibri" pitchFamily="34" charset="-122"/>
                <a:cs typeface="Calibri" pitchFamily="34" charset="-120"/>
              </a:rPr>
              <a:t>ILLUSTRATIVE · AI FINANCIAL AUDITING &amp; FRAUD DETECTION</a:t>
            </a:r>
            <a:endParaRPr lang="en-US" sz="1200" dirty="0"/>
          </a:p>
        </p:txBody>
      </p:sp>
      <p:sp>
        <p:nvSpPr>
          <p:cNvPr id="7" name="Text 3"/>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THE BIGGER IDEA</a:t>
            </a:r>
            <a:endParaRPr lang="en-US" sz="1200" dirty="0"/>
          </a:p>
        </p:txBody>
      </p:sp>
      <p:sp>
        <p:nvSpPr>
          <p:cNvPr id="3" name="Text 1"/>
          <p:cNvSpPr/>
          <p:nvPr/>
        </p:nvSpPr>
        <p:spPr>
          <a:xfrm>
            <a:off x="640080" y="841248"/>
            <a:ext cx="10881360" cy="822960"/>
          </a:xfrm>
          <a:prstGeom prst="rect">
            <a:avLst/>
          </a:prstGeom>
          <a:noFill/>
          <a:ln/>
        </p:spPr>
        <p:txBody>
          <a:bodyPr wrap="square" lIns="0" tIns="0" rIns="0" bIns="0" rtlCol="0" anchor="ctr"/>
          <a:lstStyle/>
          <a:p>
            <a:pPr indent="0" marL="0">
              <a:buNone/>
            </a:pPr>
            <a:r>
              <a:rPr lang="en-US" sz="2800" b="1" dirty="0">
                <a:solidFill>
                  <a:srgbClr val="171A4A"/>
                </a:solidFill>
                <a:latin typeface="Bookman Old Style" pitchFamily="34" charset="0"/>
                <a:ea typeface="Bookman Old Style" pitchFamily="34" charset="-122"/>
                <a:cs typeface="Bookman Old Style" pitchFamily="34" charset="-120"/>
              </a:rPr>
              <a:t>An entire department of your business can be run by AI</a:t>
            </a:r>
            <a:endParaRPr lang="en-US" sz="2800" dirty="0"/>
          </a:p>
        </p:txBody>
      </p:sp>
      <p:sp>
        <p:nvSpPr>
          <p:cNvPr id="4" name="Text 2"/>
          <p:cNvSpPr/>
          <p:nvPr/>
        </p:nvSpPr>
        <p:spPr>
          <a:xfrm>
            <a:off x="640080" y="1691640"/>
            <a:ext cx="10881360" cy="822960"/>
          </a:xfrm>
          <a:prstGeom prst="rect">
            <a:avLst/>
          </a:prstGeom>
          <a:noFill/>
          <a:ln/>
        </p:spPr>
        <p:txBody>
          <a:bodyPr wrap="square" rtlCol="0" anchor="ctr"/>
          <a:lstStyle/>
          <a:p>
            <a:pPr indent="0" marL="0">
              <a:buNone/>
            </a:pPr>
            <a:r>
              <a:rPr lang="en-US" sz="1500" dirty="0">
                <a:solidFill>
                  <a:srgbClr val="55586F"/>
                </a:solidFill>
                <a:latin typeface="Calibri" pitchFamily="34" charset="0"/>
                <a:ea typeface="Calibri" pitchFamily="34" charset="-122"/>
                <a:cs typeface="Calibri" pitchFamily="34" charset="-120"/>
              </a:rPr>
              <a:t>If a customer can reach you by WhatsApp, email or voice call, a system trained on how you already respond can answer on your behalf — in your style, your pricing, your real availability — at 11pm on a Sunday.</a:t>
            </a:r>
            <a:endParaRPr lang="en-US" sz="1500" dirty="0"/>
          </a:p>
        </p:txBody>
      </p:sp>
      <p:sp>
        <p:nvSpPr>
          <p:cNvPr id="5" name="Shape 3"/>
          <p:cNvSpPr/>
          <p:nvPr/>
        </p:nvSpPr>
        <p:spPr>
          <a:xfrm>
            <a:off x="640080" y="2926080"/>
            <a:ext cx="2084832" cy="1371600"/>
          </a:xfrm>
          <a:prstGeom prst="roundRect">
            <a:avLst>
              <a:gd name="adj" fmla="val 5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804672" y="3090672"/>
            <a:ext cx="457200" cy="365760"/>
          </a:xfrm>
          <a:prstGeom prst="rect">
            <a:avLst/>
          </a:prstGeom>
          <a:noFill/>
          <a:ln/>
        </p:spPr>
        <p:txBody>
          <a:bodyPr wrap="square" lIns="0" tIns="0" rIns="0" bIns="0" rtlCol="0" anchor="ctr"/>
          <a:lstStyle/>
          <a:p>
            <a:pPr indent="0" marL="0">
              <a:buNone/>
            </a:pPr>
            <a:r>
              <a:rPr lang="en-US" sz="2000" b="1" dirty="0">
                <a:solidFill>
                  <a:srgbClr val="DCD8CC"/>
                </a:solidFill>
                <a:latin typeface="Bookman Old Style" pitchFamily="34" charset="0"/>
                <a:ea typeface="Bookman Old Style" pitchFamily="34" charset="-122"/>
                <a:cs typeface="Bookman Old Style" pitchFamily="34" charset="-120"/>
              </a:rPr>
              <a:t>1</a:t>
            </a:r>
            <a:endParaRPr lang="en-US" sz="2000" dirty="0"/>
          </a:p>
        </p:txBody>
      </p:sp>
      <p:sp>
        <p:nvSpPr>
          <p:cNvPr id="7" name="Text 5"/>
          <p:cNvSpPr/>
          <p:nvPr/>
        </p:nvSpPr>
        <p:spPr>
          <a:xfrm>
            <a:off x="822960" y="3474720"/>
            <a:ext cx="1719072" cy="731520"/>
          </a:xfrm>
          <a:prstGeom prst="rect">
            <a:avLst/>
          </a:prstGeom>
          <a:noFill/>
          <a:ln/>
        </p:spPr>
        <p:txBody>
          <a:bodyPr wrap="square" lIns="0" tIns="0" rIns="0" bIns="0" rtlCol="0" anchor="t"/>
          <a:lstStyle/>
          <a:p>
            <a:pPr indent="0" marL="0">
              <a:buNone/>
            </a:pPr>
            <a:r>
              <a:rPr lang="en-US" sz="1350" b="1" dirty="0">
                <a:solidFill>
                  <a:srgbClr val="171A4A"/>
                </a:solidFill>
                <a:latin typeface="Calibri" pitchFamily="34" charset="0"/>
                <a:ea typeface="Calibri" pitchFamily="34" charset="-122"/>
                <a:cs typeface="Calibri" pitchFamily="34" charset="-120"/>
              </a:rPr>
              <a:t>Enquiry comes in</a:t>
            </a:r>
            <a:endParaRPr lang="en-US" sz="1350" dirty="0"/>
          </a:p>
        </p:txBody>
      </p:sp>
      <p:sp>
        <p:nvSpPr>
          <p:cNvPr id="8" name="Text 6"/>
          <p:cNvSpPr/>
          <p:nvPr/>
        </p:nvSpPr>
        <p:spPr>
          <a:xfrm>
            <a:off x="2706624" y="2926080"/>
            <a:ext cx="201168" cy="1371600"/>
          </a:xfrm>
          <a:prstGeom prst="rect">
            <a:avLst/>
          </a:prstGeom>
          <a:noFill/>
          <a:ln/>
        </p:spPr>
        <p:txBody>
          <a:bodyPr wrap="square" lIns="0" tIns="0" rIns="0" bIns="0" rtlCol="0" anchor="ctr"/>
          <a:lstStyle/>
          <a:p>
            <a:pPr algn="ctr" indent="0" marL="0">
              <a:buNone/>
            </a:pPr>
            <a:r>
              <a:rPr lang="en-US" sz="2600" b="1" dirty="0">
                <a:solidFill>
                  <a:srgbClr val="C8941F"/>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2834640" y="2926080"/>
            <a:ext cx="2084832" cy="1371600"/>
          </a:xfrm>
          <a:prstGeom prst="roundRect">
            <a:avLst>
              <a:gd name="adj" fmla="val 5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0" name="Text 8"/>
          <p:cNvSpPr/>
          <p:nvPr/>
        </p:nvSpPr>
        <p:spPr>
          <a:xfrm>
            <a:off x="2999232" y="3090672"/>
            <a:ext cx="457200" cy="365760"/>
          </a:xfrm>
          <a:prstGeom prst="rect">
            <a:avLst/>
          </a:prstGeom>
          <a:noFill/>
          <a:ln/>
        </p:spPr>
        <p:txBody>
          <a:bodyPr wrap="square" lIns="0" tIns="0" rIns="0" bIns="0" rtlCol="0" anchor="ctr"/>
          <a:lstStyle/>
          <a:p>
            <a:pPr indent="0" marL="0">
              <a:buNone/>
            </a:pPr>
            <a:r>
              <a:rPr lang="en-US" sz="2000" b="1" dirty="0">
                <a:solidFill>
                  <a:srgbClr val="DCD8CC"/>
                </a:solidFill>
                <a:latin typeface="Bookman Old Style" pitchFamily="34" charset="0"/>
                <a:ea typeface="Bookman Old Style" pitchFamily="34" charset="-122"/>
                <a:cs typeface="Bookman Old Style" pitchFamily="34" charset="-120"/>
              </a:rPr>
              <a:t>2</a:t>
            </a:r>
            <a:endParaRPr lang="en-US" sz="2000" dirty="0"/>
          </a:p>
        </p:txBody>
      </p:sp>
      <p:sp>
        <p:nvSpPr>
          <p:cNvPr id="11" name="Text 9"/>
          <p:cNvSpPr/>
          <p:nvPr/>
        </p:nvSpPr>
        <p:spPr>
          <a:xfrm>
            <a:off x="3017520" y="3474720"/>
            <a:ext cx="1719072" cy="731520"/>
          </a:xfrm>
          <a:prstGeom prst="rect">
            <a:avLst/>
          </a:prstGeom>
          <a:noFill/>
          <a:ln/>
        </p:spPr>
        <p:txBody>
          <a:bodyPr wrap="square" lIns="0" tIns="0" rIns="0" bIns="0" rtlCol="0" anchor="t"/>
          <a:lstStyle/>
          <a:p>
            <a:pPr indent="0" marL="0">
              <a:buNone/>
            </a:pPr>
            <a:r>
              <a:rPr lang="en-US" sz="1350" b="1" dirty="0">
                <a:solidFill>
                  <a:srgbClr val="171A4A"/>
                </a:solidFill>
                <a:latin typeface="Calibri" pitchFamily="34" charset="0"/>
                <a:ea typeface="Calibri" pitchFamily="34" charset="-122"/>
                <a:cs typeface="Calibri" pitchFamily="34" charset="-120"/>
              </a:rPr>
              <a:t>AI replies in your voice</a:t>
            </a:r>
            <a:endParaRPr lang="en-US" sz="1350" dirty="0"/>
          </a:p>
        </p:txBody>
      </p:sp>
      <p:sp>
        <p:nvSpPr>
          <p:cNvPr id="12" name="Text 10"/>
          <p:cNvSpPr/>
          <p:nvPr/>
        </p:nvSpPr>
        <p:spPr>
          <a:xfrm>
            <a:off x="4901184" y="2926080"/>
            <a:ext cx="201168" cy="1371600"/>
          </a:xfrm>
          <a:prstGeom prst="rect">
            <a:avLst/>
          </a:prstGeom>
          <a:noFill/>
          <a:ln/>
        </p:spPr>
        <p:txBody>
          <a:bodyPr wrap="square" lIns="0" tIns="0" rIns="0" bIns="0" rtlCol="0" anchor="ctr"/>
          <a:lstStyle/>
          <a:p>
            <a:pPr algn="ctr" indent="0" marL="0">
              <a:buNone/>
            </a:pPr>
            <a:r>
              <a:rPr lang="en-US" sz="2600" b="1" dirty="0">
                <a:solidFill>
                  <a:srgbClr val="C8941F"/>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5029200" y="2926080"/>
            <a:ext cx="2084832" cy="1371600"/>
          </a:xfrm>
          <a:prstGeom prst="roundRect">
            <a:avLst>
              <a:gd name="adj" fmla="val 5333"/>
            </a:avLst>
          </a:prstGeom>
          <a:solidFill>
            <a:srgbClr val="171A4A"/>
          </a:solidFill>
          <a:ln w="12700">
            <a:solidFill>
              <a:srgbClr val="171A4A"/>
            </a:solidFill>
            <a:prstDash val="solid"/>
          </a:ln>
          <a:effectLst>
            <a:outerShdw sx="100000" sy="100000" kx="0" ky="0" algn="bl" rotWithShape="0" blurRad="88900" dist="38100" dir="5400000">
              <a:srgbClr val="000000">
                <a:alpha val="12000"/>
              </a:srgbClr>
            </a:outerShdw>
          </a:effectLst>
        </p:spPr>
      </p:sp>
      <p:sp>
        <p:nvSpPr>
          <p:cNvPr id="14" name="Text 12"/>
          <p:cNvSpPr/>
          <p:nvPr/>
        </p:nvSpPr>
        <p:spPr>
          <a:xfrm>
            <a:off x="5193792" y="3090672"/>
            <a:ext cx="457200" cy="365760"/>
          </a:xfrm>
          <a:prstGeom prst="rect">
            <a:avLst/>
          </a:prstGeom>
          <a:noFill/>
          <a:ln/>
        </p:spPr>
        <p:txBody>
          <a:bodyPr wrap="square" lIns="0" tIns="0" rIns="0" bIns="0" rtlCol="0" anchor="ctr"/>
          <a:lstStyle/>
          <a:p>
            <a:pPr indent="0" marL="0">
              <a:buNone/>
            </a:pPr>
            <a:r>
              <a:rPr lang="en-US" sz="2000" b="1" dirty="0">
                <a:solidFill>
                  <a:srgbClr val="E8B84B"/>
                </a:solidFill>
                <a:latin typeface="Bookman Old Style" pitchFamily="34" charset="0"/>
                <a:ea typeface="Bookman Old Style" pitchFamily="34" charset="-122"/>
                <a:cs typeface="Bookman Old Style" pitchFamily="34" charset="-120"/>
              </a:rPr>
              <a:t>3</a:t>
            </a:r>
            <a:endParaRPr lang="en-US" sz="2000" dirty="0"/>
          </a:p>
        </p:txBody>
      </p:sp>
      <p:sp>
        <p:nvSpPr>
          <p:cNvPr id="15" name="Text 13"/>
          <p:cNvSpPr/>
          <p:nvPr/>
        </p:nvSpPr>
        <p:spPr>
          <a:xfrm>
            <a:off x="5212080" y="3474720"/>
            <a:ext cx="1719072" cy="7315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Customer pays (open banking API)</a:t>
            </a:r>
            <a:endParaRPr lang="en-US" sz="1350" dirty="0"/>
          </a:p>
        </p:txBody>
      </p:sp>
      <p:sp>
        <p:nvSpPr>
          <p:cNvPr id="16" name="Text 14"/>
          <p:cNvSpPr/>
          <p:nvPr/>
        </p:nvSpPr>
        <p:spPr>
          <a:xfrm>
            <a:off x="7095744" y="2926080"/>
            <a:ext cx="201168" cy="1371600"/>
          </a:xfrm>
          <a:prstGeom prst="rect">
            <a:avLst/>
          </a:prstGeom>
          <a:noFill/>
          <a:ln/>
        </p:spPr>
        <p:txBody>
          <a:bodyPr wrap="square" lIns="0" tIns="0" rIns="0" bIns="0" rtlCol="0" anchor="ctr"/>
          <a:lstStyle/>
          <a:p>
            <a:pPr algn="ctr" indent="0" marL="0">
              <a:buNone/>
            </a:pPr>
            <a:r>
              <a:rPr lang="en-US" sz="2600" b="1" dirty="0">
                <a:solidFill>
                  <a:srgbClr val="C8941F"/>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7223760" y="2926080"/>
            <a:ext cx="2084832" cy="1371600"/>
          </a:xfrm>
          <a:prstGeom prst="roundRect">
            <a:avLst>
              <a:gd name="adj" fmla="val 5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8" name="Text 16"/>
          <p:cNvSpPr/>
          <p:nvPr/>
        </p:nvSpPr>
        <p:spPr>
          <a:xfrm>
            <a:off x="7388352" y="3090672"/>
            <a:ext cx="457200" cy="365760"/>
          </a:xfrm>
          <a:prstGeom prst="rect">
            <a:avLst/>
          </a:prstGeom>
          <a:noFill/>
          <a:ln/>
        </p:spPr>
        <p:txBody>
          <a:bodyPr wrap="square" lIns="0" tIns="0" rIns="0" bIns="0" rtlCol="0" anchor="ctr"/>
          <a:lstStyle/>
          <a:p>
            <a:pPr indent="0" marL="0">
              <a:buNone/>
            </a:pPr>
            <a:r>
              <a:rPr lang="en-US" sz="2000" b="1" dirty="0">
                <a:solidFill>
                  <a:srgbClr val="DCD8CC"/>
                </a:solidFill>
                <a:latin typeface="Bookman Old Style" pitchFamily="34" charset="0"/>
                <a:ea typeface="Bookman Old Style" pitchFamily="34" charset="-122"/>
                <a:cs typeface="Bookman Old Style" pitchFamily="34" charset="-120"/>
              </a:rPr>
              <a:t>4</a:t>
            </a:r>
            <a:endParaRPr lang="en-US" sz="2000" dirty="0"/>
          </a:p>
        </p:txBody>
      </p:sp>
      <p:sp>
        <p:nvSpPr>
          <p:cNvPr id="19" name="Text 17"/>
          <p:cNvSpPr/>
          <p:nvPr/>
        </p:nvSpPr>
        <p:spPr>
          <a:xfrm>
            <a:off x="7406640" y="3474720"/>
            <a:ext cx="1719072" cy="731520"/>
          </a:xfrm>
          <a:prstGeom prst="rect">
            <a:avLst/>
          </a:prstGeom>
          <a:noFill/>
          <a:ln/>
        </p:spPr>
        <p:txBody>
          <a:bodyPr wrap="square" lIns="0" tIns="0" rIns="0" bIns="0" rtlCol="0" anchor="t"/>
          <a:lstStyle/>
          <a:p>
            <a:pPr indent="0" marL="0">
              <a:buNone/>
            </a:pPr>
            <a:r>
              <a:rPr lang="en-US" sz="1350" b="1" dirty="0">
                <a:solidFill>
                  <a:srgbClr val="171A4A"/>
                </a:solidFill>
                <a:latin typeface="Calibri" pitchFamily="34" charset="0"/>
                <a:ea typeface="Calibri" pitchFamily="34" charset="-122"/>
                <a:cs typeface="Calibri" pitchFamily="34" charset="-120"/>
              </a:rPr>
              <a:t>Receipt issued automatically</a:t>
            </a:r>
            <a:endParaRPr lang="en-US" sz="1350" dirty="0"/>
          </a:p>
        </p:txBody>
      </p:sp>
      <p:sp>
        <p:nvSpPr>
          <p:cNvPr id="20" name="Text 18"/>
          <p:cNvSpPr/>
          <p:nvPr/>
        </p:nvSpPr>
        <p:spPr>
          <a:xfrm>
            <a:off x="9290304" y="2926080"/>
            <a:ext cx="201168" cy="1371600"/>
          </a:xfrm>
          <a:prstGeom prst="rect">
            <a:avLst/>
          </a:prstGeom>
          <a:noFill/>
          <a:ln/>
        </p:spPr>
        <p:txBody>
          <a:bodyPr wrap="square" lIns="0" tIns="0" rIns="0" bIns="0" rtlCol="0" anchor="ctr"/>
          <a:lstStyle/>
          <a:p>
            <a:pPr algn="ctr" indent="0" marL="0">
              <a:buNone/>
            </a:pPr>
            <a:r>
              <a:rPr lang="en-US" sz="2600" b="1" dirty="0">
                <a:solidFill>
                  <a:srgbClr val="C8941F"/>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9418320" y="2926080"/>
            <a:ext cx="2084832" cy="1371600"/>
          </a:xfrm>
          <a:prstGeom prst="roundRect">
            <a:avLst>
              <a:gd name="adj" fmla="val 5333"/>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22" name="Text 20"/>
          <p:cNvSpPr/>
          <p:nvPr/>
        </p:nvSpPr>
        <p:spPr>
          <a:xfrm>
            <a:off x="9582912" y="3090672"/>
            <a:ext cx="457200" cy="365760"/>
          </a:xfrm>
          <a:prstGeom prst="rect">
            <a:avLst/>
          </a:prstGeom>
          <a:noFill/>
          <a:ln/>
        </p:spPr>
        <p:txBody>
          <a:bodyPr wrap="square" lIns="0" tIns="0" rIns="0" bIns="0" rtlCol="0" anchor="ctr"/>
          <a:lstStyle/>
          <a:p>
            <a:pPr indent="0" marL="0">
              <a:buNone/>
            </a:pPr>
            <a:r>
              <a:rPr lang="en-US" sz="2000" b="1" dirty="0">
                <a:solidFill>
                  <a:srgbClr val="DCD8CC"/>
                </a:solidFill>
                <a:latin typeface="Bookman Old Style" pitchFamily="34" charset="0"/>
                <a:ea typeface="Bookman Old Style" pitchFamily="34" charset="-122"/>
                <a:cs typeface="Bookman Old Style" pitchFamily="34" charset="-120"/>
              </a:rPr>
              <a:t>5</a:t>
            </a:r>
            <a:endParaRPr lang="en-US" sz="2000" dirty="0"/>
          </a:p>
        </p:txBody>
      </p:sp>
      <p:sp>
        <p:nvSpPr>
          <p:cNvPr id="23" name="Text 21"/>
          <p:cNvSpPr/>
          <p:nvPr/>
        </p:nvSpPr>
        <p:spPr>
          <a:xfrm>
            <a:off x="9601200" y="3474720"/>
            <a:ext cx="1719072" cy="731520"/>
          </a:xfrm>
          <a:prstGeom prst="rect">
            <a:avLst/>
          </a:prstGeom>
          <a:noFill/>
          <a:ln/>
        </p:spPr>
        <p:txBody>
          <a:bodyPr wrap="square" lIns="0" tIns="0" rIns="0" bIns="0" rtlCol="0" anchor="t"/>
          <a:lstStyle/>
          <a:p>
            <a:pPr indent="0" marL="0">
              <a:buNone/>
            </a:pPr>
            <a:r>
              <a:rPr lang="en-US" sz="1350" b="1" dirty="0">
                <a:solidFill>
                  <a:srgbClr val="171A4A"/>
                </a:solidFill>
                <a:latin typeface="Calibri" pitchFamily="34" charset="0"/>
                <a:ea typeface="Calibri" pitchFamily="34" charset="-122"/>
                <a:cs typeface="Calibri" pitchFamily="34" charset="-120"/>
              </a:rPr>
              <a:t>Dispatch triggered</a:t>
            </a:r>
            <a:endParaRPr lang="en-US" sz="1350" dirty="0"/>
          </a:p>
        </p:txBody>
      </p:sp>
      <p:sp>
        <p:nvSpPr>
          <p:cNvPr id="24" name="Text 22"/>
          <p:cNvSpPr/>
          <p:nvPr/>
        </p:nvSpPr>
        <p:spPr>
          <a:xfrm>
            <a:off x="640080" y="4754880"/>
            <a:ext cx="10881360" cy="1097280"/>
          </a:xfrm>
          <a:prstGeom prst="rect">
            <a:avLst/>
          </a:prstGeom>
          <a:noFill/>
          <a:ln/>
        </p:spPr>
        <p:txBody>
          <a:bodyPr wrap="square" rtlCol="0" anchor="ctr"/>
          <a:lstStyle/>
          <a:p>
            <a:pPr indent="0" marL="0">
              <a:buNone/>
            </a:pPr>
            <a:r>
              <a:rPr lang="en-US" sz="1400" i="1" dirty="0">
                <a:solidFill>
                  <a:srgbClr val="14152B"/>
                </a:solidFill>
                <a:latin typeface="Calibri" pitchFamily="34" charset="0"/>
                <a:ea typeface="Calibri" pitchFamily="34" charset="-122"/>
                <a:cs typeface="Calibri" pitchFamily="34" charset="-120"/>
              </a:rPr>
              <a:t>Your fifteen staff don't disappear — freed from repetitive admin, they do the relationship work AI cannot. You scale to ten times the volume with the same team. Note: Nigeria's open banking framework is approved but rolling out in phases — build now to be ready.</a:t>
            </a:r>
            <a:endParaRPr lang="en-US" sz="1400" dirty="0"/>
          </a:p>
        </p:txBody>
      </p:sp>
      <p:sp>
        <p:nvSpPr>
          <p:cNvPr id="25" name="Text 23"/>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3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Shape 0"/>
          <p:cNvSpPr/>
          <p:nvPr/>
        </p:nvSpPr>
        <p:spPr>
          <a:xfrm>
            <a:off x="8076895" y="-1828800"/>
            <a:ext cx="5486400" cy="4572000"/>
          </a:xfrm>
          <a:prstGeom prst="ellipse">
            <a:avLst/>
          </a:prstGeom>
          <a:solidFill>
            <a:srgbClr val="E8B84B">
              <a:alpha val="12000"/>
            </a:srgbClr>
          </a:solidFill>
          <a:ln/>
        </p:spPr>
      </p:sp>
      <p:sp>
        <p:nvSpPr>
          <p:cNvPr id="4" name="Text 1"/>
          <p:cNvSpPr/>
          <p:nvPr/>
        </p:nvSpPr>
        <p:spPr>
          <a:xfrm>
            <a:off x="640080" y="548640"/>
            <a:ext cx="7315200" cy="274320"/>
          </a:xfrm>
          <a:prstGeom prst="rect">
            <a:avLst/>
          </a:prstGeom>
          <a:noFill/>
          <a:ln/>
        </p:spPr>
        <p:txBody>
          <a:bodyPr wrap="square" lIns="0" tIns="0" rIns="0" bIns="0" rtlCol="0" anchor="ctr"/>
          <a:lstStyle/>
          <a:p>
            <a:pPr indent="0" marL="0">
              <a:buNone/>
            </a:pPr>
            <a:r>
              <a:rPr lang="en-US" sz="1200" b="1" spc="300" kern="0" dirty="0">
                <a:solidFill>
                  <a:srgbClr val="E8B84B"/>
                </a:solidFill>
                <a:latin typeface="Calibri" pitchFamily="34" charset="0"/>
                <a:ea typeface="Calibri" pitchFamily="34" charset="-122"/>
                <a:cs typeface="Calibri" pitchFamily="34" charset="-120"/>
              </a:rPr>
              <a:t>THE NEXT FIVE YEARS</a:t>
            </a:r>
            <a:endParaRPr lang="en-US" sz="1200" dirty="0"/>
          </a:p>
        </p:txBody>
      </p:sp>
      <p:sp>
        <p:nvSpPr>
          <p:cNvPr id="5" name="Text 2"/>
          <p:cNvSpPr/>
          <p:nvPr/>
        </p:nvSpPr>
        <p:spPr>
          <a:xfrm>
            <a:off x="640080" y="914400"/>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The agent economy is already forming</a:t>
            </a:r>
            <a:endParaRPr lang="en-US" sz="3000" dirty="0"/>
          </a:p>
        </p:txBody>
      </p:sp>
      <p:sp>
        <p:nvSpPr>
          <p:cNvPr id="6" name="Text 3"/>
          <p:cNvSpPr/>
          <p:nvPr/>
        </p:nvSpPr>
        <p:spPr>
          <a:xfrm>
            <a:off x="640080" y="1645920"/>
            <a:ext cx="10058400" cy="822960"/>
          </a:xfrm>
          <a:prstGeom prst="rect">
            <a:avLst/>
          </a:prstGeom>
          <a:noFill/>
          <a:ln/>
        </p:spPr>
        <p:txBody>
          <a:bodyPr wrap="square" rtlCol="0" anchor="ctr"/>
          <a:lstStyle/>
          <a:p>
            <a:pPr indent="0" marL="0">
              <a:buNone/>
            </a:pPr>
            <a:r>
              <a:rPr lang="en-US" sz="1500" dirty="0">
                <a:solidFill>
                  <a:srgbClr val="C9C9E6"/>
                </a:solidFill>
                <a:latin typeface="Calibri" pitchFamily="34" charset="0"/>
                <a:ea typeface="Calibri" pitchFamily="34" charset="-122"/>
                <a:cs typeface="Calibri" pitchFamily="34" charset="-120"/>
              </a:rPr>
              <a:t>An AI agent does not just answer — it acts. Soon, your customer's agent may transact with your business's agent directly: negotiate, confirm, pay, schedule — with neither human in the conversation.</a:t>
            </a:r>
            <a:endParaRPr lang="en-US" sz="1500" dirty="0"/>
          </a:p>
        </p:txBody>
      </p:sp>
      <p:sp>
        <p:nvSpPr>
          <p:cNvPr id="7" name="Shape 4"/>
          <p:cNvSpPr/>
          <p:nvPr/>
        </p:nvSpPr>
        <p:spPr>
          <a:xfrm>
            <a:off x="822960" y="2926080"/>
            <a:ext cx="3931920" cy="2011680"/>
          </a:xfrm>
          <a:prstGeom prst="roundRect">
            <a:avLst>
              <a:gd name="adj" fmla="val 4545"/>
            </a:avLst>
          </a:prstGeom>
          <a:solidFill>
            <a:srgbClr val="FFFFFF">
              <a:alpha val="8000"/>
            </a:srgbClr>
          </a:solidFill>
          <a:ln w="12700">
            <a:solidFill>
              <a:srgbClr val="FFFFFF"/>
            </a:solidFill>
            <a:prstDash val="solid"/>
          </a:ln>
        </p:spPr>
      </p:sp>
      <p:sp>
        <p:nvSpPr>
          <p:cNvPr id="8" name="Text 5"/>
          <p:cNvSpPr/>
          <p:nvPr/>
        </p:nvSpPr>
        <p:spPr>
          <a:xfrm>
            <a:off x="822960" y="3246120"/>
            <a:ext cx="3931920" cy="457200"/>
          </a:xfrm>
          <a:prstGeom prst="rect">
            <a:avLst/>
          </a:prstGeom>
          <a:noFill/>
          <a:ln/>
        </p:spPr>
        <p:txBody>
          <a:bodyPr wrap="square" lIns="0" tIns="0" rIns="0" bIns="0" rtlCol="0" anchor="ctr"/>
          <a:lstStyle/>
          <a:p>
            <a:pPr algn="ctr" indent="0" marL="0">
              <a:buNone/>
            </a:pPr>
            <a:r>
              <a:rPr lang="en-US" sz="1800" b="1" spc="100" kern="0" dirty="0">
                <a:solidFill>
                  <a:srgbClr val="E8B84B"/>
                </a:solidFill>
                <a:latin typeface="Calibri" pitchFamily="34" charset="0"/>
                <a:ea typeface="Calibri" pitchFamily="34" charset="-122"/>
                <a:cs typeface="Calibri" pitchFamily="34" charset="-120"/>
              </a:rPr>
              <a:t>BUYER'S AGENT</a:t>
            </a:r>
            <a:endParaRPr lang="en-US" sz="1800" dirty="0"/>
          </a:p>
        </p:txBody>
      </p:sp>
      <p:sp>
        <p:nvSpPr>
          <p:cNvPr id="9" name="Text 6"/>
          <p:cNvSpPr/>
          <p:nvPr/>
        </p:nvSpPr>
        <p:spPr>
          <a:xfrm>
            <a:off x="1097280" y="3840480"/>
            <a:ext cx="3383280" cy="822960"/>
          </a:xfrm>
          <a:prstGeom prst="rect">
            <a:avLst/>
          </a:prstGeom>
          <a:noFill/>
          <a:ln/>
        </p:spPr>
        <p:txBody>
          <a:bodyPr wrap="square" lIns="0" tIns="0" rIns="0" bIns="0" rtlCol="0" anchor="ctr"/>
          <a:lstStyle/>
          <a:p>
            <a:pPr algn="ctr" indent="0" marL="0">
              <a:buNone/>
            </a:pPr>
            <a:r>
              <a:rPr lang="en-US" sz="1300" dirty="0">
                <a:solidFill>
                  <a:srgbClr val="DEDDF0"/>
                </a:solidFill>
                <a:latin typeface="Calibri" pitchFamily="34" charset="0"/>
                <a:ea typeface="Calibri" pitchFamily="34" charset="-122"/>
                <a:cs typeface="Calibri" pitchFamily="34" charset="-120"/>
              </a:rPr>
              <a:t>Acts for the customer — finds, compares, negotiates, pays.</a:t>
            </a:r>
            <a:endParaRPr lang="en-US" sz="1300" dirty="0"/>
          </a:p>
        </p:txBody>
      </p:sp>
      <p:sp>
        <p:nvSpPr>
          <p:cNvPr id="10" name="Shape 7"/>
          <p:cNvSpPr/>
          <p:nvPr/>
        </p:nvSpPr>
        <p:spPr>
          <a:xfrm>
            <a:off x="7436815" y="2926080"/>
            <a:ext cx="3931920" cy="2011680"/>
          </a:xfrm>
          <a:prstGeom prst="roundRect">
            <a:avLst>
              <a:gd name="adj" fmla="val 4545"/>
            </a:avLst>
          </a:prstGeom>
          <a:solidFill>
            <a:srgbClr val="FFFFFF">
              <a:alpha val="8000"/>
            </a:srgbClr>
          </a:solidFill>
          <a:ln w="12700">
            <a:solidFill>
              <a:srgbClr val="FFFFFF"/>
            </a:solidFill>
            <a:prstDash val="solid"/>
          </a:ln>
        </p:spPr>
      </p:sp>
      <p:sp>
        <p:nvSpPr>
          <p:cNvPr id="11" name="Text 8"/>
          <p:cNvSpPr/>
          <p:nvPr/>
        </p:nvSpPr>
        <p:spPr>
          <a:xfrm>
            <a:off x="7436815" y="3246120"/>
            <a:ext cx="3931920" cy="457200"/>
          </a:xfrm>
          <a:prstGeom prst="rect">
            <a:avLst/>
          </a:prstGeom>
          <a:noFill/>
          <a:ln/>
        </p:spPr>
        <p:txBody>
          <a:bodyPr wrap="square" lIns="0" tIns="0" rIns="0" bIns="0" rtlCol="0" anchor="ctr"/>
          <a:lstStyle/>
          <a:p>
            <a:pPr algn="ctr" indent="0" marL="0">
              <a:buNone/>
            </a:pPr>
            <a:r>
              <a:rPr lang="en-US" sz="1800" b="1" spc="100" kern="0" dirty="0">
                <a:solidFill>
                  <a:srgbClr val="E8B84B"/>
                </a:solidFill>
                <a:latin typeface="Calibri" pitchFamily="34" charset="0"/>
                <a:ea typeface="Calibri" pitchFamily="34" charset="-122"/>
                <a:cs typeface="Calibri" pitchFamily="34" charset="-120"/>
              </a:rPr>
              <a:t>YOUR BUSINESS AGENT</a:t>
            </a:r>
            <a:endParaRPr lang="en-US" sz="1800" dirty="0"/>
          </a:p>
        </p:txBody>
      </p:sp>
      <p:sp>
        <p:nvSpPr>
          <p:cNvPr id="12" name="Text 9"/>
          <p:cNvSpPr/>
          <p:nvPr/>
        </p:nvSpPr>
        <p:spPr>
          <a:xfrm>
            <a:off x="7711135" y="3840480"/>
            <a:ext cx="3383280" cy="822960"/>
          </a:xfrm>
          <a:prstGeom prst="rect">
            <a:avLst/>
          </a:prstGeom>
          <a:noFill/>
          <a:ln/>
        </p:spPr>
        <p:txBody>
          <a:bodyPr wrap="square" lIns="0" tIns="0" rIns="0" bIns="0" rtlCol="0" anchor="ctr"/>
          <a:lstStyle/>
          <a:p>
            <a:pPr algn="ctr" indent="0" marL="0">
              <a:buNone/>
            </a:pPr>
            <a:r>
              <a:rPr lang="en-US" sz="1300" dirty="0">
                <a:solidFill>
                  <a:srgbClr val="DEDDF0"/>
                </a:solidFill>
                <a:latin typeface="Calibri" pitchFamily="34" charset="0"/>
                <a:ea typeface="Calibri" pitchFamily="34" charset="-122"/>
                <a:cs typeface="Calibri" pitchFamily="34" charset="-120"/>
              </a:rPr>
              <a:t>Represents your catalogue, pricing, stock &amp; dispatch — 24/7.</a:t>
            </a:r>
            <a:endParaRPr lang="en-US" sz="1300" dirty="0"/>
          </a:p>
        </p:txBody>
      </p:sp>
      <p:sp>
        <p:nvSpPr>
          <p:cNvPr id="13" name="Shape 10"/>
          <p:cNvSpPr/>
          <p:nvPr/>
        </p:nvSpPr>
        <p:spPr>
          <a:xfrm>
            <a:off x="5547208" y="3383280"/>
            <a:ext cx="1097280" cy="1097280"/>
          </a:xfrm>
          <a:prstGeom prst="ellipse">
            <a:avLst/>
          </a:prstGeom>
          <a:solidFill>
            <a:srgbClr val="E8B84B">
              <a:alpha val="20000"/>
            </a:srgbClr>
          </a:solidFill>
          <a:ln w="19050">
            <a:solidFill>
              <a:srgbClr val="E8B84B"/>
            </a:solidFill>
            <a:prstDash val="solid"/>
          </a:ln>
        </p:spPr>
      </p:sp>
      <p:pic>
        <p:nvPicPr>
          <p:cNvPr id="14" name="Image 1" descr="preencoded.png">    </p:cNvPr>
          <p:cNvPicPr>
            <a:picLocks noChangeAspect="1"/>
          </p:cNvPicPr>
          <p:nvPr/>
        </p:nvPicPr>
        <p:blipFill>
          <a:blip r:embed="rId3"/>
          <a:stretch>
            <a:fillRect/>
          </a:stretch>
        </p:blipFill>
        <p:spPr>
          <a:xfrm>
            <a:off x="5803240" y="3639312"/>
            <a:ext cx="585216" cy="585216"/>
          </a:xfrm>
          <a:prstGeom prst="rect">
            <a:avLst/>
          </a:prstGeom>
        </p:spPr>
      </p:pic>
      <p:sp>
        <p:nvSpPr>
          <p:cNvPr id="15" name="Text 11"/>
          <p:cNvSpPr/>
          <p:nvPr/>
        </p:nvSpPr>
        <p:spPr>
          <a:xfrm>
            <a:off x="4815688" y="4572000"/>
            <a:ext cx="2560320" cy="365760"/>
          </a:xfrm>
          <a:prstGeom prst="rect">
            <a:avLst/>
          </a:prstGeom>
          <a:noFill/>
          <a:ln/>
        </p:spPr>
        <p:txBody>
          <a:bodyPr wrap="square" lIns="0" tIns="0" rIns="0" bIns="0" rtlCol="0" anchor="ctr"/>
          <a:lstStyle/>
          <a:p>
            <a:pPr algn="ctr" indent="0" marL="0">
              <a:buNone/>
            </a:pPr>
            <a:r>
              <a:rPr lang="en-US" sz="1100" dirty="0">
                <a:solidFill>
                  <a:srgbClr val="B7B7DB"/>
                </a:solidFill>
                <a:latin typeface="Consolas" pitchFamily="34" charset="0"/>
                <a:ea typeface="Consolas" pitchFamily="34" charset="-122"/>
                <a:cs typeface="Consolas" pitchFamily="34" charset="-120"/>
              </a:rPr>
              <a:t>negotiate · confirm · pay</a:t>
            </a:r>
            <a:endParaRPr lang="en-US" sz="1100" dirty="0"/>
          </a:p>
        </p:txBody>
      </p:sp>
      <p:sp>
        <p:nvSpPr>
          <p:cNvPr id="16" name="Text 12"/>
          <p:cNvSpPr/>
          <p:nvPr/>
        </p:nvSpPr>
        <p:spPr>
          <a:xfrm>
            <a:off x="822960" y="5394960"/>
            <a:ext cx="10515600" cy="822960"/>
          </a:xfrm>
          <a:prstGeom prst="rect">
            <a:avLst/>
          </a:prstGeom>
          <a:noFill/>
          <a:ln/>
        </p:spPr>
        <p:txBody>
          <a:bodyPr wrap="square" rtlCol="0" anchor="ctr"/>
          <a:lstStyle/>
          <a:p>
            <a:pPr algn="ctr" indent="0" marL="0">
              <a:buNone/>
            </a:pPr>
            <a:r>
              <a:rPr lang="en-US" sz="1500" b="1" i="1" dirty="0">
                <a:solidFill>
                  <a:srgbClr val="E8B84B"/>
                </a:solidFill>
                <a:latin typeface="Calibri" pitchFamily="34" charset="0"/>
                <a:ea typeface="Calibri" pitchFamily="34" charset="-122"/>
                <a:cs typeface="Calibri" pitchFamily="34" charset="-120"/>
              </a:rPr>
              <a:t>If your business cannot be read and transacted with by an agent, you become invisible to the next wave of commerce. Digitisation is the price of admission.</a:t>
            </a:r>
            <a:endParaRPr lang="en-US" sz="1500" dirty="0"/>
          </a:p>
        </p:txBody>
      </p:sp>
      <p:sp>
        <p:nvSpPr>
          <p:cNvPr id="17" name="Text 13"/>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HOW TO GET THERE</a:t>
            </a:r>
            <a:endParaRPr lang="en-US" sz="120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2700" b="1" dirty="0">
                <a:solidFill>
                  <a:srgbClr val="171A4A"/>
                </a:solidFill>
                <a:latin typeface="Bookman Old Style" pitchFamily="34" charset="0"/>
                <a:ea typeface="Bookman Old Style" pitchFamily="34" charset="-122"/>
                <a:cs typeface="Bookman Old Style" pitchFamily="34" charset="-120"/>
              </a:rPr>
              <a:t>Digitise first — then automate, then become agent-ready</a:t>
            </a:r>
            <a:endParaRPr lang="en-US" sz="2700" dirty="0"/>
          </a:p>
        </p:txBody>
      </p:sp>
      <p:sp>
        <p:nvSpPr>
          <p:cNvPr id="4" name="Shape 2"/>
          <p:cNvSpPr/>
          <p:nvPr/>
        </p:nvSpPr>
        <p:spPr>
          <a:xfrm>
            <a:off x="640080" y="1828800"/>
            <a:ext cx="10927080" cy="1234440"/>
          </a:xfrm>
          <a:prstGeom prst="roundRect">
            <a:avLst>
              <a:gd name="adj" fmla="val 5926"/>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960120" y="2157984"/>
            <a:ext cx="566928" cy="566928"/>
          </a:xfrm>
          <a:prstGeom prst="ellipse">
            <a:avLst/>
          </a:prstGeom>
          <a:solidFill>
            <a:srgbClr val="171A4A"/>
          </a:solidFill>
          <a:ln/>
        </p:spPr>
      </p:sp>
      <p:sp>
        <p:nvSpPr>
          <p:cNvPr id="6" name="Text 4"/>
          <p:cNvSpPr/>
          <p:nvPr/>
        </p:nvSpPr>
        <p:spPr>
          <a:xfrm>
            <a:off x="960120" y="2157984"/>
            <a:ext cx="566928" cy="566928"/>
          </a:xfrm>
          <a:prstGeom prst="rect">
            <a:avLst/>
          </a:prstGeom>
          <a:noFill/>
          <a:ln/>
        </p:spPr>
        <p:txBody>
          <a:bodyPr wrap="square" lIns="0" tIns="0" rIns="0" bIns="0" rtlCol="0" anchor="ctr"/>
          <a:lstStyle/>
          <a:p>
            <a:pPr algn="ctr" indent="0" marL="0">
              <a:buNone/>
            </a:pPr>
            <a:r>
              <a:rPr lang="en-US" sz="2400" b="1" dirty="0">
                <a:solidFill>
                  <a:srgbClr val="E8B84B"/>
                </a:solidFill>
                <a:latin typeface="Bookman Old Style" pitchFamily="34" charset="0"/>
                <a:ea typeface="Bookman Old Style" pitchFamily="34" charset="-122"/>
                <a:cs typeface="Bookman Old Style" pitchFamily="34" charset="-120"/>
              </a:rPr>
              <a:t>1</a:t>
            </a:r>
            <a:endParaRPr lang="en-US" sz="2400" dirty="0"/>
          </a:p>
        </p:txBody>
      </p:sp>
      <p:sp>
        <p:nvSpPr>
          <p:cNvPr id="7" name="Text 5"/>
          <p:cNvSpPr/>
          <p:nvPr/>
        </p:nvSpPr>
        <p:spPr>
          <a:xfrm>
            <a:off x="1783080" y="1993392"/>
            <a:ext cx="4114800" cy="320040"/>
          </a:xfrm>
          <a:prstGeom prst="rect">
            <a:avLst/>
          </a:prstGeom>
          <a:noFill/>
          <a:ln/>
        </p:spPr>
        <p:txBody>
          <a:bodyPr wrap="square" lIns="0" tIns="0" rIns="0" bIns="0" rtlCol="0" anchor="ctr"/>
          <a:lstStyle/>
          <a:p>
            <a:pPr indent="0" marL="0">
              <a:buNone/>
            </a:pPr>
            <a:r>
              <a:rPr lang="en-US" sz="1300" b="1" spc="100" kern="0" dirty="0">
                <a:solidFill>
                  <a:srgbClr val="C8941F"/>
                </a:solidFill>
                <a:latin typeface="Calibri" pitchFamily="34" charset="0"/>
                <a:ea typeface="Calibri" pitchFamily="34" charset="-122"/>
                <a:cs typeface="Calibri" pitchFamily="34" charset="-120"/>
              </a:rPr>
              <a:t>PHASE 1   </a:t>
            </a:r>
            <a:pPr indent="0" marL="0">
              <a:buNone/>
            </a:pPr>
            <a:r>
              <a:rPr lang="en-US" sz="1200" i="1" spc="100" kern="0" dirty="0">
                <a:solidFill>
                  <a:srgbClr val="55586F"/>
                </a:solidFill>
                <a:latin typeface="Calibri" pitchFamily="34" charset="0"/>
                <a:ea typeface="Calibri" pitchFamily="34" charset="-122"/>
                <a:cs typeface="Calibri" pitchFamily="34" charset="-120"/>
              </a:rPr>
              <a:t>Start now</a:t>
            </a:r>
            <a:endParaRPr lang="en-US" sz="1300" dirty="0"/>
          </a:p>
        </p:txBody>
      </p:sp>
      <p:sp>
        <p:nvSpPr>
          <p:cNvPr id="8" name="Text 6"/>
          <p:cNvSpPr/>
          <p:nvPr/>
        </p:nvSpPr>
        <p:spPr>
          <a:xfrm>
            <a:off x="1783080" y="2286000"/>
            <a:ext cx="3931920" cy="45720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Digitise everything</a:t>
            </a:r>
            <a:endParaRPr lang="en-US" sz="1800" dirty="0"/>
          </a:p>
        </p:txBody>
      </p:sp>
      <p:sp>
        <p:nvSpPr>
          <p:cNvPr id="9" name="Text 7"/>
          <p:cNvSpPr/>
          <p:nvPr/>
        </p:nvSpPr>
        <p:spPr>
          <a:xfrm>
            <a:off x="5852160" y="1993392"/>
            <a:ext cx="5532120" cy="91440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Who paid, how much, when, what they bought — plus attendance, complaints, deliveries, WhatsApp and email — in a system you own. Can't run it yourself? Employ someone who can.</a:t>
            </a:r>
            <a:endParaRPr lang="en-US" sz="1250" dirty="0"/>
          </a:p>
        </p:txBody>
      </p:sp>
      <p:sp>
        <p:nvSpPr>
          <p:cNvPr id="10" name="Shape 8"/>
          <p:cNvSpPr/>
          <p:nvPr/>
        </p:nvSpPr>
        <p:spPr>
          <a:xfrm>
            <a:off x="640080" y="3246120"/>
            <a:ext cx="10927080" cy="1234440"/>
          </a:xfrm>
          <a:prstGeom prst="roundRect">
            <a:avLst>
              <a:gd name="adj" fmla="val 5926"/>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960120" y="3575304"/>
            <a:ext cx="566928" cy="566928"/>
          </a:xfrm>
          <a:prstGeom prst="ellipse">
            <a:avLst/>
          </a:prstGeom>
          <a:solidFill>
            <a:srgbClr val="171A4A"/>
          </a:solidFill>
          <a:ln/>
        </p:spPr>
      </p:sp>
      <p:sp>
        <p:nvSpPr>
          <p:cNvPr id="12" name="Text 10"/>
          <p:cNvSpPr/>
          <p:nvPr/>
        </p:nvSpPr>
        <p:spPr>
          <a:xfrm>
            <a:off x="960120" y="3575304"/>
            <a:ext cx="566928" cy="566928"/>
          </a:xfrm>
          <a:prstGeom prst="rect">
            <a:avLst/>
          </a:prstGeom>
          <a:noFill/>
          <a:ln/>
        </p:spPr>
        <p:txBody>
          <a:bodyPr wrap="square" lIns="0" tIns="0" rIns="0" bIns="0" rtlCol="0" anchor="ctr"/>
          <a:lstStyle/>
          <a:p>
            <a:pPr algn="ctr" indent="0" marL="0">
              <a:buNone/>
            </a:pPr>
            <a:r>
              <a:rPr lang="en-US" sz="2400" b="1" dirty="0">
                <a:solidFill>
                  <a:srgbClr val="E8B84B"/>
                </a:solidFill>
                <a:latin typeface="Bookman Old Style" pitchFamily="34" charset="0"/>
                <a:ea typeface="Bookman Old Style" pitchFamily="34" charset="-122"/>
                <a:cs typeface="Bookman Old Style" pitchFamily="34" charset="-120"/>
              </a:rPr>
              <a:t>2</a:t>
            </a:r>
            <a:endParaRPr lang="en-US" sz="2400" dirty="0"/>
          </a:p>
        </p:txBody>
      </p:sp>
      <p:sp>
        <p:nvSpPr>
          <p:cNvPr id="13" name="Text 11"/>
          <p:cNvSpPr/>
          <p:nvPr/>
        </p:nvSpPr>
        <p:spPr>
          <a:xfrm>
            <a:off x="1783080" y="3410712"/>
            <a:ext cx="4114800" cy="320040"/>
          </a:xfrm>
          <a:prstGeom prst="rect">
            <a:avLst/>
          </a:prstGeom>
          <a:noFill/>
          <a:ln/>
        </p:spPr>
        <p:txBody>
          <a:bodyPr wrap="square" lIns="0" tIns="0" rIns="0" bIns="0" rtlCol="0" anchor="ctr"/>
          <a:lstStyle/>
          <a:p>
            <a:pPr indent="0" marL="0">
              <a:buNone/>
            </a:pPr>
            <a:r>
              <a:rPr lang="en-US" sz="1300" b="1" spc="100" kern="0" dirty="0">
                <a:solidFill>
                  <a:srgbClr val="C8941F"/>
                </a:solidFill>
                <a:latin typeface="Calibri" pitchFamily="34" charset="0"/>
                <a:ea typeface="Calibri" pitchFamily="34" charset="-122"/>
                <a:cs typeface="Calibri" pitchFamily="34" charset="-120"/>
              </a:rPr>
              <a:t>PHASE 2   </a:t>
            </a:r>
            <a:pPr indent="0" marL="0">
              <a:buNone/>
            </a:pPr>
            <a:r>
              <a:rPr lang="en-US" sz="1200" i="1" spc="100" kern="0" dirty="0">
                <a:solidFill>
                  <a:srgbClr val="55586F"/>
                </a:solidFill>
                <a:latin typeface="Calibri" pitchFamily="34" charset="0"/>
                <a:ea typeface="Calibri" pitchFamily="34" charset="-122"/>
                <a:cs typeface="Calibri" pitchFamily="34" charset="-120"/>
              </a:rPr>
              <a:t>Within months</a:t>
            </a:r>
            <a:endParaRPr lang="en-US" sz="1300" dirty="0"/>
          </a:p>
        </p:txBody>
      </p:sp>
      <p:sp>
        <p:nvSpPr>
          <p:cNvPr id="14" name="Text 12"/>
          <p:cNvSpPr/>
          <p:nvPr/>
        </p:nvSpPr>
        <p:spPr>
          <a:xfrm>
            <a:off x="1783080" y="3703320"/>
            <a:ext cx="3931920" cy="45720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Automate the workflow</a:t>
            </a:r>
            <a:endParaRPr lang="en-US" sz="1800" dirty="0"/>
          </a:p>
        </p:txBody>
      </p:sp>
      <p:sp>
        <p:nvSpPr>
          <p:cNvPr id="15" name="Text 13"/>
          <p:cNvSpPr/>
          <p:nvPr/>
        </p:nvSpPr>
        <p:spPr>
          <a:xfrm>
            <a:off x="5852160" y="3410712"/>
            <a:ext cx="5532120" cy="91440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Receipts, logging, reports and follow-ups that fire automatically. Build on Zapier, Make or n8n — or commission something bespoke with AI-assisted development.</a:t>
            </a:r>
            <a:endParaRPr lang="en-US" sz="1250" dirty="0"/>
          </a:p>
        </p:txBody>
      </p:sp>
      <p:sp>
        <p:nvSpPr>
          <p:cNvPr id="16" name="Shape 14"/>
          <p:cNvSpPr/>
          <p:nvPr/>
        </p:nvSpPr>
        <p:spPr>
          <a:xfrm>
            <a:off x="640080" y="4663440"/>
            <a:ext cx="10927080" cy="1234440"/>
          </a:xfrm>
          <a:prstGeom prst="roundRect">
            <a:avLst>
              <a:gd name="adj" fmla="val 5926"/>
            </a:avLst>
          </a:prstGeom>
          <a:solidFill>
            <a:srgbClr val="F6F4EE"/>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960120" y="4992624"/>
            <a:ext cx="566928" cy="566928"/>
          </a:xfrm>
          <a:prstGeom prst="ellipse">
            <a:avLst/>
          </a:prstGeom>
          <a:solidFill>
            <a:srgbClr val="171A4A"/>
          </a:solidFill>
          <a:ln/>
        </p:spPr>
      </p:sp>
      <p:sp>
        <p:nvSpPr>
          <p:cNvPr id="18" name="Text 16"/>
          <p:cNvSpPr/>
          <p:nvPr/>
        </p:nvSpPr>
        <p:spPr>
          <a:xfrm>
            <a:off x="960120" y="4992624"/>
            <a:ext cx="566928" cy="566928"/>
          </a:xfrm>
          <a:prstGeom prst="rect">
            <a:avLst/>
          </a:prstGeom>
          <a:noFill/>
          <a:ln/>
        </p:spPr>
        <p:txBody>
          <a:bodyPr wrap="square" lIns="0" tIns="0" rIns="0" bIns="0" rtlCol="0" anchor="ctr"/>
          <a:lstStyle/>
          <a:p>
            <a:pPr algn="ctr" indent="0" marL="0">
              <a:buNone/>
            </a:pPr>
            <a:r>
              <a:rPr lang="en-US" sz="2400" b="1" dirty="0">
                <a:solidFill>
                  <a:srgbClr val="E8B84B"/>
                </a:solidFill>
                <a:latin typeface="Bookman Old Style" pitchFamily="34" charset="0"/>
                <a:ea typeface="Bookman Old Style" pitchFamily="34" charset="-122"/>
                <a:cs typeface="Bookman Old Style" pitchFamily="34" charset="-120"/>
              </a:rPr>
              <a:t>3</a:t>
            </a:r>
            <a:endParaRPr lang="en-US" sz="2400" dirty="0"/>
          </a:p>
        </p:txBody>
      </p:sp>
      <p:sp>
        <p:nvSpPr>
          <p:cNvPr id="19" name="Text 17"/>
          <p:cNvSpPr/>
          <p:nvPr/>
        </p:nvSpPr>
        <p:spPr>
          <a:xfrm>
            <a:off x="1783080" y="4828032"/>
            <a:ext cx="4114800" cy="320040"/>
          </a:xfrm>
          <a:prstGeom prst="rect">
            <a:avLst/>
          </a:prstGeom>
          <a:noFill/>
          <a:ln/>
        </p:spPr>
        <p:txBody>
          <a:bodyPr wrap="square" lIns="0" tIns="0" rIns="0" bIns="0" rtlCol="0" anchor="ctr"/>
          <a:lstStyle/>
          <a:p>
            <a:pPr indent="0" marL="0">
              <a:buNone/>
            </a:pPr>
            <a:r>
              <a:rPr lang="en-US" sz="1300" b="1" spc="100" kern="0" dirty="0">
                <a:solidFill>
                  <a:srgbClr val="C8941F"/>
                </a:solidFill>
                <a:latin typeface="Calibri" pitchFamily="34" charset="0"/>
                <a:ea typeface="Calibri" pitchFamily="34" charset="-122"/>
                <a:cs typeface="Calibri" pitchFamily="34" charset="-120"/>
              </a:rPr>
              <a:t>PHASE 3   </a:t>
            </a:r>
            <a:pPr indent="0" marL="0">
              <a:buNone/>
            </a:pPr>
            <a:r>
              <a:rPr lang="en-US" sz="1200" i="1" spc="100" kern="0" dirty="0">
                <a:solidFill>
                  <a:srgbClr val="55586F"/>
                </a:solidFill>
                <a:latin typeface="Calibri" pitchFamily="34" charset="0"/>
                <a:ea typeface="Calibri" pitchFamily="34" charset="-122"/>
                <a:cs typeface="Calibri" pitchFamily="34" charset="-120"/>
              </a:rPr>
              <a:t>The horizon</a:t>
            </a:r>
            <a:endParaRPr lang="en-US" sz="1300" dirty="0"/>
          </a:p>
        </p:txBody>
      </p:sp>
      <p:sp>
        <p:nvSpPr>
          <p:cNvPr id="20" name="Text 18"/>
          <p:cNvSpPr/>
          <p:nvPr/>
        </p:nvSpPr>
        <p:spPr>
          <a:xfrm>
            <a:off x="1783080" y="5120640"/>
            <a:ext cx="3931920" cy="45720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Become agent-ready</a:t>
            </a:r>
            <a:endParaRPr lang="en-US" sz="1800" dirty="0"/>
          </a:p>
        </p:txBody>
      </p:sp>
      <p:sp>
        <p:nvSpPr>
          <p:cNvPr id="21" name="Text 19"/>
          <p:cNvSpPr/>
          <p:nvPr/>
        </p:nvSpPr>
        <p:spPr>
          <a:xfrm>
            <a:off x="5852160" y="4828032"/>
            <a:ext cx="5532120" cy="914400"/>
          </a:xfrm>
          <a:prstGeom prst="rect">
            <a:avLst/>
          </a:prstGeom>
          <a:noFill/>
          <a:ln/>
        </p:spPr>
        <p:txBody>
          <a:bodyPr wrap="square" lIns="0" tIns="0" rIns="0" bIns="0" rtlCol="0" anchor="ctr"/>
          <a:lstStyle/>
          <a:p>
            <a:pPr indent="0" marL="0">
              <a:buNone/>
            </a:pPr>
            <a:r>
              <a:rPr lang="en-US" sz="1250" dirty="0">
                <a:solidFill>
                  <a:srgbClr val="55586F"/>
                </a:solidFill>
                <a:latin typeface="Calibri" pitchFamily="34" charset="0"/>
                <a:ea typeface="Calibri" pitchFamily="34" charset="-122"/>
                <a:cs typeface="Calibri" pitchFamily="34" charset="-120"/>
              </a:rPr>
              <a:t>Structure your website, WhatsApp and inventory so an AI agent can read and transact with them in real time.</a:t>
            </a:r>
            <a:endParaRPr lang="en-US" sz="1250" dirty="0"/>
          </a:p>
        </p:txBody>
      </p:sp>
      <p:sp>
        <p:nvSpPr>
          <p:cNvPr id="22" name="Text 20"/>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45A3B"/>
                </a:solidFill>
                <a:latin typeface="Calibri" pitchFamily="34" charset="0"/>
                <a:ea typeface="Calibri" pitchFamily="34" charset="-122"/>
                <a:cs typeface="Calibri" pitchFamily="34" charset="-120"/>
              </a:rPr>
              <a:t>USE IT WISELY</a:t>
            </a:r>
            <a:endParaRPr lang="en-US" sz="1200" dirty="0"/>
          </a:p>
        </p:txBody>
      </p:sp>
      <p:sp>
        <p:nvSpPr>
          <p:cNvPr id="3" name="Text 1"/>
          <p:cNvSpPr/>
          <p:nvPr/>
        </p:nvSpPr>
        <p:spPr>
          <a:xfrm>
            <a:off x="640080" y="841248"/>
            <a:ext cx="10881360" cy="640080"/>
          </a:xfrm>
          <a:prstGeom prst="rect">
            <a:avLst/>
          </a:prstGeom>
          <a:noFill/>
          <a:ln/>
        </p:spPr>
        <p:txBody>
          <a:bodyPr wrap="square" lIns="0" tIns="0" rIns="0" bIns="0" rtlCol="0" anchor="ctr"/>
          <a:lstStyle/>
          <a:p>
            <a:pPr indent="0" marL="0">
              <a:buNone/>
            </a:pPr>
            <a:r>
              <a:rPr lang="en-US" sz="3000" b="1" dirty="0">
                <a:solidFill>
                  <a:srgbClr val="171A4A"/>
                </a:solidFill>
                <a:latin typeface="Bookman Old Style" pitchFamily="34" charset="0"/>
                <a:ea typeface="Bookman Old Style" pitchFamily="34" charset="-122"/>
                <a:cs typeface="Bookman Old Style" pitchFamily="34" charset="-120"/>
              </a:rPr>
              <a:t>Bold, but never blind</a:t>
            </a:r>
            <a:endParaRPr lang="en-US" sz="3000" dirty="0"/>
          </a:p>
        </p:txBody>
      </p:sp>
      <p:sp>
        <p:nvSpPr>
          <p:cNvPr id="4" name="Text 2"/>
          <p:cNvSpPr/>
          <p:nvPr/>
        </p:nvSpPr>
        <p:spPr>
          <a:xfrm>
            <a:off x="640080" y="1554480"/>
            <a:ext cx="10881360" cy="640080"/>
          </a:xfrm>
          <a:prstGeom prst="rect">
            <a:avLst/>
          </a:prstGeom>
          <a:noFill/>
          <a:ln/>
        </p:spPr>
        <p:txBody>
          <a:bodyPr wrap="square" rtlCol="0" anchor="ctr"/>
          <a:lstStyle/>
          <a:p>
            <a:pPr indent="0" marL="0">
              <a:buNone/>
            </a:pPr>
            <a:r>
              <a:rPr lang="en-US" sz="1500" dirty="0">
                <a:solidFill>
                  <a:srgbClr val="55586F"/>
                </a:solidFill>
                <a:latin typeface="Calibri" pitchFamily="34" charset="0"/>
                <a:ea typeface="Calibri" pitchFamily="34" charset="-122"/>
                <a:cs typeface="Calibri" pitchFamily="34" charset="-120"/>
              </a:rPr>
              <a:t>AI is powerful but not perfect. Calculated risk makes businessmen great — calculated means you understand it, monitor it, and are willing to intervene.</a:t>
            </a:r>
            <a:endParaRPr lang="en-US" sz="1500" dirty="0"/>
          </a:p>
        </p:txBody>
      </p:sp>
      <p:sp>
        <p:nvSpPr>
          <p:cNvPr id="5" name="Shape 3"/>
          <p:cNvSpPr/>
          <p:nvPr/>
        </p:nvSpPr>
        <p:spPr>
          <a:xfrm>
            <a:off x="640080" y="2514600"/>
            <a:ext cx="3611880" cy="3108960"/>
          </a:xfrm>
          <a:prstGeom prst="roundRect">
            <a:avLst>
              <a:gd name="adj" fmla="val 2647"/>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960120" y="2880360"/>
            <a:ext cx="777240" cy="777240"/>
          </a:xfrm>
          <a:prstGeom prst="roundRect">
            <a:avLst>
              <a:gd name="adj" fmla="val 15294"/>
            </a:avLst>
          </a:prstGeom>
          <a:solidFill>
            <a:srgbClr val="F6E7E1"/>
          </a:solidFill>
          <a:ln/>
        </p:spPr>
      </p:sp>
      <p:pic>
        <p:nvPicPr>
          <p:cNvPr id="7" name="Image 0" descr="preencoded.png">    </p:cNvPr>
          <p:cNvPicPr>
            <a:picLocks noChangeAspect="1"/>
          </p:cNvPicPr>
          <p:nvPr/>
        </p:nvPicPr>
        <p:blipFill>
          <a:blip r:embed="rId1"/>
          <a:stretch>
            <a:fillRect/>
          </a:stretch>
        </p:blipFill>
        <p:spPr>
          <a:xfrm>
            <a:off x="1161288" y="3081528"/>
            <a:ext cx="384048" cy="384048"/>
          </a:xfrm>
          <a:prstGeom prst="rect">
            <a:avLst/>
          </a:prstGeom>
        </p:spPr>
      </p:pic>
      <p:sp>
        <p:nvSpPr>
          <p:cNvPr id="8" name="Text 5"/>
          <p:cNvSpPr/>
          <p:nvPr/>
        </p:nvSpPr>
        <p:spPr>
          <a:xfrm>
            <a:off x="960120" y="3886200"/>
            <a:ext cx="2971800" cy="64008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Guard against bias</a:t>
            </a:r>
            <a:endParaRPr lang="en-US" sz="1800" dirty="0"/>
          </a:p>
        </p:txBody>
      </p:sp>
      <p:sp>
        <p:nvSpPr>
          <p:cNvPr id="9" name="Text 6"/>
          <p:cNvSpPr/>
          <p:nvPr/>
        </p:nvSpPr>
        <p:spPr>
          <a:xfrm>
            <a:off x="960120" y="4526280"/>
            <a:ext cx="3017520" cy="960120"/>
          </a:xfrm>
          <a:prstGeom prst="rect">
            <a:avLst/>
          </a:prstGeom>
          <a:noFill/>
          <a:ln/>
        </p:spPr>
        <p:txBody>
          <a:bodyPr wrap="square" lIns="0" tIns="0" rIns="0" bIns="0" rtlCol="0" anchor="ctr"/>
          <a:lstStyle/>
          <a:p>
            <a:pPr indent="0" marL="0">
              <a:buNone/>
            </a:pPr>
            <a:r>
              <a:rPr lang="en-US" sz="1300" dirty="0">
                <a:solidFill>
                  <a:srgbClr val="55586F"/>
                </a:solidFill>
                <a:latin typeface="Calibri" pitchFamily="34" charset="0"/>
                <a:ea typeface="Calibri" pitchFamily="34" charset="-122"/>
                <a:cs typeface="Calibri" pitchFamily="34" charset="-120"/>
              </a:rPr>
              <a:t>Trained on unfair past decisions, an AI quietly repeats them. Inspect what it learns from before you trust what it recommends.</a:t>
            </a:r>
            <a:endParaRPr lang="en-US" sz="1300" dirty="0"/>
          </a:p>
        </p:txBody>
      </p:sp>
      <p:sp>
        <p:nvSpPr>
          <p:cNvPr id="10" name="Shape 7"/>
          <p:cNvSpPr/>
          <p:nvPr/>
        </p:nvSpPr>
        <p:spPr>
          <a:xfrm>
            <a:off x="4507992" y="2514600"/>
            <a:ext cx="3611880" cy="3108960"/>
          </a:xfrm>
          <a:prstGeom prst="roundRect">
            <a:avLst>
              <a:gd name="adj" fmla="val 2647"/>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1" name="Shape 8"/>
          <p:cNvSpPr/>
          <p:nvPr/>
        </p:nvSpPr>
        <p:spPr>
          <a:xfrm>
            <a:off x="4828032" y="2880360"/>
            <a:ext cx="777240" cy="777240"/>
          </a:xfrm>
          <a:prstGeom prst="roundRect">
            <a:avLst>
              <a:gd name="adj" fmla="val 15294"/>
            </a:avLst>
          </a:prstGeom>
          <a:solidFill>
            <a:srgbClr val="F6E7E1"/>
          </a:solidFill>
          <a:ln/>
        </p:spPr>
      </p:sp>
      <p:pic>
        <p:nvPicPr>
          <p:cNvPr id="12" name="Image 1" descr="preencoded.png">    </p:cNvPr>
          <p:cNvPicPr>
            <a:picLocks noChangeAspect="1"/>
          </p:cNvPicPr>
          <p:nvPr/>
        </p:nvPicPr>
        <p:blipFill>
          <a:blip r:embed="rId2"/>
          <a:stretch>
            <a:fillRect/>
          </a:stretch>
        </p:blipFill>
        <p:spPr>
          <a:xfrm>
            <a:off x="5029200" y="3081528"/>
            <a:ext cx="384048" cy="384048"/>
          </a:xfrm>
          <a:prstGeom prst="rect">
            <a:avLst/>
          </a:prstGeom>
        </p:spPr>
      </p:pic>
      <p:sp>
        <p:nvSpPr>
          <p:cNvPr id="13" name="Text 9"/>
          <p:cNvSpPr/>
          <p:nvPr/>
        </p:nvSpPr>
        <p:spPr>
          <a:xfrm>
            <a:off x="4828032" y="3886200"/>
            <a:ext cx="2971800" cy="64008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Keep a human checkpoint</a:t>
            </a:r>
            <a:endParaRPr lang="en-US" sz="1800" dirty="0"/>
          </a:p>
        </p:txBody>
      </p:sp>
      <p:sp>
        <p:nvSpPr>
          <p:cNvPr id="14" name="Text 10"/>
          <p:cNvSpPr/>
          <p:nvPr/>
        </p:nvSpPr>
        <p:spPr>
          <a:xfrm>
            <a:off x="4828032" y="4526280"/>
            <a:ext cx="3017520" cy="960120"/>
          </a:xfrm>
          <a:prstGeom prst="rect">
            <a:avLst/>
          </a:prstGeom>
          <a:noFill/>
          <a:ln/>
        </p:spPr>
        <p:txBody>
          <a:bodyPr wrap="square" lIns="0" tIns="0" rIns="0" bIns="0" rtlCol="0" anchor="ctr"/>
          <a:lstStyle/>
          <a:p>
            <a:pPr indent="0" marL="0">
              <a:buNone/>
            </a:pPr>
            <a:r>
              <a:rPr lang="en-US" sz="1300" dirty="0">
                <a:solidFill>
                  <a:srgbClr val="55586F"/>
                </a:solidFill>
                <a:latin typeface="Calibri" pitchFamily="34" charset="0"/>
                <a:ea typeface="Calibri" pitchFamily="34" charset="-122"/>
                <a:cs typeface="Calibri" pitchFamily="34" charset="-120"/>
              </a:rPr>
              <a:t>No AI makes final decisions about your customers, staff or partners unreviewed. It advises and does routine work; the responsibility stays yours.</a:t>
            </a:r>
            <a:endParaRPr lang="en-US" sz="1300" dirty="0"/>
          </a:p>
        </p:txBody>
      </p:sp>
      <p:sp>
        <p:nvSpPr>
          <p:cNvPr id="15" name="Shape 11"/>
          <p:cNvSpPr/>
          <p:nvPr/>
        </p:nvSpPr>
        <p:spPr>
          <a:xfrm>
            <a:off x="8375904" y="2514600"/>
            <a:ext cx="3611880" cy="3108960"/>
          </a:xfrm>
          <a:prstGeom prst="roundRect">
            <a:avLst>
              <a:gd name="adj" fmla="val 2647"/>
            </a:avLst>
          </a:prstGeom>
          <a:solidFill>
            <a:srgbClr val="FFFFFF"/>
          </a:solidFill>
          <a:ln w="12700">
            <a:solidFill>
              <a:srgbClr val="DCD8CC"/>
            </a:solidFill>
            <a:prstDash val="solid"/>
          </a:ln>
          <a:effectLst>
            <a:outerShdw sx="100000" sy="100000" kx="0" ky="0" algn="bl" rotWithShape="0" blurRad="88900" dist="38100" dir="5400000">
              <a:srgbClr val="000000">
                <a:alpha val="12000"/>
              </a:srgbClr>
            </a:outerShdw>
          </a:effectLst>
        </p:spPr>
      </p:sp>
      <p:sp>
        <p:nvSpPr>
          <p:cNvPr id="16" name="Shape 12"/>
          <p:cNvSpPr/>
          <p:nvPr/>
        </p:nvSpPr>
        <p:spPr>
          <a:xfrm>
            <a:off x="8695944" y="2880360"/>
            <a:ext cx="777240" cy="777240"/>
          </a:xfrm>
          <a:prstGeom prst="roundRect">
            <a:avLst>
              <a:gd name="adj" fmla="val 15294"/>
            </a:avLst>
          </a:prstGeom>
          <a:solidFill>
            <a:srgbClr val="F6E7E1"/>
          </a:solidFill>
          <a:ln/>
        </p:spPr>
      </p:sp>
      <p:pic>
        <p:nvPicPr>
          <p:cNvPr id="17" name="Image 2" descr="preencoded.png">    </p:cNvPr>
          <p:cNvPicPr>
            <a:picLocks noChangeAspect="1"/>
          </p:cNvPicPr>
          <p:nvPr/>
        </p:nvPicPr>
        <p:blipFill>
          <a:blip r:embed="rId3"/>
          <a:stretch>
            <a:fillRect/>
          </a:stretch>
        </p:blipFill>
        <p:spPr>
          <a:xfrm>
            <a:off x="8897112" y="3081528"/>
            <a:ext cx="384048" cy="384048"/>
          </a:xfrm>
          <a:prstGeom prst="rect">
            <a:avLst/>
          </a:prstGeom>
        </p:spPr>
      </p:pic>
      <p:sp>
        <p:nvSpPr>
          <p:cNvPr id="18" name="Text 13"/>
          <p:cNvSpPr/>
          <p:nvPr/>
        </p:nvSpPr>
        <p:spPr>
          <a:xfrm>
            <a:off x="8695944" y="3886200"/>
            <a:ext cx="2971800" cy="640080"/>
          </a:xfrm>
          <a:prstGeom prst="rect">
            <a:avLst/>
          </a:prstGeom>
          <a:noFill/>
          <a:ln/>
        </p:spPr>
        <p:txBody>
          <a:bodyPr wrap="square" lIns="0" tIns="0" rIns="0" bIns="0" rtlCol="0" anchor="ctr"/>
          <a:lstStyle/>
          <a:p>
            <a:pPr indent="0" marL="0">
              <a:buNone/>
            </a:pPr>
            <a:r>
              <a:rPr lang="en-US" sz="1800" b="1" dirty="0">
                <a:solidFill>
                  <a:srgbClr val="171A4A"/>
                </a:solidFill>
                <a:latin typeface="Calibri" pitchFamily="34" charset="0"/>
                <a:ea typeface="Calibri" pitchFamily="34" charset="-122"/>
                <a:cs typeface="Calibri" pitchFamily="34" charset="-120"/>
              </a:rPr>
              <a:t>Verify before you deploy</a:t>
            </a:r>
            <a:endParaRPr lang="en-US" sz="1800" dirty="0"/>
          </a:p>
        </p:txBody>
      </p:sp>
      <p:sp>
        <p:nvSpPr>
          <p:cNvPr id="19" name="Text 14"/>
          <p:cNvSpPr/>
          <p:nvPr/>
        </p:nvSpPr>
        <p:spPr>
          <a:xfrm>
            <a:off x="8695944" y="4526280"/>
            <a:ext cx="3017520" cy="960120"/>
          </a:xfrm>
          <a:prstGeom prst="rect">
            <a:avLst/>
          </a:prstGeom>
          <a:noFill/>
          <a:ln/>
        </p:spPr>
        <p:txBody>
          <a:bodyPr wrap="square" lIns="0" tIns="0" rIns="0" bIns="0" rtlCol="0" anchor="ctr"/>
          <a:lstStyle/>
          <a:p>
            <a:pPr indent="0" marL="0">
              <a:buNone/>
            </a:pPr>
            <a:r>
              <a:rPr lang="en-US" sz="1300" dirty="0">
                <a:solidFill>
                  <a:srgbClr val="55586F"/>
                </a:solidFill>
                <a:latin typeface="Calibri" pitchFamily="34" charset="0"/>
                <a:ea typeface="Calibri" pitchFamily="34" charset="-122"/>
                <a:cs typeface="Calibri" pitchFamily="34" charset="-120"/>
              </a:rPr>
              <a:t>AI-generated formulas and code must be stress-tested under every scenario. Speed in the wrong direction is still the wrong direction.</a:t>
            </a:r>
            <a:endParaRPr lang="en-US" sz="1300" dirty="0"/>
          </a:p>
        </p:txBody>
      </p:sp>
      <p:sp>
        <p:nvSpPr>
          <p:cNvPr id="20" name="Text 15"/>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B84B"/>
        </a:solidFill>
      </p:bgPr>
    </p:bg>
    <p:spTree>
      <p:nvGrpSpPr>
        <p:cNvPr id="1" name=""/>
        <p:cNvGrpSpPr/>
        <p:nvPr/>
      </p:nvGrpSpPr>
      <p:grpSpPr>
        <a:xfrm>
          <a:off x="0" y="0"/>
          <a:ext cx="0" cy="0"/>
          <a:chOff x="0" y="0"/>
          <a:chExt cx="0" cy="0"/>
        </a:xfrm>
      </p:grpSpPr>
      <p:sp>
        <p:nvSpPr>
          <p:cNvPr id="2" name="Shape 0"/>
          <p:cNvSpPr/>
          <p:nvPr/>
        </p:nvSpPr>
        <p:spPr>
          <a:xfrm>
            <a:off x="-1828800" y="-2194560"/>
            <a:ext cx="5029200" cy="5029200"/>
          </a:xfrm>
          <a:prstGeom prst="ellipse">
            <a:avLst/>
          </a:prstGeom>
          <a:solidFill>
            <a:srgbClr val="C8941F">
              <a:alpha val="20000"/>
            </a:srgbClr>
          </a:solidFill>
          <a:ln/>
        </p:spPr>
      </p:sp>
      <p:sp>
        <p:nvSpPr>
          <p:cNvPr id="3" name="Text 1"/>
          <p:cNvSpPr/>
          <p:nvPr/>
        </p:nvSpPr>
        <p:spPr>
          <a:xfrm>
            <a:off x="731520" y="1005840"/>
            <a:ext cx="10515600" cy="914400"/>
          </a:xfrm>
          <a:prstGeom prst="rect">
            <a:avLst/>
          </a:prstGeom>
          <a:noFill/>
          <a:ln/>
        </p:spPr>
        <p:txBody>
          <a:bodyPr wrap="square" lIns="0" tIns="0" rIns="0" bIns="0" rtlCol="0" anchor="ctr"/>
          <a:lstStyle/>
          <a:p>
            <a:pPr indent="0" marL="0">
              <a:buNone/>
            </a:pPr>
            <a:r>
              <a:rPr lang="en-US" sz="4000" b="1" dirty="0">
                <a:solidFill>
                  <a:srgbClr val="171A4A"/>
                </a:solidFill>
                <a:latin typeface="Bookman Old Style" pitchFamily="34" charset="0"/>
                <a:ea typeface="Bookman Old Style" pitchFamily="34" charset="-122"/>
                <a:cs typeface="Bookman Old Style" pitchFamily="34" charset="-120"/>
              </a:rPr>
              <a:t>Learn AI. Adopt AI. Do it now.</a:t>
            </a:r>
            <a:endParaRPr lang="en-US" sz="4000" dirty="0"/>
          </a:p>
        </p:txBody>
      </p:sp>
      <p:sp>
        <p:nvSpPr>
          <p:cNvPr id="4" name="Text 2"/>
          <p:cNvSpPr/>
          <p:nvPr/>
        </p:nvSpPr>
        <p:spPr>
          <a:xfrm>
            <a:off x="749808" y="1965960"/>
            <a:ext cx="10058400" cy="548640"/>
          </a:xfrm>
          <a:prstGeom prst="rect">
            <a:avLst/>
          </a:prstGeom>
          <a:noFill/>
          <a:ln/>
        </p:spPr>
        <p:txBody>
          <a:bodyPr wrap="square" lIns="0" tIns="0" rIns="0" bIns="0" rtlCol="0" anchor="ctr"/>
          <a:lstStyle/>
          <a:p>
            <a:pPr indent="0" marL="0">
              <a:buNone/>
            </a:pPr>
            <a:r>
              <a:rPr lang="en-US" sz="1800" i="1" dirty="0">
                <a:solidFill>
                  <a:srgbClr val="3A2E08"/>
                </a:solidFill>
                <a:latin typeface="Calibri" pitchFamily="34" charset="0"/>
                <a:ea typeface="Calibri" pitchFamily="34" charset="-122"/>
                <a:cs typeface="Calibri" pitchFamily="34" charset="-120"/>
              </a:rPr>
              <a:t>While the advantage still belongs to the early movers.</a:t>
            </a:r>
            <a:endParaRPr lang="en-US" sz="1800" dirty="0"/>
          </a:p>
        </p:txBody>
      </p:sp>
      <p:sp>
        <p:nvSpPr>
          <p:cNvPr id="5" name="Text 3"/>
          <p:cNvSpPr/>
          <p:nvPr/>
        </p:nvSpPr>
        <p:spPr>
          <a:xfrm>
            <a:off x="731520" y="2743200"/>
            <a:ext cx="6400800" cy="1645920"/>
          </a:xfrm>
          <a:prstGeom prst="rect">
            <a:avLst/>
          </a:prstGeom>
          <a:noFill/>
          <a:ln/>
        </p:spPr>
        <p:txBody>
          <a:bodyPr wrap="square" rtlCol="0" anchor="ctr"/>
          <a:lstStyle/>
          <a:p>
            <a:pPr indent="0" marL="0">
              <a:buNone/>
            </a:pPr>
            <a:r>
              <a:rPr lang="en-US" sz="1600" dirty="0">
                <a:solidFill>
                  <a:srgbClr val="2A2207"/>
                </a:solidFill>
                <a:latin typeface="Calibri" pitchFamily="34" charset="0"/>
                <a:ea typeface="Calibri" pitchFamily="34" charset="-122"/>
                <a:cs typeface="Calibri" pitchFamily="34" charset="-120"/>
              </a:rPr>
              <a:t>At RAIN — Robotics &amp; Artificial Intelligence Nigeria — we train individuals and organisations in AI, machine learning, robotics and data science, built for the Nigerian context. Poorly implemented AI is worse than none at all: bring in people genuinely trained for it.</a:t>
            </a:r>
            <a:endParaRPr lang="en-US" sz="1600" dirty="0"/>
          </a:p>
        </p:txBody>
      </p:sp>
      <p:sp>
        <p:nvSpPr>
          <p:cNvPr id="6" name="Shape 4"/>
          <p:cNvSpPr/>
          <p:nvPr/>
        </p:nvSpPr>
        <p:spPr>
          <a:xfrm>
            <a:off x="7406640" y="2880360"/>
            <a:ext cx="4023360" cy="914400"/>
          </a:xfrm>
          <a:prstGeom prst="roundRect">
            <a:avLst>
              <a:gd name="adj" fmla="val 10000"/>
            </a:avLst>
          </a:prstGeom>
          <a:solidFill>
            <a:srgbClr val="171A4A"/>
          </a:solidFill>
          <a:ln/>
          <a:effectLst>
            <a:outerShdw sx="100000" sy="100000" kx="0" ky="0" algn="bl" rotWithShape="0" blurRad="88900" dist="38100" dir="54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7726680" y="3154680"/>
            <a:ext cx="384048" cy="384048"/>
          </a:xfrm>
          <a:prstGeom prst="rect">
            <a:avLst/>
          </a:prstGeom>
        </p:spPr>
      </p:pic>
      <p:sp>
        <p:nvSpPr>
          <p:cNvPr id="8" name="Text 5"/>
          <p:cNvSpPr/>
          <p:nvPr/>
        </p:nvSpPr>
        <p:spPr>
          <a:xfrm>
            <a:off x="8275320" y="2880360"/>
            <a:ext cx="26517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Train your team with RAIN</a:t>
            </a:r>
            <a:endParaRPr lang="en-US" sz="1600" dirty="0"/>
          </a:p>
        </p:txBody>
      </p:sp>
      <p:pic>
        <p:nvPicPr>
          <p:cNvPr id="9" name="Image 1" descr="preencoded.png">    </p:cNvPr>
          <p:cNvPicPr>
            <a:picLocks noChangeAspect="1"/>
          </p:cNvPicPr>
          <p:nvPr/>
        </p:nvPicPr>
        <p:blipFill>
          <a:blip r:embed="rId2"/>
          <a:stretch>
            <a:fillRect/>
          </a:stretch>
        </p:blipFill>
        <p:spPr>
          <a:xfrm>
            <a:off x="10927080" y="3191256"/>
            <a:ext cx="310896" cy="310896"/>
          </a:xfrm>
          <a:prstGeom prst="rect">
            <a:avLst/>
          </a:prstGeom>
        </p:spPr>
      </p:pic>
      <p:sp>
        <p:nvSpPr>
          <p:cNvPr id="10" name="Shape 6"/>
          <p:cNvSpPr/>
          <p:nvPr/>
        </p:nvSpPr>
        <p:spPr>
          <a:xfrm>
            <a:off x="7406640" y="4023360"/>
            <a:ext cx="4023360" cy="914400"/>
          </a:xfrm>
          <a:prstGeom prst="roundRect">
            <a:avLst>
              <a:gd name="adj" fmla="val 10000"/>
            </a:avLst>
          </a:prstGeom>
          <a:solidFill>
            <a:srgbClr val="171A4A"/>
          </a:solidFill>
          <a:ln/>
          <a:effectLst>
            <a:outerShdw sx="100000" sy="100000" kx="0" ky="0" algn="bl" rotWithShape="0" blurRad="88900" dist="38100" dir="5400000">
              <a:srgbClr val="000000">
                <a:alpha val="12000"/>
              </a:srgbClr>
            </a:outerShdw>
          </a:effectLst>
        </p:spPr>
      </p:sp>
      <p:pic>
        <p:nvPicPr>
          <p:cNvPr id="11" name="Image 2" descr="preencoded.png">    </p:cNvPr>
          <p:cNvPicPr>
            <a:picLocks noChangeAspect="1"/>
          </p:cNvPicPr>
          <p:nvPr/>
        </p:nvPicPr>
        <p:blipFill>
          <a:blip r:embed="rId3"/>
          <a:stretch>
            <a:fillRect/>
          </a:stretch>
        </p:blipFill>
        <p:spPr>
          <a:xfrm>
            <a:off x="7726680" y="4297680"/>
            <a:ext cx="384048" cy="384048"/>
          </a:xfrm>
          <a:prstGeom prst="rect">
            <a:avLst/>
          </a:prstGeom>
        </p:spPr>
      </p:pic>
      <p:sp>
        <p:nvSpPr>
          <p:cNvPr id="12" name="Text 7"/>
          <p:cNvSpPr/>
          <p:nvPr/>
        </p:nvSpPr>
        <p:spPr>
          <a:xfrm>
            <a:off x="8275320" y="4023360"/>
            <a:ext cx="26517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Hire a RAIN graduate</a:t>
            </a:r>
            <a:endParaRPr lang="en-US" sz="1600" dirty="0"/>
          </a:p>
        </p:txBody>
      </p:sp>
      <p:pic>
        <p:nvPicPr>
          <p:cNvPr id="13" name="Image 3" descr="preencoded.png">    </p:cNvPr>
          <p:cNvPicPr>
            <a:picLocks noChangeAspect="1"/>
          </p:cNvPicPr>
          <p:nvPr/>
        </p:nvPicPr>
        <p:blipFill>
          <a:blip r:embed="rId4"/>
          <a:stretch>
            <a:fillRect/>
          </a:stretch>
        </p:blipFill>
        <p:spPr>
          <a:xfrm>
            <a:off x="10927080" y="4334256"/>
            <a:ext cx="310896" cy="310896"/>
          </a:xfrm>
          <a:prstGeom prst="rect">
            <a:avLst/>
          </a:prstGeom>
        </p:spPr>
      </p:pic>
      <p:sp>
        <p:nvSpPr>
          <p:cNvPr id="14" name="Text 8"/>
          <p:cNvSpPr/>
          <p:nvPr/>
        </p:nvSpPr>
        <p:spPr>
          <a:xfrm>
            <a:off x="731520" y="6035040"/>
            <a:ext cx="10058400" cy="365760"/>
          </a:xfrm>
          <a:prstGeom prst="rect">
            <a:avLst/>
          </a:prstGeom>
          <a:noFill/>
          <a:ln/>
        </p:spPr>
        <p:txBody>
          <a:bodyPr wrap="square" rtlCol="0" anchor="ctr"/>
          <a:lstStyle/>
          <a:p>
            <a:pPr indent="0" marL="0">
              <a:buNone/>
            </a:pPr>
            <a:r>
              <a:rPr lang="en-US" sz="1300" dirty="0">
                <a:solidFill>
                  <a:srgbClr val="2A2207"/>
                </a:solidFill>
                <a:latin typeface="Consolas" pitchFamily="34" charset="0"/>
                <a:ea typeface="Consolas" pitchFamily="34" charset="-122"/>
                <a:cs typeface="Consolas" pitchFamily="34" charset="-120"/>
              </a:rPr>
              <a:t>meta.rainigeria.com  ·  RAIN, Ibadan, Nigeria</a:t>
            </a:r>
            <a:endParaRPr lang="en-US" sz="1300" dirty="0"/>
          </a:p>
        </p:txBody>
      </p:sp>
      <p:sp>
        <p:nvSpPr>
          <p:cNvPr id="15" name="Text 9"/>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3"/>
          <a:stretch>
            <a:fillRect/>
          </a:stretch>
        </p:blipFill>
        <p:spPr>
          <a:xfrm>
            <a:off x="1097280" y="1280160"/>
            <a:ext cx="777240" cy="777240"/>
          </a:xfrm>
          <a:prstGeom prst="rect">
            <a:avLst/>
          </a:prstGeom>
        </p:spPr>
      </p:pic>
      <p:sp>
        <p:nvSpPr>
          <p:cNvPr id="4" name="Text 0"/>
          <p:cNvSpPr/>
          <p:nvPr/>
        </p:nvSpPr>
        <p:spPr>
          <a:xfrm>
            <a:off x="1097280" y="2286000"/>
            <a:ext cx="9966960" cy="2377440"/>
          </a:xfrm>
          <a:prstGeom prst="rect">
            <a:avLst/>
          </a:prstGeom>
          <a:noFill/>
          <a:ln/>
        </p:spPr>
        <p:txBody>
          <a:bodyPr wrap="square" lIns="0" tIns="0" rIns="0" bIns="0" rtlCol="0" anchor="ctr"/>
          <a:lstStyle/>
          <a:p>
            <a:pPr indent="0" marL="0">
              <a:lnSpc>
                <a:spcPts val="4200"/>
              </a:lnSpc>
              <a:buNone/>
            </a:pPr>
            <a:r>
              <a:rPr lang="en-US" sz="3200" i="1" dirty="0">
                <a:solidFill>
                  <a:srgbClr val="FFFFFF"/>
                </a:solidFill>
                <a:latin typeface="Bookman Old Style" pitchFamily="34" charset="0"/>
                <a:ea typeface="Bookman Old Style" pitchFamily="34" charset="-122"/>
                <a:cs typeface="Bookman Old Style" pitchFamily="34" charset="-120"/>
              </a:rPr>
              <a:t>The question is not whether this moment will change Nigerian business. It will. The question is whether the businessmen in this room will be the ones </a:t>
            </a:r>
            <a:pPr indent="0" marL="0">
              <a:lnSpc>
                <a:spcPts val="4200"/>
              </a:lnSpc>
              <a:buNone/>
            </a:pPr>
            <a:r>
              <a:rPr lang="en-US" sz="3200" i="1" dirty="0">
                <a:solidFill>
                  <a:srgbClr val="E8B84B"/>
                </a:solidFill>
                <a:latin typeface="Bookman Old Style" pitchFamily="34" charset="0"/>
                <a:ea typeface="Bookman Old Style" pitchFamily="34" charset="-122"/>
                <a:cs typeface="Bookman Old Style" pitchFamily="34" charset="-120"/>
              </a:rPr>
              <a:t>leading</a:t>
            </a:r>
            <a:pPr indent="0" marL="0">
              <a:lnSpc>
                <a:spcPts val="4200"/>
              </a:lnSpc>
              <a:buNone/>
            </a:pPr>
            <a:r>
              <a:rPr lang="en-US" sz="3200" i="1" dirty="0">
                <a:solidFill>
                  <a:srgbClr val="FFFFFF"/>
                </a:solidFill>
                <a:latin typeface="Bookman Old Style" pitchFamily="34" charset="0"/>
                <a:ea typeface="Bookman Old Style" pitchFamily="34" charset="-122"/>
                <a:cs typeface="Bookman Old Style" pitchFamily="34" charset="-120"/>
              </a:rPr>
              <a:t> that change — or the ones trying to catch up.</a:t>
            </a:r>
            <a:endParaRPr lang="en-US" sz="3200" dirty="0"/>
          </a:p>
        </p:txBody>
      </p:sp>
      <p:sp>
        <p:nvSpPr>
          <p:cNvPr id="5" name="Text 1"/>
          <p:cNvSpPr/>
          <p:nvPr/>
        </p:nvSpPr>
        <p:spPr>
          <a:xfrm>
            <a:off x="1097280" y="4846320"/>
            <a:ext cx="9144000" cy="548640"/>
          </a:xfrm>
          <a:prstGeom prst="rect">
            <a:avLst/>
          </a:prstGeom>
          <a:noFill/>
          <a:ln/>
        </p:spPr>
        <p:txBody>
          <a:bodyPr wrap="square" rtlCol="0" anchor="ctr"/>
          <a:lstStyle/>
          <a:p>
            <a:pPr indent="0" marL="0">
              <a:buNone/>
            </a:pPr>
            <a:r>
              <a:rPr lang="en-US" sz="1800" b="1" dirty="0">
                <a:solidFill>
                  <a:srgbClr val="E8B84B"/>
                </a:solidFill>
                <a:latin typeface="Calibri" pitchFamily="34" charset="0"/>
                <a:ea typeface="Calibri" pitchFamily="34" charset="-122"/>
                <a:cs typeface="Calibri" pitchFamily="34" charset="-120"/>
              </a:rPr>
              <a:t>The choice is yours. Make it wisely.</a:t>
            </a:r>
            <a:endParaRPr lang="en-US" sz="1800" dirty="0"/>
          </a:p>
        </p:txBody>
      </p:sp>
      <p:sp>
        <p:nvSpPr>
          <p:cNvPr id="6" name="Text 2"/>
          <p:cNvSpPr/>
          <p:nvPr/>
        </p:nvSpPr>
        <p:spPr>
          <a:xfrm>
            <a:off x="1097280" y="6126480"/>
            <a:ext cx="10058400" cy="365760"/>
          </a:xfrm>
          <a:prstGeom prst="rect">
            <a:avLst/>
          </a:prstGeom>
          <a:noFill/>
          <a:ln/>
        </p:spPr>
        <p:txBody>
          <a:bodyPr wrap="square" rtlCol="0" anchor="ctr"/>
          <a:lstStyle/>
          <a:p>
            <a:pPr indent="0" marL="0">
              <a:buNone/>
            </a:pPr>
            <a:r>
              <a:rPr lang="en-US" sz="1300" i="1" dirty="0">
                <a:solidFill>
                  <a:srgbClr val="8E90B8"/>
                </a:solidFill>
                <a:latin typeface="Calibri" pitchFamily="34" charset="0"/>
                <a:ea typeface="Calibri" pitchFamily="34" charset="-122"/>
                <a:cs typeface="Calibri" pitchFamily="34" charset="-120"/>
              </a:rPr>
              <a:t>AI Tools for Personal &amp; Business Growth  ·  RAIN for FGBMFI Southwest Nigeria</a:t>
            </a:r>
            <a:endParaRPr lang="en-US" sz="1300" dirty="0"/>
          </a:p>
        </p:txBody>
      </p:sp>
      <p:sp>
        <p:nvSpPr>
          <p:cNvPr id="7" name="Text 3"/>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C8941F"/>
                </a:solidFill>
                <a:latin typeface="Calibri" pitchFamily="34" charset="0"/>
                <a:ea typeface="Calibri" pitchFamily="34" charset="-122"/>
                <a:cs typeface="Calibri" pitchFamily="34" charset="-120"/>
              </a:rPr>
              <a:t>REFERENCES &amp; SOURCES</a:t>
            </a:r>
            <a:endParaRPr lang="en-US" sz="1200" dirty="0"/>
          </a:p>
        </p:txBody>
      </p:sp>
      <p:sp>
        <p:nvSpPr>
          <p:cNvPr id="3" name="Text 1"/>
          <p:cNvSpPr/>
          <p:nvPr/>
        </p:nvSpPr>
        <p:spPr>
          <a:xfrm>
            <a:off x="640080" y="841248"/>
            <a:ext cx="10881360" cy="548640"/>
          </a:xfrm>
          <a:prstGeom prst="rect">
            <a:avLst/>
          </a:prstGeom>
          <a:noFill/>
          <a:ln/>
        </p:spPr>
        <p:txBody>
          <a:bodyPr wrap="square" lIns="0" tIns="0" rIns="0" bIns="0" rtlCol="0" anchor="ctr"/>
          <a:lstStyle/>
          <a:p>
            <a:pPr indent="0" marL="0">
              <a:buNone/>
            </a:pPr>
            <a:r>
              <a:rPr lang="en-US" sz="2600" b="1" dirty="0">
                <a:solidFill>
                  <a:srgbClr val="171A4A"/>
                </a:solidFill>
                <a:latin typeface="Bookman Old Style" pitchFamily="34" charset="0"/>
                <a:ea typeface="Bookman Old Style" pitchFamily="34" charset="-122"/>
                <a:cs typeface="Bookman Old Style" pitchFamily="34" charset="-120"/>
              </a:rPr>
              <a:t>Where the figures come from</a:t>
            </a:r>
            <a:endParaRPr lang="en-US" sz="2600" dirty="0"/>
          </a:p>
        </p:txBody>
      </p:sp>
      <p:sp>
        <p:nvSpPr>
          <p:cNvPr id="4" name="Text 2"/>
          <p:cNvSpPr/>
          <p:nvPr/>
        </p:nvSpPr>
        <p:spPr>
          <a:xfrm>
            <a:off x="640080" y="1737360"/>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1</a:t>
            </a:r>
            <a:endParaRPr lang="en-US" sz="1600" dirty="0"/>
          </a:p>
        </p:txBody>
      </p:sp>
      <p:sp>
        <p:nvSpPr>
          <p:cNvPr id="5" name="Text 3"/>
          <p:cNvSpPr/>
          <p:nvPr/>
        </p:nvSpPr>
        <p:spPr>
          <a:xfrm>
            <a:off x="1097280" y="1691640"/>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NCC via Vanguard (Nov 2025)
</a:t>
            </a:r>
            <a:pPr indent="0" marL="0">
              <a:buNone/>
            </a:pPr>
            <a:r>
              <a:rPr lang="en-US" sz="1150" dirty="0">
                <a:solidFill>
                  <a:srgbClr val="55586F"/>
                </a:solidFill>
                <a:latin typeface="Calibri" pitchFamily="34" charset="0"/>
                <a:ea typeface="Calibri" pitchFamily="34" charset="-122"/>
                <a:cs typeface="Calibri" pitchFamily="34" charset="-120"/>
              </a:rPr>
              <a:t>Telecom subscribers 173.5m; broadband penetration 49.3%; telecoms 9.2% of GDP (Q2 2025).</a:t>
            </a:r>
            <a:endParaRPr lang="en-US" sz="1250" dirty="0"/>
          </a:p>
        </p:txBody>
      </p:sp>
      <p:sp>
        <p:nvSpPr>
          <p:cNvPr id="6" name="Text 4"/>
          <p:cNvSpPr/>
          <p:nvPr/>
        </p:nvSpPr>
        <p:spPr>
          <a:xfrm>
            <a:off x="6172200" y="1737360"/>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2</a:t>
            </a:r>
            <a:endParaRPr lang="en-US" sz="1600" dirty="0"/>
          </a:p>
        </p:txBody>
      </p:sp>
      <p:sp>
        <p:nvSpPr>
          <p:cNvPr id="7" name="Text 5"/>
          <p:cNvSpPr/>
          <p:nvPr/>
        </p:nvSpPr>
        <p:spPr>
          <a:xfrm>
            <a:off x="6629400" y="1691640"/>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NCC data via MEXC (Dec 2025)
</a:t>
            </a:r>
            <a:pPr indent="0" marL="0">
              <a:buNone/>
            </a:pPr>
            <a:r>
              <a:rPr lang="en-US" sz="1150" dirty="0">
                <a:solidFill>
                  <a:srgbClr val="55586F"/>
                </a:solidFill>
                <a:latin typeface="Calibri" pitchFamily="34" charset="0"/>
                <a:ea typeface="Calibri" pitchFamily="34" charset="-122"/>
                <a:cs typeface="Calibri" pitchFamily="34" charset="-120"/>
              </a:rPr>
              <a:t>Internet penetration crossed 50% (50.58%) in November 2025 — first time above half the population.</a:t>
            </a:r>
            <a:endParaRPr lang="en-US" sz="1250" dirty="0"/>
          </a:p>
        </p:txBody>
      </p:sp>
      <p:sp>
        <p:nvSpPr>
          <p:cNvPr id="8" name="Text 6"/>
          <p:cNvSpPr/>
          <p:nvPr/>
        </p:nvSpPr>
        <p:spPr>
          <a:xfrm>
            <a:off x="640080" y="2816352"/>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3</a:t>
            </a:r>
            <a:endParaRPr lang="en-US" sz="1600" dirty="0"/>
          </a:p>
        </p:txBody>
      </p:sp>
      <p:sp>
        <p:nvSpPr>
          <p:cNvPr id="9" name="Text 7"/>
          <p:cNvSpPr/>
          <p:nvPr/>
        </p:nvSpPr>
        <p:spPr>
          <a:xfrm>
            <a:off x="1097280" y="2770632"/>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THISDAY (Oct 2025)
</a:t>
            </a:r>
            <a:pPr indent="0" marL="0">
              <a:buNone/>
            </a:pPr>
            <a:r>
              <a:rPr lang="en-US" sz="1150" dirty="0">
                <a:solidFill>
                  <a:srgbClr val="55586F"/>
                </a:solidFill>
                <a:latin typeface="Calibri" pitchFamily="34" charset="0"/>
                <a:ea typeface="Calibri" pitchFamily="34" charset="-122"/>
                <a:cs typeface="Calibri" pitchFamily="34" charset="-120"/>
              </a:rPr>
              <a:t>NCC monthly broadband figures: 45.61% (Jan 2025), 48.81% (Aug 2025); ~140m internet subscriptions.</a:t>
            </a:r>
            <a:endParaRPr lang="en-US" sz="1250" dirty="0"/>
          </a:p>
        </p:txBody>
      </p:sp>
      <p:sp>
        <p:nvSpPr>
          <p:cNvPr id="10" name="Text 8"/>
          <p:cNvSpPr/>
          <p:nvPr/>
        </p:nvSpPr>
        <p:spPr>
          <a:xfrm>
            <a:off x="6172200" y="2816352"/>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4</a:t>
            </a:r>
            <a:endParaRPr lang="en-US" sz="1600" dirty="0"/>
          </a:p>
        </p:txBody>
      </p:sp>
      <p:sp>
        <p:nvSpPr>
          <p:cNvPr id="11" name="Text 9"/>
          <p:cNvSpPr/>
          <p:nvPr/>
        </p:nvSpPr>
        <p:spPr>
          <a:xfrm>
            <a:off x="6629400" y="2770632"/>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Ghana Chamber of Telecoms (2026)
</a:t>
            </a:r>
            <a:pPr indent="0" marL="0">
              <a:buNone/>
            </a:pPr>
            <a:r>
              <a:rPr lang="en-US" sz="1150" dirty="0">
                <a:solidFill>
                  <a:srgbClr val="55586F"/>
                </a:solidFill>
                <a:latin typeface="Calibri" pitchFamily="34" charset="0"/>
                <a:ea typeface="Calibri" pitchFamily="34" charset="-122"/>
                <a:cs typeface="Calibri" pitchFamily="34" charset="-120"/>
              </a:rPr>
              <a:t>Broadband penetration baseline 42.2% (Oct 2024); steady 2025 subscription growth.</a:t>
            </a:r>
            <a:endParaRPr lang="en-US" sz="1250" dirty="0"/>
          </a:p>
        </p:txBody>
      </p:sp>
      <p:sp>
        <p:nvSpPr>
          <p:cNvPr id="12" name="Text 10"/>
          <p:cNvSpPr/>
          <p:nvPr/>
        </p:nvSpPr>
        <p:spPr>
          <a:xfrm>
            <a:off x="640080" y="3895344"/>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5</a:t>
            </a:r>
            <a:endParaRPr lang="en-US" sz="1600" dirty="0"/>
          </a:p>
        </p:txBody>
      </p:sp>
      <p:sp>
        <p:nvSpPr>
          <p:cNvPr id="13" name="Text 11"/>
          <p:cNvSpPr/>
          <p:nvPr/>
        </p:nvSpPr>
        <p:spPr>
          <a:xfrm>
            <a:off x="1097280" y="3849624"/>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TechCabal (Apr 2025)
</a:t>
            </a:r>
            <a:pPr indent="0" marL="0">
              <a:buNone/>
            </a:pPr>
            <a:r>
              <a:rPr lang="en-US" sz="1150" dirty="0">
                <a:solidFill>
                  <a:srgbClr val="55586F"/>
                </a:solidFill>
                <a:latin typeface="Calibri" pitchFamily="34" charset="0"/>
                <a:ea typeface="Calibri" pitchFamily="34" charset="-122"/>
                <a:cs typeface="Calibri" pitchFamily="34" charset="-120"/>
              </a:rPr>
              <a:t>CBN approves open banking — Nigeria the first African country; consent-based data access tied to BVN.</a:t>
            </a:r>
            <a:endParaRPr lang="en-US" sz="1250" dirty="0"/>
          </a:p>
        </p:txBody>
      </p:sp>
      <p:sp>
        <p:nvSpPr>
          <p:cNvPr id="14" name="Text 12"/>
          <p:cNvSpPr/>
          <p:nvPr/>
        </p:nvSpPr>
        <p:spPr>
          <a:xfrm>
            <a:off x="6172200" y="3895344"/>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6</a:t>
            </a:r>
            <a:endParaRPr lang="en-US" sz="1600" dirty="0"/>
          </a:p>
        </p:txBody>
      </p:sp>
      <p:sp>
        <p:nvSpPr>
          <p:cNvPr id="15" name="Text 13"/>
          <p:cNvSpPr/>
          <p:nvPr/>
        </p:nvSpPr>
        <p:spPr>
          <a:xfrm>
            <a:off x="6629400" y="3849624"/>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Technext / Vanguard (2025)
</a:t>
            </a:r>
            <a:pPr indent="0" marL="0">
              <a:buNone/>
            </a:pPr>
            <a:r>
              <a:rPr lang="en-US" sz="1150" dirty="0">
                <a:solidFill>
                  <a:srgbClr val="55586F"/>
                </a:solidFill>
                <a:latin typeface="Calibri" pitchFamily="34" charset="0"/>
                <a:ea typeface="Calibri" pitchFamily="34" charset="-122"/>
                <a:cs typeface="Calibri" pitchFamily="34" charset="-120"/>
              </a:rPr>
              <a:t>Open banking did not go live on 1 Aug 2025; phased rollout expected early 2026 (CBN).</a:t>
            </a:r>
            <a:endParaRPr lang="en-US" sz="1250" dirty="0"/>
          </a:p>
        </p:txBody>
      </p:sp>
      <p:sp>
        <p:nvSpPr>
          <p:cNvPr id="16" name="Text 14"/>
          <p:cNvSpPr/>
          <p:nvPr/>
        </p:nvSpPr>
        <p:spPr>
          <a:xfrm>
            <a:off x="640080" y="4974336"/>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7</a:t>
            </a:r>
            <a:endParaRPr lang="en-US" sz="1600" dirty="0"/>
          </a:p>
        </p:txBody>
      </p:sp>
      <p:sp>
        <p:nvSpPr>
          <p:cNvPr id="17" name="Text 15"/>
          <p:cNvSpPr/>
          <p:nvPr/>
        </p:nvSpPr>
        <p:spPr>
          <a:xfrm>
            <a:off x="1097280" y="4928616"/>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WhatsApp / Meta (official)
</a:t>
            </a:r>
            <a:pPr indent="0" marL="0">
              <a:buNone/>
            </a:pPr>
            <a:r>
              <a:rPr lang="en-US" sz="1150" dirty="0">
                <a:solidFill>
                  <a:srgbClr val="55586F"/>
                </a:solidFill>
                <a:latin typeface="Calibri" pitchFamily="34" charset="0"/>
                <a:ea typeface="Calibri" pitchFamily="34" charset="-122"/>
                <a:cs typeface="Calibri" pitchFamily="34" charset="-120"/>
              </a:rPr>
              <a:t>Meta AI in WhatsApp: chat by text or voice, summarise messages, generate &amp; edit images.</a:t>
            </a:r>
            <a:endParaRPr lang="en-US" sz="1250" dirty="0"/>
          </a:p>
        </p:txBody>
      </p:sp>
      <p:sp>
        <p:nvSpPr>
          <p:cNvPr id="18" name="Text 16"/>
          <p:cNvSpPr/>
          <p:nvPr/>
        </p:nvSpPr>
        <p:spPr>
          <a:xfrm>
            <a:off x="6172200" y="4974336"/>
            <a:ext cx="411480" cy="411480"/>
          </a:xfrm>
          <a:prstGeom prst="rect">
            <a:avLst/>
          </a:prstGeom>
          <a:noFill/>
          <a:ln/>
        </p:spPr>
        <p:txBody>
          <a:bodyPr wrap="square" lIns="0" tIns="0" rIns="0" bIns="0" rtlCol="0" anchor="ctr"/>
          <a:lstStyle/>
          <a:p>
            <a:pPr algn="ctr" indent="0" marL="0">
              <a:buNone/>
            </a:pPr>
            <a:r>
              <a:rPr lang="en-US" sz="1600" b="1" dirty="0">
                <a:solidFill>
                  <a:srgbClr val="C8941F"/>
                </a:solidFill>
                <a:latin typeface="Bookman Old Style" pitchFamily="34" charset="0"/>
                <a:ea typeface="Bookman Old Style" pitchFamily="34" charset="-122"/>
                <a:cs typeface="Bookman Old Style" pitchFamily="34" charset="-120"/>
              </a:rPr>
              <a:t>8</a:t>
            </a:r>
            <a:endParaRPr lang="en-US" sz="1600" dirty="0"/>
          </a:p>
        </p:txBody>
      </p:sp>
      <p:sp>
        <p:nvSpPr>
          <p:cNvPr id="19" name="Text 17"/>
          <p:cNvSpPr/>
          <p:nvPr/>
        </p:nvSpPr>
        <p:spPr>
          <a:xfrm>
            <a:off x="6629400" y="4928616"/>
            <a:ext cx="4937760" cy="960120"/>
          </a:xfrm>
          <a:prstGeom prst="rect">
            <a:avLst/>
          </a:prstGeom>
          <a:noFill/>
          <a:ln/>
        </p:spPr>
        <p:txBody>
          <a:bodyPr wrap="square" lIns="0" tIns="0" rIns="0" bIns="0" rtlCol="0" anchor="t"/>
          <a:lstStyle/>
          <a:p>
            <a:pPr indent="0" marL="0">
              <a:buNone/>
            </a:pPr>
            <a:r>
              <a:rPr lang="en-US" sz="1250" b="1" dirty="0">
                <a:solidFill>
                  <a:srgbClr val="14152B"/>
                </a:solidFill>
                <a:latin typeface="Calibri" pitchFamily="34" charset="0"/>
                <a:ea typeface="Calibri" pitchFamily="34" charset="-122"/>
                <a:cs typeface="Calibri" pitchFamily="34" charset="-120"/>
              </a:rPr>
              <a:t>Social Media Today (2025)
</a:t>
            </a:r>
            <a:pPr indent="0" marL="0">
              <a:buNone/>
            </a:pPr>
            <a:r>
              <a:rPr lang="en-US" sz="1150" dirty="0">
                <a:solidFill>
                  <a:srgbClr val="55586F"/>
                </a:solidFill>
                <a:latin typeface="Calibri" pitchFamily="34" charset="0"/>
                <a:ea typeface="Calibri" pitchFamily="34" charset="-122"/>
                <a:cs typeface="Calibri" pitchFamily="34" charset="-120"/>
              </a:rPr>
              <a:t>Meta confirms AI Studio availability including Nigeria, across Facebook, Instagram, WhatsApp, Messenger.</a:t>
            </a:r>
            <a:endParaRPr lang="en-US" sz="1250" dirty="0"/>
          </a:p>
        </p:txBody>
      </p:sp>
      <p:sp>
        <p:nvSpPr>
          <p:cNvPr id="20" name="Text 18"/>
          <p:cNvSpPr/>
          <p:nvPr/>
        </p:nvSpPr>
        <p:spPr>
          <a:xfrm>
            <a:off x="640080" y="6263640"/>
            <a:ext cx="10881360" cy="457200"/>
          </a:xfrm>
          <a:prstGeom prst="rect">
            <a:avLst/>
          </a:prstGeom>
          <a:noFill/>
          <a:ln/>
        </p:spPr>
        <p:txBody>
          <a:bodyPr wrap="square" rtlCol="0" anchor="ctr"/>
          <a:lstStyle/>
          <a:p>
            <a:pPr indent="0" marL="0">
              <a:buNone/>
            </a:pPr>
            <a:r>
              <a:rPr lang="en-US" sz="1050" i="1" dirty="0">
                <a:solidFill>
                  <a:srgbClr val="55586F"/>
                </a:solidFill>
                <a:latin typeface="Calibri" pitchFamily="34" charset="0"/>
                <a:ea typeface="Calibri" pitchFamily="34" charset="-122"/>
                <a:cs typeface="Calibri" pitchFamily="34" charset="-120"/>
              </a:rPr>
              <a:t>Tool names belong to their respective owners and are cited for identification only. Field scenarios are illustrative composites, not claims about named businesses or verified figures.</a:t>
            </a:r>
            <a:endParaRPr lang="en-US" sz="1050" dirty="0"/>
          </a:p>
        </p:txBody>
      </p:sp>
      <p:sp>
        <p:nvSpPr>
          <p:cNvPr id="21" name="Text 19"/>
          <p:cNvSpPr/>
          <p:nvPr/>
        </p:nvSpPr>
        <p:spPr>
          <a:xfrm>
            <a:off x="11414455" y="6355080"/>
            <a:ext cx="457200" cy="274320"/>
          </a:xfrm>
          <a:prstGeom prst="rect">
            <a:avLst/>
          </a:prstGeom>
          <a:noFill/>
          <a:ln/>
        </p:spPr>
        <p:txBody>
          <a:bodyPr wrap="square" rtlCol="0" anchor="ctr"/>
          <a:lstStyle/>
          <a:p>
            <a:pPr algn="r" indent="0" marL="0">
              <a:buNone/>
            </a:pPr>
            <a:r>
              <a:rPr lang="en-US" sz="1100" dirty="0">
                <a:solidFill>
                  <a:srgbClr val="9A968A"/>
                </a:solidFill>
                <a:latin typeface="Consolas" pitchFamily="34" charset="0"/>
                <a:ea typeface="Consolas" pitchFamily="34" charset="-122"/>
                <a:cs typeface="Consolas"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for Personal &amp; Business Growth</dc:title>
  <dc:subject>PptxGenJS Presentation</dc:subject>
  <dc:creator>RAIN — Robotics &amp; Artificial Intelligence Nigeria</dc:creator>
  <cp:lastModifiedBy>RAIN — Robotics &amp; Artificial Intelligence Nigeria</cp:lastModifiedBy>
  <cp:revision>1</cp:revision>
  <dcterms:created xsi:type="dcterms:W3CDTF">2026-06-12T07:55:43Z</dcterms:created>
  <dcterms:modified xsi:type="dcterms:W3CDTF">2026-06-12T07:55:43Z</dcterms:modified>
</cp:coreProperties>
</file>