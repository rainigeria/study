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68" r:id="rId16"/>
    <p:sldId id="269" r:id="rId17"/>
    <p:sldId id="272" r:id="rId18"/>
    <p:sldId id="273" r:id="rId19"/>
    <p:sldId id="274" r:id="rId20"/>
    <p:sldId id="279" r:id="rId21"/>
    <p:sldId id="280" r:id="rId22"/>
    <p:sldId id="275" r:id="rId23"/>
    <p:sldId id="276" r:id="rId24"/>
    <p:sldId id="277" r:id="rId25"/>
    <p:sldId id="278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1" d="100"/>
          <a:sy n="81" d="100"/>
        </p:scale>
        <p:origin x="-56" y="-1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C9F27F-2707-43B5-9694-EF5B641DDED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D5A72A-7C8F-45EB-A708-D91316973E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871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Butterflies in my belly. You are the future of this country — and of the world. UI graduates are built for global challenges.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Industrial and Production Engineering is the engine room of the 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does it mean to industrialise? Break things into processes. Make every aspect a facility of its own, a value element in the chain. Then you have built an industry.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is why this department holds a dear place in my heart.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chain, supply chain — the essence is a production economy: one that solves people's problems and produces what they want.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the research idea — we give you access to this company's funding. That is industrialising a sector. That is what makes them great.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Why? Because we have not understood the power of industrialisation.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that brings me to the theme of today's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world has moved. Before: will AI take our jobs? Now: do we still need humans at all?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Everybody is rushing to enjoy the benefits of autonomous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let us break it down. But the simple answer to everything is one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and response. Say ownership. Say ownership. Then: what does ownership mean?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Creativity is not born in a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fine to get ideas. But you have no ownership. Somebody asks AI for a speech — you won't even be able to relate to it. The idea must come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difference is in the taste. Each taste is a business secret, guarded jealously. That secret did not come from a global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takes a human to dictate the direction and impact of research — and research is what keeps an economy growing.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amplifier comes with energy but no signal. It takes a signal and gives it greater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Homework: the diligent student uses AI to consult more, solve more, be challenged more. The lazy one copies even what AI didn't say to copy.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point is simple. We must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amplifier comes with energy but no signal. It takes a signal and gives it greater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amplifier comes with energy but no signal. It takes a signal and gives it greater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told you — it is an amplifier. Use it. But remember: YOU are what it takes to be successful.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project may be to make Mama proud, to be rich, to build something the whole world uses. Those who did it — how did they start?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being a wonderful audience. Thanks to the organisers. Wonderful conference. God bless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Ownership answers most questions: research, creativity, hard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937760" cy="493776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572000"/>
            <a:ext cx="2926080" cy="292608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8961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64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What</a:t>
            </a:r>
            <a:endParaRPr lang="en-US" sz="5800" dirty="0"/>
          </a:p>
          <a:p>
            <a:pPr marL="0" indent="0">
              <a:lnSpc>
                <a:spcPts val="64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Cannot Replace</a:t>
            </a:r>
            <a:endParaRPr lang="en-US" sz="5800" dirty="0"/>
          </a:p>
        </p:txBody>
      </p:sp>
      <p:sp>
        <p:nvSpPr>
          <p:cNvPr id="6" name="Shape 4"/>
          <p:cNvSpPr/>
          <p:nvPr/>
        </p:nvSpPr>
        <p:spPr>
          <a:xfrm>
            <a:off x="777240" y="4206240"/>
            <a:ext cx="1097280" cy="45720"/>
          </a:xfrm>
          <a:prstGeom prst="rect">
            <a:avLst/>
          </a:prstGeom>
          <a:solidFill>
            <a:srgbClr val="E8A3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5262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Olusola Sayeed Ayoola</a:t>
            </a:r>
            <a:endParaRPr lang="en-US" sz="22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CEO, Robotics and Artificial Intelligence Nigeria (RAIN)</a:t>
            </a:r>
            <a:endParaRPr lang="en-US" sz="22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Ibadan  ·  10 September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the future.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this country</a:t>
            </a:r>
            <a:endParaRPr lang="en-US" sz="3200" dirty="0"/>
          </a:p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 dare say — of the world</a:t>
            </a:r>
            <a:endParaRPr lang="en-US" sz="3200" dirty="0"/>
          </a:p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graduates are built for global challenges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4846320"/>
            <a:ext cx="10820095" cy="1280160"/>
          </a:xfrm>
          <a:prstGeom prst="roundRect">
            <a:avLst>
              <a:gd name="adj" fmla="val 7143"/>
            </a:avLst>
          </a:prstGeom>
          <a:solidFill>
            <a:srgbClr val="1230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4846320"/>
            <a:ext cx="100885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in this department, it is even more critical.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&amp; PRODUCTION ENGINEERING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 room of the nation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Nigeria will be great, it will be because of how we industrialise: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230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788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know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429000" y="278892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1F3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0" y="2788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capabilities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172200" y="278892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230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2788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traditions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915400" y="278892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1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0" y="2788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culture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526280"/>
            <a:ext cx="108200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industrialise is to break things into processes — and make every step a value element in the chain.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5120640" cy="3566160"/>
          </a:xfrm>
          <a:prstGeom prst="roundRect">
            <a:avLst>
              <a:gd name="adj" fmla="val 2564"/>
            </a:avLst>
          </a:prstGeom>
          <a:solidFill>
            <a:srgbClr val="2C5F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371600"/>
            <a:ext cx="4480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local</a:t>
            </a:r>
            <a:endParaRPr lang="en-US" sz="4000" dirty="0"/>
          </a:p>
          <a:p>
            <a:pPr marL="0" indent="0" algn="ctr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akara seller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1371600"/>
            <a:ext cx="548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i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355080" y="1371600"/>
            <a:ext cx="5120640" cy="3566160"/>
          </a:xfrm>
          <a:prstGeom prst="roundRect">
            <a:avLst>
              <a:gd name="adj" fmla="val 2564"/>
            </a:avLst>
          </a:prstGeom>
          <a:solidFill>
            <a:srgbClr val="E8A3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720840" y="1371600"/>
            <a:ext cx="4480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large</a:t>
            </a:r>
            <a:endParaRPr lang="en-US" sz="4000" dirty="0"/>
          </a:p>
          <a:p>
            <a:pPr marL="0" indent="0" algn="ctr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biscuit factory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78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the recipe. The industrialisation of the process.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 ECONOMY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not just engineers.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move Nigeria from consumer to producer</a:t>
            </a:r>
            <a:endParaRPr lang="en-US" sz="2800" dirty="0"/>
          </a:p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concern goes beyond mechanical, electrical, civil</a:t>
            </a:r>
            <a:endParaRPr lang="en-US" sz="2800" dirty="0"/>
          </a:p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into economics, social studies, psychology</a:t>
            </a:r>
            <a:endParaRPr lang="en-US" sz="2800" dirty="0"/>
          </a:p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touches every part of this country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5778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are going to solve that problem.”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 insecurity still a problem?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57800" cy="4023360"/>
          </a:xfrm>
          <a:prstGeom prst="roundRect">
            <a:avLst>
              <a:gd name="adj" fmla="val 2273"/>
            </a:avLst>
          </a:prstGeom>
          <a:solidFill>
            <a:srgbClr val="F1F3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5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8892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 smtClean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stakeholder </a:t>
            </a:r>
            <a:r>
              <a:rPr lang="en-US" sz="2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</a:t>
            </a:r>
            <a:r>
              <a:rPr lang="en-US" sz="2200" dirty="0" smtClean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</a:t>
            </a:r>
            <a:r>
              <a:rPr lang="en-US" sz="2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 smtClean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</a:t>
            </a:r>
            <a:r>
              <a:rPr lang="en-US" sz="22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</a:t>
            </a:r>
            <a:r>
              <a:rPr lang="en-US" sz="2200" dirty="0" smtClean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individual agenda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63640" y="2057400"/>
            <a:ext cx="5257800" cy="4023360"/>
          </a:xfrm>
          <a:prstGeom prst="roundRect">
            <a:avLst>
              <a:gd name="adj" fmla="val 2273"/>
            </a:avLst>
          </a:prstGeom>
          <a:solidFill>
            <a:srgbClr val="1230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5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America's defence sector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78892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sector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pointed at one agenda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TWO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had the palm oil.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 came to collect seedlings from </a:t>
            </a:r>
            <a:r>
              <a:rPr lang="en-US" sz="3000" dirty="0" smtClean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us, Today</a:t>
            </a:r>
            <a:r>
              <a:rPr lang="en-US" sz="3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they export it</a:t>
            </a:r>
            <a:endParaRPr lang="en-US" sz="3000" dirty="0"/>
          </a:p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making </a:t>
            </a:r>
            <a:r>
              <a:rPr lang="en-US" sz="3000" dirty="0" err="1" smtClean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Garri</a:t>
            </a:r>
            <a:r>
              <a:rPr lang="en-US" sz="3000" dirty="0" smtClean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today</a:t>
            </a:r>
            <a:endParaRPr lang="en-US" sz="3000" dirty="0"/>
          </a:p>
          <a:p>
            <a:pPr marL="457200" indent="-457200">
              <a:lnSpc>
                <a:spcPts val="4000"/>
              </a:lnSpc>
              <a:spcAft>
                <a:spcPts val="1800"/>
              </a:spcAft>
              <a:buSzPct val="100000"/>
              <a:buChar char="•"/>
            </a:pPr>
            <a:r>
              <a:rPr lang="en-US" sz="3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keep doing our </a:t>
            </a:r>
            <a:r>
              <a:rPr lang="en-US" sz="3000" dirty="0" smtClean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small scale; everything!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5029200"/>
            <a:ext cx="10820095" cy="1188720"/>
          </a:xfrm>
          <a:prstGeom prst="roundRect">
            <a:avLst>
              <a:gd name="adj" fmla="val 7692"/>
            </a:avLst>
          </a:prstGeom>
          <a:solidFill>
            <a:srgbClr val="2C5F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5029200"/>
            <a:ext cx="10088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i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Because we </a:t>
            </a:r>
            <a:r>
              <a:rPr lang="en-US" sz="2600" b="1" i="1" dirty="0" smtClean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appreciate the power and process </a:t>
            </a:r>
            <a:r>
              <a:rPr lang="en-US" sz="2600" b="1" i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industrialisation.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OF INDUSTRIALISATION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 smtClean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must learn that in Industrialization, every </a:t>
            </a:r>
            <a:r>
              <a:rPr lang="en-US" sz="5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player stands tall.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685800" y="2421195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1230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421195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</a:t>
            </a:r>
            <a:r>
              <a:rPr lang="en-US" sz="30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389120" y="2421195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E8A3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63440" y="2421195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092440" y="2421195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1230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66760" y="2421195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raw material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0292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player is insignificant. No player is </a:t>
            </a:r>
            <a:r>
              <a:rPr lang="en-US" sz="2800" b="1" i="1" dirty="0" err="1" smtClean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dispensible</a:t>
            </a:r>
            <a:r>
              <a:rPr lang="en-US" sz="2800" b="1" i="1" dirty="0" smtClean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4937760" cy="493776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THEME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8778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What</a:t>
            </a:r>
            <a:endParaRPr lang="en-US" sz="5400" dirty="0"/>
          </a:p>
          <a:p>
            <a:pPr marL="0" indent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Cannot Replace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11480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 smtClean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Process Discipline Creates Impact, Not Just Output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EVEN NOTICE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has moved.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57800" cy="2743200"/>
          </a:xfrm>
          <a:prstGeom prst="roundRect">
            <a:avLst>
              <a:gd name="adj" fmla="val 3333"/>
            </a:avLst>
          </a:prstGeom>
          <a:solidFill>
            <a:srgbClr val="F1F3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5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4320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“Will AI take</a:t>
            </a:r>
            <a:endParaRPr lang="en-US" sz="32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jobs?”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263640" y="2057400"/>
            <a:ext cx="5257800" cy="2743200"/>
          </a:xfrm>
          <a:prstGeom prst="roundRect">
            <a:avLst>
              <a:gd name="adj" fmla="val 3333"/>
            </a:avLst>
          </a:prstGeom>
          <a:solidFill>
            <a:srgbClr val="1230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5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74320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2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much less humans can I prune down to?”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074920"/>
            <a:ext cx="108200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000"/>
              </a:lnSpc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my car drives itself, I will not hire a driver</a:t>
            </a:r>
            <a:endParaRPr lang="en-US" sz="2200" dirty="0"/>
          </a:p>
          <a:p>
            <a:pPr marL="457200" indent="-457200">
              <a:lnSpc>
                <a:spcPts val="3000"/>
              </a:lnSpc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my walls paint themselves, I will not hire a painter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 DARE TO ASK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questions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731520" cy="73152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220370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10312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AI do everything humans </a:t>
            </a:r>
            <a:r>
              <a:rPr lang="en-US" sz="2600" b="1" dirty="0" smtClean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? Or is there still room for human intelligence?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85800" y="3794760"/>
            <a:ext cx="731520" cy="73152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37581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657600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 process must last, deliver impact, and </a:t>
            </a:r>
            <a:r>
              <a:rPr lang="en-US" sz="2600" b="1" dirty="0" smtClean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scale, could it be up to AI alone? Or are </a:t>
            </a: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</a:t>
            </a:r>
            <a:r>
              <a:rPr lang="en-US" sz="2600" b="1" dirty="0" smtClean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to how far </a:t>
            </a: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r>
              <a:rPr lang="en-US" sz="2600" b="1" dirty="0" smtClean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help build?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85800" y="5257800"/>
            <a:ext cx="10820095" cy="914400"/>
          </a:xfrm>
          <a:prstGeom prst="roundRect">
            <a:avLst>
              <a:gd name="adj" fmla="val 10000"/>
            </a:avLst>
          </a:prstGeom>
          <a:solidFill>
            <a:srgbClr val="1230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525780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smtClean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Debatable.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4023360" cy="40233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 answer to everything: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59508" y="2103120"/>
            <a:ext cx="1114638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kern="0" spc="600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is KEY</a:t>
            </a:r>
            <a:endParaRPr lang="en-US" sz="8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1280160"/>
            <a:ext cx="1463040" cy="146304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1243584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0312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800"/>
              </a:lnSpc>
              <a:buNone/>
            </a:pPr>
            <a:r>
              <a:rPr lang="en-US" sz="50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is creativity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343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hallmark of every great revolution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·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Creativity </a:t>
            </a:r>
            <a:r>
              <a:rPr lang="en-US" sz="4400" b="1" dirty="0" smtClean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</a:t>
            </a:r>
            <a:r>
              <a:rPr lang="en-US" sz="4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2302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502920" cy="50292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5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71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Exposure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429000" y="21031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2302A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331720"/>
            <a:ext cx="502920" cy="50292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295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71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172200" y="21031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12302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0" y="2331720"/>
            <a:ext cx="502920" cy="50292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2295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971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8915400" y="210312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E8A317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0" y="2331720"/>
            <a:ext cx="502920" cy="502920"/>
          </a:xfrm>
          <a:prstGeom prst="ellipse">
            <a:avLst/>
          </a:prstGeom>
          <a:solidFill>
            <a:srgbClr val="1230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0" y="22951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2971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Wisdom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297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Wisdom: to see what others do not see.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85800" y="4937760"/>
            <a:ext cx="10820095" cy="1280160"/>
          </a:xfrm>
          <a:prstGeom prst="roundRect">
            <a:avLst>
              <a:gd name="adj" fmla="val 7143"/>
            </a:avLst>
          </a:prstGeom>
          <a:solidFill>
            <a:srgbClr val="F1F3F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51560" y="4937760"/>
            <a:ext cx="100885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“ChatGPT, give me an idea”  →  no ownership. You cannot take it anywhere.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1280160"/>
            <a:ext cx="1463040" cy="146304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1243584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0312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5800"/>
              </a:lnSpc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is research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343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Coca-Cola vs Pepsi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·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is </a:t>
            </a:r>
            <a:r>
              <a:rPr lang="en-US" sz="4600" b="1" dirty="0" smtClean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what AI can do alone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collects the data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760720" y="2423160"/>
            <a:ext cx="548640" cy="365760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2148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decide what to collect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91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runs the analytics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760720" y="3566160"/>
            <a:ext cx="548640" cy="365760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3291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</a:t>
            </a:r>
            <a:r>
              <a:rPr lang="en-US" sz="2600" b="1" dirty="0" smtClean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your inferences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434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 the report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760720" y="4709160"/>
            <a:ext cx="548640" cy="365760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7960" y="4434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</a:t>
            </a:r>
            <a:r>
              <a:rPr lang="en-US" sz="2600" b="1" dirty="0" smtClean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justify the positions taken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53212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that made </a:t>
            </a:r>
            <a:r>
              <a:rPr lang="en-US" sz="2600" b="1" i="1" dirty="0" smtClean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 products will </a:t>
            </a:r>
            <a:r>
              <a:rPr lang="en-US" sz="26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be in the public domain.</a:t>
            </a:r>
            <a:endParaRPr lang="en-US" sz="2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1280160"/>
            <a:ext cx="1463040" cy="146304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1243584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0312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5800"/>
              </a:lnSpc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is hard </a:t>
            </a: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343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an amplifier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· 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will amplify who you are.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5257800" cy="2743200"/>
          </a:xfrm>
          <a:prstGeom prst="roundRect">
            <a:avLst>
              <a:gd name="adj" fmla="val 3333"/>
            </a:avLst>
          </a:prstGeom>
          <a:solidFill>
            <a:srgbClr val="2C5F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lazy →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1089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Laziness, amplified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263640" y="2194560"/>
            <a:ext cx="5257800" cy="2743200"/>
          </a:xfrm>
          <a:prstGeom prst="roundRect">
            <a:avLst>
              <a:gd name="adj" fmla="val 3333"/>
            </a:avLst>
          </a:prstGeom>
          <a:solidFill>
            <a:srgbClr val="E8A3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work hard →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31089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work, amplified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3035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i="1" dirty="0">
                <a:solidFill>
                  <a:srgbClr val="C9D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Easier, faster, better — but only in the direction of your effort.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WAS THE HUMAN IN THE LOOP?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cautionary tales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F1F3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377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SIWES letter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0175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straight from ChatGPT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background still there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 and [Address] still there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you employ that person?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1230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2377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lawyer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301752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AI to prepare his arguments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cited cases never existed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</a:t>
            </a:r>
            <a:endParaRPr lang="en-US" sz="2000" dirty="0"/>
          </a:p>
          <a:p>
            <a:pPr marL="457200" indent="-457200">
              <a:lnSpc>
                <a:spcPts val="28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fined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1280160"/>
            <a:ext cx="1463040" cy="146304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1243584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0312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5800"/>
              </a:lnSpc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</a:t>
            </a:r>
            <a:r>
              <a:rPr lang="en-US" sz="50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Empathy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343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i="1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applying Emotional Intelligence</a:t>
            </a:r>
          </a:p>
        </p:txBody>
      </p:sp>
    </p:spTree>
    <p:extLst>
      <p:ext uri="{BB962C8B-B14F-4D97-AF65-F5344CB8AC3E}">
        <p14:creationId xmlns:p14="http://schemas.microsoft.com/office/powerpoint/2010/main" val="41267197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1280160"/>
            <a:ext cx="1463040" cy="146304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0" y="1243584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0312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5800"/>
              </a:lnSpc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Ownership </a:t>
            </a:r>
            <a:r>
              <a:rPr lang="en-US" sz="50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making sacrifices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343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 smtClean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Rules inhibit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053514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2C5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ME BE PRACTICAL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77240"/>
            <a:ext cx="10820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cannot replace you. It can </a:t>
            </a:r>
            <a:r>
              <a:rPr lang="en-US" sz="4000" b="1" dirty="0" smtClean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support </a:t>
            </a:r>
            <a:r>
              <a:rPr lang="en-US" sz="40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600"/>
              </a:lnSpc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in the park — talk your ideas to an AI, then ask it to summarise</a:t>
            </a:r>
            <a:endParaRPr lang="en-US" sz="2600" dirty="0"/>
          </a:p>
          <a:p>
            <a:pPr marL="457200" indent="-457200">
              <a:lnSpc>
                <a:spcPts val="3600"/>
              </a:lnSpc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a pitch? Ask: “What have I not covered?”</a:t>
            </a:r>
            <a:endParaRPr lang="en-US" sz="2600" dirty="0"/>
          </a:p>
          <a:p>
            <a:pPr marL="457200" indent="-457200">
              <a:lnSpc>
                <a:spcPts val="3600"/>
              </a:lnSpc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meeting? Let your AI assistant take the notes</a:t>
            </a:r>
            <a:endParaRPr lang="en-US" sz="2600" dirty="0"/>
          </a:p>
          <a:p>
            <a:pPr marL="457200" indent="-457200">
              <a:lnSpc>
                <a:spcPts val="3600"/>
              </a:lnSpc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2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second opinion, privately? Talk to the AI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5778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i="1" dirty="0">
                <a:solidFill>
                  <a:srgbClr val="2C5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Digitalise every step of your progress.</a:t>
            </a:r>
            <a:endParaRPr lang="en-US" sz="3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ME ASK YOU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7772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years from now, where will you be?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8686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something your company is proud of?</a:t>
            </a:r>
            <a:endParaRPr lang="en-US" sz="2800" dirty="0"/>
          </a:p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something nations thank God for?</a:t>
            </a:r>
            <a:endParaRPr lang="en-US" sz="2800" dirty="0"/>
          </a:p>
          <a:p>
            <a:pPr marL="457200" indent="-457200">
              <a:lnSpc>
                <a:spcPts val="3800"/>
              </a:lnSpc>
              <a:spcAft>
                <a:spcPts val="1800"/>
              </a:spcAft>
              <a:buSzPct val="100000"/>
              <a:buChar char="•"/>
            </a:pPr>
            <a:r>
              <a:rPr lang="en-US" sz="28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something of national impact?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212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i="1" dirty="0">
                <a:solidFill>
                  <a:srgbClr val="E8A3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 answer be yes. But it takes YOU to do it.</a:t>
            </a:r>
            <a:endParaRPr lang="en-US" sz="3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4754880" cy="475488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657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E8A3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CLOSING REMARK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transfer to AI: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ts val="5200"/>
              </a:lnSpc>
              <a:spcAft>
                <a:spcPts val="1000"/>
              </a:spcAft>
              <a:buSzPct val="100000"/>
              <a:buChar char="•"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studentship</a:t>
            </a:r>
            <a:endParaRPr lang="en-US" sz="4000" dirty="0"/>
          </a:p>
          <a:p>
            <a:pPr marL="457200" indent="-457200">
              <a:lnSpc>
                <a:spcPts val="5200"/>
              </a:lnSpc>
              <a:spcAft>
                <a:spcPts val="1000"/>
              </a:spcAft>
              <a:buSzPct val="100000"/>
              <a:buChar char="•"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engineer-ship</a:t>
            </a:r>
            <a:endParaRPr lang="en-US" sz="4000" dirty="0"/>
          </a:p>
          <a:p>
            <a:pPr marL="457200" indent="-457200">
              <a:lnSpc>
                <a:spcPts val="5200"/>
              </a:lnSpc>
              <a:spcAft>
                <a:spcPts val="1000"/>
              </a:spcAft>
              <a:buSzPct val="100000"/>
              <a:buChar char="•"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ambition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85800" y="4480560"/>
            <a:ext cx="10820095" cy="1645920"/>
          </a:xfrm>
          <a:prstGeom prst="roundRect">
            <a:avLst>
              <a:gd name="adj" fmla="val 5556"/>
            </a:avLst>
          </a:prstGeom>
          <a:solidFill>
            <a:srgbClr val="E8A3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4480560"/>
            <a:ext cx="100885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the creator. Take ownership. Follow the process.</a:t>
            </a:r>
            <a:endParaRPr lang="en-US" sz="3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3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120640" cy="5120640"/>
          </a:xfrm>
          <a:prstGeom prst="ellipse">
            <a:avLst/>
          </a:prstGeom>
          <a:solidFill>
            <a:srgbClr val="2C5F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5200" dirty="0"/>
          </a:p>
          <a:p>
            <a:pPr marL="0" indent="0" algn="r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God bless you.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48463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Olusola Sayeed Ayoola</a:t>
            </a:r>
            <a:endParaRPr lang="en-US" sz="1800" dirty="0"/>
          </a:p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CEO, Robotics and Artificial Intelligence Nigeria (RAIN)</a:t>
            </a:r>
            <a:endParaRPr lang="en-US" sz="1800" dirty="0"/>
          </a:p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rgbClr val="6E7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Oba Adesida Road, Iyaganku GRA, Ibadan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1389</Words>
  <Application>Microsoft Office PowerPoint</Application>
  <PresentationFormat>Custom</PresentationFormat>
  <Paragraphs>205</Paragraphs>
  <Slides>25</Slides>
  <Notes>25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What AI Cannot Replace</dc:title>
  <dc:subject>PptxGenJS Presentation</dc:subject>
  <dc:creator>Dr. Olusola Sayeed Ayoola</dc:creator>
  <cp:lastModifiedBy>Hp</cp:lastModifiedBy>
  <cp:revision>3</cp:revision>
  <dcterms:created xsi:type="dcterms:W3CDTF">2026-09-09T20:12:34Z</dcterms:created>
  <dcterms:modified xsi:type="dcterms:W3CDTF">2026-09-09T23:06:55Z</dcterms:modified>
</cp:coreProperties>
</file>