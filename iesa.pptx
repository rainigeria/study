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Butterflies in my belly. You are the future of this country — and of the world. UI graduates are built for global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Industrial and Production Engineering is the engine room of the 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does it mean to industrialise? Break things into processes. Make every aspect a facility of its own, a value element in the chain. Then you have built an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why this department holds a dear place in my heart.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chain, supply chain — the essence is a production economy: one that solves people's problems and produces what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the research idea — we give you access to this company's funding. That is industrialising a sector. That is what makes them great.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Why? Because we have not understood the power of industrialisation.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that brings me to the theme of today's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world has moved. Before: will AI take our jobs? Now: do we still need humans at all?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Everybody is rushing to enjoy the benefits of autonomous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 us break it down. But the simple answer to everything is one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and response. Say ownership. Say ownership. Then: what does ownership mean?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difference is in the taste. Each taste is a business secret, guarded jealously. That secret did not come from a global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takes a human to dictate the direction and impact of research — and research is what keeps an economy growing.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Creativity is not born in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fine to get ideas. But you have no ownership. Somebody asks AI for a speech — you won't even be able to relate to it. The idea must come from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amplifier comes with energy but no signal. It takes a signal and gives it greater 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Homework: the diligent student uses AI to consult more, solve more, be challenged more. The lazy one copies even what AI didn't say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point is simple. We must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told you — it is an amplifier. Use it. But remember: YOU are what it takes to be successful.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project may be to make Mama proud, to be rich, to build something the whole world uses. Those who did it — how did they start?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being a wonderful audience. Thanks to the organisers. Wonderful conference. God bless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Ownership answers most questions: research, creativity, hard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937760" cy="493776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0"/>
            <a:ext cx="2926080" cy="292608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05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IESA PROCESS DAY 2026  ·  PITCH YOUR PROCESS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54480"/>
            <a:ext cx="8961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4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What</a:t>
            </a:r>
            <a:endParaRPr lang="en-US" sz="58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</a:t>
            </a:r>
            <a:endParaRPr lang="en-US" sz="5800" dirty="0"/>
          </a:p>
        </p:txBody>
      </p:sp>
      <p:sp>
        <p:nvSpPr>
          <p:cNvPr id="6" name="Shape 4"/>
          <p:cNvSpPr/>
          <p:nvPr/>
        </p:nvSpPr>
        <p:spPr>
          <a:xfrm>
            <a:off x="777240" y="4206240"/>
            <a:ext cx="1097280" cy="45720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5262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Olusola Sayeed Ayoola</a:t>
            </a:r>
            <a:endParaRPr lang="en-US" sz="22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CEO, Robotics and Artificial Intelligence Nigeria (RAIN)</a:t>
            </a:r>
            <a:endParaRPr lang="en-US" sz="22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Ibadan  ·  10 September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future.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this country</a:t>
            </a:r>
            <a:endParaRPr lang="en-US" sz="32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 dare say — of the world</a:t>
            </a:r>
            <a:endParaRPr lang="en-US" sz="32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graduates are built for global challenges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820095" cy="1280160"/>
          </a:xfrm>
          <a:prstGeom prst="roundRect">
            <a:avLst>
              <a:gd name="adj" fmla="val 7143"/>
            </a:avLst>
          </a:prstGeom>
          <a:solidFill>
            <a:srgbClr val="1230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4846320"/>
            <a:ext cx="100885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in this department, it is even more critical.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&amp; PRODUCTION ENGINEERING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room of the nation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Nigeria will be great, it will be because of how we industrialise: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230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290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1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capabilities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1722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230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traditions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9154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1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culture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526280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industrialise is to break things into processes — and make every step a value element in the chain.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2C5F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3716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local</a:t>
            </a:r>
            <a:endParaRPr lang="en-US" sz="4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akara seller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1371600"/>
            <a:ext cx="548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355080" y="137160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20840" y="13716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large</a:t>
            </a:r>
            <a:endParaRPr lang="en-US" sz="4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biscuit factory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78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recipe. The industrialisation of the process.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ECONOMY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not just engineers.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move Nigeria from consumer to producer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concern goes beyond mechanical, electrical, civil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into economics, social studies, psychology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touches every part of this country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are going to solve that problem.”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insecurity still a problem?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57800" cy="4023360"/>
          </a:xfrm>
          <a:prstGeom prst="roundRect">
            <a:avLst>
              <a:gd name="adj" fmla="val 2273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8892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Commissioner, on his own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General, on his own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working together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treated with kid gloves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63640" y="2057400"/>
            <a:ext cx="5257800" cy="4023360"/>
          </a:xfrm>
          <a:prstGeom prst="roundRect">
            <a:avLst>
              <a:gd name="adj" fmla="val 2273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defence sector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78892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sector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pointed at one agenda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TWO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had the palm oil.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came to collect seedlings from us</a:t>
            </a:r>
            <a:endParaRPr lang="en-US" sz="30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they export it</a:t>
            </a:r>
            <a:endParaRPr lang="en-US" sz="30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making garri</a:t>
            </a:r>
            <a:endParaRPr lang="en-US" sz="30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doing our own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5029200"/>
            <a:ext cx="10820095" cy="1188720"/>
          </a:xfrm>
          <a:prstGeom prst="roundRect">
            <a:avLst>
              <a:gd name="adj" fmla="val 7692"/>
            </a:avLst>
          </a:prstGeom>
          <a:solidFill>
            <a:srgbClr val="2C5F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5029200"/>
            <a:ext cx="10088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we have not understood the power of industrialisation.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OF INDUSTRIALISATION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player stands tall.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1230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0" y="219456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219456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092440" y="219456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1230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66760" y="219456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material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0292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player is insignificant. No player is treated with levity.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4937760" cy="493776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THEME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8778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What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1148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came up with this theme must have been in the spirit.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EVEN NOTICE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has moved.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“Will AI take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jobs?”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263640" y="205740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7432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 we still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humans?”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074920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my car drives itself, I will not hire a driver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my walls paint themselves, I will not hire a painter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DARE TO ASK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questions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31520" cy="7315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22037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10312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AI do everything humans need — or are we under-appreciating the human in the system?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731520" cy="7315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37581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65760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process must last, deliver impact, and scale — are there values AI cannot produce?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85800" y="5257800"/>
            <a:ext cx="10820095" cy="914400"/>
          </a:xfrm>
          <a:prstGeom prst="roundRect">
            <a:avLst>
              <a:gd name="adj" fmla="val 10000"/>
            </a:avLst>
          </a:prstGeom>
          <a:solidFill>
            <a:srgbClr val="1230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525780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YES.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023360" cy="40233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answer to everything: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03120"/>
            <a:ext cx="108200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8056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Everybody, say: ownership.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of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vs Pepsi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is beyond AI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collects the data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760720" y="2423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2148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decide what to collect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91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the analytics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760720" y="3566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3291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infer what is going on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434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the report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760720" y="4709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4434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created the agenda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53212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that made Coca-Cola will never be in the public domain.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of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creativity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hallmark of every great revolution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Creativity takes four things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4290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1722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Enlightenment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9154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8A317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0" y="2331720"/>
            <a:ext cx="502920" cy="502920"/>
          </a:xfrm>
          <a:prstGeom prst="ellipse">
            <a:avLst/>
          </a:prstGeom>
          <a:solidFill>
            <a:srgbClr val="1230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Wisdom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297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Wisdom: to see what others do not see.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85800" y="4937760"/>
            <a:ext cx="10820095" cy="1280160"/>
          </a:xfrm>
          <a:prstGeom prst="roundRect">
            <a:avLst>
              <a:gd name="adj" fmla="val 7143"/>
            </a:avLst>
          </a:prstGeom>
          <a:solidFill>
            <a:srgbClr val="F1F3F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51560" y="4937760"/>
            <a:ext cx="100885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“ChatGPT, give me an idea”  →  no ownership. You cannot take it anywhere.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of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work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an amplifier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will amplify who you are.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2C5F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lazy →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1089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Laziness, amplified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263640" y="219456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E8A3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work hard →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1089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work, amplified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3035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C9D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Easier, faster, better — but only in the direction of your effort.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WAS THE HUMAN IN THE LOOP?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cautionary tales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SIWES letter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0175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straight from ChatGPT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background still there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 and [Address] still there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you employ that person?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lawyer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0175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AI to prepare his arguments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cited cases never existed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fined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BE PRACTICAL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 you. It can support you.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in the park — talk your ideas to an AI, then ask it to summarise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a pitch? Ask: “What have I not covered?”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meeting? Let your AI assistant take the notes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second opinion, privately? Talk to the AI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Digitalise every step of your progress.</a:t>
            </a:r>
            <a:endParaRPr lang="en-US" sz="3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ASK YOU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years from now, where will you be?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8686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your company is proud of?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nations thank God for?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of national impact?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212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answer be yes. But it takes YOU to do it.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4754880" cy="475488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CLOSING REMARK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transfer to AI: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studentship</a:t>
            </a:r>
            <a:endParaRPr lang="en-US" sz="4000" dirty="0"/>
          </a:p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engineer-ship</a:t>
            </a:r>
            <a:endParaRPr lang="en-US" sz="4000" dirty="0"/>
          </a:p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ambition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4480560"/>
            <a:ext cx="10820095" cy="1645920"/>
          </a:xfrm>
          <a:prstGeom prst="roundRect">
            <a:avLst>
              <a:gd name="adj" fmla="val 5556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4480560"/>
            <a:ext cx="100885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the creator. Take ownership. Follow the process.</a:t>
            </a:r>
            <a:endParaRPr lang="en-US" sz="3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120640" cy="51206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5200" dirty="0"/>
          </a:p>
          <a:p>
            <a:pPr algn="r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 bless you.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48463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Olusola Sayeed Ayoola</a:t>
            </a:r>
            <a:endParaRPr lang="en-US" sz="1800" dirty="0"/>
          </a:p>
          <a:p>
            <a:pPr algn="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CEO, Robotics and Artificial Intelligence Nigeria (RAIN)</a:t>
            </a:r>
            <a:endParaRPr lang="en-US" sz="1800" dirty="0"/>
          </a:p>
          <a:p>
            <a:pPr algn="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Oba Adesida Road, Iyaganku GRA, Ibadan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What AI Cannot Replace</dc:title>
  <dc:subject>PptxGenJS Presentation</dc:subject>
  <dc:creator>Dr. Olusola Sayeed Ayoola</dc:creator>
  <cp:lastModifiedBy>Dr. Olusola Sayeed Ayoola</cp:lastModifiedBy>
  <cp:revision>1</cp:revision>
  <dcterms:created xsi:type="dcterms:W3CDTF">2026-09-09T20:12:34Z</dcterms:created>
  <dcterms:modified xsi:type="dcterms:W3CDTF">2026-09-09T20:12:34Z</dcterms:modified>
</cp:coreProperties>
</file>