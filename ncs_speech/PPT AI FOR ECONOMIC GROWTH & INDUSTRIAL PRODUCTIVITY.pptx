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charset="0"/>
      <p:regular r:id="rId13"/>
      <p:bold r:id="rId14"/>
    </p:embeddedFont>
    <p:embeddedFont>
      <p:font typeface="Calibri" pitchFamily="34" charset="0"/>
      <p:regular r:id="rId15"/>
      <p:bold r:id="rId16"/>
      <p:italic r:id="rId17"/>
      <p:boldItalic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-56" y="-1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1CD19-6D62-46E8-B69F-EE04C5BD47E9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F06EC-305E-49E0-AC98-43BBDC534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97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12.png"/><Relationship Id="rId21" Type="http://schemas.openxmlformats.org/officeDocument/2006/relationships/image" Target="../media/image4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12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12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12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1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12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1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258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762000"/>
            <a:ext cx="10668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168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NCS NATIONAL SUMMIT ON AI &amp; ROBOTICS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62000" y="1028700"/>
            <a:ext cx="1066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Katsina, Nigeria · April 2026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664677"/>
            <a:ext cx="10668000" cy="29222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6480"/>
              </a:lnSpc>
              <a:buNone/>
            </a:pPr>
            <a:r>
              <a:rPr lang="en-US" sz="6600" b="1" kern="0" spc="-288" dirty="0">
                <a:solidFill>
                  <a:schemeClr val="accent6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r>
              <a:rPr lang="en-US" sz="6600" b="1" kern="0" spc="-288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6600" b="1" kern="0" spc="-288" dirty="0" smtClean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</a:p>
          <a:p>
            <a:pPr marL="0" indent="0" algn="ctr">
              <a:lnSpc>
                <a:spcPts val="6480"/>
              </a:lnSpc>
              <a:buNone/>
            </a:pPr>
            <a:r>
              <a:rPr lang="en-US" sz="6600" kern="0" spc="-288" dirty="0" smtClean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</a:t>
            </a:r>
            <a:r>
              <a:rPr lang="en-US" sz="6600" b="1" kern="0" spc="-288" dirty="0" smtClean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r>
              <a:rPr lang="en-US" sz="6600" b="1" kern="0" spc="-288" dirty="0" smtClean="0">
                <a:solidFill>
                  <a:schemeClr val="accent6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 GROWTH   </a:t>
            </a:r>
          </a:p>
          <a:p>
            <a:pPr marL="0" indent="0" algn="ctr">
              <a:lnSpc>
                <a:spcPts val="6480"/>
              </a:lnSpc>
              <a:buNone/>
            </a:pPr>
            <a:r>
              <a:rPr lang="en-US" sz="6600" kern="0" spc="-288" dirty="0" smtClean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</a:t>
            </a:r>
            <a:r>
              <a:rPr lang="en-US" sz="6600" b="1" kern="0" spc="-288" dirty="0" smtClean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ctr">
              <a:lnSpc>
                <a:spcPts val="6480"/>
              </a:lnSpc>
              <a:buNone/>
            </a:pPr>
            <a:r>
              <a:rPr lang="en-US" sz="6600" b="1" kern="0" spc="-288" dirty="0" smtClean="0">
                <a:solidFill>
                  <a:schemeClr val="accent6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 PRODUCTIVITY</a:t>
            </a:r>
            <a:endParaRPr lang="en-US" sz="6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62000" y="4891683"/>
            <a:ext cx="11430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i="1" kern="0" spc="36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Technical Presentation on National Structural Transformation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2000" y="5551339"/>
            <a:ext cx="10287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Olusola </a:t>
            </a:r>
            <a:r>
              <a:rPr lang="en-US" sz="2700" b="1" dirty="0" err="1" smtClean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Sayeed</a:t>
            </a:r>
            <a:r>
              <a:rPr lang="en-US" sz="2700" b="1" dirty="0" smtClean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Ayoola</a:t>
            </a:r>
            <a:endParaRPr lang="en-US" sz="2700" b="1" dirty="0"/>
          </a:p>
        </p:txBody>
      </p:sp>
      <p:sp>
        <p:nvSpPr>
          <p:cNvPr id="8" name="Text 5"/>
          <p:cNvSpPr/>
          <p:nvPr/>
        </p:nvSpPr>
        <p:spPr>
          <a:xfrm>
            <a:off x="5076093" y="5665639"/>
            <a:ext cx="238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PhD, MIET, MNSE, MNCS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2000" y="5958483"/>
            <a:ext cx="1143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Founder and CEO, </a:t>
            </a:r>
            <a:r>
              <a:rPr lang="en-US" sz="1350" b="1" dirty="0">
                <a:solidFill>
                  <a:schemeClr val="accent6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Robotics and Artificial Intelligence Nigeria (R-A-I-N)</a:t>
            </a:r>
            <a:endParaRPr lang="en-US" sz="135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9812536" y="5729883"/>
            <a:ext cx="161746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b="1" kern="0" spc="8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SESSION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812536" y="5920383"/>
            <a:ext cx="161746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049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00200"/>
            <a:ext cx="5334000" cy="278606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885950"/>
            <a:ext cx="34290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053655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472755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891855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1600200"/>
            <a:ext cx="5334000" cy="278606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1885950"/>
            <a:ext cx="390525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0" y="3053655"/>
            <a:ext cx="152400" cy="171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0" y="3472755"/>
            <a:ext cx="152400" cy="1714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0" y="3891855"/>
            <a:ext cx="15240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4767263"/>
            <a:ext cx="11049000" cy="1828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7700" y="5072063"/>
            <a:ext cx="6858000" cy="12192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571500" y="571500"/>
            <a:ext cx="11620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vs. Structural Transformation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1352550" y="1885950"/>
            <a:ext cx="51435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 Growth</a:t>
            </a:r>
            <a:endParaRPr lang="en-US" sz="2250" dirty="0"/>
          </a:p>
        </p:txBody>
      </p:sp>
      <p:sp>
        <p:nvSpPr>
          <p:cNvPr id="18" name="Text 2"/>
          <p:cNvSpPr/>
          <p:nvPr/>
        </p:nvSpPr>
        <p:spPr>
          <a:xfrm>
            <a:off x="857250" y="2457450"/>
            <a:ext cx="10744200" cy="3095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quantitative increase in </a:t>
            </a: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GDP per capita</a:t>
            </a: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1104900" y="2995613"/>
            <a:ext cx="7406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Measure of market transaction value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1104900" y="3414713"/>
            <a:ext cx="7406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Does not ensure equity or wellbeing</a:t>
            </a:r>
            <a:endParaRPr lang="en-US" sz="1350" dirty="0"/>
          </a:p>
        </p:txBody>
      </p:sp>
      <p:sp>
        <p:nvSpPr>
          <p:cNvPr id="21" name="Text 5"/>
          <p:cNvSpPr/>
          <p:nvPr/>
        </p:nvSpPr>
        <p:spPr>
          <a:xfrm>
            <a:off x="1104900" y="3833812"/>
            <a:ext cx="76123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 occur alongside national decline</a:t>
            </a:r>
            <a:endParaRPr lang="en-US" sz="1350" dirty="0"/>
          </a:p>
        </p:txBody>
      </p:sp>
      <p:sp>
        <p:nvSpPr>
          <p:cNvPr id="22" name="Text 6"/>
          <p:cNvSpPr/>
          <p:nvPr/>
        </p:nvSpPr>
        <p:spPr>
          <a:xfrm>
            <a:off x="7115175" y="1885950"/>
            <a:ext cx="507682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Transformation</a:t>
            </a:r>
            <a:endParaRPr lang="en-US" sz="2250" dirty="0"/>
          </a:p>
        </p:txBody>
      </p:sp>
      <p:sp>
        <p:nvSpPr>
          <p:cNvPr id="23" name="Text 7"/>
          <p:cNvSpPr/>
          <p:nvPr/>
        </p:nvSpPr>
        <p:spPr>
          <a:xfrm>
            <a:off x="6572250" y="2457450"/>
            <a:ext cx="5619750" cy="3095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qualitative shift to </a:t>
            </a: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High-Productivity</a:t>
            </a: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sectors.</a:t>
            </a:r>
            <a:endParaRPr lang="en-US" sz="1500" dirty="0"/>
          </a:p>
        </p:txBody>
      </p:sp>
      <p:sp>
        <p:nvSpPr>
          <p:cNvPr id="24" name="Text 8"/>
          <p:cNvSpPr/>
          <p:nvPr/>
        </p:nvSpPr>
        <p:spPr>
          <a:xfrm>
            <a:off x="6800850" y="2995613"/>
            <a:ext cx="5391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Agriculture → Manufacturing &amp; Services</a:t>
            </a:r>
            <a:endParaRPr lang="en-US" sz="1350" dirty="0"/>
          </a:p>
        </p:txBody>
      </p:sp>
      <p:sp>
        <p:nvSpPr>
          <p:cNvPr id="25" name="Text 9"/>
          <p:cNvSpPr/>
          <p:nvPr/>
        </p:nvSpPr>
        <p:spPr>
          <a:xfrm>
            <a:off x="6800850" y="3414713"/>
            <a:ext cx="5391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Driven by Total Factor Productivity (TFP)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6800850" y="3833812"/>
            <a:ext cx="5391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path taken by South Korea since 1960</a:t>
            </a:r>
            <a:endParaRPr lang="en-US" sz="1350" dirty="0"/>
          </a:p>
        </p:txBody>
      </p:sp>
      <p:sp>
        <p:nvSpPr>
          <p:cNvPr id="27" name="Text 11"/>
          <p:cNvSpPr/>
          <p:nvPr/>
        </p:nvSpPr>
        <p:spPr>
          <a:xfrm>
            <a:off x="876300" y="5319713"/>
            <a:ext cx="4343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Nigeria Context</a:t>
            </a:r>
            <a:endParaRPr lang="en-US" sz="1500" dirty="0"/>
          </a:p>
        </p:txBody>
      </p:sp>
      <p:sp>
        <p:nvSpPr>
          <p:cNvPr id="28" name="Text 12"/>
          <p:cNvSpPr/>
          <p:nvPr/>
        </p:nvSpPr>
        <p:spPr>
          <a:xfrm>
            <a:off x="876300" y="5662613"/>
            <a:ext cx="3276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without transformation leads to a "Hollow Economy".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1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6644" y="443405"/>
            <a:ext cx="1891861" cy="108922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05" y="2206865"/>
            <a:ext cx="3610635" cy="33209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88" y="2443347"/>
            <a:ext cx="472966" cy="47296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0522" y="2206865"/>
            <a:ext cx="3610750" cy="332092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7005" y="2443347"/>
            <a:ext cx="472966" cy="47296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9381" y="2535723"/>
            <a:ext cx="288213" cy="28821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7756" y="2206865"/>
            <a:ext cx="3610634" cy="332092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4238" y="2443347"/>
            <a:ext cx="472965" cy="47296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3359" y="2536070"/>
            <a:ext cx="354724" cy="28752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405" y="5823388"/>
            <a:ext cx="11305099" cy="59120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0767" y="6000750"/>
            <a:ext cx="206922" cy="236483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443405" y="443405"/>
            <a:ext cx="5997401" cy="1142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b="1" kern="0" spc="-93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DIAGNOSING </a:t>
            </a:r>
            <a:r>
              <a:rPr lang="en-US" sz="3600" b="1" kern="0" spc="-93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</a:t>
            </a:r>
            <a:r>
              <a:rPr lang="en-US" sz="3600" b="1" kern="0" spc="-93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CONSTRAINTS</a:t>
            </a:r>
            <a:endParaRPr lang="en-US" sz="3600" dirty="0"/>
          </a:p>
        </p:txBody>
      </p:sp>
      <p:sp>
        <p:nvSpPr>
          <p:cNvPr id="15" name="Text 1"/>
          <p:cNvSpPr/>
          <p:nvPr/>
        </p:nvSpPr>
        <p:spPr>
          <a:xfrm>
            <a:off x="443405" y="1645218"/>
            <a:ext cx="11748595" cy="2069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29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the traditional economic model underperformed</a:t>
            </a:r>
            <a:endParaRPr lang="en-US" sz="1500" dirty="0"/>
          </a:p>
        </p:txBody>
      </p:sp>
      <p:sp>
        <p:nvSpPr>
          <p:cNvPr id="16" name="Text 2"/>
          <p:cNvSpPr/>
          <p:nvPr/>
        </p:nvSpPr>
        <p:spPr>
          <a:xfrm>
            <a:off x="679888" y="3093675"/>
            <a:ext cx="6364217" cy="2364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62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RESOURCE CURSE</a:t>
            </a:r>
            <a:endParaRPr lang="en-US" sz="1800" dirty="0"/>
          </a:p>
        </p:txBody>
      </p:sp>
      <p:sp>
        <p:nvSpPr>
          <p:cNvPr id="17" name="Text 3"/>
          <p:cNvSpPr/>
          <p:nvPr/>
        </p:nvSpPr>
        <p:spPr>
          <a:xfrm>
            <a:off x="679888" y="3448399"/>
            <a:ext cx="3137669" cy="835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"Dutch Disease": Oil revenue caused currency appreciation, making local manufacturing expensive.</a:t>
            </a:r>
            <a:endParaRPr lang="en-US" sz="1350" dirty="0"/>
          </a:p>
        </p:txBody>
      </p:sp>
      <p:sp>
        <p:nvSpPr>
          <p:cNvPr id="18" name="Text 4"/>
          <p:cNvSpPr/>
          <p:nvPr/>
        </p:nvSpPr>
        <p:spPr>
          <a:xfrm>
            <a:off x="679888" y="4402529"/>
            <a:ext cx="6668669" cy="1478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64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 &lt; 5% GDP (2023)</a:t>
            </a:r>
            <a:endParaRPr lang="en-US" sz="1050" dirty="0"/>
          </a:p>
        </p:txBody>
      </p:sp>
      <p:sp>
        <p:nvSpPr>
          <p:cNvPr id="19" name="Text 5"/>
          <p:cNvSpPr/>
          <p:nvPr/>
        </p:nvSpPr>
        <p:spPr>
          <a:xfrm>
            <a:off x="4527005" y="3093675"/>
            <a:ext cx="7424920" cy="2364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62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 FAILURE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4527005" y="3448399"/>
            <a:ext cx="3137784" cy="835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Extractive institutions designed to concentrate wealth rather than distribute opportunity broadly.</a:t>
            </a:r>
            <a:endParaRPr lang="en-US" sz="1350" dirty="0"/>
          </a:p>
        </p:txBody>
      </p:sp>
      <p:sp>
        <p:nvSpPr>
          <p:cNvPr id="21" name="Text 7"/>
          <p:cNvSpPr/>
          <p:nvPr/>
        </p:nvSpPr>
        <p:spPr>
          <a:xfrm>
            <a:off x="4527005" y="4402529"/>
            <a:ext cx="4949940" cy="1478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64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Ref: Acemoglu &amp; Robinson</a:t>
            </a:r>
            <a:endParaRPr lang="en-US" sz="1050" dirty="0"/>
          </a:p>
        </p:txBody>
      </p:sp>
      <p:sp>
        <p:nvSpPr>
          <p:cNvPr id="22" name="Text 8"/>
          <p:cNvSpPr/>
          <p:nvPr/>
        </p:nvSpPr>
        <p:spPr>
          <a:xfrm>
            <a:off x="8374238" y="3093675"/>
            <a:ext cx="3137670" cy="4729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62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DEPENDENCY</a:t>
            </a:r>
            <a:endParaRPr lang="en-US" sz="1800" dirty="0"/>
          </a:p>
        </p:txBody>
      </p:sp>
      <p:sp>
        <p:nvSpPr>
          <p:cNvPr id="23" name="Text 9"/>
          <p:cNvSpPr/>
          <p:nvPr/>
        </p:nvSpPr>
        <p:spPr>
          <a:xfrm>
            <a:off x="8374238" y="3684882"/>
            <a:ext cx="3137670" cy="835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colonial economic legacy of exporting raw commodities and importing finished goods.</a:t>
            </a:r>
            <a:endParaRPr lang="en-US" sz="1350" dirty="0"/>
          </a:p>
        </p:txBody>
      </p:sp>
      <p:sp>
        <p:nvSpPr>
          <p:cNvPr id="24" name="Text 10"/>
          <p:cNvSpPr/>
          <p:nvPr/>
        </p:nvSpPr>
        <p:spPr>
          <a:xfrm>
            <a:off x="8374238" y="4639011"/>
            <a:ext cx="3817762" cy="1478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64"/>
              </a:lnSpc>
              <a:buNone/>
            </a:pPr>
            <a:r>
              <a:rPr lang="en-US" sz="1050" b="1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Deteriorating Terms of Trade</a:t>
            </a:r>
            <a:endParaRPr lang="en-US" sz="1050" dirty="0"/>
          </a:p>
        </p:txBody>
      </p:sp>
      <p:sp>
        <p:nvSpPr>
          <p:cNvPr id="25" name="Text 11"/>
          <p:cNvSpPr/>
          <p:nvPr/>
        </p:nvSpPr>
        <p:spPr>
          <a:xfrm>
            <a:off x="1005052" y="6015530"/>
            <a:ext cx="11186948" cy="2069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29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problem was never primarily personal. It was structural."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840" y="1891656"/>
            <a:ext cx="389567" cy="38956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115" y="1995262"/>
            <a:ext cx="211015" cy="1822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7329" y="2094556"/>
            <a:ext cx="1463412" cy="1623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664" y="1891656"/>
            <a:ext cx="389567" cy="38956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9403" y="1993867"/>
            <a:ext cx="146088" cy="18501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64153" y="2094556"/>
            <a:ext cx="1463412" cy="1623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4488" y="1891656"/>
            <a:ext cx="389567" cy="38956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5937" y="1993106"/>
            <a:ext cx="186667" cy="18666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0977" y="2094556"/>
            <a:ext cx="1463411" cy="1623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26384" y="1891656"/>
            <a:ext cx="519422" cy="519423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472" y="2032798"/>
            <a:ext cx="227247" cy="23701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278" y="3894274"/>
            <a:ext cx="5251925" cy="255780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8989" y="4165271"/>
            <a:ext cx="227247" cy="23701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8989" y="4684567"/>
            <a:ext cx="154204" cy="15420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8989" y="5270312"/>
            <a:ext cx="154204" cy="154203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8989" y="5856057"/>
            <a:ext cx="154204" cy="15420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90769" y="3894274"/>
            <a:ext cx="5251924" cy="255780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0480" y="4165271"/>
            <a:ext cx="227247" cy="237012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0480" y="5639082"/>
            <a:ext cx="1490931" cy="55328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71266" y="5639082"/>
            <a:ext cx="1490930" cy="55328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92052" y="5639082"/>
            <a:ext cx="1490930" cy="553281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649278" y="405799"/>
            <a:ext cx="11542722" cy="4571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kern="0" spc="-84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as a General Purpose Technology</a:t>
            </a:r>
            <a:endParaRPr lang="en-US" sz="3600" dirty="0"/>
          </a:p>
        </p:txBody>
      </p:sp>
      <p:sp>
        <p:nvSpPr>
          <p:cNvPr id="25" name="Text 1"/>
          <p:cNvSpPr/>
          <p:nvPr/>
        </p:nvSpPr>
        <p:spPr>
          <a:xfrm>
            <a:off x="649278" y="927884"/>
            <a:ext cx="10893415" cy="2272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89"/>
              </a:lnSpc>
              <a:buNone/>
            </a:pPr>
            <a:r>
              <a:rPr lang="en-US" sz="1500" b="1" kern="0" spc="14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FOURTH INDUSTRIAL ERA</a:t>
            </a:r>
            <a:endParaRPr lang="en-US" sz="1500" dirty="0"/>
          </a:p>
        </p:txBody>
      </p:sp>
      <p:sp>
        <p:nvSpPr>
          <p:cNvPr id="26" name="Text 2"/>
          <p:cNvSpPr/>
          <p:nvPr/>
        </p:nvSpPr>
        <p:spPr>
          <a:xfrm>
            <a:off x="1198375" y="2411079"/>
            <a:ext cx="1014497" cy="2286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Steam Engine</a:t>
            </a:r>
            <a:endParaRPr lang="en-US" sz="1200" dirty="0"/>
          </a:p>
        </p:txBody>
      </p:sp>
      <p:sp>
        <p:nvSpPr>
          <p:cNvPr id="27" name="Text 3"/>
          <p:cNvSpPr/>
          <p:nvPr/>
        </p:nvSpPr>
        <p:spPr>
          <a:xfrm>
            <a:off x="1498666" y="2639721"/>
            <a:ext cx="413915" cy="1623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78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Era</a:t>
            </a:r>
            <a:endParaRPr lang="en-US" sz="1050" dirty="0"/>
          </a:p>
        </p:txBody>
      </p:sp>
      <p:sp>
        <p:nvSpPr>
          <p:cNvPr id="28" name="Text 4"/>
          <p:cNvSpPr/>
          <p:nvPr/>
        </p:nvSpPr>
        <p:spPr>
          <a:xfrm>
            <a:off x="4255054" y="2411079"/>
            <a:ext cx="754786" cy="2286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Electricity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4388968" y="2639721"/>
            <a:ext cx="486958" cy="1623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78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Era</a:t>
            </a:r>
            <a:endParaRPr lang="en-US" sz="1050" dirty="0"/>
          </a:p>
        </p:txBody>
      </p:sp>
      <p:sp>
        <p:nvSpPr>
          <p:cNvPr id="30" name="Text 6"/>
          <p:cNvSpPr/>
          <p:nvPr/>
        </p:nvSpPr>
        <p:spPr>
          <a:xfrm>
            <a:off x="7263038" y="2411079"/>
            <a:ext cx="592466" cy="2286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7332023" y="2639721"/>
            <a:ext cx="454495" cy="1623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78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 Era</a:t>
            </a:r>
            <a:endParaRPr lang="en-US" sz="1050" dirty="0"/>
          </a:p>
        </p:txBody>
      </p:sp>
      <p:sp>
        <p:nvSpPr>
          <p:cNvPr id="32" name="Text 8"/>
          <p:cNvSpPr/>
          <p:nvPr/>
        </p:nvSpPr>
        <p:spPr>
          <a:xfrm>
            <a:off x="9754388" y="2540935"/>
            <a:ext cx="1463413" cy="4544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89"/>
              </a:lnSpc>
              <a:buNone/>
            </a:pPr>
            <a:r>
              <a:rPr lang="en-US" sz="135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Intelligence</a:t>
            </a:r>
            <a:endParaRPr lang="en-US" sz="1350" dirty="0"/>
          </a:p>
        </p:txBody>
      </p:sp>
      <p:sp>
        <p:nvSpPr>
          <p:cNvPr id="33" name="Text 9"/>
          <p:cNvSpPr/>
          <p:nvPr/>
        </p:nvSpPr>
        <p:spPr>
          <a:xfrm>
            <a:off x="10250731" y="2995429"/>
            <a:ext cx="470727" cy="1623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78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050" dirty="0"/>
          </a:p>
        </p:txBody>
      </p:sp>
      <p:sp>
        <p:nvSpPr>
          <p:cNvPr id="34" name="Text 10"/>
          <p:cNvSpPr/>
          <p:nvPr/>
        </p:nvSpPr>
        <p:spPr>
          <a:xfrm>
            <a:off x="1233628" y="4153985"/>
            <a:ext cx="6116962" cy="2597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45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GPT Properties</a:t>
            </a:r>
            <a:endParaRPr lang="en-US" sz="1800" dirty="0"/>
          </a:p>
        </p:txBody>
      </p:sp>
      <p:sp>
        <p:nvSpPr>
          <p:cNvPr id="35" name="Text 11"/>
          <p:cNvSpPr/>
          <p:nvPr/>
        </p:nvSpPr>
        <p:spPr>
          <a:xfrm>
            <a:off x="1193048" y="4608479"/>
            <a:ext cx="5151126" cy="2286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Cross-Sector Application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1193048" y="4837122"/>
            <a:ext cx="9577890" cy="1623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78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for agriculture, health, energy, and finance.</a:t>
            </a:r>
            <a:endParaRPr lang="en-US" sz="1050" dirty="0"/>
          </a:p>
        </p:txBody>
      </p:sp>
      <p:sp>
        <p:nvSpPr>
          <p:cNvPr id="37" name="Text 13"/>
          <p:cNvSpPr/>
          <p:nvPr/>
        </p:nvSpPr>
        <p:spPr>
          <a:xfrm>
            <a:off x="1193048" y="5194225"/>
            <a:ext cx="4292605" cy="2286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Evolution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1193048" y="5422867"/>
            <a:ext cx="10998952" cy="1623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78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Improves over time through data and algorithmic refinement.</a:t>
            </a:r>
            <a:endParaRPr lang="en-US" sz="1050" dirty="0"/>
          </a:p>
        </p:txBody>
      </p:sp>
      <p:sp>
        <p:nvSpPr>
          <p:cNvPr id="39" name="Text 15"/>
          <p:cNvSpPr/>
          <p:nvPr/>
        </p:nvSpPr>
        <p:spPr>
          <a:xfrm>
            <a:off x="1193048" y="5779970"/>
            <a:ext cx="4507235" cy="2286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Industry Spawning</a:t>
            </a:r>
            <a:endParaRPr lang="en-US" sz="1200" dirty="0"/>
          </a:p>
        </p:txBody>
      </p:sp>
      <p:sp>
        <p:nvSpPr>
          <p:cNvPr id="40" name="Text 16"/>
          <p:cNvSpPr/>
          <p:nvPr/>
        </p:nvSpPr>
        <p:spPr>
          <a:xfrm>
            <a:off x="1193048" y="6008612"/>
            <a:ext cx="10141295" cy="1623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78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sectors beyond its original engineering scope.</a:t>
            </a:r>
            <a:endParaRPr lang="en-US" sz="1050" dirty="0"/>
          </a:p>
        </p:txBody>
      </p:sp>
      <p:sp>
        <p:nvSpPr>
          <p:cNvPr id="41" name="Text 17"/>
          <p:cNvSpPr/>
          <p:nvPr/>
        </p:nvSpPr>
        <p:spPr>
          <a:xfrm>
            <a:off x="6875119" y="4153985"/>
            <a:ext cx="5316881" cy="2597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45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Reducing Cognitive Overhead</a:t>
            </a:r>
            <a:endParaRPr lang="en-US" sz="1800" dirty="0"/>
          </a:p>
        </p:txBody>
      </p:sp>
      <p:sp>
        <p:nvSpPr>
          <p:cNvPr id="42" name="Text 18"/>
          <p:cNvSpPr/>
          <p:nvPr/>
        </p:nvSpPr>
        <p:spPr>
          <a:xfrm>
            <a:off x="6550480" y="4543552"/>
            <a:ext cx="4732502" cy="8358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i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 does not merely automate; it removes the burden of institutional unreliability, allowing creative minds to focus on innovation rather than basic survival infrastructure."</a:t>
            </a:r>
            <a:endParaRPr lang="en-US" sz="1350" dirty="0"/>
          </a:p>
        </p:txBody>
      </p:sp>
      <p:sp>
        <p:nvSpPr>
          <p:cNvPr id="43" name="Text 19"/>
          <p:cNvSpPr/>
          <p:nvPr/>
        </p:nvSpPr>
        <p:spPr>
          <a:xfrm>
            <a:off x="6647872" y="5736473"/>
            <a:ext cx="1296147" cy="1298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022"/>
              </a:lnSpc>
              <a:buNone/>
            </a:pPr>
            <a:r>
              <a:rPr lang="en-US" sz="900" kern="0" spc="-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</a:t>
            </a:r>
            <a:endParaRPr lang="en-US" sz="900" dirty="0"/>
          </a:p>
        </p:txBody>
      </p:sp>
      <p:sp>
        <p:nvSpPr>
          <p:cNvPr id="44" name="Text 20"/>
          <p:cNvSpPr/>
          <p:nvPr/>
        </p:nvSpPr>
        <p:spPr>
          <a:xfrm>
            <a:off x="6647872" y="5866329"/>
            <a:ext cx="1296147" cy="2286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</a:t>
            </a:r>
            <a:endParaRPr lang="en-US" sz="1200" dirty="0"/>
          </a:p>
        </p:txBody>
      </p:sp>
      <p:sp>
        <p:nvSpPr>
          <p:cNvPr id="45" name="Text 21"/>
          <p:cNvSpPr/>
          <p:nvPr/>
        </p:nvSpPr>
        <p:spPr>
          <a:xfrm>
            <a:off x="8268658" y="5736473"/>
            <a:ext cx="1296146" cy="1298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022"/>
              </a:lnSpc>
              <a:buNone/>
            </a:pPr>
            <a:r>
              <a:rPr lang="en-US" sz="900" kern="0" spc="-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900" dirty="0"/>
          </a:p>
        </p:txBody>
      </p:sp>
      <p:sp>
        <p:nvSpPr>
          <p:cNvPr id="46" name="Text 22"/>
          <p:cNvSpPr/>
          <p:nvPr/>
        </p:nvSpPr>
        <p:spPr>
          <a:xfrm>
            <a:off x="8268658" y="5866329"/>
            <a:ext cx="1296146" cy="2286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</a:t>
            </a:r>
            <a:endParaRPr lang="en-US" sz="1200" dirty="0"/>
          </a:p>
        </p:txBody>
      </p:sp>
      <p:sp>
        <p:nvSpPr>
          <p:cNvPr id="47" name="Text 23"/>
          <p:cNvSpPr/>
          <p:nvPr/>
        </p:nvSpPr>
        <p:spPr>
          <a:xfrm>
            <a:off x="9889444" y="5736473"/>
            <a:ext cx="1296146" cy="1298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022"/>
              </a:lnSpc>
              <a:buNone/>
            </a:pPr>
            <a:r>
              <a:rPr lang="en-US" sz="900" kern="0" spc="-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900" dirty="0"/>
          </a:p>
        </p:txBody>
      </p:sp>
      <p:sp>
        <p:nvSpPr>
          <p:cNvPr id="48" name="Text 24"/>
          <p:cNvSpPr/>
          <p:nvPr/>
        </p:nvSpPr>
        <p:spPr>
          <a:xfrm>
            <a:off x="9889444" y="5866329"/>
            <a:ext cx="1296146" cy="2286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5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27" y="1465744"/>
            <a:ext cx="11327496" cy="1047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18" y="1667450"/>
            <a:ext cx="288151" cy="28815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227" y="2859226"/>
            <a:ext cx="230521" cy="23052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227" y="3262638"/>
            <a:ext cx="3660534" cy="158483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118" y="3435528"/>
            <a:ext cx="345782" cy="34578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155" y="3493159"/>
            <a:ext cx="201706" cy="23052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5652" y="3262638"/>
            <a:ext cx="3660534" cy="158483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8542" y="3435528"/>
            <a:ext cx="345782" cy="34578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6173" y="3493159"/>
            <a:ext cx="230521" cy="23052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9077" y="3262638"/>
            <a:ext cx="3660646" cy="158483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71967" y="3435528"/>
            <a:ext cx="345782" cy="34578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9597" y="3493159"/>
            <a:ext cx="230521" cy="23052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2227" y="5849471"/>
            <a:ext cx="11327496" cy="57630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5118" y="6022361"/>
            <a:ext cx="201706" cy="230521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32227" y="432227"/>
            <a:ext cx="11759773" cy="4572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kern="0" spc="-95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PRODUCER QUESTION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432227" y="947072"/>
            <a:ext cx="11759773" cy="2305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15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Avoiding the Trap of Techno-Feudalism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1008529" y="1638635"/>
            <a:ext cx="10578303" cy="2017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88"/>
              </a:lnSpc>
              <a:buNone/>
            </a:pPr>
            <a:r>
              <a:rPr lang="en-US" sz="1500" b="1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Dependency Trap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1008529" y="1869156"/>
            <a:ext cx="10578303" cy="4713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56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Supplying raw materials (data, adoption, attention) while foreign entities retain the value-added activity (model training, algorithm design, platform ownership). </a:t>
            </a:r>
            <a:r>
              <a:rPr lang="en-US" sz="13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Profit flows outward; strategic control remains elsewhere.</a:t>
            </a:r>
            <a:endParaRPr lang="en-US" sz="1350" dirty="0"/>
          </a:p>
        </p:txBody>
      </p:sp>
      <p:sp>
        <p:nvSpPr>
          <p:cNvPr id="21" name="Text 4"/>
          <p:cNvSpPr/>
          <p:nvPr/>
        </p:nvSpPr>
        <p:spPr>
          <a:xfrm>
            <a:off x="749193" y="2859226"/>
            <a:ext cx="11327496" cy="2305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15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Path to Digital Sovereignty</a:t>
            </a:r>
            <a:endParaRPr lang="en-US" sz="1800" dirty="0"/>
          </a:p>
        </p:txBody>
      </p:sp>
      <p:sp>
        <p:nvSpPr>
          <p:cNvPr id="22" name="Text 5"/>
          <p:cNvSpPr/>
          <p:nvPr/>
        </p:nvSpPr>
        <p:spPr>
          <a:xfrm>
            <a:off x="605118" y="3896571"/>
            <a:ext cx="7556487" cy="2017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88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as a Sovereign Asset</a:t>
            </a:r>
            <a:endParaRPr lang="en-US" sz="1500" dirty="0"/>
          </a:p>
        </p:txBody>
      </p:sp>
      <p:sp>
        <p:nvSpPr>
          <p:cNvPr id="23" name="Text 6"/>
          <p:cNvSpPr/>
          <p:nvPr/>
        </p:nvSpPr>
        <p:spPr>
          <a:xfrm>
            <a:off x="605118" y="4155907"/>
            <a:ext cx="3314753" cy="5186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1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2,000+ local languages, unique agricultural climate data, and informal market behaviors.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4438542" y="3896571"/>
            <a:ext cx="7753458" cy="2017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88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for African Realities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4438542" y="4155907"/>
            <a:ext cx="3314753" cy="5186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1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beyond Western-trained models to systems that understand Nigerian disease profiles and social credit networks.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8271967" y="3896571"/>
            <a:ext cx="3920033" cy="2017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88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 Layer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8271967" y="4155907"/>
            <a:ext cx="3314865" cy="5186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61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Capturing the highest value by building tailored applications for our specific market contexts and oral traditions.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922084" y="6036769"/>
            <a:ext cx="11269916" cy="2017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88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"Own nothing and you are a tenant in someone else's digital economy."</a:t>
            </a:r>
            <a:endParaRPr lang="en-US" sz="1500" dirty="0"/>
          </a:p>
        </p:txBody>
      </p:sp>
      <p:sp>
        <p:nvSpPr>
          <p:cNvPr id="29" name="Text 12"/>
          <p:cNvSpPr/>
          <p:nvPr/>
        </p:nvSpPr>
        <p:spPr>
          <a:xfrm>
            <a:off x="9742439" y="6065584"/>
            <a:ext cx="2449561" cy="1440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34"/>
              </a:lnSpc>
              <a:buNone/>
            </a:pPr>
            <a:r>
              <a:rPr lang="en-US" sz="1050" b="1" kern="0" spc="11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IMPERATIVE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3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72" y="1544797"/>
            <a:ext cx="3600710" cy="35307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259" y="1846911"/>
            <a:ext cx="702416" cy="81889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3528" y="2028180"/>
            <a:ext cx="339879" cy="45635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5573" y="1544797"/>
            <a:ext cx="3600710" cy="353072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4449" y="1846911"/>
            <a:ext cx="762839" cy="81039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5718" y="2028180"/>
            <a:ext cx="400302" cy="44786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7974" y="1544797"/>
            <a:ext cx="3600828" cy="353072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6757" y="1846911"/>
            <a:ext cx="823263" cy="81358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08025" y="2028180"/>
            <a:ext cx="460725" cy="45104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3172" y="5438062"/>
            <a:ext cx="11285630" cy="96676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4863" y="5782779"/>
            <a:ext cx="287009" cy="27733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37604" y="5770387"/>
            <a:ext cx="1659506" cy="302115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53172" y="453172"/>
            <a:ext cx="11738828" cy="457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kern="0" spc="-9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Physical Backbone of AI</a:t>
            </a:r>
            <a:endParaRPr lang="en-US" sz="3600" dirty="0"/>
          </a:p>
        </p:txBody>
      </p:sp>
      <p:sp>
        <p:nvSpPr>
          <p:cNvPr id="16" name="Text 1"/>
          <p:cNvSpPr/>
          <p:nvPr/>
        </p:nvSpPr>
        <p:spPr>
          <a:xfrm>
            <a:off x="453172" y="970779"/>
            <a:ext cx="11285630" cy="211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65"/>
              </a:lnSpc>
              <a:buNone/>
            </a:pPr>
            <a:r>
              <a:rPr lang="en-US" sz="1500" b="1" kern="0" spc="15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NON-NEGOTIABLE FOUNDATIONS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1396218" y="2847075"/>
            <a:ext cx="1714500" cy="241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03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Energy</a:t>
            </a:r>
            <a:endParaRPr lang="en-US" sz="1800" dirty="0"/>
          </a:p>
        </p:txBody>
      </p:sp>
      <p:sp>
        <p:nvSpPr>
          <p:cNvPr id="18" name="Text 3"/>
          <p:cNvSpPr/>
          <p:nvPr/>
        </p:nvSpPr>
        <p:spPr>
          <a:xfrm>
            <a:off x="755286" y="3209613"/>
            <a:ext cx="2996480" cy="9898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computation is massive and power-intensive. A national AI strategy is incomplete without a serious </a:t>
            </a: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 Strategy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5136655" y="2838578"/>
            <a:ext cx="1918427" cy="241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03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Sovereignty</a:t>
            </a:r>
            <a:endParaRPr lang="en-US" sz="1800" dirty="0"/>
          </a:p>
        </p:txBody>
      </p:sp>
      <p:sp>
        <p:nvSpPr>
          <p:cNvPr id="20" name="Text 5"/>
          <p:cNvSpPr/>
          <p:nvPr/>
        </p:nvSpPr>
        <p:spPr>
          <a:xfrm>
            <a:off x="4597687" y="3201116"/>
            <a:ext cx="2996480" cy="7424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Domestic storage is critical. Our data currently resides in </a:t>
            </a: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Dublin, Virginia, and Frankfurt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governed by foreign laws.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8903645" y="2841765"/>
            <a:ext cx="2069485" cy="2416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03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Rural Connectivity</a:t>
            </a:r>
            <a:endParaRPr lang="en-US" sz="1800" dirty="0"/>
          </a:p>
        </p:txBody>
      </p:sp>
      <p:sp>
        <p:nvSpPr>
          <p:cNvPr id="22" name="Text 7"/>
          <p:cNvSpPr/>
          <p:nvPr/>
        </p:nvSpPr>
        <p:spPr>
          <a:xfrm>
            <a:off x="8440089" y="3204302"/>
            <a:ext cx="2996598" cy="9898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the gap through </a:t>
            </a: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 Communication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precision agriculture and remote healthcare in underserved zones.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1163141" y="5679753"/>
            <a:ext cx="8674464" cy="4833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03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 national AI strategy that does not begin with an energy strategy is written in sand."</a:t>
            </a:r>
            <a:endParaRPr lang="en-US" sz="1800" dirty="0"/>
          </a:p>
        </p:txBody>
      </p:sp>
      <p:sp>
        <p:nvSpPr>
          <p:cNvPr id="24" name="Text 9"/>
          <p:cNvSpPr/>
          <p:nvPr/>
        </p:nvSpPr>
        <p:spPr>
          <a:xfrm>
            <a:off x="10079296" y="5770387"/>
            <a:ext cx="1354706" cy="3021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89"/>
              </a:lnSpc>
              <a:buNone/>
            </a:pPr>
            <a:r>
              <a:rPr lang="en-US" sz="1050" b="1" kern="0" spc="106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
INFRASTRUCTURE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33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54" y="1486975"/>
            <a:ext cx="3577734" cy="197948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213" y="1665892"/>
            <a:ext cx="287043" cy="27746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6978" y="1486975"/>
            <a:ext cx="3577855" cy="197948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137" y="1664922"/>
            <a:ext cx="318075" cy="27940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1024" y="1486975"/>
            <a:ext cx="3577734" cy="197948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054" y="3652646"/>
            <a:ext cx="3577734" cy="197960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6978" y="3652646"/>
            <a:ext cx="3577855" cy="197960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2137" y="3830472"/>
            <a:ext cx="356864" cy="27964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1024" y="3652646"/>
            <a:ext cx="3577734" cy="197960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3054" y="5880502"/>
            <a:ext cx="11105824" cy="589602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543054" y="387896"/>
            <a:ext cx="11648946" cy="5715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Security Architecture: </a:t>
            </a:r>
            <a:r>
              <a:rPr lang="en-US" sz="36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Northwest Framework</a:t>
            </a:r>
            <a:endParaRPr lang="en-US" sz="3600" dirty="0"/>
          </a:p>
        </p:txBody>
      </p:sp>
      <p:sp>
        <p:nvSpPr>
          <p:cNvPr id="14" name="Text 1"/>
          <p:cNvSpPr/>
          <p:nvPr/>
        </p:nvSpPr>
        <p:spPr>
          <a:xfrm>
            <a:off x="543054" y="1021500"/>
            <a:ext cx="11648946" cy="2172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0"/>
              </a:lnSpc>
              <a:buNone/>
            </a:pPr>
            <a:r>
              <a:rPr lang="en-US" sz="15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"We are not waiting for the population to become digital; we build around how they live."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698213" y="2036454"/>
            <a:ext cx="6174751" cy="2172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Satellite Surveillance</a:t>
            </a:r>
            <a:endParaRPr lang="en-US" sz="1500" dirty="0"/>
          </a:p>
        </p:txBody>
      </p:sp>
      <p:sp>
        <p:nvSpPr>
          <p:cNvPr id="16" name="Text 3"/>
          <p:cNvSpPr/>
          <p:nvPr/>
        </p:nvSpPr>
        <p:spPr>
          <a:xfrm>
            <a:off x="698213" y="2315739"/>
            <a:ext cx="3267417" cy="5498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44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monitoring via Sentinel-2 &amp; NASRDA. AI detects newly cleared paths and encampments in high-risk zones.</a:t>
            </a:r>
            <a:endParaRPr lang="en-US" sz="1050" dirty="0"/>
          </a:p>
        </p:txBody>
      </p:sp>
      <p:sp>
        <p:nvSpPr>
          <p:cNvPr id="17" name="Text 4"/>
          <p:cNvSpPr/>
          <p:nvPr/>
        </p:nvSpPr>
        <p:spPr>
          <a:xfrm>
            <a:off x="4462137" y="2037423"/>
            <a:ext cx="4490728" cy="2172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Metadata</a:t>
            </a:r>
            <a:endParaRPr lang="en-US" sz="1500" dirty="0"/>
          </a:p>
        </p:txBody>
      </p:sp>
      <p:sp>
        <p:nvSpPr>
          <p:cNvPr id="18" name="Text 5"/>
          <p:cNvSpPr/>
          <p:nvPr/>
        </p:nvSpPr>
        <p:spPr>
          <a:xfrm>
            <a:off x="4462137" y="2316708"/>
            <a:ext cx="3267538" cy="5498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44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Population-level movement mapping using tower metadata (no call content needed) to identify unusual migrations.</a:t>
            </a:r>
            <a:endParaRPr lang="en-US" sz="1050" dirty="0"/>
          </a:p>
        </p:txBody>
      </p:sp>
      <p:sp>
        <p:nvSpPr>
          <p:cNvPr id="19" name="Text 6"/>
          <p:cNvSpPr/>
          <p:nvPr/>
        </p:nvSpPr>
        <p:spPr>
          <a:xfrm>
            <a:off x="8226182" y="2014513"/>
            <a:ext cx="3965818" cy="2172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Attendance</a:t>
            </a:r>
            <a:endParaRPr lang="en-US" sz="1500" dirty="0"/>
          </a:p>
        </p:txBody>
      </p:sp>
      <p:sp>
        <p:nvSpPr>
          <p:cNvPr id="20" name="Text 7"/>
          <p:cNvSpPr/>
          <p:nvPr/>
        </p:nvSpPr>
        <p:spPr>
          <a:xfrm>
            <a:off x="8226182" y="2293798"/>
            <a:ext cx="3267417" cy="54984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44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Infrared sensors monitor footfall. Half-empty markets act as early-warning security signals before incidents occur.</a:t>
            </a:r>
            <a:endParaRPr lang="en-US" sz="1050" dirty="0"/>
          </a:p>
        </p:txBody>
      </p:sp>
      <p:sp>
        <p:nvSpPr>
          <p:cNvPr id="21" name="Text 8"/>
          <p:cNvSpPr/>
          <p:nvPr/>
        </p:nvSpPr>
        <p:spPr>
          <a:xfrm>
            <a:off x="698213" y="4180185"/>
            <a:ext cx="3648717" cy="2172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Livestock GPS</a:t>
            </a:r>
            <a:endParaRPr lang="en-US" sz="1500" dirty="0"/>
          </a:p>
        </p:txBody>
      </p:sp>
      <p:sp>
        <p:nvSpPr>
          <p:cNvPr id="22" name="Text 9"/>
          <p:cNvSpPr/>
          <p:nvPr/>
        </p:nvSpPr>
        <p:spPr>
          <a:xfrm>
            <a:off x="698213" y="4459470"/>
            <a:ext cx="3267417" cy="3665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44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collars transmit distress signals when herds scatter or fail to return to resting points.</a:t>
            </a:r>
            <a:endParaRPr lang="en-US" sz="1050" dirty="0"/>
          </a:p>
        </p:txBody>
      </p:sp>
      <p:sp>
        <p:nvSpPr>
          <p:cNvPr id="23" name="Text 10"/>
          <p:cNvSpPr/>
          <p:nvPr/>
        </p:nvSpPr>
        <p:spPr>
          <a:xfrm>
            <a:off x="4462137" y="4203216"/>
            <a:ext cx="4771399" cy="2172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Emirate Structure</a:t>
            </a:r>
            <a:endParaRPr lang="en-US" sz="1500" dirty="0"/>
          </a:p>
        </p:txBody>
      </p:sp>
      <p:sp>
        <p:nvSpPr>
          <p:cNvPr id="24" name="Text 11"/>
          <p:cNvSpPr/>
          <p:nvPr/>
        </p:nvSpPr>
        <p:spPr>
          <a:xfrm>
            <a:off x="4462137" y="4482501"/>
            <a:ext cx="3267538" cy="5498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44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USSD-based human intelligence from Ward/District heads. Converts oral intelligence into AI-processable feeds.</a:t>
            </a:r>
            <a:endParaRPr lang="en-US" sz="1050" dirty="0"/>
          </a:p>
        </p:txBody>
      </p:sp>
      <p:sp>
        <p:nvSpPr>
          <p:cNvPr id="25" name="Text 12"/>
          <p:cNvSpPr/>
          <p:nvPr/>
        </p:nvSpPr>
        <p:spPr>
          <a:xfrm>
            <a:off x="8226182" y="4180185"/>
            <a:ext cx="3965818" cy="2172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Manufacturing</a:t>
            </a:r>
            <a:endParaRPr lang="en-US" sz="1500" dirty="0"/>
          </a:p>
        </p:txBody>
      </p:sp>
      <p:sp>
        <p:nvSpPr>
          <p:cNvPr id="26" name="Text 13"/>
          <p:cNvSpPr/>
          <p:nvPr/>
        </p:nvSpPr>
        <p:spPr>
          <a:xfrm>
            <a:off x="8226182" y="4459470"/>
            <a:ext cx="3267417" cy="5498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44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Imperative: All hardware (sensors, patrol drones, devices) must be designed and built in Nigeria by RAIN.</a:t>
            </a:r>
            <a:endParaRPr lang="en-US" sz="1050" dirty="0"/>
          </a:p>
        </p:txBody>
      </p:sp>
      <p:sp>
        <p:nvSpPr>
          <p:cNvPr id="27" name="Text 14"/>
          <p:cNvSpPr/>
          <p:nvPr/>
        </p:nvSpPr>
        <p:spPr>
          <a:xfrm>
            <a:off x="853371" y="6066692"/>
            <a:ext cx="11338629" cy="2172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human tradition with machine intelligence.</a:t>
            </a:r>
            <a:endParaRPr lang="en-US" sz="1350" dirty="0"/>
          </a:p>
        </p:txBody>
      </p:sp>
      <p:sp>
        <p:nvSpPr>
          <p:cNvPr id="28" name="Text 15"/>
          <p:cNvSpPr/>
          <p:nvPr/>
        </p:nvSpPr>
        <p:spPr>
          <a:xfrm>
            <a:off x="8708627" y="6113240"/>
            <a:ext cx="3483373" cy="1241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77"/>
              </a:lnSpc>
              <a:buNone/>
            </a:pPr>
            <a:r>
              <a:rPr lang="en-US" sz="900" kern="0" spc="8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DEFENSE INITIATIVE · R-A-I-N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771650"/>
            <a:ext cx="4762500" cy="304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972050"/>
            <a:ext cx="4762500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0" y="1771650"/>
            <a:ext cx="5715000" cy="1828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8850" y="2009775"/>
            <a:ext cx="285750" cy="285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8850" y="2457450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8850" y="2800350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8850" y="3143250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0" y="3829050"/>
            <a:ext cx="5715000" cy="1828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8850" y="4514850"/>
            <a:ext cx="171450" cy="171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8850" y="4857750"/>
            <a:ext cx="171450" cy="1714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8850" y="5200650"/>
            <a:ext cx="171450" cy="171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" y="6076950"/>
            <a:ext cx="10858500" cy="3048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666750" y="476250"/>
            <a:ext cx="1097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 Imperatives</a:t>
            </a:r>
            <a:endParaRPr lang="en-US" sz="3600" dirty="0"/>
          </a:p>
        </p:txBody>
      </p:sp>
      <p:sp>
        <p:nvSpPr>
          <p:cNvPr id="16" name="Text 1"/>
          <p:cNvSpPr/>
          <p:nvPr/>
        </p:nvSpPr>
        <p:spPr>
          <a:xfrm>
            <a:off x="666750" y="971550"/>
            <a:ext cx="10858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kern="0" spc="144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 &amp; INVESTMENT STRATEGY</a:t>
            </a:r>
            <a:endParaRPr lang="en-US" sz="1800" dirty="0"/>
          </a:p>
        </p:txBody>
      </p:sp>
      <p:sp>
        <p:nvSpPr>
          <p:cNvPr id="17" name="Text 2"/>
          <p:cNvSpPr/>
          <p:nvPr/>
        </p:nvSpPr>
        <p:spPr>
          <a:xfrm>
            <a:off x="819150" y="5124450"/>
            <a:ext cx="4457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"Teaching people to use AI produces consumers.
</a:t>
            </a:r>
            <a:r>
              <a:rPr lang="en-US" sz="1050" b="1" i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Teaching people to build AI produces an industry.</a:t>
            </a:r>
            <a:r>
              <a:rPr lang="en-US" sz="1050" i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1050" dirty="0"/>
          </a:p>
        </p:txBody>
      </p:sp>
      <p:sp>
        <p:nvSpPr>
          <p:cNvPr id="18" name="Text 3"/>
          <p:cNvSpPr/>
          <p:nvPr/>
        </p:nvSpPr>
        <p:spPr>
          <a:xfrm>
            <a:off x="6477000" y="2000250"/>
            <a:ext cx="5715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Reorienting Education</a:t>
            </a:r>
            <a:endParaRPr lang="en-US" sz="1800" dirty="0"/>
          </a:p>
        </p:txBody>
      </p:sp>
      <p:sp>
        <p:nvSpPr>
          <p:cNvPr id="19" name="Text 4"/>
          <p:cNvSpPr/>
          <p:nvPr/>
        </p:nvSpPr>
        <p:spPr>
          <a:xfrm>
            <a:off x="6286500" y="2419350"/>
            <a:ext cx="5905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</a:t>
            </a:r>
            <a:r>
              <a:rPr lang="en-US" sz="13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Engineering</a:t>
            </a: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Data, Models, and Systems.</a:t>
            </a:r>
            <a:endParaRPr lang="en-US" sz="1350" dirty="0"/>
          </a:p>
        </p:txBody>
      </p:sp>
      <p:sp>
        <p:nvSpPr>
          <p:cNvPr id="20" name="Text 5"/>
          <p:cNvSpPr/>
          <p:nvPr/>
        </p:nvSpPr>
        <p:spPr>
          <a:xfrm>
            <a:off x="6286500" y="2762250"/>
            <a:ext cx="5905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"AI Housemanship" (Applied Practice).</a:t>
            </a:r>
            <a:endParaRPr lang="en-US" sz="1350" dirty="0"/>
          </a:p>
        </p:txBody>
      </p:sp>
      <p:sp>
        <p:nvSpPr>
          <p:cNvPr id="21" name="Text 6"/>
          <p:cNvSpPr/>
          <p:nvPr/>
        </p:nvSpPr>
        <p:spPr>
          <a:xfrm>
            <a:off x="6286500" y="3105150"/>
            <a:ext cx="5905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 Curriculum: Ready for national scaling.</a:t>
            </a:r>
            <a:endParaRPr lang="en-US" sz="1350" dirty="0"/>
          </a:p>
        </p:txBody>
      </p:sp>
      <p:sp>
        <p:nvSpPr>
          <p:cNvPr id="22" name="Text 7"/>
          <p:cNvSpPr/>
          <p:nvPr/>
        </p:nvSpPr>
        <p:spPr>
          <a:xfrm>
            <a:off x="6191250" y="4057650"/>
            <a:ext cx="57607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IP &amp; Investment</a:t>
            </a:r>
            <a:endParaRPr lang="en-US" sz="1800" dirty="0"/>
          </a:p>
        </p:txBody>
      </p:sp>
      <p:sp>
        <p:nvSpPr>
          <p:cNvPr id="23" name="Text 8"/>
          <p:cNvSpPr/>
          <p:nvPr/>
        </p:nvSpPr>
        <p:spPr>
          <a:xfrm>
            <a:off x="6286500" y="4476750"/>
            <a:ext cx="5905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Mobilize private wealth for local AI infrastructure.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6286500" y="4819650"/>
            <a:ext cx="5905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from </a:t>
            </a:r>
            <a:r>
              <a:rPr lang="en-US" sz="13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Consumers</a:t>
            </a: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</a:t>
            </a:r>
            <a:r>
              <a:rPr lang="en-US" sz="13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</a:t>
            </a: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IP.</a:t>
            </a:r>
            <a:endParaRPr lang="en-US" sz="1350" dirty="0"/>
          </a:p>
        </p:txBody>
      </p:sp>
      <p:sp>
        <p:nvSpPr>
          <p:cNvPr id="25" name="Text 10"/>
          <p:cNvSpPr/>
          <p:nvPr/>
        </p:nvSpPr>
        <p:spPr>
          <a:xfrm>
            <a:off x="6286500" y="5162550"/>
            <a:ext cx="5905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partnerships on capacity transfer.</a:t>
            </a:r>
            <a:endParaRPr lang="en-US" sz="1350" dirty="0"/>
          </a:p>
        </p:txBody>
      </p:sp>
      <p:sp>
        <p:nvSpPr>
          <p:cNvPr id="26" name="Text 11"/>
          <p:cNvSpPr/>
          <p:nvPr/>
        </p:nvSpPr>
        <p:spPr>
          <a:xfrm>
            <a:off x="666750" y="6229350"/>
            <a:ext cx="69951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ROBOTICS AND ARTIFICIAL INTELLIGENCE NIGERIA (RAIN)</a:t>
            </a:r>
            <a:endParaRPr lang="en-US" sz="900" dirty="0"/>
          </a:p>
        </p:txBody>
      </p:sp>
      <p:sp>
        <p:nvSpPr>
          <p:cNvPr id="27" name="Text 12"/>
          <p:cNvSpPr/>
          <p:nvPr/>
        </p:nvSpPr>
        <p:spPr>
          <a:xfrm>
            <a:off x="8677275" y="6229350"/>
            <a:ext cx="35147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Olusola Ayoola · National Summit on AI &amp; Robotics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3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37" y="1505124"/>
            <a:ext cx="3550243" cy="399668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917" y="2243780"/>
            <a:ext cx="570216" cy="454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917" y="3376024"/>
            <a:ext cx="146407" cy="17566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917" y="3776716"/>
            <a:ext cx="146407" cy="17566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917" y="4177408"/>
            <a:ext cx="146407" cy="17566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917" y="4578100"/>
            <a:ext cx="146407" cy="17566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0805" y="1505124"/>
            <a:ext cx="7408831" cy="122302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5740" y="1854405"/>
            <a:ext cx="601038" cy="52434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9030" y="1977695"/>
            <a:ext cx="354458" cy="277763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0805" y="2913085"/>
            <a:ext cx="7408831" cy="122976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5740" y="3262486"/>
            <a:ext cx="570216" cy="53096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9030" y="3385776"/>
            <a:ext cx="323636" cy="284386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20805" y="4327788"/>
            <a:ext cx="7408831" cy="117402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5740" y="4677190"/>
            <a:ext cx="246580" cy="47522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2337" y="5810036"/>
            <a:ext cx="11267299" cy="585626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62337" y="462337"/>
            <a:ext cx="11729663" cy="4571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kern="0" spc="-89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Regulation &amp; Sectoral Deployment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462337" y="981142"/>
            <a:ext cx="11729663" cy="2157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9"/>
              </a:lnSpc>
              <a:buNone/>
            </a:pPr>
            <a:r>
              <a:rPr lang="en-US" sz="1500" kern="0" spc="37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Establishing Ethical Standards and Driving National Productivity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708917" y="2882864"/>
            <a:ext cx="7629518" cy="2774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84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Ethical Guardrails</a:t>
            </a:r>
            <a:endParaRPr lang="en-US" sz="2250" dirty="0"/>
          </a:p>
        </p:txBody>
      </p:sp>
      <p:sp>
        <p:nvSpPr>
          <p:cNvPr id="21" name="Text 3"/>
          <p:cNvSpPr/>
          <p:nvPr/>
        </p:nvSpPr>
        <p:spPr>
          <a:xfrm>
            <a:off x="947791" y="3345201"/>
            <a:ext cx="7120890" cy="2157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9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 &amp; Bias Auditing</a:t>
            </a:r>
            <a:endParaRPr lang="en-US" sz="1350" dirty="0"/>
          </a:p>
        </p:txBody>
      </p:sp>
      <p:sp>
        <p:nvSpPr>
          <p:cNvPr id="22" name="Text 4"/>
          <p:cNvSpPr/>
          <p:nvPr/>
        </p:nvSpPr>
        <p:spPr>
          <a:xfrm>
            <a:off x="947791" y="3745893"/>
            <a:ext cx="6357938" cy="2157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9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Provenance Standards</a:t>
            </a:r>
            <a:endParaRPr lang="en-US" sz="1350" dirty="0"/>
          </a:p>
        </p:txBody>
      </p:sp>
      <p:sp>
        <p:nvSpPr>
          <p:cNvPr id="23" name="Text 5"/>
          <p:cNvSpPr/>
          <p:nvPr/>
        </p:nvSpPr>
        <p:spPr>
          <a:xfrm>
            <a:off x="947791" y="4146586"/>
            <a:ext cx="6612255" cy="2157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9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NITDA Regulatory Framework</a:t>
            </a:r>
            <a:endParaRPr lang="en-US" sz="1350" dirty="0"/>
          </a:p>
        </p:txBody>
      </p:sp>
      <p:sp>
        <p:nvSpPr>
          <p:cNvPr id="24" name="Text 6"/>
          <p:cNvSpPr/>
          <p:nvPr/>
        </p:nvSpPr>
        <p:spPr>
          <a:xfrm>
            <a:off x="947791" y="4547278"/>
            <a:ext cx="6103620" cy="2157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9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Accountability Protocols</a:t>
            </a:r>
            <a:endParaRPr lang="en-US" sz="1350" dirty="0"/>
          </a:p>
        </p:txBody>
      </p:sp>
      <p:sp>
        <p:nvSpPr>
          <p:cNvPr id="25" name="Text 7"/>
          <p:cNvSpPr/>
          <p:nvPr/>
        </p:nvSpPr>
        <p:spPr>
          <a:xfrm>
            <a:off x="5291712" y="1878967"/>
            <a:ext cx="6164494" cy="246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42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</a:t>
            </a:r>
            <a:endParaRPr lang="en-US" sz="1800" dirty="0"/>
          </a:p>
        </p:txBody>
      </p:sp>
      <p:sp>
        <p:nvSpPr>
          <p:cNvPr id="26" name="Text 8"/>
          <p:cNvSpPr/>
          <p:nvPr/>
        </p:nvSpPr>
        <p:spPr>
          <a:xfrm>
            <a:off x="5291712" y="2125547"/>
            <a:ext cx="6900288" cy="2286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assessment tools, detecting learning gaps, and personalized feedback for millions.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5260890" y="3290299"/>
            <a:ext cx="6018088" cy="246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42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Healthcare</a:t>
            </a:r>
            <a:endParaRPr lang="en-US" sz="1800" dirty="0"/>
          </a:p>
        </p:txBody>
      </p:sp>
      <p:sp>
        <p:nvSpPr>
          <p:cNvPr id="28" name="Text 10"/>
          <p:cNvSpPr/>
          <p:nvPr/>
        </p:nvSpPr>
        <p:spPr>
          <a:xfrm>
            <a:off x="5260890" y="3536879"/>
            <a:ext cx="6931110" cy="2286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Specialist-level diagnostics at community centers and drug authentication systems.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4937254" y="4677190"/>
            <a:ext cx="6079732" cy="246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42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Agriculture</a:t>
            </a:r>
            <a:endParaRPr lang="en-US" sz="1800" dirty="0"/>
          </a:p>
        </p:txBody>
      </p:sp>
      <p:sp>
        <p:nvSpPr>
          <p:cNvPr id="30" name="Text 12"/>
          <p:cNvSpPr/>
          <p:nvPr/>
        </p:nvSpPr>
        <p:spPr>
          <a:xfrm>
            <a:off x="4937254" y="4923769"/>
            <a:ext cx="7254746" cy="2286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Market-linkage, crop disease detection, livestock geofencing, and yield forecasting.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647272" y="5994971"/>
            <a:ext cx="10897429" cy="2157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9"/>
              </a:lnSpc>
              <a:buNone/>
            </a:pPr>
            <a:r>
              <a:rPr lang="en-US" sz="135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 national AI strategy that does not begin with ethical standards is a document written in sand."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17" y="2611164"/>
            <a:ext cx="420414" cy="42041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07" y="2676853"/>
            <a:ext cx="289035" cy="2890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4242" y="2611164"/>
            <a:ext cx="420414" cy="42041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2966" y="2611164"/>
            <a:ext cx="420414" cy="42041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5811" y="2677572"/>
            <a:ext cx="354724" cy="28759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517" y="4880331"/>
            <a:ext cx="11140966" cy="145215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6259" y="5448752"/>
            <a:ext cx="2187466" cy="31531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25517" y="525517"/>
            <a:ext cx="11140966" cy="1313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34"/>
              </a:lnSpc>
              <a:buNone/>
            </a:pPr>
            <a:r>
              <a:rPr lang="en-US" sz="1050" b="1" kern="0" spc="122" dirty="0" smtClean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11" name="Text 1"/>
          <p:cNvSpPr/>
          <p:nvPr/>
        </p:nvSpPr>
        <p:spPr>
          <a:xfrm>
            <a:off x="525517" y="762000"/>
            <a:ext cx="11140966" cy="1428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Debt to the
</a:t>
            </a:r>
            <a:r>
              <a:rPr lang="en-US" sz="4500" b="1" u="sng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Generation</a:t>
            </a:r>
            <a:endParaRPr lang="en-US" sz="4500" dirty="0"/>
          </a:p>
        </p:txBody>
      </p:sp>
      <p:sp>
        <p:nvSpPr>
          <p:cNvPr id="12" name="Text 2"/>
          <p:cNvSpPr/>
          <p:nvPr/>
        </p:nvSpPr>
        <p:spPr>
          <a:xfrm>
            <a:off x="525517" y="3189233"/>
            <a:ext cx="9148572" cy="2102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55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Intervention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525517" y="3504543"/>
            <a:ext cx="3503414" cy="8353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is not just a tool; it is a way to bypass institutional failures and automate transparency.</a:t>
            </a:r>
            <a:endParaRPr lang="en-US" sz="1350" dirty="0"/>
          </a:p>
        </p:txBody>
      </p:sp>
      <p:sp>
        <p:nvSpPr>
          <p:cNvPr id="14" name="Text 4"/>
          <p:cNvSpPr/>
          <p:nvPr/>
        </p:nvSpPr>
        <p:spPr>
          <a:xfrm>
            <a:off x="4344242" y="3189233"/>
            <a:ext cx="7847758" cy="2102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55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 Sovereignty</a:t>
            </a:r>
            <a:endParaRPr lang="en-US" sz="1800" dirty="0"/>
          </a:p>
        </p:txBody>
      </p:sp>
      <p:sp>
        <p:nvSpPr>
          <p:cNvPr id="15" name="Text 5"/>
          <p:cNvSpPr/>
          <p:nvPr/>
        </p:nvSpPr>
        <p:spPr>
          <a:xfrm>
            <a:off x="4344242" y="3504543"/>
            <a:ext cx="3503414" cy="556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must be </a:t>
            </a: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Producers</a:t>
            </a: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AI to avoid digital feudalism and dependency.</a:t>
            </a:r>
            <a:endParaRPr lang="en-US" sz="1350" dirty="0"/>
          </a:p>
        </p:txBody>
      </p:sp>
      <p:sp>
        <p:nvSpPr>
          <p:cNvPr id="16" name="Text 6"/>
          <p:cNvSpPr/>
          <p:nvPr/>
        </p:nvSpPr>
        <p:spPr>
          <a:xfrm>
            <a:off x="8162966" y="3189233"/>
            <a:ext cx="4029034" cy="21020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55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Collective Will</a:t>
            </a:r>
            <a:endParaRPr lang="en-US" sz="1800" dirty="0"/>
          </a:p>
        </p:txBody>
      </p:sp>
      <p:sp>
        <p:nvSpPr>
          <p:cNvPr id="17" name="Text 7"/>
          <p:cNvSpPr/>
          <p:nvPr/>
        </p:nvSpPr>
        <p:spPr>
          <a:xfrm>
            <a:off x="8162966" y="3504543"/>
            <a:ext cx="3503413" cy="556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Investing in talent, data, and infrastructure </a:t>
            </a:r>
            <a:r>
              <a:rPr lang="en-US" sz="13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returns become obvious.</a:t>
            </a:r>
            <a:endParaRPr lang="en-US" sz="1350" dirty="0"/>
          </a:p>
        </p:txBody>
      </p:sp>
      <p:sp>
        <p:nvSpPr>
          <p:cNvPr id="18" name="Text 8"/>
          <p:cNvSpPr/>
          <p:nvPr/>
        </p:nvSpPr>
        <p:spPr>
          <a:xfrm>
            <a:off x="788276" y="5143090"/>
            <a:ext cx="8427983" cy="1313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34"/>
              </a:lnSpc>
              <a:buNone/>
            </a:pPr>
            <a:r>
              <a:rPr lang="en-US" sz="1050" kern="0" spc="-6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MISSION</a:t>
            </a:r>
            <a:endParaRPr lang="en-US" sz="1050" dirty="0"/>
          </a:p>
        </p:txBody>
      </p:sp>
      <p:sp>
        <p:nvSpPr>
          <p:cNvPr id="19" name="Text 9"/>
          <p:cNvSpPr/>
          <p:nvPr/>
        </p:nvSpPr>
        <p:spPr>
          <a:xfrm>
            <a:off x="788276" y="5327021"/>
            <a:ext cx="8427983" cy="7427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25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 will only serve Nigeria if we build it with </a:t>
            </a:r>
            <a:r>
              <a:rPr lang="en-US" sz="18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data</a:t>
            </a: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
by </a:t>
            </a:r>
            <a:r>
              <a:rPr lang="en-US" sz="18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engineers</a:t>
            </a: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for </a:t>
            </a:r>
            <a:r>
              <a:rPr lang="en-US" sz="18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specific interests</a:t>
            </a: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."</a:t>
            </a:r>
            <a:endParaRPr lang="en-US" sz="1800" dirty="0"/>
          </a:p>
        </p:txBody>
      </p:sp>
      <p:sp>
        <p:nvSpPr>
          <p:cNvPr id="20" name="Text 10"/>
          <p:cNvSpPr/>
          <p:nvPr/>
        </p:nvSpPr>
        <p:spPr>
          <a:xfrm>
            <a:off x="9479017" y="5448752"/>
            <a:ext cx="1924708" cy="1839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448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Olusola S. Ayoola</a:t>
            </a:r>
            <a:endParaRPr lang="en-US" sz="1500" dirty="0"/>
          </a:p>
        </p:txBody>
      </p:sp>
      <p:sp>
        <p:nvSpPr>
          <p:cNvPr id="21" name="Text 11"/>
          <p:cNvSpPr/>
          <p:nvPr/>
        </p:nvSpPr>
        <p:spPr>
          <a:xfrm>
            <a:off x="9479017" y="5632683"/>
            <a:ext cx="1924708" cy="1313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034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CEO/Founder, RAIN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958</Words>
  <Application>Microsoft Office PowerPoint</Application>
  <PresentationFormat>Custom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3</cp:revision>
  <dcterms:created xsi:type="dcterms:W3CDTF">2026-04-12T20:26:28Z</dcterms:created>
  <dcterms:modified xsi:type="dcterms:W3CDTF">2026-04-12T20:38:58Z</dcterms:modified>
</cp:coreProperties>
</file>