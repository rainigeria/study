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Achievable (%)</c:v>
                </c:pt>
              </c:strCache>
            </c:strRef>
          </c:tx>
          <c:spPr>
            <a:solidFill>
              <a:srgbClr val="0B6B3A"/>
            </a:solidFill>
            <a:effectLst/>
          </c:spPr>
          <c:invertIfNegative val="0"/>
          <c:dLbls>
            <c:numFmt formatCode="0&quot;%&quot;" sourceLinked="0"/>
            <c:txPr>
              <a:bodyPr/>
              <a:lstStyle/>
              <a:p>
                <a:pPr>
                  <a:defRPr b="1" i="0" strike="noStrike" sz="1600" u="none">
                    <a:solidFill>
                      <a:srgbClr val="111111"/>
                    </a:solidFill>
                    <a:latin typeface="Arial"/>
                  </a:defRPr>
                </a:pPr>
              </a:p>
            </c:txPr>
            <c:showLegendKey val="0"/>
            <c:showVal val="1"/>
            <c:showCatName val="0"/>
            <c:showSerName val="0"/>
            <c:showPercent val="0"/>
            <c:showBubbleSize val="0"/>
            <c:showLeaderLines val="0"/>
          </c:dLbls>
          <c:dPt>
            <c:idx val="0"/>
            <c:invertIfNegative val="0"/>
            <c:bubble3D val="0"/>
            <c:spPr>
              <a:solidFill>
                <a:srgbClr val="0B6B3A"/>
              </a:solidFill>
              <a:effectLst/>
            </c:spPr>
          </c:dPt>
          <c:dPt>
            <c:idx val="1"/>
            <c:invertIfNegative val="0"/>
            <c:bubble3D val="0"/>
            <c:spPr>
              <a:solidFill>
                <a:srgbClr val="0B6B3A"/>
              </a:solidFill>
              <a:effectLst/>
            </c:spPr>
          </c:dPt>
          <c:dPt>
            <c:idx val="2"/>
            <c:invertIfNegative val="0"/>
            <c:bubble3D val="0"/>
            <c:spPr>
              <a:solidFill>
                <a:srgbClr val="0B6B3A"/>
              </a:solidFill>
              <a:effectLst/>
            </c:spPr>
          </c:dPt>
          <c:dPt>
            <c:idx val="3"/>
            <c:invertIfNegative val="0"/>
            <c:bubble3D val="0"/>
            <c:spPr>
              <a:solidFill>
                <a:srgbClr val="C8102E"/>
              </a:solidFill>
              <a:effectLst/>
            </c:spPr>
          </c:dPt>
          <c:cat>
            <c:multiLvlStrRef>
              <c:f>Sheet1!$A$2:$A$5</c:f>
              <c:multiLvlStrCache>
                <c:ptCount val="4"/>
                <c:lvl>
                  <c:pt idx="0">
                    <c:v>Goal 1</c:v>
                  </c:pt>
                  <c:pt idx="1">
                    <c:v>Goal 2</c:v>
                  </c:pt>
                  <c:pt idx="2">
                    <c:v>Goal 3</c:v>
                  </c:pt>
                  <c:pt idx="3">
                    <c:v>OVERALL</c:v>
                  </c:pt>
                </c:lvl>
              </c:multiLvlStrCache>
            </c:multiLvlStrRef>
          </c:cat>
          <c:val>
            <c:numRef>
              <c:f>Sheet1!$B$2:$B$5</c:f>
              <c:numCache>
                <c:formatCode>General</c:formatCode>
                <c:ptCount val="4"/>
                <c:pt idx="0">
                  <c:v>81</c:v>
                </c:pt>
                <c:pt idx="1">
                  <c:v>83</c:v>
                </c:pt>
                <c:pt idx="2">
                  <c:v>89</c:v>
                </c:pt>
                <c:pt idx="3">
                  <c:v>73</c:v>
                </c:pt>
              </c:numCache>
            </c:numRef>
          </c:val>
        </c:ser>
        <c:dLbls>
          <c:numFmt formatCode="0&quot;%&quot;" sourceLinked="0"/>
          <c:txPr>
            <a:bodyPr/>
            <a:lstStyle/>
            <a:p>
              <a:pPr>
                <a:defRPr b="1" i="0" strike="noStrike" sz="160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1"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111"/>
                </a:solidFill>
                <a:latin typeface="Arial"/>
              </a:defRPr>
            </a:pPr>
            <a:r>
              <a:rPr sz="1400" b="0" i="0" u="none" strike="noStrike">
                <a:solidFill>
                  <a:srgbClr val="111111"/>
                </a:solidFill>
                <a:latin typeface="Arial"/>
              </a:rPr>
              <a:t>Benford's Law — leading digit distribution</a:t>
            </a:r>
          </a:p>
        </c:rich>
      </c:tx>
      <c:layout/>
      <c:overlay val="0"/>
    </c:title>
    <c:autoTitleDeleted val="0"/>
    <c:plotArea>
      <c:layout/>
      <c:barChart>
        <c:barDir val="col"/>
        <c:grouping val="clustered"/>
        <c:varyColors val="0"/>
        <c:ser>
          <c:idx val="0"/>
          <c:order val="0"/>
          <c:tx>
            <c:strRef>
              <c:f>Sheet1!$B$1</c:f>
              <c:strCache>
                <c:ptCount val="1"/>
                <c:pt idx="0">
                  <c:v>Expected frequency</c:v>
                </c:pt>
              </c:strCache>
            </c:strRef>
          </c:tx>
          <c:spPr>
            <a:solidFill>
              <a:srgbClr val="0B6B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30.1</c:v>
                </c:pt>
                <c:pt idx="1">
                  <c:v>17.6</c:v>
                </c:pt>
                <c:pt idx="2">
                  <c:v>12.5</c:v>
                </c:pt>
                <c:pt idx="3">
                  <c:v>9.7</c:v>
                </c:pt>
                <c:pt idx="4">
                  <c:v>7.9</c:v>
                </c:pt>
                <c:pt idx="5">
                  <c:v>6.7</c:v>
                </c:pt>
                <c:pt idx="6">
                  <c:v>5.8</c:v>
                </c:pt>
                <c:pt idx="7">
                  <c:v>5.1</c:v>
                </c:pt>
                <c:pt idx="8">
                  <c:v>4.6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1"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Protocols observed. Thank the organisers. Then go straight into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Kepler spent years and roughly 900 pages of hand calculation to work out the orbit of Mars. Years. For one planet.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turn. Slow down. Let each question land. Then: hence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no census since 2006. Twenty years of planning a whole nation on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Justice: a case backlog is a queue. If arrival rate exceeds service rate, the queue runs to infinity. Justice delayed is a queue that is mathematically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F2F5F3"/>
          </a:solidFill>
          <a:ln/>
        </p:spPr>
      </p:sp>
      <p:sp>
        <p:nvSpPr>
          <p:cNvPr id="3" name="Text 1"/>
          <p:cNvSpPr txBox="1"/>
          <p:nvPr/>
        </p:nvSpPr>
        <p:spPr>
          <a:xfrm>
            <a:off x="457200" y="914400"/>
            <a:ext cx="3108960" cy="2743200"/>
          </a:xfrm>
          <a:prstGeom prst="rect">
            <a:avLst/>
          </a:prstGeom>
          <a:noFill/>
          <a:ln/>
        </p:spPr>
        <p:txBody>
          <a:bodyPr wrap="square" lIns="0" tIns="0" rIns="0" bIns="0" rtlCol="0" anchor="ctr"/>
          <a:lstStyle/>
          <a:p>
            <a:pPr algn="ctr" indent="0" marL="0">
              <a:buNone/>
            </a:pPr>
            <a:r>
              <a:rPr lang="en-US" sz="20000" b="1" dirty="0">
                <a:solidFill>
                  <a:srgbClr val="0B6B3A"/>
                </a:solidFill>
                <a:latin typeface="Cambria" pitchFamily="34" charset="0"/>
                <a:ea typeface="Cambria" pitchFamily="34" charset="-122"/>
                <a:cs typeface="Cambria" pitchFamily="34" charset="-120"/>
              </a:rPr>
              <a:t>∑</a:t>
            </a:r>
            <a:endParaRPr lang="en-US" sz="20000" dirty="0"/>
          </a:p>
        </p:txBody>
      </p:sp>
      <p:sp>
        <p:nvSpPr>
          <p:cNvPr id="4" name="Text 2"/>
          <p:cNvSpPr txBox="1"/>
          <p:nvPr/>
        </p:nvSpPr>
        <p:spPr>
          <a:xfrm>
            <a:off x="457200" y="3931920"/>
            <a:ext cx="3108960" cy="1463040"/>
          </a:xfrm>
          <a:prstGeom prst="rect">
            <a:avLst/>
          </a:prstGeom>
          <a:noFill/>
          <a:ln/>
        </p:spPr>
        <p:txBody>
          <a:bodyPr wrap="square" lIns="0" tIns="0" rIns="0" bIns="0" rtlCol="0" anchor="ctr"/>
          <a:lstStyle/>
          <a:p>
            <a:pPr algn="ctr" indent="0" marL="0">
              <a:buNone/>
            </a:pPr>
            <a:r>
              <a:rPr lang="en-US" sz="2400" b="1" i="1" dirty="0">
                <a:solidFill>
                  <a:srgbClr val="111111"/>
                </a:solidFill>
                <a:latin typeface="Cambria" pitchFamily="34" charset="0"/>
                <a:ea typeface="Cambria" pitchFamily="34" charset="-122"/>
                <a:cs typeface="Cambria" pitchFamily="34" charset="-120"/>
              </a:rPr>
              <a:t>From Theory to Impact</a:t>
            </a:r>
            <a:endParaRPr lang="en-US" sz="2400" dirty="0"/>
          </a:p>
        </p:txBody>
      </p:sp>
      <p:sp>
        <p:nvSpPr>
          <p:cNvPr id="5" name="Text 3"/>
          <p:cNvSpPr txBox="1"/>
          <p:nvPr/>
        </p:nvSpPr>
        <p:spPr>
          <a:xfrm>
            <a:off x="4572000" y="1188720"/>
            <a:ext cx="7040880" cy="2651760"/>
          </a:xfrm>
          <a:prstGeom prst="rect">
            <a:avLst/>
          </a:prstGeom>
          <a:noFill/>
          <a:ln/>
        </p:spPr>
        <p:txBody>
          <a:bodyPr wrap="square" lIns="0" tIns="0" rIns="0" bIns="0" rtlCol="0" anchor="ctr"/>
          <a:lstStyle/>
          <a:p>
            <a:pPr indent="0" marL="0">
              <a:lnSpc>
                <a:spcPts val="5200"/>
              </a:lnSpc>
              <a:buNone/>
            </a:pPr>
            <a:r>
              <a:rPr lang="en-US" sz="4600" b="1" dirty="0">
                <a:solidFill>
                  <a:srgbClr val="111111"/>
                </a:solidFill>
                <a:latin typeface="Cambria" pitchFamily="34" charset="0"/>
                <a:ea typeface="Cambria" pitchFamily="34" charset="-122"/>
                <a:cs typeface="Cambria" pitchFamily="34" charset="-120"/>
              </a:rPr>
              <a:t>The Impact of</a:t>
            </a:r>
            <a:endParaRPr lang="en-US" sz="4600" dirty="0"/>
          </a:p>
          <a:p>
            <a:pPr indent="0" marL="0">
              <a:lnSpc>
                <a:spcPts val="5200"/>
              </a:lnSpc>
              <a:buNone/>
            </a:pPr>
            <a:r>
              <a:rPr lang="en-US" sz="4600" b="1" dirty="0">
                <a:solidFill>
                  <a:srgbClr val="111111"/>
                </a:solidFill>
                <a:latin typeface="Cambria" pitchFamily="34" charset="0"/>
                <a:ea typeface="Cambria" pitchFamily="34" charset="-122"/>
                <a:cs typeface="Cambria" pitchFamily="34" charset="-120"/>
              </a:rPr>
              <a:t>Mathematical Sciences</a:t>
            </a:r>
            <a:endParaRPr lang="en-US" sz="4600" dirty="0"/>
          </a:p>
          <a:p>
            <a:pPr indent="0" marL="0">
              <a:lnSpc>
                <a:spcPts val="5200"/>
              </a:lnSpc>
              <a:buNone/>
            </a:pPr>
            <a:r>
              <a:rPr lang="en-US" sz="4600" b="1" dirty="0">
                <a:solidFill>
                  <a:srgbClr val="111111"/>
                </a:solidFill>
                <a:latin typeface="Cambria" pitchFamily="34" charset="0"/>
                <a:ea typeface="Cambria" pitchFamily="34" charset="-122"/>
                <a:cs typeface="Cambria" pitchFamily="34" charset="-120"/>
              </a:rPr>
              <a:t>on Nation Building</a:t>
            </a:r>
            <a:endParaRPr lang="en-US" sz="4600" dirty="0"/>
          </a:p>
        </p:txBody>
      </p:sp>
      <p:sp>
        <p:nvSpPr>
          <p:cNvPr id="6" name="Text 4"/>
          <p:cNvSpPr txBox="1"/>
          <p:nvPr/>
        </p:nvSpPr>
        <p:spPr>
          <a:xfrm>
            <a:off x="4572000" y="4023360"/>
            <a:ext cx="7040880" cy="731520"/>
          </a:xfrm>
          <a:prstGeom prst="rect">
            <a:avLst/>
          </a:prstGeom>
          <a:noFill/>
          <a:ln/>
        </p:spPr>
        <p:txBody>
          <a:bodyPr wrap="square" lIns="0" tIns="0" rIns="0" bIns="0" rtlCol="0" anchor="ctr"/>
          <a:lstStyle/>
          <a:p>
            <a:pPr indent="0" marL="0">
              <a:buNone/>
            </a:pPr>
            <a:r>
              <a:rPr lang="en-US" sz="1700" dirty="0">
                <a:solidFill>
                  <a:srgbClr val="5A5A5A"/>
                </a:solidFill>
                <a:latin typeface="Arial" pitchFamily="34" charset="0"/>
                <a:ea typeface="Arial" pitchFamily="34" charset="-122"/>
                <a:cs typeface="Arial" pitchFamily="34" charset="-120"/>
              </a:rPr>
              <a:t>26th International Conference on Mathematical Sciences and Optimization</a:t>
            </a:r>
            <a:endParaRPr lang="en-US" sz="1700" dirty="0"/>
          </a:p>
        </p:txBody>
      </p:sp>
      <p:sp>
        <p:nvSpPr>
          <p:cNvPr id="7" name="Text 5"/>
          <p:cNvSpPr txBox="1"/>
          <p:nvPr/>
        </p:nvSpPr>
        <p:spPr>
          <a:xfrm>
            <a:off x="4572000" y="4937760"/>
            <a:ext cx="7040880" cy="457200"/>
          </a:xfrm>
          <a:prstGeom prst="rect">
            <a:avLst/>
          </a:prstGeom>
          <a:noFill/>
          <a:ln/>
        </p:spPr>
        <p:txBody>
          <a:bodyPr wrap="square" lIns="0" tIns="0" rIns="0" bIns="0" rtlCol="0" anchor="ctr"/>
          <a:lstStyle/>
          <a:p>
            <a:pPr indent="0" marL="0">
              <a:buNone/>
            </a:pPr>
            <a:r>
              <a:rPr lang="en-US" sz="2600" b="1" dirty="0">
                <a:solidFill>
                  <a:srgbClr val="0B6B3A"/>
                </a:solidFill>
                <a:latin typeface="Arial" pitchFamily="34" charset="0"/>
                <a:ea typeface="Arial" pitchFamily="34" charset="-122"/>
                <a:cs typeface="Arial" pitchFamily="34" charset="-120"/>
              </a:rPr>
              <a:t>Dr. Olusola Ayoola</a:t>
            </a:r>
            <a:endParaRPr lang="en-US" sz="2600" dirty="0"/>
          </a:p>
        </p:txBody>
      </p:sp>
      <p:sp>
        <p:nvSpPr>
          <p:cNvPr id="8" name="Text 6"/>
          <p:cNvSpPr txBox="1"/>
          <p:nvPr/>
        </p:nvSpPr>
        <p:spPr>
          <a:xfrm>
            <a:off x="4572000" y="5440680"/>
            <a:ext cx="7040880" cy="457200"/>
          </a:xfrm>
          <a:prstGeom prst="rect">
            <a:avLst/>
          </a:prstGeom>
          <a:noFill/>
          <a:ln/>
        </p:spPr>
        <p:txBody>
          <a:bodyPr wrap="square" lIns="0" tIns="0" rIns="0" bIns="0" rtlCol="0" anchor="ctr"/>
          <a:lstStyle/>
          <a:p>
            <a:pPr indent="0" marL="0">
              <a:buNone/>
            </a:pPr>
            <a:r>
              <a:rPr lang="en-US" sz="1600" dirty="0">
                <a:solidFill>
                  <a:srgbClr val="5A5A5A"/>
                </a:solidFill>
                <a:latin typeface="Arial" pitchFamily="34" charset="0"/>
                <a:ea typeface="Arial" pitchFamily="34" charset="-122"/>
                <a:cs typeface="Arial" pitchFamily="34" charset="-120"/>
              </a:rPr>
              <a:t>Founder &amp; CEO, Robotics and Artificial Intelligence Nigeria (RAIN)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LET US GO BACK SMALL</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They did it by hand.</a:t>
            </a:r>
            <a:endParaRPr lang="en-US" sz="4000" dirty="0"/>
          </a:p>
        </p:txBody>
      </p:sp>
      <p:sp>
        <p:nvSpPr>
          <p:cNvPr id="4" name="Text 2"/>
          <p:cNvSpPr txBox="1"/>
          <p:nvPr/>
        </p:nvSpPr>
        <p:spPr>
          <a:xfrm>
            <a:off x="640080" y="1554480"/>
            <a:ext cx="10881360" cy="457200"/>
          </a:xfrm>
          <a:prstGeom prst="rect">
            <a:avLst/>
          </a:prstGeom>
          <a:noFill/>
          <a:ln/>
        </p:spPr>
        <p:txBody>
          <a:bodyPr wrap="square" lIns="0" tIns="0" rIns="0" bIns="0" rtlCol="0" anchor="ctr"/>
          <a:lstStyle/>
          <a:p>
            <a:pPr indent="0" marL="0">
              <a:buNone/>
            </a:pPr>
            <a:r>
              <a:rPr lang="en-US" sz="2000" dirty="0">
                <a:solidFill>
                  <a:srgbClr val="5A5A5A"/>
                </a:solidFill>
                <a:latin typeface="Arial" pitchFamily="34" charset="0"/>
                <a:ea typeface="Arial" pitchFamily="34" charset="-122"/>
                <a:cs typeface="Arial" pitchFamily="34" charset="-120"/>
              </a:rPr>
              <a:t>No computer. No calculator. No electricity. Just paper, pen, and a stubborn mind.</a:t>
            </a:r>
            <a:endParaRPr lang="en-US" sz="2000" dirty="0"/>
          </a:p>
        </p:txBody>
      </p:sp>
      <p:sp>
        <p:nvSpPr>
          <p:cNvPr id="5" name="Shape 3"/>
          <p:cNvSpPr/>
          <p:nvPr/>
        </p:nvSpPr>
        <p:spPr>
          <a:xfrm>
            <a:off x="640080" y="2286000"/>
            <a:ext cx="3429000" cy="1371600"/>
          </a:xfrm>
          <a:prstGeom prst="rect">
            <a:avLst/>
          </a:prstGeom>
          <a:solidFill>
            <a:srgbClr val="F2F5F3"/>
          </a:solidFill>
          <a:ln/>
        </p:spPr>
      </p:sp>
      <p:sp>
        <p:nvSpPr>
          <p:cNvPr id="6" name="Text 4"/>
          <p:cNvSpPr txBox="1"/>
          <p:nvPr/>
        </p:nvSpPr>
        <p:spPr>
          <a:xfrm>
            <a:off x="914400" y="2514600"/>
            <a:ext cx="2880360" cy="54864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Geometry</a:t>
            </a:r>
            <a:endParaRPr lang="en-US" sz="2100" dirty="0"/>
          </a:p>
        </p:txBody>
      </p:sp>
      <p:sp>
        <p:nvSpPr>
          <p:cNvPr id="7" name="Text 5"/>
          <p:cNvSpPr txBox="1"/>
          <p:nvPr/>
        </p:nvSpPr>
        <p:spPr>
          <a:xfrm>
            <a:off x="914400" y="3108960"/>
            <a:ext cx="2880360" cy="41148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How to measure the world</a:t>
            </a:r>
            <a:endParaRPr lang="en-US" sz="1400" dirty="0"/>
          </a:p>
        </p:txBody>
      </p:sp>
      <p:sp>
        <p:nvSpPr>
          <p:cNvPr id="8" name="Shape 6"/>
          <p:cNvSpPr/>
          <p:nvPr/>
        </p:nvSpPr>
        <p:spPr>
          <a:xfrm>
            <a:off x="4343400" y="2286000"/>
            <a:ext cx="3429000" cy="1371600"/>
          </a:xfrm>
          <a:prstGeom prst="rect">
            <a:avLst/>
          </a:prstGeom>
          <a:solidFill>
            <a:srgbClr val="F2F5F3"/>
          </a:solidFill>
          <a:ln/>
        </p:spPr>
      </p:sp>
      <p:sp>
        <p:nvSpPr>
          <p:cNvPr id="9" name="Text 7"/>
          <p:cNvSpPr txBox="1"/>
          <p:nvPr/>
        </p:nvSpPr>
        <p:spPr>
          <a:xfrm>
            <a:off x="4617720" y="2514600"/>
            <a:ext cx="2880360" cy="54864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Trigonometry</a:t>
            </a:r>
            <a:endParaRPr lang="en-US" sz="2100" dirty="0"/>
          </a:p>
        </p:txBody>
      </p:sp>
      <p:sp>
        <p:nvSpPr>
          <p:cNvPr id="10" name="Text 8"/>
          <p:cNvSpPr txBox="1"/>
          <p:nvPr/>
        </p:nvSpPr>
        <p:spPr>
          <a:xfrm>
            <a:off x="4617720" y="3108960"/>
            <a:ext cx="2880360" cy="41148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How to navigate it</a:t>
            </a:r>
            <a:endParaRPr lang="en-US" sz="1400" dirty="0"/>
          </a:p>
        </p:txBody>
      </p:sp>
      <p:sp>
        <p:nvSpPr>
          <p:cNvPr id="11" name="Shape 9"/>
          <p:cNvSpPr/>
          <p:nvPr/>
        </p:nvSpPr>
        <p:spPr>
          <a:xfrm>
            <a:off x="8046720" y="2286000"/>
            <a:ext cx="3429000" cy="1371600"/>
          </a:xfrm>
          <a:prstGeom prst="rect">
            <a:avLst/>
          </a:prstGeom>
          <a:solidFill>
            <a:srgbClr val="F2F5F3"/>
          </a:solidFill>
          <a:ln/>
        </p:spPr>
      </p:sp>
      <p:sp>
        <p:nvSpPr>
          <p:cNvPr id="12" name="Text 10"/>
          <p:cNvSpPr txBox="1"/>
          <p:nvPr/>
        </p:nvSpPr>
        <p:spPr>
          <a:xfrm>
            <a:off x="8321040" y="2514600"/>
            <a:ext cx="2880360" cy="54864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Calculus</a:t>
            </a:r>
            <a:endParaRPr lang="en-US" sz="2100" dirty="0"/>
          </a:p>
        </p:txBody>
      </p:sp>
      <p:sp>
        <p:nvSpPr>
          <p:cNvPr id="13" name="Text 11"/>
          <p:cNvSpPr txBox="1"/>
          <p:nvPr/>
        </p:nvSpPr>
        <p:spPr>
          <a:xfrm>
            <a:off x="8321040" y="3108960"/>
            <a:ext cx="2880360" cy="41148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How things change</a:t>
            </a:r>
            <a:endParaRPr lang="en-US" sz="1400" dirty="0"/>
          </a:p>
        </p:txBody>
      </p:sp>
      <p:sp>
        <p:nvSpPr>
          <p:cNvPr id="14" name="Shape 12"/>
          <p:cNvSpPr/>
          <p:nvPr/>
        </p:nvSpPr>
        <p:spPr>
          <a:xfrm>
            <a:off x="640080" y="3886200"/>
            <a:ext cx="3429000" cy="1371600"/>
          </a:xfrm>
          <a:prstGeom prst="rect">
            <a:avLst/>
          </a:prstGeom>
          <a:solidFill>
            <a:srgbClr val="E8F2EC"/>
          </a:solidFill>
          <a:ln/>
        </p:spPr>
      </p:sp>
      <p:sp>
        <p:nvSpPr>
          <p:cNvPr id="15" name="Text 13"/>
          <p:cNvSpPr txBox="1"/>
          <p:nvPr/>
        </p:nvSpPr>
        <p:spPr>
          <a:xfrm>
            <a:off x="914400" y="4114800"/>
            <a:ext cx="2880360" cy="54864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Differential equations</a:t>
            </a:r>
            <a:endParaRPr lang="en-US" sz="2100" dirty="0"/>
          </a:p>
        </p:txBody>
      </p:sp>
      <p:sp>
        <p:nvSpPr>
          <p:cNvPr id="16" name="Text 14"/>
          <p:cNvSpPr txBox="1"/>
          <p:nvPr/>
        </p:nvSpPr>
        <p:spPr>
          <a:xfrm>
            <a:off x="914400" y="4709160"/>
            <a:ext cx="2880360" cy="41148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How systems behave</a:t>
            </a:r>
            <a:endParaRPr lang="en-US" sz="1400" dirty="0"/>
          </a:p>
        </p:txBody>
      </p:sp>
      <p:sp>
        <p:nvSpPr>
          <p:cNvPr id="17" name="Shape 15"/>
          <p:cNvSpPr/>
          <p:nvPr/>
        </p:nvSpPr>
        <p:spPr>
          <a:xfrm>
            <a:off x="4343400" y="3886200"/>
            <a:ext cx="3429000" cy="1371600"/>
          </a:xfrm>
          <a:prstGeom prst="rect">
            <a:avLst/>
          </a:prstGeom>
          <a:solidFill>
            <a:srgbClr val="E8F2EC"/>
          </a:solidFill>
          <a:ln/>
        </p:spPr>
      </p:sp>
      <p:sp>
        <p:nvSpPr>
          <p:cNvPr id="18" name="Text 16"/>
          <p:cNvSpPr txBox="1"/>
          <p:nvPr/>
        </p:nvSpPr>
        <p:spPr>
          <a:xfrm>
            <a:off x="4617720" y="4114800"/>
            <a:ext cx="2880360" cy="54864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Probability</a:t>
            </a:r>
            <a:endParaRPr lang="en-US" sz="2100" dirty="0"/>
          </a:p>
        </p:txBody>
      </p:sp>
      <p:sp>
        <p:nvSpPr>
          <p:cNvPr id="19" name="Text 17"/>
          <p:cNvSpPr txBox="1"/>
          <p:nvPr/>
        </p:nvSpPr>
        <p:spPr>
          <a:xfrm>
            <a:off x="4617720" y="4709160"/>
            <a:ext cx="2880360" cy="41148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How to reason under uncertainty</a:t>
            </a:r>
            <a:endParaRPr lang="en-US" sz="1400" dirty="0"/>
          </a:p>
        </p:txBody>
      </p:sp>
      <p:sp>
        <p:nvSpPr>
          <p:cNvPr id="20" name="Shape 18"/>
          <p:cNvSpPr/>
          <p:nvPr/>
        </p:nvSpPr>
        <p:spPr>
          <a:xfrm>
            <a:off x="8046720" y="3886200"/>
            <a:ext cx="3429000" cy="1371600"/>
          </a:xfrm>
          <a:prstGeom prst="rect">
            <a:avLst/>
          </a:prstGeom>
          <a:solidFill>
            <a:srgbClr val="E8F2EC"/>
          </a:solidFill>
          <a:ln/>
        </p:spPr>
      </p:sp>
      <p:sp>
        <p:nvSpPr>
          <p:cNvPr id="21" name="Text 19"/>
          <p:cNvSpPr txBox="1"/>
          <p:nvPr/>
        </p:nvSpPr>
        <p:spPr>
          <a:xfrm>
            <a:off x="8321040" y="4114800"/>
            <a:ext cx="2880360" cy="54864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Logarithms</a:t>
            </a:r>
            <a:endParaRPr lang="en-US" sz="2100" dirty="0"/>
          </a:p>
        </p:txBody>
      </p:sp>
      <p:sp>
        <p:nvSpPr>
          <p:cNvPr id="22" name="Text 20"/>
          <p:cNvSpPr txBox="1"/>
          <p:nvPr/>
        </p:nvSpPr>
        <p:spPr>
          <a:xfrm>
            <a:off x="8321040" y="4709160"/>
            <a:ext cx="2880360" cy="41148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How to compute the impossible</a:t>
            </a:r>
            <a:endParaRPr lang="en-US" sz="1400" dirty="0"/>
          </a:p>
        </p:txBody>
      </p:sp>
      <p:sp>
        <p:nvSpPr>
          <p:cNvPr id="23" name="Text 21"/>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AND SEE WHAT IT BUILT</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Four equations. One modern world.</a:t>
            </a:r>
            <a:endParaRPr lang="en-US" sz="4000" dirty="0"/>
          </a:p>
        </p:txBody>
      </p:sp>
      <p:sp>
        <p:nvSpPr>
          <p:cNvPr id="4" name="Text 2"/>
          <p:cNvSpPr txBox="1"/>
          <p:nvPr/>
        </p:nvSpPr>
        <p:spPr>
          <a:xfrm>
            <a:off x="640080" y="1600200"/>
            <a:ext cx="10881360" cy="914400"/>
          </a:xfrm>
          <a:prstGeom prst="rect">
            <a:avLst/>
          </a:prstGeom>
          <a:noFill/>
          <a:ln/>
        </p:spPr>
        <p:txBody>
          <a:bodyPr wrap="square" lIns="0" tIns="0" rIns="0" bIns="0" rtlCol="0" anchor="ctr"/>
          <a:lstStyle/>
          <a:p>
            <a:pPr indent="0" marL="0">
              <a:lnSpc>
                <a:spcPts val="2600"/>
              </a:lnSpc>
              <a:buNone/>
            </a:pPr>
            <a:r>
              <a:rPr lang="en-US" sz="1800" dirty="0">
                <a:solidFill>
                  <a:srgbClr val="111111"/>
                </a:solidFill>
                <a:latin typeface="Arial" pitchFamily="34" charset="0"/>
                <a:ea typeface="Arial" pitchFamily="34" charset="-122"/>
                <a:cs typeface="Arial" pitchFamily="34" charset="-120"/>
              </a:rPr>
              <a:t>James Clerk Maxwell wrote four equations describing electricity and magnetism. From those four equations came radio, television, radar, satellites, and the phone in your pocket this morning.</a:t>
            </a:r>
            <a:endParaRPr lang="en-US" sz="1800" dirty="0"/>
          </a:p>
        </p:txBody>
      </p:sp>
      <p:sp>
        <p:nvSpPr>
          <p:cNvPr id="5" name="Shape 3"/>
          <p:cNvSpPr/>
          <p:nvPr/>
        </p:nvSpPr>
        <p:spPr>
          <a:xfrm>
            <a:off x="640080" y="2852928"/>
            <a:ext cx="457200" cy="457200"/>
          </a:xfrm>
          <a:prstGeom prst="ellipse">
            <a:avLst/>
          </a:prstGeom>
          <a:solidFill>
            <a:srgbClr val="0B6B3A"/>
          </a:solidFill>
          <a:ln/>
        </p:spPr>
      </p:sp>
      <p:sp>
        <p:nvSpPr>
          <p:cNvPr id="6" name="Text 4"/>
          <p:cNvSpPr txBox="1"/>
          <p:nvPr/>
        </p:nvSpPr>
        <p:spPr>
          <a:xfrm>
            <a:off x="1298448" y="2743200"/>
            <a:ext cx="4572000" cy="41148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The aeroplane</a:t>
            </a:r>
            <a:endParaRPr lang="en-US" sz="2100" dirty="0"/>
          </a:p>
        </p:txBody>
      </p:sp>
      <p:sp>
        <p:nvSpPr>
          <p:cNvPr id="7" name="Text 5"/>
          <p:cNvSpPr txBox="1"/>
          <p:nvPr/>
        </p:nvSpPr>
        <p:spPr>
          <a:xfrm>
            <a:off x="1298448" y="3182112"/>
            <a:ext cx="4572000" cy="45720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Fluid dynamics and calculus lifted iron off the ground.</a:t>
            </a:r>
            <a:endParaRPr lang="en-US" sz="1400" dirty="0"/>
          </a:p>
        </p:txBody>
      </p:sp>
      <p:sp>
        <p:nvSpPr>
          <p:cNvPr id="8" name="Shape 6"/>
          <p:cNvSpPr/>
          <p:nvPr/>
        </p:nvSpPr>
        <p:spPr>
          <a:xfrm>
            <a:off x="6263640" y="2852928"/>
            <a:ext cx="457200" cy="457200"/>
          </a:xfrm>
          <a:prstGeom prst="ellipse">
            <a:avLst/>
          </a:prstGeom>
          <a:solidFill>
            <a:srgbClr val="0B6B3A"/>
          </a:solidFill>
          <a:ln/>
        </p:spPr>
      </p:sp>
      <p:sp>
        <p:nvSpPr>
          <p:cNvPr id="9" name="Text 7"/>
          <p:cNvSpPr txBox="1"/>
          <p:nvPr/>
        </p:nvSpPr>
        <p:spPr>
          <a:xfrm>
            <a:off x="6922008" y="2743200"/>
            <a:ext cx="4572000" cy="41148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Electricity</a:t>
            </a:r>
            <a:endParaRPr lang="en-US" sz="2100" dirty="0"/>
          </a:p>
        </p:txBody>
      </p:sp>
      <p:sp>
        <p:nvSpPr>
          <p:cNvPr id="10" name="Text 8"/>
          <p:cNvSpPr txBox="1"/>
          <p:nvPr/>
        </p:nvSpPr>
        <p:spPr>
          <a:xfrm>
            <a:off x="6922008" y="3182112"/>
            <a:ext cx="4572000" cy="45720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Maxwell's equations gave us the entire electrical age.</a:t>
            </a:r>
            <a:endParaRPr lang="en-US" sz="1400" dirty="0"/>
          </a:p>
        </p:txBody>
      </p:sp>
      <p:sp>
        <p:nvSpPr>
          <p:cNvPr id="11" name="Shape 9"/>
          <p:cNvSpPr/>
          <p:nvPr/>
        </p:nvSpPr>
        <p:spPr>
          <a:xfrm>
            <a:off x="640080" y="3950208"/>
            <a:ext cx="457200" cy="457200"/>
          </a:xfrm>
          <a:prstGeom prst="ellipse">
            <a:avLst/>
          </a:prstGeom>
          <a:solidFill>
            <a:srgbClr val="0B6B3A"/>
          </a:solidFill>
          <a:ln/>
        </p:spPr>
      </p:sp>
      <p:sp>
        <p:nvSpPr>
          <p:cNvPr id="12" name="Text 10"/>
          <p:cNvSpPr txBox="1"/>
          <p:nvPr/>
        </p:nvSpPr>
        <p:spPr>
          <a:xfrm>
            <a:off x="1298448" y="3840480"/>
            <a:ext cx="4572000" cy="41148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Radioactivity</a:t>
            </a:r>
            <a:endParaRPr lang="en-US" sz="2100" dirty="0"/>
          </a:p>
        </p:txBody>
      </p:sp>
      <p:sp>
        <p:nvSpPr>
          <p:cNvPr id="13" name="Text 11"/>
          <p:cNvSpPr txBox="1"/>
          <p:nvPr/>
        </p:nvSpPr>
        <p:spPr>
          <a:xfrm>
            <a:off x="1298448" y="4279392"/>
            <a:ext cx="4572000" cy="45720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Exponential decay: the mathematics of the half-life.</a:t>
            </a:r>
            <a:endParaRPr lang="en-US" sz="1400" dirty="0"/>
          </a:p>
        </p:txBody>
      </p:sp>
      <p:sp>
        <p:nvSpPr>
          <p:cNvPr id="14" name="Shape 12"/>
          <p:cNvSpPr/>
          <p:nvPr/>
        </p:nvSpPr>
        <p:spPr>
          <a:xfrm>
            <a:off x="6263640" y="3950208"/>
            <a:ext cx="457200" cy="457200"/>
          </a:xfrm>
          <a:prstGeom prst="ellipse">
            <a:avLst/>
          </a:prstGeom>
          <a:solidFill>
            <a:srgbClr val="0B6B3A"/>
          </a:solidFill>
          <a:ln/>
        </p:spPr>
      </p:sp>
      <p:sp>
        <p:nvSpPr>
          <p:cNvPr id="15" name="Text 13"/>
          <p:cNvSpPr txBox="1"/>
          <p:nvPr/>
        </p:nvSpPr>
        <p:spPr>
          <a:xfrm>
            <a:off x="6922008" y="3840480"/>
            <a:ext cx="4572000" cy="41148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Modern medicine</a:t>
            </a:r>
            <a:endParaRPr lang="en-US" sz="2100" dirty="0"/>
          </a:p>
        </p:txBody>
      </p:sp>
      <p:sp>
        <p:nvSpPr>
          <p:cNvPr id="16" name="Text 14"/>
          <p:cNvSpPr txBox="1"/>
          <p:nvPr/>
        </p:nvSpPr>
        <p:spPr>
          <a:xfrm>
            <a:off x="6922008" y="4279392"/>
            <a:ext cx="4572000" cy="45720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Fourier transforms are why an MRI can see inside you.</a:t>
            </a:r>
            <a:endParaRPr lang="en-US" sz="1400" dirty="0"/>
          </a:p>
        </p:txBody>
      </p:sp>
      <p:sp>
        <p:nvSpPr>
          <p:cNvPr id="17" name="Shape 15"/>
          <p:cNvSpPr/>
          <p:nvPr/>
        </p:nvSpPr>
        <p:spPr>
          <a:xfrm>
            <a:off x="640080" y="5047488"/>
            <a:ext cx="457200" cy="457200"/>
          </a:xfrm>
          <a:prstGeom prst="ellipse">
            <a:avLst/>
          </a:prstGeom>
          <a:solidFill>
            <a:srgbClr val="0B6B3A"/>
          </a:solidFill>
          <a:ln/>
        </p:spPr>
      </p:sp>
      <p:sp>
        <p:nvSpPr>
          <p:cNvPr id="18" name="Text 16"/>
          <p:cNvSpPr txBox="1"/>
          <p:nvPr/>
        </p:nvSpPr>
        <p:spPr>
          <a:xfrm>
            <a:off x="1298448" y="4937760"/>
            <a:ext cx="4572000" cy="41148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Global mobility</a:t>
            </a:r>
            <a:endParaRPr lang="en-US" sz="2100" dirty="0"/>
          </a:p>
        </p:txBody>
      </p:sp>
      <p:sp>
        <p:nvSpPr>
          <p:cNvPr id="19" name="Text 17"/>
          <p:cNvSpPr txBox="1"/>
          <p:nvPr/>
        </p:nvSpPr>
        <p:spPr>
          <a:xfrm>
            <a:off x="1298448" y="5376672"/>
            <a:ext cx="4572000" cy="45720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Trigonometry and orbital mechanics put GPS in the sky.</a:t>
            </a:r>
            <a:endParaRPr lang="en-US" sz="1400" dirty="0"/>
          </a:p>
        </p:txBody>
      </p:sp>
      <p:sp>
        <p:nvSpPr>
          <p:cNvPr id="20" name="Shape 18"/>
          <p:cNvSpPr/>
          <p:nvPr/>
        </p:nvSpPr>
        <p:spPr>
          <a:xfrm>
            <a:off x="6263640" y="5047488"/>
            <a:ext cx="457200" cy="457200"/>
          </a:xfrm>
          <a:prstGeom prst="ellipse">
            <a:avLst/>
          </a:prstGeom>
          <a:solidFill>
            <a:srgbClr val="0B6B3A"/>
          </a:solidFill>
          <a:ln/>
        </p:spPr>
      </p:sp>
      <p:sp>
        <p:nvSpPr>
          <p:cNvPr id="21" name="Text 19"/>
          <p:cNvSpPr txBox="1"/>
          <p:nvPr/>
        </p:nvSpPr>
        <p:spPr>
          <a:xfrm>
            <a:off x="6922008" y="4937760"/>
            <a:ext cx="4572000" cy="411480"/>
          </a:xfrm>
          <a:prstGeom prst="rect">
            <a:avLst/>
          </a:prstGeom>
          <a:noFill/>
          <a:ln/>
        </p:spPr>
        <p:txBody>
          <a:bodyPr wrap="square" lIns="0" tIns="0" rIns="0" bIns="0" rtlCol="0" anchor="ctr"/>
          <a:lstStyle/>
          <a:p>
            <a:pPr indent="0" marL="0">
              <a:buNone/>
            </a:pPr>
            <a:r>
              <a:rPr lang="en-US" sz="2100" b="1" dirty="0">
                <a:solidFill>
                  <a:srgbClr val="111111"/>
                </a:solidFill>
                <a:latin typeface="Cambria" pitchFamily="34" charset="0"/>
                <a:ea typeface="Cambria" pitchFamily="34" charset="-122"/>
                <a:cs typeface="Cambria" pitchFamily="34" charset="-120"/>
              </a:rPr>
              <a:t>Insurance &amp; pensions</a:t>
            </a:r>
            <a:endParaRPr lang="en-US" sz="2100" dirty="0"/>
          </a:p>
        </p:txBody>
      </p:sp>
      <p:sp>
        <p:nvSpPr>
          <p:cNvPr id="22" name="Text 20"/>
          <p:cNvSpPr txBox="1"/>
          <p:nvPr/>
        </p:nvSpPr>
        <p:spPr>
          <a:xfrm>
            <a:off x="6922008" y="5376672"/>
            <a:ext cx="4572000" cy="457200"/>
          </a:xfrm>
          <a:prstGeom prst="rect">
            <a:avLst/>
          </a:prstGeom>
          <a:noFill/>
          <a:ln/>
        </p:spPr>
        <p:txBody>
          <a:bodyPr wrap="square" lIns="0" tIns="0" rIns="0" bIns="0" rtlCol="0" anchor="ctr"/>
          <a:lstStyle/>
          <a:p>
            <a:pPr indent="0" marL="0">
              <a:buNone/>
            </a:pPr>
            <a:r>
              <a:rPr lang="en-US" sz="1400" dirty="0">
                <a:solidFill>
                  <a:srgbClr val="5A5A5A"/>
                </a:solidFill>
                <a:latin typeface="Arial" pitchFamily="34" charset="0"/>
                <a:ea typeface="Arial" pitchFamily="34" charset="-122"/>
                <a:cs typeface="Arial" pitchFamily="34" charset="-120"/>
              </a:rPr>
              <a:t>Probability turned risk into something a nation can carry.</a:t>
            </a:r>
            <a:endParaRPr lang="en-US" sz="1400" dirty="0"/>
          </a:p>
        </p:txBody>
      </p:sp>
      <p:sp>
        <p:nvSpPr>
          <p:cNvPr id="23" name="Text 21"/>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6B3A"/>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457200"/>
          </a:xfrm>
          <a:prstGeom prst="rect">
            <a:avLst/>
          </a:prstGeom>
          <a:noFill/>
          <a:ln/>
        </p:spPr>
        <p:txBody>
          <a:bodyPr wrap="square" lIns="0" tIns="0" rIns="0" bIns="0" rtlCol="0" anchor="ctr"/>
          <a:lstStyle/>
          <a:p>
            <a:pPr indent="0" marL="0">
              <a:buNone/>
            </a:pPr>
            <a:r>
              <a:rPr lang="en-US" sz="1500" b="1" spc="200" kern="0" dirty="0">
                <a:solidFill>
                  <a:srgbClr val="A9D4BC"/>
                </a:solidFill>
                <a:latin typeface="Arial" pitchFamily="34" charset="0"/>
                <a:ea typeface="Arial" pitchFamily="34" charset="-122"/>
                <a:cs typeface="Arial" pitchFamily="34" charset="-120"/>
              </a:rPr>
              <a:t>THEY HAD NOTHING. THEY BUILT EVERYTHING.</a:t>
            </a:r>
            <a:endParaRPr lang="en-US" sz="1500" dirty="0"/>
          </a:p>
        </p:txBody>
      </p:sp>
      <p:sp>
        <p:nvSpPr>
          <p:cNvPr id="3" name="Text 1"/>
          <p:cNvSpPr txBox="1"/>
          <p:nvPr/>
        </p:nvSpPr>
        <p:spPr>
          <a:xfrm>
            <a:off x="822960" y="1920240"/>
            <a:ext cx="10515600" cy="118872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So what is our own excuse?</a:t>
            </a:r>
            <a:endParaRPr lang="en-US" sz="5200" dirty="0"/>
          </a:p>
        </p:txBody>
      </p:sp>
      <p:sp>
        <p:nvSpPr>
          <p:cNvPr id="4" name="Text 2"/>
          <p:cNvSpPr txBox="1"/>
          <p:nvPr/>
        </p:nvSpPr>
        <p:spPr>
          <a:xfrm>
            <a:off x="822960" y="3337560"/>
            <a:ext cx="10332720" cy="502920"/>
          </a:xfrm>
          <a:prstGeom prst="rect">
            <a:avLst/>
          </a:prstGeom>
          <a:noFill/>
          <a:ln/>
        </p:spPr>
        <p:txBody>
          <a:bodyPr wrap="square" lIns="0" tIns="0" rIns="0" bIns="0" rtlCol="0" anchor="ctr"/>
          <a:lstStyle/>
          <a:p>
            <a:pPr indent="0" marL="0">
              <a:buNone/>
            </a:pPr>
            <a:r>
              <a:rPr lang="en-US" sz="2000" dirty="0">
                <a:solidFill>
                  <a:srgbClr val="E8F2EC"/>
                </a:solidFill>
                <a:latin typeface="Arial" pitchFamily="34" charset="0"/>
                <a:ea typeface="Arial" pitchFamily="34" charset="-122"/>
                <a:cs typeface="Arial" pitchFamily="34" charset="-120"/>
              </a:rPr>
              <a:t>•  Should our children still be dying from what we already know how to cure?</a:t>
            </a:r>
            <a:endParaRPr lang="en-US" sz="2000" dirty="0"/>
          </a:p>
        </p:txBody>
      </p:sp>
      <p:sp>
        <p:nvSpPr>
          <p:cNvPr id="5" name="Text 3"/>
          <p:cNvSpPr txBox="1"/>
          <p:nvPr/>
        </p:nvSpPr>
        <p:spPr>
          <a:xfrm>
            <a:off x="822960" y="3904488"/>
            <a:ext cx="10332720" cy="502920"/>
          </a:xfrm>
          <a:prstGeom prst="rect">
            <a:avLst/>
          </a:prstGeom>
          <a:noFill/>
          <a:ln/>
        </p:spPr>
        <p:txBody>
          <a:bodyPr wrap="square" lIns="0" tIns="0" rIns="0" bIns="0" rtlCol="0" anchor="ctr"/>
          <a:lstStyle/>
          <a:p>
            <a:pPr indent="0" marL="0">
              <a:buNone/>
            </a:pPr>
            <a:r>
              <a:rPr lang="en-US" sz="2000" dirty="0">
                <a:solidFill>
                  <a:srgbClr val="E8F2EC"/>
                </a:solidFill>
                <a:latin typeface="Arial" pitchFamily="34" charset="0"/>
                <a:ea typeface="Arial" pitchFamily="34" charset="-122"/>
                <a:cs typeface="Arial" pitchFamily="34" charset="-120"/>
              </a:rPr>
              <a:t>•  Should our people still be hungry in a country with this much land?</a:t>
            </a:r>
            <a:endParaRPr lang="en-US" sz="2000" dirty="0"/>
          </a:p>
        </p:txBody>
      </p:sp>
      <p:sp>
        <p:nvSpPr>
          <p:cNvPr id="6" name="Text 4"/>
          <p:cNvSpPr txBox="1"/>
          <p:nvPr/>
        </p:nvSpPr>
        <p:spPr>
          <a:xfrm>
            <a:off x="822960" y="4471416"/>
            <a:ext cx="10332720" cy="502920"/>
          </a:xfrm>
          <a:prstGeom prst="rect">
            <a:avLst/>
          </a:prstGeom>
          <a:noFill/>
          <a:ln/>
        </p:spPr>
        <p:txBody>
          <a:bodyPr wrap="square" lIns="0" tIns="0" rIns="0" bIns="0" rtlCol="0" anchor="ctr"/>
          <a:lstStyle/>
          <a:p>
            <a:pPr indent="0" marL="0">
              <a:buNone/>
            </a:pPr>
            <a:r>
              <a:rPr lang="en-US" sz="2000" dirty="0">
                <a:solidFill>
                  <a:srgbClr val="E8F2EC"/>
                </a:solidFill>
                <a:latin typeface="Arial" pitchFamily="34" charset="0"/>
                <a:ea typeface="Arial" pitchFamily="34" charset="-122"/>
                <a:cs typeface="Arial" pitchFamily="34" charset="-120"/>
              </a:rPr>
              <a:t>•  Should our grid still be collapsing in the year 2026?</a:t>
            </a:r>
            <a:endParaRPr lang="en-US" sz="2000" dirty="0"/>
          </a:p>
        </p:txBody>
      </p:sp>
      <p:sp>
        <p:nvSpPr>
          <p:cNvPr id="7" name="Text 5"/>
          <p:cNvSpPr txBox="1"/>
          <p:nvPr/>
        </p:nvSpPr>
        <p:spPr>
          <a:xfrm>
            <a:off x="822960" y="5038344"/>
            <a:ext cx="10332720" cy="502920"/>
          </a:xfrm>
          <a:prstGeom prst="rect">
            <a:avLst/>
          </a:prstGeom>
          <a:noFill/>
          <a:ln/>
        </p:spPr>
        <p:txBody>
          <a:bodyPr wrap="square" lIns="0" tIns="0" rIns="0" bIns="0" rtlCol="0" anchor="ctr"/>
          <a:lstStyle/>
          <a:p>
            <a:pPr indent="0" marL="0">
              <a:buNone/>
            </a:pPr>
            <a:r>
              <a:rPr lang="en-US" sz="2000" dirty="0">
                <a:solidFill>
                  <a:srgbClr val="E8F2EC"/>
                </a:solidFill>
                <a:latin typeface="Arial" pitchFamily="34" charset="0"/>
                <a:ea typeface="Arial" pitchFamily="34" charset="-122"/>
                <a:cs typeface="Arial" pitchFamily="34" charset="-120"/>
              </a:rPr>
              <a:t>•  Should we still be planning a whole nation on guesswork?</a:t>
            </a:r>
            <a:endParaRPr lang="en-US" sz="2000" dirty="0"/>
          </a:p>
        </p:txBody>
      </p:sp>
      <p:sp>
        <p:nvSpPr>
          <p:cNvPr id="8" name="Text 6"/>
          <p:cNvSpPr txBox="1"/>
          <p:nvPr/>
        </p:nvSpPr>
        <p:spPr>
          <a:xfrm>
            <a:off x="822960" y="5806440"/>
            <a:ext cx="10515600" cy="548640"/>
          </a:xfrm>
          <a:prstGeom prst="rect">
            <a:avLst/>
          </a:prstGeom>
          <a:noFill/>
          <a:ln/>
        </p:spPr>
        <p:txBody>
          <a:bodyPr wrap="square" lIns="0" tIns="0" rIns="0" bIns="0" rtlCol="0" anchor="ctr"/>
          <a:lstStyle/>
          <a:p>
            <a:pPr indent="0" marL="0">
              <a:buNone/>
            </a:pPr>
            <a:r>
              <a:rPr lang="en-US" sz="2200" b="1" i="1" dirty="0">
                <a:solidFill>
                  <a:srgbClr val="FFFFFF"/>
                </a:solidFill>
                <a:latin typeface="Cambria" pitchFamily="34" charset="0"/>
                <a:ea typeface="Cambria" pitchFamily="34" charset="-122"/>
                <a:cs typeface="Cambria" pitchFamily="34" charset="-120"/>
              </a:rPr>
              <a:t>The machine on your desk solves in one second what took Kepler four years.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WHERE WE ARE STANDING TODAY</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The bottleneck has moved.</a:t>
            </a:r>
            <a:endParaRPr lang="en-US" sz="4000" dirty="0"/>
          </a:p>
        </p:txBody>
      </p:sp>
      <p:sp>
        <p:nvSpPr>
          <p:cNvPr id="4" name="Text 2"/>
          <p:cNvSpPr txBox="1"/>
          <p:nvPr/>
        </p:nvSpPr>
        <p:spPr>
          <a:xfrm>
            <a:off x="640080" y="1600200"/>
            <a:ext cx="10881360" cy="914400"/>
          </a:xfrm>
          <a:prstGeom prst="rect">
            <a:avLst/>
          </a:prstGeom>
          <a:noFill/>
          <a:ln/>
        </p:spPr>
        <p:txBody>
          <a:bodyPr wrap="square" lIns="0" tIns="0" rIns="0" bIns="0" rtlCol="0" anchor="ctr"/>
          <a:lstStyle/>
          <a:p>
            <a:pPr indent="0" marL="0">
              <a:lnSpc>
                <a:spcPts val="3000"/>
              </a:lnSpc>
              <a:buNone/>
            </a:pPr>
            <a:r>
              <a:rPr lang="en-US" sz="2100" dirty="0">
                <a:solidFill>
                  <a:srgbClr val="5A5A5A"/>
                </a:solidFill>
                <a:latin typeface="Arial" pitchFamily="34" charset="0"/>
                <a:ea typeface="Arial" pitchFamily="34" charset="-122"/>
                <a:cs typeface="Arial" pitchFamily="34" charset="-120"/>
              </a:rPr>
              <a:t>For all of history, mathematics was limited by the human being holding the pencil. That limit is gone.</a:t>
            </a:r>
            <a:endParaRPr lang="en-US" sz="2100" dirty="0"/>
          </a:p>
        </p:txBody>
      </p:sp>
      <p:sp>
        <p:nvSpPr>
          <p:cNvPr id="5" name="Shape 3"/>
          <p:cNvSpPr/>
          <p:nvPr/>
        </p:nvSpPr>
        <p:spPr>
          <a:xfrm>
            <a:off x="640080" y="2788920"/>
            <a:ext cx="5257800" cy="2286000"/>
          </a:xfrm>
          <a:prstGeom prst="rect">
            <a:avLst/>
          </a:prstGeom>
          <a:solidFill>
            <a:srgbClr val="F2F5F3"/>
          </a:solidFill>
          <a:ln/>
        </p:spPr>
      </p:sp>
      <p:sp>
        <p:nvSpPr>
          <p:cNvPr id="6" name="Text 4"/>
          <p:cNvSpPr txBox="1"/>
          <p:nvPr/>
        </p:nvSpPr>
        <p:spPr>
          <a:xfrm>
            <a:off x="1005840" y="3017520"/>
            <a:ext cx="4480560" cy="365760"/>
          </a:xfrm>
          <a:prstGeom prst="rect">
            <a:avLst/>
          </a:prstGeom>
          <a:noFill/>
          <a:ln/>
        </p:spPr>
        <p:txBody>
          <a:bodyPr wrap="square" lIns="0" tIns="0" rIns="0" bIns="0" rtlCol="0" anchor="ctr"/>
          <a:lstStyle/>
          <a:p>
            <a:pPr indent="0" marL="0">
              <a:buNone/>
            </a:pPr>
            <a:r>
              <a:rPr lang="en-US" sz="1400" b="1" spc="200" kern="0" dirty="0">
                <a:solidFill>
                  <a:srgbClr val="0B6B3A"/>
                </a:solidFill>
                <a:latin typeface="Arial" pitchFamily="34" charset="0"/>
                <a:ea typeface="Arial" pitchFamily="34" charset="-122"/>
                <a:cs typeface="Arial" pitchFamily="34" charset="-120"/>
              </a:rPr>
              <a:t>FROM</a:t>
            </a:r>
            <a:endParaRPr lang="en-US" sz="1400" dirty="0"/>
          </a:p>
        </p:txBody>
      </p:sp>
      <p:sp>
        <p:nvSpPr>
          <p:cNvPr id="7" name="Text 5"/>
          <p:cNvSpPr txBox="1"/>
          <p:nvPr/>
        </p:nvSpPr>
        <p:spPr>
          <a:xfrm>
            <a:off x="1005840" y="3429000"/>
            <a:ext cx="4480560" cy="822960"/>
          </a:xfrm>
          <a:prstGeom prst="rect">
            <a:avLst/>
          </a:prstGeom>
          <a:noFill/>
          <a:ln/>
        </p:spPr>
        <p:txBody>
          <a:bodyPr wrap="square" lIns="0" tIns="0" rIns="0" bIns="0" rtlCol="0" anchor="ctr"/>
          <a:lstStyle/>
          <a:p>
            <a:pPr indent="0" marL="0">
              <a:buNone/>
            </a:pPr>
            <a:r>
              <a:rPr lang="en-US" sz="4000" b="1" dirty="0">
                <a:solidFill>
                  <a:srgbClr val="111111"/>
                </a:solidFill>
                <a:latin typeface="Cambria" pitchFamily="34" charset="0"/>
                <a:ea typeface="Cambria" pitchFamily="34" charset="-122"/>
                <a:cs typeface="Cambria" pitchFamily="34" charset="-120"/>
              </a:rPr>
              <a:t>The machine</a:t>
            </a:r>
            <a:endParaRPr lang="en-US" sz="4000" dirty="0"/>
          </a:p>
        </p:txBody>
      </p:sp>
      <p:sp>
        <p:nvSpPr>
          <p:cNvPr id="8" name="Text 6"/>
          <p:cNvSpPr txBox="1"/>
          <p:nvPr/>
        </p:nvSpPr>
        <p:spPr>
          <a:xfrm>
            <a:off x="1005840" y="4297680"/>
            <a:ext cx="4480560" cy="54864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Can we compute it?</a:t>
            </a:r>
            <a:endParaRPr lang="en-US" sz="1800" dirty="0"/>
          </a:p>
        </p:txBody>
      </p:sp>
      <p:sp>
        <p:nvSpPr>
          <p:cNvPr id="9" name="Shape 7"/>
          <p:cNvSpPr/>
          <p:nvPr/>
        </p:nvSpPr>
        <p:spPr>
          <a:xfrm>
            <a:off x="6263640" y="2788920"/>
            <a:ext cx="5257800" cy="2286000"/>
          </a:xfrm>
          <a:prstGeom prst="rect">
            <a:avLst/>
          </a:prstGeom>
          <a:solidFill>
            <a:srgbClr val="0B6B3A"/>
          </a:solidFill>
          <a:ln/>
        </p:spPr>
      </p:sp>
      <p:sp>
        <p:nvSpPr>
          <p:cNvPr id="10" name="Text 8"/>
          <p:cNvSpPr txBox="1"/>
          <p:nvPr/>
        </p:nvSpPr>
        <p:spPr>
          <a:xfrm>
            <a:off x="6629400" y="3017520"/>
            <a:ext cx="4480560" cy="365760"/>
          </a:xfrm>
          <a:prstGeom prst="rect">
            <a:avLst/>
          </a:prstGeom>
          <a:noFill/>
          <a:ln/>
        </p:spPr>
        <p:txBody>
          <a:bodyPr wrap="square" lIns="0" tIns="0" rIns="0" bIns="0" rtlCol="0" anchor="ctr"/>
          <a:lstStyle/>
          <a:p>
            <a:pPr indent="0" marL="0">
              <a:buNone/>
            </a:pPr>
            <a:r>
              <a:rPr lang="en-US" sz="1400" b="1" spc="200" kern="0" dirty="0">
                <a:solidFill>
                  <a:srgbClr val="E8F2EC"/>
                </a:solidFill>
                <a:latin typeface="Arial" pitchFamily="34" charset="0"/>
                <a:ea typeface="Arial" pitchFamily="34" charset="-122"/>
                <a:cs typeface="Arial" pitchFamily="34" charset="-120"/>
              </a:rPr>
              <a:t>TO</a:t>
            </a:r>
            <a:endParaRPr lang="en-US" sz="1400" dirty="0"/>
          </a:p>
        </p:txBody>
      </p:sp>
      <p:sp>
        <p:nvSpPr>
          <p:cNvPr id="11" name="Text 9"/>
          <p:cNvSpPr txBox="1"/>
          <p:nvPr/>
        </p:nvSpPr>
        <p:spPr>
          <a:xfrm>
            <a:off x="6629400" y="3429000"/>
            <a:ext cx="44805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mind</a:t>
            </a:r>
            <a:endParaRPr lang="en-US" sz="4000" dirty="0"/>
          </a:p>
        </p:txBody>
      </p:sp>
      <p:sp>
        <p:nvSpPr>
          <p:cNvPr id="12" name="Text 10"/>
          <p:cNvSpPr txBox="1"/>
          <p:nvPr/>
        </p:nvSpPr>
        <p:spPr>
          <a:xfrm>
            <a:off x="6629400" y="4297680"/>
            <a:ext cx="4480560" cy="548640"/>
          </a:xfrm>
          <a:prstGeom prst="rect">
            <a:avLst/>
          </a:prstGeom>
          <a:noFill/>
          <a:ln/>
        </p:spPr>
        <p:txBody>
          <a:bodyPr wrap="square" lIns="0" tIns="0" rIns="0" bIns="0" rtlCol="0" anchor="ctr"/>
          <a:lstStyle/>
          <a:p>
            <a:pPr indent="0" marL="0">
              <a:buNone/>
            </a:pPr>
            <a:r>
              <a:rPr lang="en-US" sz="1800" dirty="0">
                <a:solidFill>
                  <a:srgbClr val="E8F2EC"/>
                </a:solidFill>
                <a:latin typeface="Arial" pitchFamily="34" charset="0"/>
                <a:ea typeface="Arial" pitchFamily="34" charset="-122"/>
                <a:cs typeface="Arial" pitchFamily="34" charset="-120"/>
              </a:rPr>
              <a:t>Will we apply it?</a:t>
            </a:r>
            <a:endParaRPr lang="en-US" sz="1800" dirty="0"/>
          </a:p>
        </p:txBody>
      </p:sp>
      <p:sp>
        <p:nvSpPr>
          <p:cNvPr id="13" name="Text 11"/>
          <p:cNvSpPr txBox="1"/>
          <p:nvPr/>
        </p:nvSpPr>
        <p:spPr>
          <a:xfrm>
            <a:off x="640080" y="5349240"/>
            <a:ext cx="10881360" cy="640080"/>
          </a:xfrm>
          <a:prstGeom prst="rect">
            <a:avLst/>
          </a:prstGeom>
          <a:noFill/>
          <a:ln/>
        </p:spPr>
        <p:txBody>
          <a:bodyPr wrap="square" lIns="0" tIns="0" rIns="0" bIns="0" rtlCol="0" anchor="ctr"/>
          <a:lstStyle/>
          <a:p>
            <a:pPr indent="0" marL="0">
              <a:buNone/>
            </a:pPr>
            <a:r>
              <a:rPr lang="en-US" sz="2400" b="1" i="1" dirty="0">
                <a:solidFill>
                  <a:srgbClr val="C8102E"/>
                </a:solidFill>
                <a:latin typeface="Cambria" pitchFamily="34" charset="0"/>
                <a:ea typeface="Cambria" pitchFamily="34" charset="-122"/>
                <a:cs typeface="Cambria" pitchFamily="34" charset="-120"/>
              </a:rPr>
              <a:t>"The problem is too complex" has expired as an excuse. Today it is a choice.</a:t>
            </a:r>
            <a:endParaRPr lang="en-US" sz="2400" dirty="0"/>
          </a:p>
        </p:txBody>
      </p:sp>
      <p:sp>
        <p:nvSpPr>
          <p:cNvPr id="14" name="Text 12"/>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LET US DEFINE OUR TERMS</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What is nation building?</a:t>
            </a:r>
            <a:endParaRPr lang="en-US" sz="4000" dirty="0"/>
          </a:p>
        </p:txBody>
      </p:sp>
      <p:sp>
        <p:nvSpPr>
          <p:cNvPr id="4" name="Text 2"/>
          <p:cNvSpPr txBox="1"/>
          <p:nvPr/>
        </p:nvSpPr>
        <p:spPr>
          <a:xfrm>
            <a:off x="640080" y="1554480"/>
            <a:ext cx="10881360" cy="457200"/>
          </a:xfrm>
          <a:prstGeom prst="rect">
            <a:avLst/>
          </a:prstGeom>
          <a:noFill/>
          <a:ln/>
        </p:spPr>
        <p:txBody>
          <a:bodyPr wrap="square" lIns="0" tIns="0" rIns="0" bIns="0" rtlCol="0" anchor="ctr"/>
          <a:lstStyle/>
          <a:p>
            <a:pPr indent="0" marL="0">
              <a:buNone/>
            </a:pPr>
            <a:r>
              <a:rPr lang="en-US" sz="1900" i="1" dirty="0">
                <a:solidFill>
                  <a:srgbClr val="5A5A5A"/>
                </a:solidFill>
                <a:latin typeface="Arial" pitchFamily="34" charset="0"/>
                <a:ea typeface="Arial" pitchFamily="34" charset="-122"/>
                <a:cs typeface="Arial" pitchFamily="34" charset="-120"/>
              </a:rPr>
              <a:t>It is not concrete. If concrete were enough, we would already be a developed nation.</a:t>
            </a:r>
            <a:endParaRPr lang="en-US" sz="1900" dirty="0"/>
          </a:p>
        </p:txBody>
      </p:sp>
      <p:sp>
        <p:nvSpPr>
          <p:cNvPr id="5" name="Shape 3"/>
          <p:cNvSpPr/>
          <p:nvPr/>
        </p:nvSpPr>
        <p:spPr>
          <a:xfrm>
            <a:off x="640080" y="2194560"/>
            <a:ext cx="10881360" cy="1371600"/>
          </a:xfrm>
          <a:prstGeom prst="rect">
            <a:avLst/>
          </a:prstGeom>
          <a:solidFill>
            <a:srgbClr val="F2F5F3"/>
          </a:solidFill>
          <a:ln/>
        </p:spPr>
      </p:sp>
      <p:sp>
        <p:nvSpPr>
          <p:cNvPr id="6" name="Text 4"/>
          <p:cNvSpPr txBox="1"/>
          <p:nvPr/>
        </p:nvSpPr>
        <p:spPr>
          <a:xfrm>
            <a:off x="1005840" y="2377440"/>
            <a:ext cx="10149840" cy="1005840"/>
          </a:xfrm>
          <a:prstGeom prst="rect">
            <a:avLst/>
          </a:prstGeom>
          <a:noFill/>
          <a:ln/>
        </p:spPr>
        <p:txBody>
          <a:bodyPr wrap="square" lIns="0" tIns="0" rIns="0" bIns="0" rtlCol="0" anchor="ctr"/>
          <a:lstStyle/>
          <a:p>
            <a:pPr indent="0" marL="0">
              <a:lnSpc>
                <a:spcPts val="3200"/>
              </a:lnSpc>
              <a:buNone/>
            </a:pPr>
            <a:r>
              <a:rPr lang="en-US" sz="2400" b="1" dirty="0">
                <a:solidFill>
                  <a:srgbClr val="111111"/>
                </a:solidFill>
                <a:latin typeface="Cambria" pitchFamily="34" charset="0"/>
                <a:ea typeface="Cambria" pitchFamily="34" charset="-122"/>
                <a:cs typeface="Cambria" pitchFamily="34" charset="-120"/>
              </a:rPr>
              <a:t>The deliberate building of the systems, institutions, identity and capabilities by which a people becomes a functioning, self-sustaining, dignified nation.</a:t>
            </a:r>
            <a:endParaRPr lang="en-US" sz="2400" dirty="0"/>
          </a:p>
        </p:txBody>
      </p:sp>
      <p:sp>
        <p:nvSpPr>
          <p:cNvPr id="7" name="Text 5"/>
          <p:cNvSpPr txBox="1"/>
          <p:nvPr/>
        </p:nvSpPr>
        <p:spPr>
          <a:xfrm>
            <a:off x="640080" y="3840480"/>
            <a:ext cx="10881360" cy="365760"/>
          </a:xfrm>
          <a:prstGeom prst="rect">
            <a:avLst/>
          </a:prstGeom>
          <a:noFill/>
          <a:ln/>
        </p:spPr>
        <p:txBody>
          <a:bodyPr wrap="square" lIns="0" tIns="0" rIns="0" bIns="0" rtlCol="0" anchor="ctr"/>
          <a:lstStyle/>
          <a:p>
            <a:pPr indent="0" marL="0">
              <a:buNone/>
            </a:pPr>
            <a:r>
              <a:rPr lang="en-US" sz="1600" b="1" dirty="0">
                <a:solidFill>
                  <a:srgbClr val="0B6B3A"/>
                </a:solidFill>
                <a:latin typeface="Arial" pitchFamily="34" charset="0"/>
                <a:ea typeface="Arial" pitchFamily="34" charset="-122"/>
                <a:cs typeface="Arial" pitchFamily="34" charset="-120"/>
              </a:rPr>
              <a:t>In our own language:</a:t>
            </a:r>
            <a:endParaRPr lang="en-US" sz="1600" dirty="0"/>
          </a:p>
        </p:txBody>
      </p:sp>
      <p:sp>
        <p:nvSpPr>
          <p:cNvPr id="8" name="Text 6"/>
          <p:cNvSpPr txBox="1"/>
          <p:nvPr/>
        </p:nvSpPr>
        <p:spPr>
          <a:xfrm>
            <a:off x="640080" y="4251960"/>
            <a:ext cx="10881360" cy="731520"/>
          </a:xfrm>
          <a:prstGeom prst="rect">
            <a:avLst/>
          </a:prstGeom>
          <a:noFill/>
          <a:ln/>
        </p:spPr>
        <p:txBody>
          <a:bodyPr wrap="square" lIns="0" tIns="0" rIns="0" bIns="0" rtlCol="0" anchor="ctr"/>
          <a:lstStyle/>
          <a:p>
            <a:pPr indent="0" marL="0">
              <a:buNone/>
            </a:pPr>
            <a:r>
              <a:rPr lang="en-US" sz="3400" b="1" dirty="0">
                <a:solidFill>
                  <a:srgbClr val="111111"/>
                </a:solidFill>
                <a:latin typeface="Cambria" pitchFamily="34" charset="0"/>
                <a:ea typeface="Cambria" pitchFamily="34" charset="-122"/>
                <a:cs typeface="Cambria" pitchFamily="34" charset="-120"/>
              </a:rPr>
              <a:t>Moving a nation from a LOCAL maximum to the GLOBAL maximum.</a:t>
            </a:r>
            <a:endParaRPr lang="en-US" sz="3400" dirty="0"/>
          </a:p>
        </p:txBody>
      </p:sp>
      <p:sp>
        <p:nvSpPr>
          <p:cNvPr id="9" name="Text 7"/>
          <p:cNvSpPr txBox="1"/>
          <p:nvPr/>
        </p:nvSpPr>
        <p:spPr>
          <a:xfrm>
            <a:off x="640080" y="5120640"/>
            <a:ext cx="10881360" cy="822960"/>
          </a:xfrm>
          <a:prstGeom prst="rect">
            <a:avLst/>
          </a:prstGeom>
          <a:noFill/>
          <a:ln/>
        </p:spPr>
        <p:txBody>
          <a:bodyPr wrap="square" lIns="0" tIns="0" rIns="0" bIns="0" rtlCol="0" anchor="ctr"/>
          <a:lstStyle/>
          <a:p>
            <a:pPr indent="0" marL="0">
              <a:lnSpc>
                <a:spcPts val="2700"/>
              </a:lnSpc>
              <a:buNone/>
            </a:pPr>
            <a:r>
              <a:rPr lang="en-US" sz="1900" dirty="0">
                <a:solidFill>
                  <a:srgbClr val="5A5A5A"/>
                </a:solidFill>
                <a:latin typeface="Arial" pitchFamily="34" charset="0"/>
                <a:ea typeface="Arial" pitchFamily="34" charset="-122"/>
                <a:cs typeface="Arial" pitchFamily="34" charset="-120"/>
              </a:rPr>
              <a:t>A local maximum is a comfortable place to die. From where you are standing, every direction looks like a step down. So you stay there, and you call it stability.</a:t>
            </a:r>
            <a:endParaRPr lang="en-US" sz="1900" dirty="0"/>
          </a:p>
        </p:txBody>
      </p:sp>
      <p:sp>
        <p:nvSpPr>
          <p:cNvPr id="10" name="Text 8"/>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THE DIFFERENCE THAT MATTERS</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Nation building is not a scalar.</a:t>
            </a:r>
            <a:endParaRPr lang="en-US" sz="4000" dirty="0"/>
          </a:p>
        </p:txBody>
      </p:sp>
      <p:sp>
        <p:nvSpPr>
          <p:cNvPr id="4" name="Shape 2"/>
          <p:cNvSpPr/>
          <p:nvPr/>
        </p:nvSpPr>
        <p:spPr>
          <a:xfrm>
            <a:off x="640080" y="1828800"/>
            <a:ext cx="5257800" cy="2834640"/>
          </a:xfrm>
          <a:prstGeom prst="rect">
            <a:avLst/>
          </a:prstGeom>
          <a:solidFill>
            <a:srgbClr val="F2F5F3"/>
          </a:solidFill>
          <a:ln/>
        </p:spPr>
      </p:sp>
      <p:sp>
        <p:nvSpPr>
          <p:cNvPr id="5" name="Text 3"/>
          <p:cNvSpPr txBox="1"/>
          <p:nvPr/>
        </p:nvSpPr>
        <p:spPr>
          <a:xfrm>
            <a:off x="1005840" y="2103120"/>
            <a:ext cx="4480560" cy="457200"/>
          </a:xfrm>
          <a:prstGeom prst="rect">
            <a:avLst/>
          </a:prstGeom>
          <a:noFill/>
          <a:ln/>
        </p:spPr>
        <p:txBody>
          <a:bodyPr wrap="square" lIns="0" tIns="0" rIns="0" bIns="0" rtlCol="0" anchor="ctr"/>
          <a:lstStyle/>
          <a:p>
            <a:pPr indent="0" marL="0">
              <a:buNone/>
            </a:pPr>
            <a:r>
              <a:rPr lang="en-US" sz="1500" b="1" spc="200" kern="0" dirty="0">
                <a:solidFill>
                  <a:srgbClr val="5A5A5A"/>
                </a:solidFill>
                <a:latin typeface="Arial" pitchFamily="34" charset="0"/>
                <a:ea typeface="Arial" pitchFamily="34" charset="-122"/>
                <a:cs typeface="Arial" pitchFamily="34" charset="-120"/>
              </a:rPr>
              <a:t>SCALAR</a:t>
            </a:r>
            <a:endParaRPr lang="en-US" sz="1500" dirty="0"/>
          </a:p>
        </p:txBody>
      </p:sp>
      <p:sp>
        <p:nvSpPr>
          <p:cNvPr id="6" name="Text 4"/>
          <p:cNvSpPr txBox="1"/>
          <p:nvPr/>
        </p:nvSpPr>
        <p:spPr>
          <a:xfrm>
            <a:off x="1005840" y="2606040"/>
            <a:ext cx="4480560" cy="640080"/>
          </a:xfrm>
          <a:prstGeom prst="rect">
            <a:avLst/>
          </a:prstGeom>
          <a:noFill/>
          <a:ln/>
        </p:spPr>
        <p:txBody>
          <a:bodyPr wrap="square" lIns="0" tIns="0" rIns="0" bIns="0" rtlCol="0" anchor="ctr"/>
          <a:lstStyle/>
          <a:p>
            <a:pPr indent="0" marL="0">
              <a:buNone/>
            </a:pPr>
            <a:r>
              <a:rPr lang="en-US" sz="3200" b="1" dirty="0">
                <a:solidFill>
                  <a:srgbClr val="111111"/>
                </a:solidFill>
                <a:latin typeface="Cambria" pitchFamily="34" charset="0"/>
                <a:ea typeface="Cambria" pitchFamily="34" charset="-122"/>
                <a:cs typeface="Cambria" pitchFamily="34" charset="-120"/>
              </a:rPr>
              <a:t>Magnitude only</a:t>
            </a:r>
            <a:endParaRPr lang="en-US" sz="3200" dirty="0"/>
          </a:p>
        </p:txBody>
      </p:sp>
      <p:sp>
        <p:nvSpPr>
          <p:cNvPr id="7" name="Text 5"/>
          <p:cNvSpPr txBox="1"/>
          <p:nvPr/>
        </p:nvSpPr>
        <p:spPr>
          <a:xfrm>
            <a:off x="1005840" y="3383280"/>
            <a:ext cx="4480560" cy="1097280"/>
          </a:xfrm>
          <a:prstGeom prst="rect">
            <a:avLst/>
          </a:prstGeom>
          <a:noFill/>
          <a:ln/>
        </p:spPr>
        <p:txBody>
          <a:bodyPr wrap="square" lIns="0" tIns="0" rIns="0" bIns="0" rtlCol="0" anchor="ctr"/>
          <a:lstStyle/>
          <a:p>
            <a:pPr indent="0" marL="0">
              <a:lnSpc>
                <a:spcPts val="2700"/>
              </a:lnSpc>
              <a:buNone/>
            </a:pPr>
            <a:r>
              <a:rPr lang="en-US" sz="1900" dirty="0">
                <a:solidFill>
                  <a:srgbClr val="5A5A5A"/>
                </a:solidFill>
                <a:latin typeface="Arial" pitchFamily="34" charset="0"/>
                <a:ea typeface="Arial" pitchFamily="34" charset="-122"/>
                <a:cs typeface="Arial" pitchFamily="34" charset="-120"/>
              </a:rPr>
              <a:t>Plenty people.</a:t>
            </a:r>
            <a:endParaRPr lang="en-US" sz="1900" dirty="0"/>
          </a:p>
          <a:p>
            <a:pPr indent="0" marL="0">
              <a:lnSpc>
                <a:spcPts val="2700"/>
              </a:lnSpc>
              <a:buNone/>
            </a:pPr>
            <a:r>
              <a:rPr lang="en-US" sz="1900" dirty="0">
                <a:solidFill>
                  <a:srgbClr val="5A5A5A"/>
                </a:solidFill>
                <a:latin typeface="Arial" pitchFamily="34" charset="0"/>
                <a:ea typeface="Arial" pitchFamily="34" charset="-122"/>
                <a:cs typeface="Arial" pitchFamily="34" charset="-120"/>
              </a:rPr>
              <a:t>Plenty resources.</a:t>
            </a:r>
            <a:endParaRPr lang="en-US" sz="1900" dirty="0"/>
          </a:p>
          <a:p>
            <a:pPr indent="0" marL="0">
              <a:lnSpc>
                <a:spcPts val="2700"/>
              </a:lnSpc>
              <a:buNone/>
            </a:pPr>
            <a:r>
              <a:rPr lang="en-US" sz="1900" dirty="0">
                <a:solidFill>
                  <a:srgbClr val="5A5A5A"/>
                </a:solidFill>
                <a:latin typeface="Arial" pitchFamily="34" charset="0"/>
                <a:ea typeface="Arial" pitchFamily="34" charset="-122"/>
                <a:cs typeface="Arial" pitchFamily="34" charset="-120"/>
              </a:rPr>
              <a:t>Plenty noise.</a:t>
            </a:r>
            <a:endParaRPr lang="en-US" sz="1900" dirty="0"/>
          </a:p>
        </p:txBody>
      </p:sp>
      <p:sp>
        <p:nvSpPr>
          <p:cNvPr id="8" name="Shape 6"/>
          <p:cNvSpPr/>
          <p:nvPr/>
        </p:nvSpPr>
        <p:spPr>
          <a:xfrm>
            <a:off x="6263640" y="1828800"/>
            <a:ext cx="5257800" cy="2834640"/>
          </a:xfrm>
          <a:prstGeom prst="rect">
            <a:avLst/>
          </a:prstGeom>
          <a:solidFill>
            <a:srgbClr val="0B6B3A"/>
          </a:solidFill>
          <a:ln/>
        </p:spPr>
      </p:sp>
      <p:sp>
        <p:nvSpPr>
          <p:cNvPr id="9" name="Text 7"/>
          <p:cNvSpPr txBox="1"/>
          <p:nvPr/>
        </p:nvSpPr>
        <p:spPr>
          <a:xfrm>
            <a:off x="6629400" y="2103120"/>
            <a:ext cx="4480560" cy="457200"/>
          </a:xfrm>
          <a:prstGeom prst="rect">
            <a:avLst/>
          </a:prstGeom>
          <a:noFill/>
          <a:ln/>
        </p:spPr>
        <p:txBody>
          <a:bodyPr wrap="square" lIns="0" tIns="0" rIns="0" bIns="0" rtlCol="0" anchor="ctr"/>
          <a:lstStyle/>
          <a:p>
            <a:pPr indent="0" marL="0">
              <a:buNone/>
            </a:pPr>
            <a:r>
              <a:rPr lang="en-US" sz="1500" b="1" spc="200" kern="0" dirty="0">
                <a:solidFill>
                  <a:srgbClr val="E8F2EC"/>
                </a:solidFill>
                <a:latin typeface="Arial" pitchFamily="34" charset="0"/>
                <a:ea typeface="Arial" pitchFamily="34" charset="-122"/>
                <a:cs typeface="Arial" pitchFamily="34" charset="-120"/>
              </a:rPr>
              <a:t>VECTOR</a:t>
            </a:r>
            <a:endParaRPr lang="en-US" sz="1500" dirty="0"/>
          </a:p>
        </p:txBody>
      </p:sp>
      <p:sp>
        <p:nvSpPr>
          <p:cNvPr id="10" name="Text 8"/>
          <p:cNvSpPr txBox="1"/>
          <p:nvPr/>
        </p:nvSpPr>
        <p:spPr>
          <a:xfrm>
            <a:off x="6629400" y="2606040"/>
            <a:ext cx="448056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Magnitude + Direction</a:t>
            </a:r>
            <a:endParaRPr lang="en-US" sz="3200" dirty="0"/>
          </a:p>
        </p:txBody>
      </p:sp>
      <p:sp>
        <p:nvSpPr>
          <p:cNvPr id="11" name="Text 9"/>
          <p:cNvSpPr txBox="1"/>
          <p:nvPr/>
        </p:nvSpPr>
        <p:spPr>
          <a:xfrm>
            <a:off x="6629400" y="3383280"/>
            <a:ext cx="4480560" cy="1097280"/>
          </a:xfrm>
          <a:prstGeom prst="rect">
            <a:avLst/>
          </a:prstGeom>
          <a:noFill/>
          <a:ln/>
        </p:spPr>
        <p:txBody>
          <a:bodyPr wrap="square" lIns="0" tIns="0" rIns="0" bIns="0" rtlCol="0" anchor="ctr"/>
          <a:lstStyle/>
          <a:p>
            <a:pPr indent="0" marL="0">
              <a:lnSpc>
                <a:spcPts val="2700"/>
              </a:lnSpc>
              <a:buNone/>
            </a:pPr>
            <a:r>
              <a:rPr lang="en-US" sz="1900" dirty="0">
                <a:solidFill>
                  <a:srgbClr val="E8F2EC"/>
                </a:solidFill>
                <a:latin typeface="Arial" pitchFamily="34" charset="0"/>
                <a:ea typeface="Arial" pitchFamily="34" charset="-122"/>
                <a:cs typeface="Arial" pitchFamily="34" charset="-120"/>
              </a:rPr>
              <a:t>Knowing exactly where</a:t>
            </a:r>
            <a:endParaRPr lang="en-US" sz="1900" dirty="0"/>
          </a:p>
          <a:p>
            <a:pPr indent="0" marL="0">
              <a:lnSpc>
                <a:spcPts val="2700"/>
              </a:lnSpc>
              <a:buNone/>
            </a:pPr>
            <a:r>
              <a:rPr lang="en-US" sz="1900" dirty="0">
                <a:solidFill>
                  <a:srgbClr val="E8F2EC"/>
                </a:solidFill>
                <a:latin typeface="Arial" pitchFamily="34" charset="0"/>
                <a:ea typeface="Arial" pitchFamily="34" charset="-122"/>
                <a:cs typeface="Arial" pitchFamily="34" charset="-120"/>
              </a:rPr>
              <a:t>the mountain is.</a:t>
            </a:r>
            <a:endParaRPr lang="en-US" sz="1900" dirty="0"/>
          </a:p>
        </p:txBody>
      </p:sp>
      <p:sp>
        <p:nvSpPr>
          <p:cNvPr id="12" name="Text 10"/>
          <p:cNvSpPr txBox="1"/>
          <p:nvPr/>
        </p:nvSpPr>
        <p:spPr>
          <a:xfrm>
            <a:off x="640080" y="5029200"/>
            <a:ext cx="10881360" cy="731520"/>
          </a:xfrm>
          <a:prstGeom prst="rect">
            <a:avLst/>
          </a:prstGeom>
          <a:noFill/>
          <a:ln/>
        </p:spPr>
        <p:txBody>
          <a:bodyPr wrap="square" lIns="0" tIns="0" rIns="0" bIns="0" rtlCol="0" anchor="ctr"/>
          <a:lstStyle/>
          <a:p>
            <a:pPr indent="0" marL="0">
              <a:buNone/>
            </a:pPr>
            <a:r>
              <a:rPr lang="en-US" sz="2800" b="1" i="1" dirty="0">
                <a:solidFill>
                  <a:srgbClr val="C8102E"/>
                </a:solidFill>
                <a:latin typeface="Cambria" pitchFamily="34" charset="0"/>
                <a:ea typeface="Cambria" pitchFamily="34" charset="-122"/>
                <a:cs typeface="Cambria" pitchFamily="34" charset="-120"/>
              </a:rPr>
              <a:t>We have magnitude in abundance. What we lack is direction.</a:t>
            </a:r>
            <a:endParaRPr lang="en-US" sz="2800" dirty="0"/>
          </a:p>
        </p:txBody>
      </p:sp>
      <p:sp>
        <p:nvSpPr>
          <p:cNvPr id="13" name="Text 11"/>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RESPONSIBILITY</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Whose headache is it?</a:t>
            </a:r>
            <a:endParaRPr lang="en-US" sz="4000" dirty="0"/>
          </a:p>
        </p:txBody>
      </p:sp>
      <p:sp>
        <p:nvSpPr>
          <p:cNvPr id="4" name="Shape 2"/>
          <p:cNvSpPr/>
          <p:nvPr/>
        </p:nvSpPr>
        <p:spPr>
          <a:xfrm>
            <a:off x="640080" y="1691640"/>
            <a:ext cx="3429000" cy="868680"/>
          </a:xfrm>
          <a:prstGeom prst="rect">
            <a:avLst/>
          </a:prstGeom>
          <a:solidFill>
            <a:srgbClr val="F2F5F3"/>
          </a:solidFill>
          <a:ln/>
        </p:spPr>
      </p:sp>
      <p:sp>
        <p:nvSpPr>
          <p:cNvPr id="5" name="Text 3"/>
          <p:cNvSpPr txBox="1"/>
          <p:nvPr/>
        </p:nvSpPr>
        <p:spPr>
          <a:xfrm>
            <a:off x="914400" y="1874520"/>
            <a:ext cx="2926080" cy="50292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Government</a:t>
            </a:r>
            <a:endParaRPr lang="en-US" sz="2400" dirty="0"/>
          </a:p>
        </p:txBody>
      </p:sp>
      <p:sp>
        <p:nvSpPr>
          <p:cNvPr id="6" name="Shape 4"/>
          <p:cNvSpPr/>
          <p:nvPr/>
        </p:nvSpPr>
        <p:spPr>
          <a:xfrm>
            <a:off x="4343400" y="1691640"/>
            <a:ext cx="3429000" cy="868680"/>
          </a:xfrm>
          <a:prstGeom prst="rect">
            <a:avLst/>
          </a:prstGeom>
          <a:solidFill>
            <a:srgbClr val="F2F5F3"/>
          </a:solidFill>
          <a:ln/>
        </p:spPr>
      </p:sp>
      <p:sp>
        <p:nvSpPr>
          <p:cNvPr id="7" name="Text 5"/>
          <p:cNvSpPr txBox="1"/>
          <p:nvPr/>
        </p:nvSpPr>
        <p:spPr>
          <a:xfrm>
            <a:off x="4617720" y="1874520"/>
            <a:ext cx="2926080" cy="50292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Academia</a:t>
            </a:r>
            <a:endParaRPr lang="en-US" sz="2400" dirty="0"/>
          </a:p>
        </p:txBody>
      </p:sp>
      <p:sp>
        <p:nvSpPr>
          <p:cNvPr id="8" name="Shape 6"/>
          <p:cNvSpPr/>
          <p:nvPr/>
        </p:nvSpPr>
        <p:spPr>
          <a:xfrm>
            <a:off x="8046720" y="1691640"/>
            <a:ext cx="3429000" cy="868680"/>
          </a:xfrm>
          <a:prstGeom prst="rect">
            <a:avLst/>
          </a:prstGeom>
          <a:solidFill>
            <a:srgbClr val="F2F5F3"/>
          </a:solidFill>
          <a:ln/>
        </p:spPr>
      </p:sp>
      <p:sp>
        <p:nvSpPr>
          <p:cNvPr id="9" name="Text 7"/>
          <p:cNvSpPr txBox="1"/>
          <p:nvPr/>
        </p:nvSpPr>
        <p:spPr>
          <a:xfrm>
            <a:off x="8321040" y="1874520"/>
            <a:ext cx="2926080" cy="50292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The youth</a:t>
            </a:r>
            <a:endParaRPr lang="en-US" sz="2400" dirty="0"/>
          </a:p>
        </p:txBody>
      </p:sp>
      <p:sp>
        <p:nvSpPr>
          <p:cNvPr id="10" name="Shape 8"/>
          <p:cNvSpPr/>
          <p:nvPr/>
        </p:nvSpPr>
        <p:spPr>
          <a:xfrm>
            <a:off x="640080" y="2743200"/>
            <a:ext cx="3429000" cy="868680"/>
          </a:xfrm>
          <a:prstGeom prst="rect">
            <a:avLst/>
          </a:prstGeom>
          <a:solidFill>
            <a:srgbClr val="F2F5F3"/>
          </a:solidFill>
          <a:ln/>
        </p:spPr>
      </p:sp>
      <p:sp>
        <p:nvSpPr>
          <p:cNvPr id="11" name="Text 9"/>
          <p:cNvSpPr txBox="1"/>
          <p:nvPr/>
        </p:nvSpPr>
        <p:spPr>
          <a:xfrm>
            <a:off x="914400" y="2926080"/>
            <a:ext cx="2926080" cy="50292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The elders</a:t>
            </a:r>
            <a:endParaRPr lang="en-US" sz="2400" dirty="0"/>
          </a:p>
        </p:txBody>
      </p:sp>
      <p:sp>
        <p:nvSpPr>
          <p:cNvPr id="12" name="Shape 10"/>
          <p:cNvSpPr/>
          <p:nvPr/>
        </p:nvSpPr>
        <p:spPr>
          <a:xfrm>
            <a:off x="4343400" y="2743200"/>
            <a:ext cx="3429000" cy="868680"/>
          </a:xfrm>
          <a:prstGeom prst="rect">
            <a:avLst/>
          </a:prstGeom>
          <a:solidFill>
            <a:srgbClr val="F2F5F3"/>
          </a:solidFill>
          <a:ln/>
        </p:spPr>
      </p:sp>
      <p:sp>
        <p:nvSpPr>
          <p:cNvPr id="13" name="Text 11"/>
          <p:cNvSpPr txBox="1"/>
          <p:nvPr/>
        </p:nvSpPr>
        <p:spPr>
          <a:xfrm>
            <a:off x="4617720" y="2926080"/>
            <a:ext cx="2926080" cy="50292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Business</a:t>
            </a:r>
            <a:endParaRPr lang="en-US" sz="2400" dirty="0"/>
          </a:p>
        </p:txBody>
      </p:sp>
      <p:sp>
        <p:nvSpPr>
          <p:cNvPr id="14" name="Shape 12"/>
          <p:cNvSpPr/>
          <p:nvPr/>
        </p:nvSpPr>
        <p:spPr>
          <a:xfrm>
            <a:off x="8046720" y="2743200"/>
            <a:ext cx="3429000" cy="868680"/>
          </a:xfrm>
          <a:prstGeom prst="rect">
            <a:avLst/>
          </a:prstGeom>
          <a:solidFill>
            <a:srgbClr val="F2F5F3"/>
          </a:solidFill>
          <a:ln/>
        </p:spPr>
      </p:sp>
      <p:sp>
        <p:nvSpPr>
          <p:cNvPr id="15" name="Text 13"/>
          <p:cNvSpPr txBox="1"/>
          <p:nvPr/>
        </p:nvSpPr>
        <p:spPr>
          <a:xfrm>
            <a:off x="8321040" y="2926080"/>
            <a:ext cx="2926080" cy="50292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Every citizen</a:t>
            </a:r>
            <a:endParaRPr lang="en-US" sz="2400" dirty="0"/>
          </a:p>
        </p:txBody>
      </p:sp>
      <p:sp>
        <p:nvSpPr>
          <p:cNvPr id="16" name="Shape 14"/>
          <p:cNvSpPr/>
          <p:nvPr/>
        </p:nvSpPr>
        <p:spPr>
          <a:xfrm>
            <a:off x="640080" y="4023360"/>
            <a:ext cx="10881360" cy="1920240"/>
          </a:xfrm>
          <a:prstGeom prst="rect">
            <a:avLst/>
          </a:prstGeom>
          <a:solidFill>
            <a:srgbClr val="0B6B3A"/>
          </a:solidFill>
          <a:ln/>
        </p:spPr>
      </p:sp>
      <p:sp>
        <p:nvSpPr>
          <p:cNvPr id="17" name="Text 15"/>
          <p:cNvSpPr txBox="1"/>
          <p:nvPr/>
        </p:nvSpPr>
        <p:spPr>
          <a:xfrm>
            <a:off x="1005840" y="4251960"/>
            <a:ext cx="101498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It is a coupled system.</a:t>
            </a:r>
            <a:endParaRPr lang="en-US" sz="3400" dirty="0"/>
          </a:p>
        </p:txBody>
      </p:sp>
      <p:sp>
        <p:nvSpPr>
          <p:cNvPr id="18" name="Text 16"/>
          <p:cNvSpPr txBox="1"/>
          <p:nvPr/>
        </p:nvSpPr>
        <p:spPr>
          <a:xfrm>
            <a:off x="1005840" y="4937760"/>
            <a:ext cx="10149840" cy="914400"/>
          </a:xfrm>
          <a:prstGeom prst="rect">
            <a:avLst/>
          </a:prstGeom>
          <a:noFill/>
          <a:ln/>
        </p:spPr>
        <p:txBody>
          <a:bodyPr wrap="square" lIns="0" tIns="0" rIns="0" bIns="0" rtlCol="0" anchor="ctr"/>
          <a:lstStyle/>
          <a:p>
            <a:pPr indent="0" marL="0">
              <a:lnSpc>
                <a:spcPts val="2500"/>
              </a:lnSpc>
              <a:buNone/>
            </a:pPr>
            <a:r>
              <a:rPr lang="en-US" sz="1800" dirty="0">
                <a:solidFill>
                  <a:srgbClr val="E8F2EC"/>
                </a:solidFill>
                <a:latin typeface="Arial" pitchFamily="34" charset="0"/>
                <a:ea typeface="Arial" pitchFamily="34" charset="-122"/>
                <a:cs typeface="Arial" pitchFamily="34" charset="-120"/>
              </a:rPr>
              <a:t>Every one of us is a variable inside somebody else's equation. So the question is not whose headache it is. The question is: what is your coefficient, and what is its sign? Positive, negative, or (most commonly in this country) zero.</a:t>
            </a:r>
            <a:endParaRPr lang="en-US" sz="1800" dirty="0"/>
          </a:p>
        </p:txBody>
      </p:sp>
      <p:sp>
        <p:nvSpPr>
          <p:cNvPr id="19" name="Text 17"/>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LET US LOOK AT OURSELVES HONESTLY</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Nigeria today.</a:t>
            </a:r>
            <a:endParaRPr lang="en-US" sz="4000" dirty="0"/>
          </a:p>
        </p:txBody>
      </p:sp>
      <p:sp>
        <p:nvSpPr>
          <p:cNvPr id="4" name="Shape 2"/>
          <p:cNvSpPr/>
          <p:nvPr/>
        </p:nvSpPr>
        <p:spPr>
          <a:xfrm>
            <a:off x="640080" y="1737360"/>
            <a:ext cx="5257800" cy="1874520"/>
          </a:xfrm>
          <a:prstGeom prst="rect">
            <a:avLst/>
          </a:prstGeom>
          <a:solidFill>
            <a:srgbClr val="F2F5F3"/>
          </a:solidFill>
          <a:ln/>
        </p:spPr>
      </p:sp>
      <p:sp>
        <p:nvSpPr>
          <p:cNvPr id="5" name="Text 3"/>
          <p:cNvSpPr txBox="1"/>
          <p:nvPr/>
        </p:nvSpPr>
        <p:spPr>
          <a:xfrm>
            <a:off x="960120" y="1901952"/>
            <a:ext cx="4617720" cy="777240"/>
          </a:xfrm>
          <a:prstGeom prst="rect">
            <a:avLst/>
          </a:prstGeom>
          <a:noFill/>
          <a:ln/>
        </p:spPr>
        <p:txBody>
          <a:bodyPr wrap="square" lIns="0" tIns="0" rIns="0" bIns="0" rtlCol="0" anchor="ctr"/>
          <a:lstStyle/>
          <a:p>
            <a:pPr indent="0" marL="0">
              <a:buNone/>
            </a:pPr>
            <a:r>
              <a:rPr lang="en-US" sz="4600" b="1" dirty="0">
                <a:solidFill>
                  <a:srgbClr val="0B6B3A"/>
                </a:solidFill>
                <a:latin typeface="Cambria" pitchFamily="34" charset="0"/>
                <a:ea typeface="Cambria" pitchFamily="34" charset="-122"/>
                <a:cs typeface="Cambria" pitchFamily="34" charset="-120"/>
              </a:rPr>
              <a:t>~51%</a:t>
            </a:r>
            <a:endParaRPr lang="en-US" sz="4600" dirty="0"/>
          </a:p>
        </p:txBody>
      </p:sp>
      <p:sp>
        <p:nvSpPr>
          <p:cNvPr id="6" name="Text 4"/>
          <p:cNvSpPr txBox="1"/>
          <p:nvPr/>
        </p:nvSpPr>
        <p:spPr>
          <a:xfrm>
            <a:off x="960120" y="2697480"/>
            <a:ext cx="4617720" cy="594360"/>
          </a:xfrm>
          <a:prstGeom prst="rect">
            <a:avLst/>
          </a:prstGeom>
          <a:noFill/>
          <a:ln/>
        </p:spPr>
        <p:txBody>
          <a:bodyPr wrap="square" lIns="0" tIns="0" rIns="0" bIns="0" rtlCol="0" anchor="ctr"/>
          <a:lstStyle/>
          <a:p>
            <a:pPr indent="0" marL="0">
              <a:lnSpc>
                <a:spcPts val="2100"/>
              </a:lnSpc>
              <a:buNone/>
            </a:pPr>
            <a:r>
              <a:rPr lang="en-US" sz="1600" dirty="0">
                <a:solidFill>
                  <a:srgbClr val="111111"/>
                </a:solidFill>
                <a:latin typeface="Arial" pitchFamily="34" charset="0"/>
                <a:ea typeface="Arial" pitchFamily="34" charset="-122"/>
                <a:cs typeface="Arial" pitchFamily="34" charset="-120"/>
              </a:rPr>
              <a:t>living below the international</a:t>
            </a:r>
            <a:endParaRPr lang="en-US" sz="1600" dirty="0"/>
          </a:p>
          <a:p>
            <a:pPr indent="0" marL="0">
              <a:lnSpc>
                <a:spcPts val="2100"/>
              </a:lnSpc>
              <a:buNone/>
            </a:pPr>
            <a:r>
              <a:rPr lang="en-US" sz="1600" dirty="0">
                <a:solidFill>
                  <a:srgbClr val="111111"/>
                </a:solidFill>
                <a:latin typeface="Arial" pitchFamily="34" charset="0"/>
                <a:ea typeface="Arial" pitchFamily="34" charset="-122"/>
                <a:cs typeface="Arial" pitchFamily="34" charset="-120"/>
              </a:rPr>
              <a:t>poverty line, 2025</a:t>
            </a:r>
            <a:endParaRPr lang="en-US" sz="1600" dirty="0"/>
          </a:p>
        </p:txBody>
      </p:sp>
      <p:sp>
        <p:nvSpPr>
          <p:cNvPr id="7" name="Text 5"/>
          <p:cNvSpPr txBox="1"/>
          <p:nvPr/>
        </p:nvSpPr>
        <p:spPr>
          <a:xfrm>
            <a:off x="960120" y="3291840"/>
            <a:ext cx="4617720" cy="274320"/>
          </a:xfrm>
          <a:prstGeom prst="rect">
            <a:avLst/>
          </a:prstGeom>
          <a:noFill/>
          <a:ln/>
        </p:spPr>
        <p:txBody>
          <a:bodyPr wrap="square" lIns="0" tIns="0" rIns="0" bIns="0" rtlCol="0" anchor="ctr"/>
          <a:lstStyle/>
          <a:p>
            <a:pPr indent="0" marL="0">
              <a:buNone/>
            </a:pPr>
            <a:r>
              <a:rPr lang="en-US" sz="1100" i="1" dirty="0">
                <a:solidFill>
                  <a:srgbClr val="5A5A5A"/>
                </a:solidFill>
                <a:latin typeface="Arial" pitchFamily="34" charset="0"/>
                <a:ea typeface="Arial" pitchFamily="34" charset="-122"/>
                <a:cs typeface="Arial" pitchFamily="34" charset="-120"/>
              </a:rPr>
              <a:t>World Bank</a:t>
            </a:r>
            <a:endParaRPr lang="en-US" sz="1100" dirty="0"/>
          </a:p>
        </p:txBody>
      </p:sp>
      <p:sp>
        <p:nvSpPr>
          <p:cNvPr id="8" name="Shape 6"/>
          <p:cNvSpPr/>
          <p:nvPr/>
        </p:nvSpPr>
        <p:spPr>
          <a:xfrm>
            <a:off x="6263640" y="1737360"/>
            <a:ext cx="5257800" cy="1874520"/>
          </a:xfrm>
          <a:prstGeom prst="rect">
            <a:avLst/>
          </a:prstGeom>
          <a:solidFill>
            <a:srgbClr val="F2F5F3"/>
          </a:solidFill>
          <a:ln/>
        </p:spPr>
      </p:sp>
      <p:sp>
        <p:nvSpPr>
          <p:cNvPr id="9" name="Text 7"/>
          <p:cNvSpPr txBox="1"/>
          <p:nvPr/>
        </p:nvSpPr>
        <p:spPr>
          <a:xfrm>
            <a:off x="6583680" y="1901952"/>
            <a:ext cx="4617720" cy="777240"/>
          </a:xfrm>
          <a:prstGeom prst="rect">
            <a:avLst/>
          </a:prstGeom>
          <a:noFill/>
          <a:ln/>
        </p:spPr>
        <p:txBody>
          <a:bodyPr wrap="square" lIns="0" tIns="0" rIns="0" bIns="0" rtlCol="0" anchor="ctr"/>
          <a:lstStyle/>
          <a:p>
            <a:pPr indent="0" marL="0">
              <a:buNone/>
            </a:pPr>
            <a:r>
              <a:rPr lang="en-US" sz="4600" b="1" dirty="0">
                <a:solidFill>
                  <a:srgbClr val="0B6B3A"/>
                </a:solidFill>
                <a:latin typeface="Cambria" pitchFamily="34" charset="0"/>
                <a:ea typeface="Cambria" pitchFamily="34" charset="-122"/>
                <a:cs typeface="Cambria" pitchFamily="34" charset="-120"/>
              </a:rPr>
              <a:t>~24%</a:t>
            </a:r>
            <a:endParaRPr lang="en-US" sz="4600" dirty="0"/>
          </a:p>
        </p:txBody>
      </p:sp>
      <p:sp>
        <p:nvSpPr>
          <p:cNvPr id="10" name="Text 8"/>
          <p:cNvSpPr txBox="1"/>
          <p:nvPr/>
        </p:nvSpPr>
        <p:spPr>
          <a:xfrm>
            <a:off x="6583680" y="2697480"/>
            <a:ext cx="4617720" cy="594360"/>
          </a:xfrm>
          <a:prstGeom prst="rect">
            <a:avLst/>
          </a:prstGeom>
          <a:noFill/>
          <a:ln/>
        </p:spPr>
        <p:txBody>
          <a:bodyPr wrap="square" lIns="0" tIns="0" rIns="0" bIns="0" rtlCol="0" anchor="ctr"/>
          <a:lstStyle/>
          <a:p>
            <a:pPr indent="0" marL="0">
              <a:lnSpc>
                <a:spcPts val="2100"/>
              </a:lnSpc>
              <a:buNone/>
            </a:pPr>
            <a:r>
              <a:rPr lang="en-US" sz="1600" dirty="0">
                <a:solidFill>
                  <a:srgbClr val="111111"/>
                </a:solidFill>
                <a:latin typeface="Arial" pitchFamily="34" charset="0"/>
                <a:ea typeface="Arial" pitchFamily="34" charset="-122"/>
                <a:cs typeface="Arial" pitchFamily="34" charset="-120"/>
              </a:rPr>
              <a:t>inflation, early 2025</a:t>
            </a:r>
            <a:endParaRPr lang="en-US" sz="1600" dirty="0"/>
          </a:p>
          <a:p>
            <a:pPr indent="0" marL="0">
              <a:lnSpc>
                <a:spcPts val="2100"/>
              </a:lnSpc>
              <a:buNone/>
            </a:pPr>
            <a:r>
              <a:rPr lang="en-US" sz="1600" dirty="0">
                <a:solidFill>
                  <a:srgbClr val="111111"/>
                </a:solidFill>
                <a:latin typeface="Arial" pitchFamily="34" charset="0"/>
                <a:ea typeface="Arial" pitchFamily="34" charset="-122"/>
                <a:cs typeface="Arial" pitchFamily="34" charset="-120"/>
              </a:rPr>
              <a:t>(31% average in 2024)</a:t>
            </a:r>
            <a:endParaRPr lang="en-US" sz="1600" dirty="0"/>
          </a:p>
        </p:txBody>
      </p:sp>
      <p:sp>
        <p:nvSpPr>
          <p:cNvPr id="11" name="Text 9"/>
          <p:cNvSpPr txBox="1"/>
          <p:nvPr/>
        </p:nvSpPr>
        <p:spPr>
          <a:xfrm>
            <a:off x="6583680" y="3291840"/>
            <a:ext cx="4617720" cy="274320"/>
          </a:xfrm>
          <a:prstGeom prst="rect">
            <a:avLst/>
          </a:prstGeom>
          <a:noFill/>
          <a:ln/>
        </p:spPr>
        <p:txBody>
          <a:bodyPr wrap="square" lIns="0" tIns="0" rIns="0" bIns="0" rtlCol="0" anchor="ctr"/>
          <a:lstStyle/>
          <a:p>
            <a:pPr indent="0" marL="0">
              <a:buNone/>
            </a:pPr>
            <a:r>
              <a:rPr lang="en-US" sz="1100" i="1" dirty="0">
                <a:solidFill>
                  <a:srgbClr val="5A5A5A"/>
                </a:solidFill>
                <a:latin typeface="Arial" pitchFamily="34" charset="0"/>
                <a:ea typeface="Arial" pitchFamily="34" charset="-122"/>
                <a:cs typeface="Arial" pitchFamily="34" charset="-120"/>
              </a:rPr>
              <a:t>IMF</a:t>
            </a:r>
            <a:endParaRPr lang="en-US" sz="1100" dirty="0"/>
          </a:p>
        </p:txBody>
      </p:sp>
      <p:sp>
        <p:nvSpPr>
          <p:cNvPr id="12" name="Shape 10"/>
          <p:cNvSpPr/>
          <p:nvPr/>
        </p:nvSpPr>
        <p:spPr>
          <a:xfrm>
            <a:off x="640080" y="3886200"/>
            <a:ext cx="5257800" cy="1874520"/>
          </a:xfrm>
          <a:prstGeom prst="rect">
            <a:avLst/>
          </a:prstGeom>
          <a:solidFill>
            <a:srgbClr val="F2F5F3"/>
          </a:solidFill>
          <a:ln/>
        </p:spPr>
      </p:sp>
      <p:sp>
        <p:nvSpPr>
          <p:cNvPr id="13" name="Text 11"/>
          <p:cNvSpPr txBox="1"/>
          <p:nvPr/>
        </p:nvSpPr>
        <p:spPr>
          <a:xfrm>
            <a:off x="960120" y="4050792"/>
            <a:ext cx="4617720" cy="777240"/>
          </a:xfrm>
          <a:prstGeom prst="rect">
            <a:avLst/>
          </a:prstGeom>
          <a:noFill/>
          <a:ln/>
        </p:spPr>
        <p:txBody>
          <a:bodyPr wrap="square" lIns="0" tIns="0" rIns="0" bIns="0" rtlCol="0" anchor="ctr"/>
          <a:lstStyle/>
          <a:p>
            <a:pPr indent="0" marL="0">
              <a:buNone/>
            </a:pPr>
            <a:r>
              <a:rPr lang="en-US" sz="4600" b="1" dirty="0">
                <a:solidFill>
                  <a:srgbClr val="0B6B3A"/>
                </a:solidFill>
                <a:latin typeface="Cambria" pitchFamily="34" charset="0"/>
                <a:ea typeface="Cambria" pitchFamily="34" charset="-122"/>
                <a:cs typeface="Cambria" pitchFamily="34" charset="-120"/>
              </a:rPr>
              <a:t>309</a:t>
            </a:r>
            <a:endParaRPr lang="en-US" sz="4600" dirty="0"/>
          </a:p>
        </p:txBody>
      </p:sp>
      <p:sp>
        <p:nvSpPr>
          <p:cNvPr id="14" name="Text 12"/>
          <p:cNvSpPr txBox="1"/>
          <p:nvPr/>
        </p:nvSpPr>
        <p:spPr>
          <a:xfrm>
            <a:off x="960120" y="4846320"/>
            <a:ext cx="4617720" cy="594360"/>
          </a:xfrm>
          <a:prstGeom prst="rect">
            <a:avLst/>
          </a:prstGeom>
          <a:noFill/>
          <a:ln/>
        </p:spPr>
        <p:txBody>
          <a:bodyPr wrap="square" lIns="0" tIns="0" rIns="0" bIns="0" rtlCol="0" anchor="ctr"/>
          <a:lstStyle/>
          <a:p>
            <a:pPr indent="0" marL="0">
              <a:lnSpc>
                <a:spcPts val="2100"/>
              </a:lnSpc>
              <a:buNone/>
            </a:pPr>
            <a:r>
              <a:rPr lang="en-US" sz="1600" dirty="0">
                <a:solidFill>
                  <a:srgbClr val="111111"/>
                </a:solidFill>
                <a:latin typeface="Arial" pitchFamily="34" charset="0"/>
                <a:ea typeface="Arial" pitchFamily="34" charset="-122"/>
                <a:cs typeface="Arial" pitchFamily="34" charset="-120"/>
              </a:rPr>
              <a:t>harmonised learning score</a:t>
            </a:r>
            <a:endParaRPr lang="en-US" sz="1600" dirty="0"/>
          </a:p>
          <a:p>
            <a:pPr indent="0" marL="0">
              <a:lnSpc>
                <a:spcPts val="2100"/>
              </a:lnSpc>
              <a:buNone/>
            </a:pPr>
            <a:r>
              <a:rPr lang="en-US" sz="1600" dirty="0">
                <a:solidFill>
                  <a:srgbClr val="111111"/>
                </a:solidFill>
                <a:latin typeface="Arial" pitchFamily="34" charset="0"/>
                <a:ea typeface="Arial" pitchFamily="34" charset="-122"/>
                <a:cs typeface="Arial" pitchFamily="34" charset="-120"/>
              </a:rPr>
              <a:t>(300 = minimum, 625 = advanced)</a:t>
            </a:r>
            <a:endParaRPr lang="en-US" sz="1600" dirty="0"/>
          </a:p>
        </p:txBody>
      </p:sp>
      <p:sp>
        <p:nvSpPr>
          <p:cNvPr id="15" name="Text 13"/>
          <p:cNvSpPr txBox="1"/>
          <p:nvPr/>
        </p:nvSpPr>
        <p:spPr>
          <a:xfrm>
            <a:off x="960120" y="5440680"/>
            <a:ext cx="4617720" cy="274320"/>
          </a:xfrm>
          <a:prstGeom prst="rect">
            <a:avLst/>
          </a:prstGeom>
          <a:noFill/>
          <a:ln/>
        </p:spPr>
        <p:txBody>
          <a:bodyPr wrap="square" lIns="0" tIns="0" rIns="0" bIns="0" rtlCol="0" anchor="ctr"/>
          <a:lstStyle/>
          <a:p>
            <a:pPr indent="0" marL="0">
              <a:buNone/>
            </a:pPr>
            <a:r>
              <a:rPr lang="en-US" sz="1100" i="1" dirty="0">
                <a:solidFill>
                  <a:srgbClr val="5A5A5A"/>
                </a:solidFill>
                <a:latin typeface="Arial" pitchFamily="34" charset="0"/>
                <a:ea typeface="Arial" pitchFamily="34" charset="-122"/>
                <a:cs typeface="Arial" pitchFamily="34" charset="-120"/>
              </a:rPr>
              <a:t>World Bank / UNESCO</a:t>
            </a:r>
            <a:endParaRPr lang="en-US" sz="1100" dirty="0"/>
          </a:p>
        </p:txBody>
      </p:sp>
      <p:sp>
        <p:nvSpPr>
          <p:cNvPr id="16" name="Shape 14"/>
          <p:cNvSpPr/>
          <p:nvPr/>
        </p:nvSpPr>
        <p:spPr>
          <a:xfrm>
            <a:off x="6263640" y="3886200"/>
            <a:ext cx="5257800" cy="1874520"/>
          </a:xfrm>
          <a:prstGeom prst="rect">
            <a:avLst/>
          </a:prstGeom>
          <a:solidFill>
            <a:srgbClr val="F2F5F3"/>
          </a:solidFill>
          <a:ln/>
        </p:spPr>
      </p:sp>
      <p:sp>
        <p:nvSpPr>
          <p:cNvPr id="17" name="Text 15"/>
          <p:cNvSpPr txBox="1"/>
          <p:nvPr/>
        </p:nvSpPr>
        <p:spPr>
          <a:xfrm>
            <a:off x="6583680" y="4050792"/>
            <a:ext cx="4617720" cy="777240"/>
          </a:xfrm>
          <a:prstGeom prst="rect">
            <a:avLst/>
          </a:prstGeom>
          <a:noFill/>
          <a:ln/>
        </p:spPr>
        <p:txBody>
          <a:bodyPr wrap="square" lIns="0" tIns="0" rIns="0" bIns="0" rtlCol="0" anchor="ctr"/>
          <a:lstStyle/>
          <a:p>
            <a:pPr indent="0" marL="0">
              <a:buNone/>
            </a:pPr>
            <a:r>
              <a:rPr lang="en-US" sz="4600" b="1" dirty="0">
                <a:solidFill>
                  <a:srgbClr val="0B6B3A"/>
                </a:solidFill>
                <a:latin typeface="Cambria" pitchFamily="34" charset="0"/>
                <a:ea typeface="Cambria" pitchFamily="34" charset="-122"/>
                <a:cs typeface="Cambria" pitchFamily="34" charset="-120"/>
              </a:rPr>
              <a:t>$100bn+</a:t>
            </a:r>
            <a:endParaRPr lang="en-US" sz="4600" dirty="0"/>
          </a:p>
        </p:txBody>
      </p:sp>
      <p:sp>
        <p:nvSpPr>
          <p:cNvPr id="18" name="Text 16"/>
          <p:cNvSpPr txBox="1"/>
          <p:nvPr/>
        </p:nvSpPr>
        <p:spPr>
          <a:xfrm>
            <a:off x="6583680" y="4846320"/>
            <a:ext cx="4617720" cy="594360"/>
          </a:xfrm>
          <a:prstGeom prst="rect">
            <a:avLst/>
          </a:prstGeom>
          <a:noFill/>
          <a:ln/>
        </p:spPr>
        <p:txBody>
          <a:bodyPr wrap="square" lIns="0" tIns="0" rIns="0" bIns="0" rtlCol="0" anchor="ctr"/>
          <a:lstStyle/>
          <a:p>
            <a:pPr indent="0" marL="0">
              <a:lnSpc>
                <a:spcPts val="2100"/>
              </a:lnSpc>
              <a:buNone/>
            </a:pPr>
            <a:r>
              <a:rPr lang="en-US" sz="1600" dirty="0">
                <a:solidFill>
                  <a:srgbClr val="111111"/>
                </a:solidFill>
                <a:latin typeface="Arial" pitchFamily="34" charset="0"/>
                <a:ea typeface="Arial" pitchFamily="34" charset="-122"/>
                <a:cs typeface="Arial" pitchFamily="34" charset="-120"/>
              </a:rPr>
              <a:t>national infrastructure</a:t>
            </a:r>
            <a:endParaRPr lang="en-US" sz="1600" dirty="0"/>
          </a:p>
          <a:p>
            <a:pPr indent="0" marL="0">
              <a:lnSpc>
                <a:spcPts val="2100"/>
              </a:lnSpc>
              <a:buNone/>
            </a:pPr>
            <a:r>
              <a:rPr lang="en-US" sz="1600" dirty="0">
                <a:solidFill>
                  <a:srgbClr val="111111"/>
                </a:solidFill>
                <a:latin typeface="Arial" pitchFamily="34" charset="0"/>
                <a:ea typeface="Arial" pitchFamily="34" charset="-122"/>
                <a:cs typeface="Arial" pitchFamily="34" charset="-120"/>
              </a:rPr>
              <a:t>deficit</a:t>
            </a:r>
            <a:endParaRPr lang="en-US" sz="1600" dirty="0"/>
          </a:p>
        </p:txBody>
      </p:sp>
      <p:sp>
        <p:nvSpPr>
          <p:cNvPr id="19" name="Text 17"/>
          <p:cNvSpPr txBox="1"/>
          <p:nvPr/>
        </p:nvSpPr>
        <p:spPr>
          <a:xfrm>
            <a:off x="6583680" y="5440680"/>
            <a:ext cx="4617720" cy="274320"/>
          </a:xfrm>
          <a:prstGeom prst="rect">
            <a:avLst/>
          </a:prstGeom>
          <a:noFill/>
          <a:ln/>
        </p:spPr>
        <p:txBody>
          <a:bodyPr wrap="square" lIns="0" tIns="0" rIns="0" bIns="0" rtlCol="0" anchor="ctr"/>
          <a:lstStyle/>
          <a:p>
            <a:pPr indent="0" marL="0">
              <a:buNone/>
            </a:pPr>
            <a:r>
              <a:rPr lang="en-US" sz="1100" i="1" dirty="0">
                <a:solidFill>
                  <a:srgbClr val="5A5A5A"/>
                </a:solidFill>
                <a:latin typeface="Arial" pitchFamily="34" charset="0"/>
                <a:ea typeface="Arial" pitchFamily="34" charset="-122"/>
                <a:cs typeface="Arial" pitchFamily="34" charset="-120"/>
              </a:rPr>
              <a:t>NBS</a:t>
            </a:r>
            <a:endParaRPr lang="en-US" sz="1100" dirty="0"/>
          </a:p>
        </p:txBody>
      </p:sp>
      <p:sp>
        <p:nvSpPr>
          <p:cNvPr id="20" name="Text 18"/>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SOMEBODY ACTUALLY DID THE MATHEMATICS</a:t>
            </a:r>
            <a:endParaRPr lang="en-US" sz="1300" dirty="0"/>
          </a:p>
        </p:txBody>
      </p:sp>
      <p:sp>
        <p:nvSpPr>
          <p:cNvPr id="3" name="Text 1"/>
          <p:cNvSpPr txBox="1"/>
          <p:nvPr/>
        </p:nvSpPr>
        <p:spPr>
          <a:xfrm>
            <a:off x="640080" y="502920"/>
            <a:ext cx="10881360" cy="1463040"/>
          </a:xfrm>
          <a:prstGeom prst="rect">
            <a:avLst/>
          </a:prstGeom>
          <a:noFill/>
          <a:ln/>
        </p:spPr>
        <p:txBody>
          <a:bodyPr wrap="square" lIns="0" tIns="0" rIns="0" bIns="0" rtlCol="0" anchor="t"/>
          <a:lstStyle/>
          <a:p>
            <a:pPr indent="0" marL="0">
              <a:buNone/>
            </a:pPr>
            <a:r>
              <a:rPr lang="en-US" sz="3800" b="1" dirty="0">
                <a:solidFill>
                  <a:srgbClr val="111111"/>
                </a:solidFill>
                <a:latin typeface="Cambria" pitchFamily="34" charset="0"/>
                <a:ea typeface="Cambria" pitchFamily="34" charset="-122"/>
                <a:cs typeface="Cambria" pitchFamily="34" charset="-120"/>
              </a:rPr>
              <a:t>Our national plan cannot</a:t>
            </a:r>
            <a:endParaRPr lang="en-US" sz="3800" dirty="0"/>
          </a:p>
          <a:p>
            <a:pPr indent="0" marL="0">
              <a:buNone/>
            </a:pPr>
            <a:r>
              <a:rPr lang="en-US" sz="3800" b="1" dirty="0">
                <a:solidFill>
                  <a:srgbClr val="111111"/>
                </a:solidFill>
                <a:latin typeface="Cambria" pitchFamily="34" charset="0"/>
                <a:ea typeface="Cambria" pitchFamily="34" charset="-122"/>
                <a:cs typeface="Cambria" pitchFamily="34" charset="-120"/>
              </a:rPr>
              <a:t>deliver what it promises.</a:t>
            </a:r>
            <a:endParaRPr lang="en-US" sz="3800" dirty="0"/>
          </a:p>
        </p:txBody>
      </p:sp>
      <p:graphicFrame>
        <p:nvGraphicFramePr>
          <p:cNvPr id="4" name="Chart 0" descr=""/>
          <p:cNvGraphicFramePr/>
          <p:nvPr/>
        </p:nvGraphicFramePr>
        <p:xfrm>
          <a:off x="640080" y="246888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040880" y="2743200"/>
            <a:ext cx="4480560" cy="2926080"/>
          </a:xfrm>
          <a:prstGeom prst="rect">
            <a:avLst/>
          </a:prstGeom>
          <a:noFill/>
          <a:ln/>
        </p:spPr>
        <p:txBody>
          <a:bodyPr wrap="square" lIns="0" tIns="0" rIns="0" bIns="0" rtlCol="0" anchor="ctr"/>
          <a:lstStyle/>
          <a:p>
            <a:pPr indent="0" marL="0">
              <a:lnSpc>
                <a:spcPts val="2500"/>
              </a:lnSpc>
              <a:buNone/>
            </a:pPr>
            <a:r>
              <a:rPr lang="en-US" sz="1700" dirty="0">
                <a:solidFill>
                  <a:srgbClr val="111111"/>
                </a:solidFill>
                <a:latin typeface="Arial" pitchFamily="34" charset="0"/>
                <a:ea typeface="Arial" pitchFamily="34" charset="-122"/>
                <a:cs typeface="Arial" pitchFamily="34" charset="-120"/>
              </a:rPr>
              <a:t>Multi-objective optimisation applied to Nigeria's SDG Agenda 2030: individual goals achievable at 81%, 83% and 89%, but the overall function caps at 73%.
</a:t>
            </a:r>
            <a:endParaRPr lang="en-US" sz="1700" dirty="0"/>
          </a:p>
          <a:p>
            <a:pPr indent="0" marL="0">
              <a:lnSpc>
                <a:spcPts val="2500"/>
              </a:lnSpc>
              <a:buNone/>
            </a:pPr>
            <a:r>
              <a:rPr lang="en-US" sz="1900" b="1" dirty="0">
                <a:solidFill>
                  <a:srgbClr val="111111"/>
                </a:solidFill>
                <a:latin typeface="Arial" pitchFamily="34" charset="0"/>
                <a:ea typeface="Arial" pitchFamily="34" charset="-122"/>
                <a:cs typeface="Arial" pitchFamily="34" charset="-120"/>
              </a:rPr>
              <a:t>The goals are fighting each other for the same money.
</a:t>
            </a:r>
            <a:endParaRPr lang="en-US" sz="1700" dirty="0"/>
          </a:p>
          <a:p>
            <a:pPr indent="0" marL="0">
              <a:lnSpc>
                <a:spcPts val="2500"/>
              </a:lnSpc>
              <a:buNone/>
            </a:pPr>
            <a:r>
              <a:rPr lang="en-US" sz="2200" b="1" dirty="0">
                <a:solidFill>
                  <a:srgbClr val="C8102E"/>
                </a:solidFill>
                <a:latin typeface="Arial" pitchFamily="34" charset="0"/>
                <a:ea typeface="Arial" pitchFamily="34" charset="-122"/>
                <a:cs typeface="Arial" pitchFamily="34" charset="-120"/>
              </a:rPr>
              <a:t>It is not that we lack will. We lack feasibility.</a:t>
            </a:r>
            <a:endParaRPr lang="en-US" sz="1700" dirty="0"/>
          </a:p>
        </p:txBody>
      </p:sp>
      <p:sp>
        <p:nvSpPr>
          <p:cNvPr id="6" name="Text 3"/>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THE ANATOMY OF A WORKING STATE</a:t>
            </a:r>
            <a:endParaRPr lang="en-US" sz="1300" dirty="0"/>
          </a:p>
        </p:txBody>
      </p:sp>
      <p:sp>
        <p:nvSpPr>
          <p:cNvPr id="3" name="Text 1"/>
          <p:cNvSpPr txBox="1"/>
          <p:nvPr/>
        </p:nvSpPr>
        <p:spPr>
          <a:xfrm>
            <a:off x="640080" y="502920"/>
            <a:ext cx="10881360" cy="1371600"/>
          </a:xfrm>
          <a:prstGeom prst="rect">
            <a:avLst/>
          </a:prstGeom>
          <a:noFill/>
          <a:ln/>
        </p:spPr>
        <p:txBody>
          <a:bodyPr wrap="square" lIns="0" tIns="0" rIns="0" bIns="0" rtlCol="0" anchor="t"/>
          <a:lstStyle/>
          <a:p>
            <a:pPr indent="0" marL="0">
              <a:buNone/>
            </a:pPr>
            <a:r>
              <a:rPr lang="en-US" sz="3400" b="1" dirty="0">
                <a:solidFill>
                  <a:srgbClr val="111111"/>
                </a:solidFill>
                <a:latin typeface="Cambria" pitchFamily="34" charset="0"/>
                <a:ea typeface="Cambria" pitchFamily="34" charset="-122"/>
                <a:cs typeface="Cambria" pitchFamily="34" charset="-120"/>
              </a:rPr>
              <a:t>The structure is the body.</a:t>
            </a:r>
            <a:endParaRPr lang="en-US" sz="3400" dirty="0"/>
          </a:p>
          <a:p>
            <a:pPr indent="0" marL="0">
              <a:buNone/>
            </a:pPr>
            <a:r>
              <a:rPr lang="en-US" sz="3400" b="1" dirty="0">
                <a:solidFill>
                  <a:srgbClr val="111111"/>
                </a:solidFill>
                <a:latin typeface="Cambria" pitchFamily="34" charset="0"/>
                <a:ea typeface="Cambria" pitchFamily="34" charset="-122"/>
                <a:cs typeface="Cambria" pitchFamily="34" charset="-120"/>
              </a:rPr>
              <a:t>Mathematics is the nervous system.</a:t>
            </a:r>
            <a:endParaRPr lang="en-US" sz="3400" dirty="0"/>
          </a:p>
        </p:txBody>
      </p:sp>
      <p:sp>
        <p:nvSpPr>
          <p:cNvPr id="4" name="Shape 2"/>
          <p:cNvSpPr/>
          <p:nvPr/>
        </p:nvSpPr>
        <p:spPr>
          <a:xfrm>
            <a:off x="640080" y="2468880"/>
            <a:ext cx="566928" cy="566928"/>
          </a:xfrm>
          <a:prstGeom prst="ellipse">
            <a:avLst/>
          </a:prstGeom>
          <a:solidFill>
            <a:srgbClr val="0B6B3A"/>
          </a:solidFill>
          <a:ln/>
        </p:spPr>
      </p:sp>
      <p:sp>
        <p:nvSpPr>
          <p:cNvPr id="5" name="Text 3"/>
          <p:cNvSpPr txBox="1"/>
          <p:nvPr/>
        </p:nvSpPr>
        <p:spPr>
          <a:xfrm>
            <a:off x="640080" y="2551176"/>
            <a:ext cx="56692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417320" y="2377440"/>
            <a:ext cx="4480560" cy="411480"/>
          </a:xfrm>
          <a:prstGeom prst="rect">
            <a:avLst/>
          </a:prstGeom>
          <a:noFill/>
          <a:ln/>
        </p:spPr>
        <p:txBody>
          <a:bodyPr wrap="square" lIns="0" tIns="0" rIns="0" bIns="0" rtlCol="0" anchor="ctr"/>
          <a:lstStyle/>
          <a:p>
            <a:pPr indent="0" marL="0">
              <a:buNone/>
            </a:pPr>
            <a:r>
              <a:rPr lang="en-US" sz="2200" b="1" dirty="0">
                <a:solidFill>
                  <a:srgbClr val="111111"/>
                </a:solidFill>
                <a:latin typeface="Cambria" pitchFamily="34" charset="0"/>
                <a:ea typeface="Cambria" pitchFamily="34" charset="-122"/>
                <a:cs typeface="Cambria" pitchFamily="34" charset="-120"/>
              </a:rPr>
              <a:t>Statistics</a:t>
            </a:r>
            <a:endParaRPr lang="en-US" sz="2200" dirty="0"/>
          </a:p>
        </p:txBody>
      </p:sp>
      <p:sp>
        <p:nvSpPr>
          <p:cNvPr id="7" name="Text 5"/>
          <p:cNvSpPr txBox="1"/>
          <p:nvPr/>
        </p:nvSpPr>
        <p:spPr>
          <a:xfrm>
            <a:off x="1417320" y="2807208"/>
            <a:ext cx="4480560" cy="365760"/>
          </a:xfrm>
          <a:prstGeom prst="rect">
            <a:avLst/>
          </a:prstGeom>
          <a:noFill/>
          <a:ln/>
        </p:spPr>
        <p:txBody>
          <a:bodyPr wrap="square" lIns="0" tIns="0" rIns="0" bIns="0" rtlCol="0" anchor="ctr"/>
          <a:lstStyle/>
          <a:p>
            <a:pPr indent="0" marL="0">
              <a:buNone/>
            </a:pPr>
            <a:r>
              <a:rPr lang="en-US" sz="1500" dirty="0">
                <a:solidFill>
                  <a:srgbClr val="5A5A5A"/>
                </a:solidFill>
                <a:latin typeface="Arial" pitchFamily="34" charset="0"/>
                <a:ea typeface="Arial" pitchFamily="34" charset="-122"/>
                <a:cs typeface="Arial" pitchFamily="34" charset="-120"/>
              </a:rPr>
              <a:t>Sampling · estimation · error bounds</a:t>
            </a:r>
            <a:endParaRPr lang="en-US" sz="1500" dirty="0"/>
          </a:p>
        </p:txBody>
      </p:sp>
      <p:sp>
        <p:nvSpPr>
          <p:cNvPr id="8" name="Shape 6"/>
          <p:cNvSpPr/>
          <p:nvPr/>
        </p:nvSpPr>
        <p:spPr>
          <a:xfrm>
            <a:off x="6263640" y="2468880"/>
            <a:ext cx="566928" cy="566928"/>
          </a:xfrm>
          <a:prstGeom prst="ellipse">
            <a:avLst/>
          </a:prstGeom>
          <a:solidFill>
            <a:srgbClr val="0B6B3A"/>
          </a:solidFill>
          <a:ln/>
        </p:spPr>
      </p:sp>
      <p:sp>
        <p:nvSpPr>
          <p:cNvPr id="9" name="Text 7"/>
          <p:cNvSpPr txBox="1"/>
          <p:nvPr/>
        </p:nvSpPr>
        <p:spPr>
          <a:xfrm>
            <a:off x="6263640" y="2551176"/>
            <a:ext cx="56692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7040880" y="2377440"/>
            <a:ext cx="4480560" cy="411480"/>
          </a:xfrm>
          <a:prstGeom prst="rect">
            <a:avLst/>
          </a:prstGeom>
          <a:noFill/>
          <a:ln/>
        </p:spPr>
        <p:txBody>
          <a:bodyPr wrap="square" lIns="0" tIns="0" rIns="0" bIns="0" rtlCol="0" anchor="ctr"/>
          <a:lstStyle/>
          <a:p>
            <a:pPr indent="0" marL="0">
              <a:buNone/>
            </a:pPr>
            <a:r>
              <a:rPr lang="en-US" sz="2200" b="1" dirty="0">
                <a:solidFill>
                  <a:srgbClr val="111111"/>
                </a:solidFill>
                <a:latin typeface="Cambria" pitchFamily="34" charset="0"/>
                <a:ea typeface="Cambria" pitchFamily="34" charset="-122"/>
                <a:cs typeface="Cambria" pitchFamily="34" charset="-120"/>
              </a:rPr>
              <a:t>Planning &amp; budget</a:t>
            </a:r>
            <a:endParaRPr lang="en-US" sz="2200" dirty="0"/>
          </a:p>
        </p:txBody>
      </p:sp>
      <p:sp>
        <p:nvSpPr>
          <p:cNvPr id="11" name="Text 9"/>
          <p:cNvSpPr txBox="1"/>
          <p:nvPr/>
        </p:nvSpPr>
        <p:spPr>
          <a:xfrm>
            <a:off x="7040880" y="2807208"/>
            <a:ext cx="4480560" cy="365760"/>
          </a:xfrm>
          <a:prstGeom prst="rect">
            <a:avLst/>
          </a:prstGeom>
          <a:noFill/>
          <a:ln/>
        </p:spPr>
        <p:txBody>
          <a:bodyPr wrap="square" lIns="0" tIns="0" rIns="0" bIns="0" rtlCol="0" anchor="ctr"/>
          <a:lstStyle/>
          <a:p>
            <a:pPr indent="0" marL="0">
              <a:buNone/>
            </a:pPr>
            <a:r>
              <a:rPr lang="en-US" sz="1500" dirty="0">
                <a:solidFill>
                  <a:srgbClr val="5A5A5A"/>
                </a:solidFill>
                <a:latin typeface="Arial" pitchFamily="34" charset="0"/>
                <a:ea typeface="Arial" pitchFamily="34" charset="-122"/>
                <a:cs typeface="Arial" pitchFamily="34" charset="-120"/>
              </a:rPr>
              <a:t>Constrained optimisation</a:t>
            </a:r>
            <a:endParaRPr lang="en-US" sz="1500" dirty="0"/>
          </a:p>
        </p:txBody>
      </p:sp>
      <p:sp>
        <p:nvSpPr>
          <p:cNvPr id="12" name="Shape 10"/>
          <p:cNvSpPr/>
          <p:nvPr/>
        </p:nvSpPr>
        <p:spPr>
          <a:xfrm>
            <a:off x="640080" y="3639312"/>
            <a:ext cx="566928" cy="566928"/>
          </a:xfrm>
          <a:prstGeom prst="ellipse">
            <a:avLst/>
          </a:prstGeom>
          <a:solidFill>
            <a:srgbClr val="0B6B3A"/>
          </a:solidFill>
          <a:ln/>
        </p:spPr>
      </p:sp>
      <p:sp>
        <p:nvSpPr>
          <p:cNvPr id="13" name="Text 11"/>
          <p:cNvSpPr txBox="1"/>
          <p:nvPr/>
        </p:nvSpPr>
        <p:spPr>
          <a:xfrm>
            <a:off x="640080" y="3721608"/>
            <a:ext cx="56692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417320" y="3547872"/>
            <a:ext cx="4480560" cy="411480"/>
          </a:xfrm>
          <a:prstGeom prst="rect">
            <a:avLst/>
          </a:prstGeom>
          <a:noFill/>
          <a:ln/>
        </p:spPr>
        <p:txBody>
          <a:bodyPr wrap="square" lIns="0" tIns="0" rIns="0" bIns="0" rtlCol="0" anchor="ctr"/>
          <a:lstStyle/>
          <a:p>
            <a:pPr indent="0" marL="0">
              <a:buNone/>
            </a:pPr>
            <a:r>
              <a:rPr lang="en-US" sz="2200" b="1" dirty="0">
                <a:solidFill>
                  <a:srgbClr val="111111"/>
                </a:solidFill>
                <a:latin typeface="Cambria" pitchFamily="34" charset="0"/>
                <a:ea typeface="Cambria" pitchFamily="34" charset="-122"/>
                <a:cs typeface="Cambria" pitchFamily="34" charset="-120"/>
              </a:rPr>
              <a:t>Security</a:t>
            </a:r>
            <a:endParaRPr lang="en-US" sz="2200" dirty="0"/>
          </a:p>
        </p:txBody>
      </p:sp>
      <p:sp>
        <p:nvSpPr>
          <p:cNvPr id="15" name="Text 13"/>
          <p:cNvSpPr txBox="1"/>
          <p:nvPr/>
        </p:nvSpPr>
        <p:spPr>
          <a:xfrm>
            <a:off x="1417320" y="3977640"/>
            <a:ext cx="4480560" cy="365760"/>
          </a:xfrm>
          <a:prstGeom prst="rect">
            <a:avLst/>
          </a:prstGeom>
          <a:noFill/>
          <a:ln/>
        </p:spPr>
        <p:txBody>
          <a:bodyPr wrap="square" lIns="0" tIns="0" rIns="0" bIns="0" rtlCol="0" anchor="ctr"/>
          <a:lstStyle/>
          <a:p>
            <a:pPr indent="0" marL="0">
              <a:buNone/>
            </a:pPr>
            <a:r>
              <a:rPr lang="en-US" sz="1500" dirty="0">
                <a:solidFill>
                  <a:srgbClr val="5A5A5A"/>
                </a:solidFill>
                <a:latin typeface="Arial" pitchFamily="34" charset="0"/>
                <a:ea typeface="Arial" pitchFamily="34" charset="-122"/>
                <a:cs typeface="Arial" pitchFamily="34" charset="-120"/>
              </a:rPr>
              <a:t>Graph theory · Bayesian inference</a:t>
            </a:r>
            <a:endParaRPr lang="en-US" sz="1500" dirty="0"/>
          </a:p>
        </p:txBody>
      </p:sp>
      <p:sp>
        <p:nvSpPr>
          <p:cNvPr id="16" name="Shape 14"/>
          <p:cNvSpPr/>
          <p:nvPr/>
        </p:nvSpPr>
        <p:spPr>
          <a:xfrm>
            <a:off x="6263640" y="3639312"/>
            <a:ext cx="566928" cy="566928"/>
          </a:xfrm>
          <a:prstGeom prst="ellipse">
            <a:avLst/>
          </a:prstGeom>
          <a:solidFill>
            <a:srgbClr val="0B6B3A"/>
          </a:solidFill>
          <a:ln/>
        </p:spPr>
      </p:sp>
      <p:sp>
        <p:nvSpPr>
          <p:cNvPr id="17" name="Text 15"/>
          <p:cNvSpPr txBox="1"/>
          <p:nvPr/>
        </p:nvSpPr>
        <p:spPr>
          <a:xfrm>
            <a:off x="6263640" y="3721608"/>
            <a:ext cx="56692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7040880" y="3547872"/>
            <a:ext cx="4480560" cy="411480"/>
          </a:xfrm>
          <a:prstGeom prst="rect">
            <a:avLst/>
          </a:prstGeom>
          <a:noFill/>
          <a:ln/>
        </p:spPr>
        <p:txBody>
          <a:bodyPr wrap="square" lIns="0" tIns="0" rIns="0" bIns="0" rtlCol="0" anchor="ctr"/>
          <a:lstStyle/>
          <a:p>
            <a:pPr indent="0" marL="0">
              <a:buNone/>
            </a:pPr>
            <a:r>
              <a:rPr lang="en-US" sz="2200" b="1" dirty="0">
                <a:solidFill>
                  <a:srgbClr val="111111"/>
                </a:solidFill>
                <a:latin typeface="Cambria" pitchFamily="34" charset="0"/>
                <a:ea typeface="Cambria" pitchFamily="34" charset="-122"/>
                <a:cs typeface="Cambria" pitchFamily="34" charset="-120"/>
              </a:rPr>
              <a:t>Justice</a:t>
            </a:r>
            <a:endParaRPr lang="en-US" sz="2200" dirty="0"/>
          </a:p>
        </p:txBody>
      </p:sp>
      <p:sp>
        <p:nvSpPr>
          <p:cNvPr id="19" name="Text 17"/>
          <p:cNvSpPr txBox="1"/>
          <p:nvPr/>
        </p:nvSpPr>
        <p:spPr>
          <a:xfrm>
            <a:off x="7040880" y="3977640"/>
            <a:ext cx="4480560" cy="365760"/>
          </a:xfrm>
          <a:prstGeom prst="rect">
            <a:avLst/>
          </a:prstGeom>
          <a:noFill/>
          <a:ln/>
        </p:spPr>
        <p:txBody>
          <a:bodyPr wrap="square" lIns="0" tIns="0" rIns="0" bIns="0" rtlCol="0" anchor="ctr"/>
          <a:lstStyle/>
          <a:p>
            <a:pPr indent="0" marL="0">
              <a:buNone/>
            </a:pPr>
            <a:r>
              <a:rPr lang="en-US" sz="1500" dirty="0">
                <a:solidFill>
                  <a:srgbClr val="5A5A5A"/>
                </a:solidFill>
                <a:latin typeface="Arial" pitchFamily="34" charset="0"/>
                <a:ea typeface="Arial" pitchFamily="34" charset="-122"/>
                <a:cs typeface="Arial" pitchFamily="34" charset="-120"/>
              </a:rPr>
              <a:t>Queueing theory</a:t>
            </a:r>
            <a:endParaRPr lang="en-US" sz="1500" dirty="0"/>
          </a:p>
        </p:txBody>
      </p:sp>
      <p:sp>
        <p:nvSpPr>
          <p:cNvPr id="20" name="Shape 18"/>
          <p:cNvSpPr/>
          <p:nvPr/>
        </p:nvSpPr>
        <p:spPr>
          <a:xfrm>
            <a:off x="640080" y="4809744"/>
            <a:ext cx="566928" cy="566928"/>
          </a:xfrm>
          <a:prstGeom prst="ellipse">
            <a:avLst/>
          </a:prstGeom>
          <a:solidFill>
            <a:srgbClr val="0B6B3A"/>
          </a:solidFill>
          <a:ln/>
        </p:spPr>
      </p:sp>
      <p:sp>
        <p:nvSpPr>
          <p:cNvPr id="21" name="Text 19"/>
          <p:cNvSpPr txBox="1"/>
          <p:nvPr/>
        </p:nvSpPr>
        <p:spPr>
          <a:xfrm>
            <a:off x="640080" y="4892040"/>
            <a:ext cx="56692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2" name="Text 20"/>
          <p:cNvSpPr txBox="1"/>
          <p:nvPr/>
        </p:nvSpPr>
        <p:spPr>
          <a:xfrm>
            <a:off x="1417320" y="4718304"/>
            <a:ext cx="4480560" cy="411480"/>
          </a:xfrm>
          <a:prstGeom prst="rect">
            <a:avLst/>
          </a:prstGeom>
          <a:noFill/>
          <a:ln/>
        </p:spPr>
        <p:txBody>
          <a:bodyPr wrap="square" lIns="0" tIns="0" rIns="0" bIns="0" rtlCol="0" anchor="ctr"/>
          <a:lstStyle/>
          <a:p>
            <a:pPr indent="0" marL="0">
              <a:buNone/>
            </a:pPr>
            <a:r>
              <a:rPr lang="en-US" sz="2200" b="1" dirty="0">
                <a:solidFill>
                  <a:srgbClr val="111111"/>
                </a:solidFill>
                <a:latin typeface="Cambria" pitchFamily="34" charset="0"/>
                <a:ea typeface="Cambria" pitchFamily="34" charset="-122"/>
                <a:cs typeface="Cambria" pitchFamily="34" charset="-120"/>
              </a:rPr>
              <a:t>Public health</a:t>
            </a:r>
            <a:endParaRPr lang="en-US" sz="2200" dirty="0"/>
          </a:p>
        </p:txBody>
      </p:sp>
      <p:sp>
        <p:nvSpPr>
          <p:cNvPr id="23" name="Text 21"/>
          <p:cNvSpPr txBox="1"/>
          <p:nvPr/>
        </p:nvSpPr>
        <p:spPr>
          <a:xfrm>
            <a:off x="1417320" y="5148072"/>
            <a:ext cx="4480560" cy="365760"/>
          </a:xfrm>
          <a:prstGeom prst="rect">
            <a:avLst/>
          </a:prstGeom>
          <a:noFill/>
          <a:ln/>
        </p:spPr>
        <p:txBody>
          <a:bodyPr wrap="square" lIns="0" tIns="0" rIns="0" bIns="0" rtlCol="0" anchor="ctr"/>
          <a:lstStyle/>
          <a:p>
            <a:pPr indent="0" marL="0">
              <a:buNone/>
            </a:pPr>
            <a:r>
              <a:rPr lang="en-US" sz="1500" dirty="0">
                <a:solidFill>
                  <a:srgbClr val="5A5A5A"/>
                </a:solidFill>
                <a:latin typeface="Arial" pitchFamily="34" charset="0"/>
                <a:ea typeface="Arial" pitchFamily="34" charset="-122"/>
                <a:cs typeface="Arial" pitchFamily="34" charset="-120"/>
              </a:rPr>
              <a:t>Epidemiological modelling</a:t>
            </a:r>
            <a:endParaRPr lang="en-US" sz="1500" dirty="0"/>
          </a:p>
        </p:txBody>
      </p:sp>
      <p:sp>
        <p:nvSpPr>
          <p:cNvPr id="24" name="Shape 22"/>
          <p:cNvSpPr/>
          <p:nvPr/>
        </p:nvSpPr>
        <p:spPr>
          <a:xfrm>
            <a:off x="6263640" y="4809744"/>
            <a:ext cx="566928" cy="566928"/>
          </a:xfrm>
          <a:prstGeom prst="ellipse">
            <a:avLst/>
          </a:prstGeom>
          <a:solidFill>
            <a:srgbClr val="0B6B3A"/>
          </a:solidFill>
          <a:ln/>
        </p:spPr>
      </p:sp>
      <p:sp>
        <p:nvSpPr>
          <p:cNvPr id="25" name="Text 23"/>
          <p:cNvSpPr txBox="1"/>
          <p:nvPr/>
        </p:nvSpPr>
        <p:spPr>
          <a:xfrm>
            <a:off x="6263640" y="4892040"/>
            <a:ext cx="56692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26" name="Text 24"/>
          <p:cNvSpPr txBox="1"/>
          <p:nvPr/>
        </p:nvSpPr>
        <p:spPr>
          <a:xfrm>
            <a:off x="7040880" y="4718304"/>
            <a:ext cx="4480560" cy="411480"/>
          </a:xfrm>
          <a:prstGeom prst="rect">
            <a:avLst/>
          </a:prstGeom>
          <a:noFill/>
          <a:ln/>
        </p:spPr>
        <p:txBody>
          <a:bodyPr wrap="square" lIns="0" tIns="0" rIns="0" bIns="0" rtlCol="0" anchor="ctr"/>
          <a:lstStyle/>
          <a:p>
            <a:pPr indent="0" marL="0">
              <a:buNone/>
            </a:pPr>
            <a:r>
              <a:rPr lang="en-US" sz="2200" b="1" dirty="0">
                <a:solidFill>
                  <a:srgbClr val="111111"/>
                </a:solidFill>
                <a:latin typeface="Cambria" pitchFamily="34" charset="0"/>
                <a:ea typeface="Cambria" pitchFamily="34" charset="-122"/>
                <a:cs typeface="Cambria" pitchFamily="34" charset="-120"/>
              </a:rPr>
              <a:t>Energy</a:t>
            </a:r>
            <a:endParaRPr lang="en-US" sz="2200" dirty="0"/>
          </a:p>
        </p:txBody>
      </p:sp>
      <p:sp>
        <p:nvSpPr>
          <p:cNvPr id="27" name="Text 25"/>
          <p:cNvSpPr txBox="1"/>
          <p:nvPr/>
        </p:nvSpPr>
        <p:spPr>
          <a:xfrm>
            <a:off x="7040880" y="5148072"/>
            <a:ext cx="4480560" cy="365760"/>
          </a:xfrm>
          <a:prstGeom prst="rect">
            <a:avLst/>
          </a:prstGeom>
          <a:noFill/>
          <a:ln/>
        </p:spPr>
        <p:txBody>
          <a:bodyPr wrap="square" lIns="0" tIns="0" rIns="0" bIns="0" rtlCol="0" anchor="ctr"/>
          <a:lstStyle/>
          <a:p>
            <a:pPr indent="0" marL="0">
              <a:buNone/>
            </a:pPr>
            <a:r>
              <a:rPr lang="en-US" sz="1500" dirty="0">
                <a:solidFill>
                  <a:srgbClr val="5A5A5A"/>
                </a:solidFill>
                <a:latin typeface="Arial" pitchFamily="34" charset="0"/>
                <a:ea typeface="Arial" pitchFamily="34" charset="-122"/>
                <a:cs typeface="Arial" pitchFamily="34" charset="-120"/>
              </a:rPr>
              <a:t>Load balancing · economic dispatch</a:t>
            </a:r>
            <a:endParaRPr lang="en-US" sz="1500" dirty="0"/>
          </a:p>
        </p:txBody>
      </p:sp>
      <p:sp>
        <p:nvSpPr>
          <p:cNvPr id="28" name="Text 26"/>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ONE DISCIPLINE UNDERNEATH ALL OF IT</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Sixteen sectors. One foundation.</a:t>
            </a:r>
            <a:endParaRPr lang="en-US" sz="4000" dirty="0"/>
          </a:p>
        </p:txBody>
      </p:sp>
      <p:sp>
        <p:nvSpPr>
          <p:cNvPr id="4" name="Shape 2"/>
          <p:cNvSpPr/>
          <p:nvPr/>
        </p:nvSpPr>
        <p:spPr>
          <a:xfrm>
            <a:off x="640080" y="1828800"/>
            <a:ext cx="2560320" cy="749808"/>
          </a:xfrm>
          <a:prstGeom prst="rect">
            <a:avLst/>
          </a:prstGeom>
          <a:solidFill>
            <a:srgbClr val="F2F5F3"/>
          </a:solidFill>
          <a:ln/>
        </p:spPr>
      </p:sp>
      <p:sp>
        <p:nvSpPr>
          <p:cNvPr id="5" name="Text 3"/>
          <p:cNvSpPr txBox="1"/>
          <p:nvPr/>
        </p:nvSpPr>
        <p:spPr>
          <a:xfrm>
            <a:off x="822960" y="19933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Security</a:t>
            </a:r>
            <a:endParaRPr lang="en-US" sz="1700" dirty="0"/>
          </a:p>
        </p:txBody>
      </p:sp>
      <p:sp>
        <p:nvSpPr>
          <p:cNvPr id="6" name="Shape 4"/>
          <p:cNvSpPr/>
          <p:nvPr/>
        </p:nvSpPr>
        <p:spPr>
          <a:xfrm>
            <a:off x="3429000" y="1828800"/>
            <a:ext cx="2560320" cy="749808"/>
          </a:xfrm>
          <a:prstGeom prst="rect">
            <a:avLst/>
          </a:prstGeom>
          <a:solidFill>
            <a:srgbClr val="F2F5F3"/>
          </a:solidFill>
          <a:ln/>
        </p:spPr>
      </p:sp>
      <p:sp>
        <p:nvSpPr>
          <p:cNvPr id="7" name="Text 5"/>
          <p:cNvSpPr txBox="1"/>
          <p:nvPr/>
        </p:nvSpPr>
        <p:spPr>
          <a:xfrm>
            <a:off x="3611880" y="19933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Peace</a:t>
            </a:r>
            <a:endParaRPr lang="en-US" sz="1700" dirty="0"/>
          </a:p>
        </p:txBody>
      </p:sp>
      <p:sp>
        <p:nvSpPr>
          <p:cNvPr id="8" name="Shape 6"/>
          <p:cNvSpPr/>
          <p:nvPr/>
        </p:nvSpPr>
        <p:spPr>
          <a:xfrm>
            <a:off x="6217920" y="1828800"/>
            <a:ext cx="2560320" cy="749808"/>
          </a:xfrm>
          <a:prstGeom prst="rect">
            <a:avLst/>
          </a:prstGeom>
          <a:solidFill>
            <a:srgbClr val="F2F5F3"/>
          </a:solidFill>
          <a:ln/>
        </p:spPr>
      </p:sp>
      <p:sp>
        <p:nvSpPr>
          <p:cNvPr id="9" name="Text 7"/>
          <p:cNvSpPr txBox="1"/>
          <p:nvPr/>
        </p:nvSpPr>
        <p:spPr>
          <a:xfrm>
            <a:off x="6400800" y="19933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Justice</a:t>
            </a:r>
            <a:endParaRPr lang="en-US" sz="1700" dirty="0"/>
          </a:p>
        </p:txBody>
      </p:sp>
      <p:sp>
        <p:nvSpPr>
          <p:cNvPr id="10" name="Shape 8"/>
          <p:cNvSpPr/>
          <p:nvPr/>
        </p:nvSpPr>
        <p:spPr>
          <a:xfrm>
            <a:off x="9006840" y="1828800"/>
            <a:ext cx="2560320" cy="749808"/>
          </a:xfrm>
          <a:prstGeom prst="rect">
            <a:avLst/>
          </a:prstGeom>
          <a:solidFill>
            <a:srgbClr val="F2F5F3"/>
          </a:solidFill>
          <a:ln/>
        </p:spPr>
      </p:sp>
      <p:sp>
        <p:nvSpPr>
          <p:cNvPr id="11" name="Text 9"/>
          <p:cNvSpPr txBox="1"/>
          <p:nvPr/>
        </p:nvSpPr>
        <p:spPr>
          <a:xfrm>
            <a:off x="9189720" y="19933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Governance</a:t>
            </a:r>
            <a:endParaRPr lang="en-US" sz="1700" dirty="0"/>
          </a:p>
        </p:txBody>
      </p:sp>
      <p:sp>
        <p:nvSpPr>
          <p:cNvPr id="12" name="Shape 10"/>
          <p:cNvSpPr/>
          <p:nvPr/>
        </p:nvSpPr>
        <p:spPr>
          <a:xfrm>
            <a:off x="640080" y="2743200"/>
            <a:ext cx="2560320" cy="749808"/>
          </a:xfrm>
          <a:prstGeom prst="rect">
            <a:avLst/>
          </a:prstGeom>
          <a:solidFill>
            <a:srgbClr val="E8F2EC"/>
          </a:solidFill>
          <a:ln/>
        </p:spPr>
      </p:sp>
      <p:sp>
        <p:nvSpPr>
          <p:cNvPr id="13" name="Text 11"/>
          <p:cNvSpPr txBox="1"/>
          <p:nvPr/>
        </p:nvSpPr>
        <p:spPr>
          <a:xfrm>
            <a:off x="822960" y="29077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Health</a:t>
            </a:r>
            <a:endParaRPr lang="en-US" sz="1700" dirty="0"/>
          </a:p>
        </p:txBody>
      </p:sp>
      <p:sp>
        <p:nvSpPr>
          <p:cNvPr id="14" name="Shape 12"/>
          <p:cNvSpPr/>
          <p:nvPr/>
        </p:nvSpPr>
        <p:spPr>
          <a:xfrm>
            <a:off x="3429000" y="2743200"/>
            <a:ext cx="2560320" cy="749808"/>
          </a:xfrm>
          <a:prstGeom prst="rect">
            <a:avLst/>
          </a:prstGeom>
          <a:solidFill>
            <a:srgbClr val="E8F2EC"/>
          </a:solidFill>
          <a:ln/>
        </p:spPr>
      </p:sp>
      <p:sp>
        <p:nvSpPr>
          <p:cNvPr id="15" name="Text 13"/>
          <p:cNvSpPr txBox="1"/>
          <p:nvPr/>
        </p:nvSpPr>
        <p:spPr>
          <a:xfrm>
            <a:off x="3611880" y="29077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Education</a:t>
            </a:r>
            <a:endParaRPr lang="en-US" sz="1700" dirty="0"/>
          </a:p>
        </p:txBody>
      </p:sp>
      <p:sp>
        <p:nvSpPr>
          <p:cNvPr id="16" name="Shape 14"/>
          <p:cNvSpPr/>
          <p:nvPr/>
        </p:nvSpPr>
        <p:spPr>
          <a:xfrm>
            <a:off x="6217920" y="2743200"/>
            <a:ext cx="2560320" cy="749808"/>
          </a:xfrm>
          <a:prstGeom prst="rect">
            <a:avLst/>
          </a:prstGeom>
          <a:solidFill>
            <a:srgbClr val="E8F2EC"/>
          </a:solidFill>
          <a:ln/>
        </p:spPr>
      </p:sp>
      <p:sp>
        <p:nvSpPr>
          <p:cNvPr id="17" name="Text 15"/>
          <p:cNvSpPr txBox="1"/>
          <p:nvPr/>
        </p:nvSpPr>
        <p:spPr>
          <a:xfrm>
            <a:off x="6400800" y="29077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Planning</a:t>
            </a:r>
            <a:endParaRPr lang="en-US" sz="1700" dirty="0"/>
          </a:p>
        </p:txBody>
      </p:sp>
      <p:sp>
        <p:nvSpPr>
          <p:cNvPr id="18" name="Shape 16"/>
          <p:cNvSpPr/>
          <p:nvPr/>
        </p:nvSpPr>
        <p:spPr>
          <a:xfrm>
            <a:off x="9006840" y="2743200"/>
            <a:ext cx="2560320" cy="749808"/>
          </a:xfrm>
          <a:prstGeom prst="rect">
            <a:avLst/>
          </a:prstGeom>
          <a:solidFill>
            <a:srgbClr val="E8F2EC"/>
          </a:solidFill>
          <a:ln/>
        </p:spPr>
      </p:sp>
      <p:sp>
        <p:nvSpPr>
          <p:cNvPr id="19" name="Text 17"/>
          <p:cNvSpPr txBox="1"/>
          <p:nvPr/>
        </p:nvSpPr>
        <p:spPr>
          <a:xfrm>
            <a:off x="9189720" y="29077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Logistics</a:t>
            </a:r>
            <a:endParaRPr lang="en-US" sz="1700" dirty="0"/>
          </a:p>
        </p:txBody>
      </p:sp>
      <p:sp>
        <p:nvSpPr>
          <p:cNvPr id="20" name="Shape 18"/>
          <p:cNvSpPr/>
          <p:nvPr/>
        </p:nvSpPr>
        <p:spPr>
          <a:xfrm>
            <a:off x="640080" y="3657600"/>
            <a:ext cx="2560320" cy="749808"/>
          </a:xfrm>
          <a:prstGeom prst="rect">
            <a:avLst/>
          </a:prstGeom>
          <a:solidFill>
            <a:srgbClr val="F2F5F3"/>
          </a:solidFill>
          <a:ln/>
        </p:spPr>
      </p:sp>
      <p:sp>
        <p:nvSpPr>
          <p:cNvPr id="21" name="Text 19"/>
          <p:cNvSpPr txBox="1"/>
          <p:nvPr/>
        </p:nvSpPr>
        <p:spPr>
          <a:xfrm>
            <a:off x="822960" y="38221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Employment</a:t>
            </a:r>
            <a:endParaRPr lang="en-US" sz="1700" dirty="0"/>
          </a:p>
        </p:txBody>
      </p:sp>
      <p:sp>
        <p:nvSpPr>
          <p:cNvPr id="22" name="Shape 20"/>
          <p:cNvSpPr/>
          <p:nvPr/>
        </p:nvSpPr>
        <p:spPr>
          <a:xfrm>
            <a:off x="3429000" y="3657600"/>
            <a:ext cx="2560320" cy="749808"/>
          </a:xfrm>
          <a:prstGeom prst="rect">
            <a:avLst/>
          </a:prstGeom>
          <a:solidFill>
            <a:srgbClr val="F2F5F3"/>
          </a:solidFill>
          <a:ln/>
        </p:spPr>
      </p:sp>
      <p:sp>
        <p:nvSpPr>
          <p:cNvPr id="23" name="Text 21"/>
          <p:cNvSpPr txBox="1"/>
          <p:nvPr/>
        </p:nvSpPr>
        <p:spPr>
          <a:xfrm>
            <a:off x="3611880" y="38221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Innovation</a:t>
            </a:r>
            <a:endParaRPr lang="en-US" sz="1700" dirty="0"/>
          </a:p>
        </p:txBody>
      </p:sp>
      <p:sp>
        <p:nvSpPr>
          <p:cNvPr id="24" name="Shape 22"/>
          <p:cNvSpPr/>
          <p:nvPr/>
        </p:nvSpPr>
        <p:spPr>
          <a:xfrm>
            <a:off x="6217920" y="3657600"/>
            <a:ext cx="2560320" cy="749808"/>
          </a:xfrm>
          <a:prstGeom prst="rect">
            <a:avLst/>
          </a:prstGeom>
          <a:solidFill>
            <a:srgbClr val="F2F5F3"/>
          </a:solidFill>
          <a:ln/>
        </p:spPr>
      </p:sp>
      <p:sp>
        <p:nvSpPr>
          <p:cNvPr id="25" name="Text 23"/>
          <p:cNvSpPr txBox="1"/>
          <p:nvPr/>
        </p:nvSpPr>
        <p:spPr>
          <a:xfrm>
            <a:off x="6400800" y="38221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Agriculture</a:t>
            </a:r>
            <a:endParaRPr lang="en-US" sz="1700" dirty="0"/>
          </a:p>
        </p:txBody>
      </p:sp>
      <p:sp>
        <p:nvSpPr>
          <p:cNvPr id="26" name="Shape 24"/>
          <p:cNvSpPr/>
          <p:nvPr/>
        </p:nvSpPr>
        <p:spPr>
          <a:xfrm>
            <a:off x="9006840" y="3657600"/>
            <a:ext cx="2560320" cy="749808"/>
          </a:xfrm>
          <a:prstGeom prst="rect">
            <a:avLst/>
          </a:prstGeom>
          <a:solidFill>
            <a:srgbClr val="F2F5F3"/>
          </a:solidFill>
          <a:ln/>
        </p:spPr>
      </p:sp>
      <p:sp>
        <p:nvSpPr>
          <p:cNvPr id="27" name="Text 25"/>
          <p:cNvSpPr txBox="1"/>
          <p:nvPr/>
        </p:nvSpPr>
        <p:spPr>
          <a:xfrm>
            <a:off x="9189720" y="38221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Food security</a:t>
            </a:r>
            <a:endParaRPr lang="en-US" sz="1700" dirty="0"/>
          </a:p>
        </p:txBody>
      </p:sp>
      <p:sp>
        <p:nvSpPr>
          <p:cNvPr id="28" name="Shape 26"/>
          <p:cNvSpPr/>
          <p:nvPr/>
        </p:nvSpPr>
        <p:spPr>
          <a:xfrm>
            <a:off x="640080" y="4572000"/>
            <a:ext cx="2560320" cy="749808"/>
          </a:xfrm>
          <a:prstGeom prst="rect">
            <a:avLst/>
          </a:prstGeom>
          <a:solidFill>
            <a:srgbClr val="E8F2EC"/>
          </a:solidFill>
          <a:ln/>
        </p:spPr>
      </p:sp>
      <p:sp>
        <p:nvSpPr>
          <p:cNvPr id="29" name="Text 27"/>
          <p:cNvSpPr txBox="1"/>
          <p:nvPr/>
        </p:nvSpPr>
        <p:spPr>
          <a:xfrm>
            <a:off x="822960" y="47365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Entertainment</a:t>
            </a:r>
            <a:endParaRPr lang="en-US" sz="1700" dirty="0"/>
          </a:p>
        </p:txBody>
      </p:sp>
      <p:sp>
        <p:nvSpPr>
          <p:cNvPr id="30" name="Shape 28"/>
          <p:cNvSpPr/>
          <p:nvPr/>
        </p:nvSpPr>
        <p:spPr>
          <a:xfrm>
            <a:off x="3429000" y="4572000"/>
            <a:ext cx="2560320" cy="749808"/>
          </a:xfrm>
          <a:prstGeom prst="rect">
            <a:avLst/>
          </a:prstGeom>
          <a:solidFill>
            <a:srgbClr val="E8F2EC"/>
          </a:solidFill>
          <a:ln/>
        </p:spPr>
      </p:sp>
      <p:sp>
        <p:nvSpPr>
          <p:cNvPr id="31" name="Text 29"/>
          <p:cNvSpPr txBox="1"/>
          <p:nvPr/>
        </p:nvSpPr>
        <p:spPr>
          <a:xfrm>
            <a:off x="3611880" y="47365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Energy</a:t>
            </a:r>
            <a:endParaRPr lang="en-US" sz="1700" dirty="0"/>
          </a:p>
        </p:txBody>
      </p:sp>
      <p:sp>
        <p:nvSpPr>
          <p:cNvPr id="32" name="Shape 30"/>
          <p:cNvSpPr/>
          <p:nvPr/>
        </p:nvSpPr>
        <p:spPr>
          <a:xfrm>
            <a:off x="6217920" y="4572000"/>
            <a:ext cx="2560320" cy="749808"/>
          </a:xfrm>
          <a:prstGeom prst="rect">
            <a:avLst/>
          </a:prstGeom>
          <a:solidFill>
            <a:srgbClr val="E8F2EC"/>
          </a:solidFill>
          <a:ln/>
        </p:spPr>
      </p:sp>
      <p:sp>
        <p:nvSpPr>
          <p:cNvPr id="33" name="Text 31"/>
          <p:cNvSpPr txBox="1"/>
          <p:nvPr/>
        </p:nvSpPr>
        <p:spPr>
          <a:xfrm>
            <a:off x="6400800" y="47365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Anti-corruption</a:t>
            </a:r>
            <a:endParaRPr lang="en-US" sz="1700" dirty="0"/>
          </a:p>
        </p:txBody>
      </p:sp>
      <p:sp>
        <p:nvSpPr>
          <p:cNvPr id="34" name="Shape 32"/>
          <p:cNvSpPr/>
          <p:nvPr/>
        </p:nvSpPr>
        <p:spPr>
          <a:xfrm>
            <a:off x="9006840" y="4572000"/>
            <a:ext cx="2560320" cy="749808"/>
          </a:xfrm>
          <a:prstGeom prst="rect">
            <a:avLst/>
          </a:prstGeom>
          <a:solidFill>
            <a:srgbClr val="E8F2EC"/>
          </a:solidFill>
          <a:ln/>
        </p:spPr>
      </p:sp>
      <p:sp>
        <p:nvSpPr>
          <p:cNvPr id="35" name="Text 33"/>
          <p:cNvSpPr txBox="1"/>
          <p:nvPr/>
        </p:nvSpPr>
        <p:spPr>
          <a:xfrm>
            <a:off x="9189720" y="4736592"/>
            <a:ext cx="2194560" cy="45720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Finance</a:t>
            </a:r>
            <a:endParaRPr lang="en-US" sz="1700" dirty="0"/>
          </a:p>
        </p:txBody>
      </p:sp>
      <p:sp>
        <p:nvSpPr>
          <p:cNvPr id="36" name="Text 34"/>
          <p:cNvSpPr txBox="1"/>
          <p:nvPr/>
        </p:nvSpPr>
        <p:spPr>
          <a:xfrm>
            <a:off x="640080" y="5623560"/>
            <a:ext cx="10881360" cy="548640"/>
          </a:xfrm>
          <a:prstGeom prst="rect">
            <a:avLst/>
          </a:prstGeom>
          <a:noFill/>
          <a:ln/>
        </p:spPr>
        <p:txBody>
          <a:bodyPr wrap="square" lIns="0" tIns="0" rIns="0" bIns="0" rtlCol="0" anchor="ctr"/>
          <a:lstStyle/>
          <a:p>
            <a:pPr indent="0" marL="0">
              <a:buNone/>
            </a:pPr>
            <a:r>
              <a:rPr lang="en-US" sz="2400" b="1" i="1" dirty="0">
                <a:solidFill>
                  <a:srgbClr val="0B6B3A"/>
                </a:solidFill>
                <a:latin typeface="Cambria" pitchFamily="34" charset="0"/>
                <a:ea typeface="Cambria" pitchFamily="34" charset="-122"/>
                <a:cs typeface="Cambria" pitchFamily="34" charset="-120"/>
              </a:rPr>
              <a:t>That is not coincidence. That is the definition of a foundational science.</a:t>
            </a:r>
            <a:endParaRPr lang="en-US" sz="2400" dirty="0"/>
          </a:p>
        </p:txBody>
      </p:sp>
      <p:sp>
        <p:nvSpPr>
          <p:cNvPr id="37" name="Text 35"/>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CORRUPTION</a:t>
            </a:r>
            <a:endParaRPr lang="en-US" sz="1300" dirty="0"/>
          </a:p>
        </p:txBody>
      </p:sp>
      <p:sp>
        <p:nvSpPr>
          <p:cNvPr id="3" name="Text 1"/>
          <p:cNvSpPr txBox="1"/>
          <p:nvPr/>
        </p:nvSpPr>
        <p:spPr>
          <a:xfrm>
            <a:off x="640080" y="502920"/>
            <a:ext cx="10881360" cy="1371600"/>
          </a:xfrm>
          <a:prstGeom prst="rect">
            <a:avLst/>
          </a:prstGeom>
          <a:noFill/>
          <a:ln/>
        </p:spPr>
        <p:txBody>
          <a:bodyPr wrap="square" lIns="0" tIns="0" rIns="0" bIns="0" rtlCol="0" anchor="t"/>
          <a:lstStyle/>
          <a:p>
            <a:pPr indent="0" marL="0">
              <a:buNone/>
            </a:pPr>
            <a:r>
              <a:rPr lang="en-US" sz="3600" b="1" dirty="0">
                <a:solidFill>
                  <a:srgbClr val="111111"/>
                </a:solidFill>
                <a:latin typeface="Cambria" pitchFamily="34" charset="0"/>
                <a:ea typeface="Cambria" pitchFamily="34" charset="-122"/>
                <a:cs typeface="Cambria" pitchFamily="34" charset="-120"/>
              </a:rPr>
              <a:t>Mathematics catches liars.</a:t>
            </a:r>
            <a:endParaRPr lang="en-US" sz="3600" dirty="0"/>
          </a:p>
          <a:p>
            <a:pPr indent="0" marL="0">
              <a:buNone/>
            </a:pPr>
            <a:r>
              <a:rPr lang="en-US" sz="3600" b="1" dirty="0">
                <a:solidFill>
                  <a:srgbClr val="111111"/>
                </a:solidFill>
                <a:latin typeface="Cambria" pitchFamily="34" charset="0"/>
                <a:ea typeface="Cambria" pitchFamily="34" charset="-122"/>
                <a:cs typeface="Cambria" pitchFamily="34" charset="-120"/>
              </a:rPr>
              <a:t>It does not need a confession.</a:t>
            </a:r>
            <a:endParaRPr lang="en-US" sz="3600" dirty="0"/>
          </a:p>
        </p:txBody>
      </p:sp>
      <p:graphicFrame>
        <p:nvGraphicFramePr>
          <p:cNvPr id="4" name="Chart 0" descr=""/>
          <p:cNvGraphicFramePr/>
          <p:nvPr/>
        </p:nvGraphicFramePr>
        <p:xfrm>
          <a:off x="640080" y="2606040"/>
          <a:ext cx="630936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2926080"/>
            <a:ext cx="4206240" cy="2743200"/>
          </a:xfrm>
          <a:prstGeom prst="rect">
            <a:avLst/>
          </a:prstGeom>
          <a:noFill/>
          <a:ln/>
        </p:spPr>
        <p:txBody>
          <a:bodyPr wrap="square" lIns="0" tIns="0" rIns="0" bIns="0" rtlCol="0" anchor="ctr"/>
          <a:lstStyle/>
          <a:p>
            <a:pPr indent="0" marL="0">
              <a:lnSpc>
                <a:spcPts val="2500"/>
              </a:lnSpc>
              <a:buNone/>
            </a:pPr>
            <a:r>
              <a:rPr lang="en-US" sz="1800" dirty="0">
                <a:solidFill>
                  <a:srgbClr val="111111"/>
                </a:solidFill>
                <a:latin typeface="Arial" pitchFamily="34" charset="0"/>
                <a:ea typeface="Arial" pitchFamily="34" charset="-122"/>
                <a:cs typeface="Arial" pitchFamily="34" charset="-120"/>
              </a:rPr>
              <a:t>In genuine numerical data, the leading digit 1 shows up about 30% of the time.
</a:t>
            </a:r>
            <a:endParaRPr lang="en-US" sz="1800" dirty="0"/>
          </a:p>
          <a:p>
            <a:pPr indent="0" marL="0">
              <a:lnSpc>
                <a:spcPts val="2500"/>
              </a:lnSpc>
              <a:buNone/>
            </a:pPr>
            <a:r>
              <a:rPr lang="en-US" sz="2000" b="1" dirty="0">
                <a:solidFill>
                  <a:srgbClr val="111111"/>
                </a:solidFill>
                <a:latin typeface="Arial" pitchFamily="34" charset="0"/>
                <a:ea typeface="Arial" pitchFamily="34" charset="-122"/>
                <a:cs typeface="Arial" pitchFamily="34" charset="-120"/>
              </a:rPr>
              <a:t>Human beings are very, very bad at faking randomness.
</a:t>
            </a:r>
            <a:endParaRPr lang="en-US" sz="1800" dirty="0"/>
          </a:p>
          <a:p>
            <a:pPr indent="0" marL="0">
              <a:lnSpc>
                <a:spcPts val="2500"/>
              </a:lnSpc>
              <a:buNone/>
            </a:pPr>
            <a:r>
              <a:rPr lang="en-US" sz="1700" dirty="0">
                <a:solidFill>
                  <a:srgbClr val="111111"/>
                </a:solidFill>
                <a:latin typeface="Arial" pitchFamily="34" charset="0"/>
                <a:ea typeface="Arial" pitchFamily="34" charset="-122"/>
                <a:cs typeface="Arial" pitchFamily="34" charset="-120"/>
              </a:rPr>
              <a:t>An inflated contract carries a statistical fingerprint, before anybody confesses and before anybody testifies.</a:t>
            </a:r>
            <a:endParaRPr lang="en-US" sz="1800" dirty="0"/>
          </a:p>
        </p:txBody>
      </p:sp>
      <p:sp>
        <p:nvSpPr>
          <p:cNvPr id="6" name="Text 3"/>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6B3A"/>
        </a:solidFill>
      </p:bgPr>
    </p:bg>
    <p:spTree>
      <p:nvGrpSpPr>
        <p:cNvPr id="1" name=""/>
        <p:cNvGrpSpPr/>
        <p:nvPr/>
      </p:nvGrpSpPr>
      <p:grpSpPr>
        <a:xfrm>
          <a:off x="0" y="0"/>
          <a:ext cx="0" cy="0"/>
          <a:chOff x="0" y="0"/>
          <a:chExt cx="0" cy="0"/>
        </a:xfrm>
      </p:grpSpPr>
      <p:sp>
        <p:nvSpPr>
          <p:cNvPr id="2" name="Text 0"/>
          <p:cNvSpPr txBox="1"/>
          <p:nvPr/>
        </p:nvSpPr>
        <p:spPr>
          <a:xfrm>
            <a:off x="822960" y="1463040"/>
            <a:ext cx="10515600" cy="457200"/>
          </a:xfrm>
          <a:prstGeom prst="rect">
            <a:avLst/>
          </a:prstGeom>
          <a:noFill/>
          <a:ln/>
        </p:spPr>
        <p:txBody>
          <a:bodyPr wrap="square" lIns="0" tIns="0" rIns="0" bIns="0" rtlCol="0" anchor="ctr"/>
          <a:lstStyle/>
          <a:p>
            <a:pPr indent="0" marL="0">
              <a:buNone/>
            </a:pPr>
            <a:r>
              <a:rPr lang="en-US" sz="1500" b="1" spc="200" kern="0" dirty="0">
                <a:solidFill>
                  <a:srgbClr val="A9D4BC"/>
                </a:solidFill>
                <a:latin typeface="Arial" pitchFamily="34" charset="0"/>
                <a:ea typeface="Arial" pitchFamily="34" charset="-122"/>
                <a:cs typeface="Arial" pitchFamily="34" charset="-120"/>
              </a:rPr>
              <a:t>THE COST OF IGNORING MATHEMATICS</a:t>
            </a:r>
            <a:endParaRPr lang="en-US" sz="1500" dirty="0"/>
          </a:p>
        </p:txBody>
      </p:sp>
      <p:sp>
        <p:nvSpPr>
          <p:cNvPr id="3" name="Text 1"/>
          <p:cNvSpPr txBox="1"/>
          <p:nvPr/>
        </p:nvSpPr>
        <p:spPr>
          <a:xfrm>
            <a:off x="822960" y="2103120"/>
            <a:ext cx="10515600" cy="1828800"/>
          </a:xfrm>
          <a:prstGeom prst="rect">
            <a:avLst/>
          </a:prstGeom>
          <a:noFill/>
          <a:ln/>
        </p:spPr>
        <p:txBody>
          <a:bodyPr wrap="square" lIns="0" tIns="0" rIns="0" bIns="0" rtlCol="0" anchor="ctr"/>
          <a:lstStyle/>
          <a:p>
            <a:pPr indent="0" marL="0">
              <a:lnSpc>
                <a:spcPts val="6400"/>
              </a:lnSpc>
              <a:buNone/>
            </a:pPr>
            <a:r>
              <a:rPr lang="en-US" sz="5400" b="1" dirty="0">
                <a:solidFill>
                  <a:srgbClr val="FFFFFF"/>
                </a:solidFill>
                <a:latin typeface="Cambria" pitchFamily="34" charset="0"/>
                <a:ea typeface="Cambria" pitchFamily="34" charset="-122"/>
                <a:cs typeface="Cambria" pitchFamily="34" charset="-120"/>
              </a:rPr>
              <a:t>is never a crash.</a:t>
            </a:r>
            <a:endParaRPr lang="en-US" sz="5400" dirty="0"/>
          </a:p>
          <a:p>
            <a:pPr indent="0" marL="0">
              <a:lnSpc>
                <a:spcPts val="6400"/>
              </a:lnSpc>
              <a:buNone/>
            </a:pPr>
            <a:r>
              <a:rPr lang="en-US" sz="5400" b="1" dirty="0">
                <a:solidFill>
                  <a:srgbClr val="FFFFFF"/>
                </a:solidFill>
                <a:latin typeface="Cambria" pitchFamily="34" charset="0"/>
                <a:ea typeface="Cambria" pitchFamily="34" charset="-122"/>
                <a:cs typeface="Cambria" pitchFamily="34" charset="-120"/>
              </a:rPr>
              <a:t>It is a slow bleeding.</a:t>
            </a:r>
            <a:endParaRPr lang="en-US" sz="5400" dirty="0"/>
          </a:p>
        </p:txBody>
      </p:sp>
      <p:sp>
        <p:nvSpPr>
          <p:cNvPr id="4" name="Text 2"/>
          <p:cNvSpPr txBox="1"/>
          <p:nvPr/>
        </p:nvSpPr>
        <p:spPr>
          <a:xfrm>
            <a:off x="822960" y="4297680"/>
            <a:ext cx="9875520" cy="1280160"/>
          </a:xfrm>
          <a:prstGeom prst="rect">
            <a:avLst/>
          </a:prstGeom>
          <a:noFill/>
          <a:ln/>
        </p:spPr>
        <p:txBody>
          <a:bodyPr wrap="square" lIns="0" tIns="0" rIns="0" bIns="0" rtlCol="0" anchor="ctr"/>
          <a:lstStyle/>
          <a:p>
            <a:pPr indent="0" marL="0">
              <a:lnSpc>
                <a:spcPts val="2800"/>
              </a:lnSpc>
              <a:buNone/>
            </a:pPr>
            <a:r>
              <a:rPr lang="en-US" sz="1900" dirty="0">
                <a:solidFill>
                  <a:srgbClr val="E8F2EC"/>
                </a:solidFill>
                <a:latin typeface="Arial" pitchFamily="34" charset="0"/>
                <a:ea typeface="Arial" pitchFamily="34" charset="-122"/>
                <a:cs typeface="Arial" pitchFamily="34" charset="-120"/>
              </a:rPr>
              <a:t>Ignore physics and a bridge falls down. Everybody sees it, everybody talks about it. Ignore mathematics and nothing collapses. You simply operate at 60% of what you could have been, forever, and you call it "our peculiar Nigerian challenges."</a:t>
            </a:r>
            <a:endParaRPr lang="en-US" sz="1900" dirty="0"/>
          </a:p>
        </p:txBody>
      </p:sp>
      <p:sp>
        <p:nvSpPr>
          <p:cNvPr id="5" name="Text 3"/>
          <p:cNvSpPr txBox="1"/>
          <p:nvPr/>
        </p:nvSpPr>
        <p:spPr>
          <a:xfrm>
            <a:off x="822960" y="5669280"/>
            <a:ext cx="10515600" cy="457200"/>
          </a:xfrm>
          <a:prstGeom prst="rect">
            <a:avLst/>
          </a:prstGeom>
          <a:noFill/>
          <a:ln/>
        </p:spPr>
        <p:txBody>
          <a:bodyPr wrap="square" lIns="0" tIns="0" rIns="0" bIns="0" rtlCol="0" anchor="ctr"/>
          <a:lstStyle/>
          <a:p>
            <a:pPr indent="0" marL="0">
              <a:buNone/>
            </a:pPr>
            <a:r>
              <a:rPr lang="en-US" sz="2200" b="1" i="1" dirty="0">
                <a:solidFill>
                  <a:srgbClr val="FFFFFF"/>
                </a:solidFill>
                <a:latin typeface="Cambria" pitchFamily="34" charset="0"/>
                <a:ea typeface="Cambria" pitchFamily="34" charset="-122"/>
                <a:cs typeface="Cambria" pitchFamily="34" charset="-120"/>
              </a:rPr>
              <a:t>Mathematics is the only argument in the room that has no tribe.</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DIAGNOSIS WITHOUT PRESCRIPTION IS JUST FINE COMPLAINING</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Six things we must do.</a:t>
            </a:r>
            <a:endParaRPr lang="en-US" sz="4000" dirty="0"/>
          </a:p>
        </p:txBody>
      </p:sp>
      <p:sp>
        <p:nvSpPr>
          <p:cNvPr id="4" name="Shape 2"/>
          <p:cNvSpPr/>
          <p:nvPr/>
        </p:nvSpPr>
        <p:spPr>
          <a:xfrm>
            <a:off x="640080" y="1709928"/>
            <a:ext cx="502920" cy="502920"/>
          </a:xfrm>
          <a:prstGeom prst="ellipse">
            <a:avLst/>
          </a:prstGeom>
          <a:solidFill>
            <a:srgbClr val="0B6B3A"/>
          </a:solidFill>
          <a:ln/>
        </p:spPr>
      </p:sp>
      <p:sp>
        <p:nvSpPr>
          <p:cNvPr id="5" name="Text 3"/>
          <p:cNvSpPr txBox="1"/>
          <p:nvPr/>
        </p:nvSpPr>
        <p:spPr>
          <a:xfrm>
            <a:off x="640080" y="1783080"/>
            <a:ext cx="5029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325880" y="1691640"/>
            <a:ext cx="10149840" cy="64008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Change what we reward in academic mathematics. Adopt a ministry. Adopt a local government. Adopt a teaching hospital.</a:t>
            </a:r>
            <a:endParaRPr lang="en-US" sz="1600" dirty="0"/>
          </a:p>
        </p:txBody>
      </p:sp>
      <p:sp>
        <p:nvSpPr>
          <p:cNvPr id="7" name="Shape 5"/>
          <p:cNvSpPr/>
          <p:nvPr/>
        </p:nvSpPr>
        <p:spPr>
          <a:xfrm>
            <a:off x="640080" y="2459736"/>
            <a:ext cx="502920" cy="502920"/>
          </a:xfrm>
          <a:prstGeom prst="ellipse">
            <a:avLst/>
          </a:prstGeom>
          <a:solidFill>
            <a:srgbClr val="0B6B3A"/>
          </a:solidFill>
          <a:ln/>
        </p:spPr>
      </p:sp>
      <p:sp>
        <p:nvSpPr>
          <p:cNvPr id="8" name="Text 6"/>
          <p:cNvSpPr txBox="1"/>
          <p:nvPr/>
        </p:nvSpPr>
        <p:spPr>
          <a:xfrm>
            <a:off x="640080" y="2532888"/>
            <a:ext cx="5029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325880" y="2441448"/>
            <a:ext cx="10149840" cy="64008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Put mathematicians in the room where the problem is formulated, not where the answer is being justified.</a:t>
            </a:r>
            <a:endParaRPr lang="en-US" sz="1600" dirty="0"/>
          </a:p>
        </p:txBody>
      </p:sp>
      <p:sp>
        <p:nvSpPr>
          <p:cNvPr id="10" name="Shape 8"/>
          <p:cNvSpPr/>
          <p:nvPr/>
        </p:nvSpPr>
        <p:spPr>
          <a:xfrm>
            <a:off x="640080" y="3209544"/>
            <a:ext cx="502920" cy="502920"/>
          </a:xfrm>
          <a:prstGeom prst="ellipse">
            <a:avLst/>
          </a:prstGeom>
          <a:solidFill>
            <a:srgbClr val="0B6B3A"/>
          </a:solidFill>
          <a:ln/>
        </p:spPr>
      </p:sp>
      <p:sp>
        <p:nvSpPr>
          <p:cNvPr id="11" name="Text 9"/>
          <p:cNvSpPr txBox="1"/>
          <p:nvPr/>
        </p:nvSpPr>
        <p:spPr>
          <a:xfrm>
            <a:off x="640080" y="3282696"/>
            <a:ext cx="5029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325880" y="3191256"/>
            <a:ext cx="10149840" cy="64008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Fix the pipeline. Teach mathematics as a language for describing reality, not as a ritual of memorisation.</a:t>
            </a:r>
            <a:endParaRPr lang="en-US" sz="1600" dirty="0"/>
          </a:p>
        </p:txBody>
      </p:sp>
      <p:sp>
        <p:nvSpPr>
          <p:cNvPr id="13" name="Shape 11"/>
          <p:cNvSpPr/>
          <p:nvPr/>
        </p:nvSpPr>
        <p:spPr>
          <a:xfrm>
            <a:off x="640080" y="3959352"/>
            <a:ext cx="502920" cy="502920"/>
          </a:xfrm>
          <a:prstGeom prst="ellipse">
            <a:avLst/>
          </a:prstGeom>
          <a:solidFill>
            <a:srgbClr val="0B6B3A"/>
          </a:solidFill>
          <a:ln/>
        </p:spPr>
      </p:sp>
      <p:sp>
        <p:nvSpPr>
          <p:cNvPr id="14" name="Text 12"/>
          <p:cNvSpPr txBox="1"/>
          <p:nvPr/>
        </p:nvSpPr>
        <p:spPr>
          <a:xfrm>
            <a:off x="640080" y="4032504"/>
            <a:ext cx="5029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325880" y="3941064"/>
            <a:ext cx="10149840" cy="64008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Build the data. Conduct the census. Digitise the registries. Open the data.</a:t>
            </a:r>
            <a:endParaRPr lang="en-US" sz="1600" dirty="0"/>
          </a:p>
        </p:txBody>
      </p:sp>
      <p:sp>
        <p:nvSpPr>
          <p:cNvPr id="16" name="Shape 14"/>
          <p:cNvSpPr/>
          <p:nvPr/>
        </p:nvSpPr>
        <p:spPr>
          <a:xfrm>
            <a:off x="640080" y="4709160"/>
            <a:ext cx="502920" cy="502920"/>
          </a:xfrm>
          <a:prstGeom prst="ellipse">
            <a:avLst/>
          </a:prstGeom>
          <a:solidFill>
            <a:srgbClr val="0B6B3A"/>
          </a:solidFill>
          <a:ln/>
        </p:spPr>
      </p:sp>
      <p:sp>
        <p:nvSpPr>
          <p:cNvPr id="17" name="Text 15"/>
          <p:cNvSpPr txBox="1"/>
          <p:nvPr/>
        </p:nvSpPr>
        <p:spPr>
          <a:xfrm>
            <a:off x="640080" y="4782312"/>
            <a:ext cx="5029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325880" y="4690872"/>
            <a:ext cx="10149840" cy="64008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Demand quantitative literacy from leadership. Teach them to ask: what is the error bar on that?</a:t>
            </a:r>
            <a:endParaRPr lang="en-US" sz="1600" dirty="0"/>
          </a:p>
        </p:txBody>
      </p:sp>
      <p:sp>
        <p:nvSpPr>
          <p:cNvPr id="19" name="Shape 17"/>
          <p:cNvSpPr/>
          <p:nvPr/>
        </p:nvSpPr>
        <p:spPr>
          <a:xfrm>
            <a:off x="640080" y="5458968"/>
            <a:ext cx="502920" cy="502920"/>
          </a:xfrm>
          <a:prstGeom prst="ellipse">
            <a:avLst/>
          </a:prstGeom>
          <a:solidFill>
            <a:srgbClr val="0B6B3A"/>
          </a:solidFill>
          <a:ln/>
        </p:spPr>
      </p:sp>
      <p:sp>
        <p:nvSpPr>
          <p:cNvPr id="20" name="Text 18"/>
          <p:cNvSpPr txBox="1"/>
          <p:nvPr/>
        </p:nvSpPr>
        <p:spPr>
          <a:xfrm>
            <a:off x="640080" y="5532120"/>
            <a:ext cx="5029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1" name="Text 19"/>
          <p:cNvSpPr txBox="1"/>
          <p:nvPr/>
        </p:nvSpPr>
        <p:spPr>
          <a:xfrm>
            <a:off x="1325880" y="5440680"/>
            <a:ext cx="10149840" cy="64008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Bridge to deployment. Mathematics that cannot be deployed is only a beautiful idea.</a:t>
            </a:r>
            <a:endParaRPr lang="en-US" sz="1600" dirty="0"/>
          </a:p>
        </p:txBody>
      </p:sp>
      <p:sp>
        <p:nvSpPr>
          <p:cNvPr id="22" name="Text 20"/>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WHAT IMPACT ACTUALLY LOOKS LIKE</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What we would see.</a:t>
            </a:r>
            <a:endParaRPr lang="en-US" sz="4000" dirty="0"/>
          </a:p>
        </p:txBody>
      </p:sp>
      <p:sp>
        <p:nvSpPr>
          <p:cNvPr id="4" name="Shape 2"/>
          <p:cNvSpPr/>
          <p:nvPr/>
        </p:nvSpPr>
        <p:spPr>
          <a:xfrm>
            <a:off x="640080" y="1600200"/>
            <a:ext cx="2468880" cy="694944"/>
          </a:xfrm>
          <a:prstGeom prst="rect">
            <a:avLst/>
          </a:prstGeom>
          <a:solidFill>
            <a:srgbClr val="0B6B3A"/>
          </a:solidFill>
          <a:ln/>
        </p:spPr>
      </p:sp>
      <p:sp>
        <p:nvSpPr>
          <p:cNvPr id="5" name="Text 3"/>
          <p:cNvSpPr txBox="1"/>
          <p:nvPr/>
        </p:nvSpPr>
        <p:spPr>
          <a:xfrm>
            <a:off x="822960" y="1728216"/>
            <a:ext cx="210312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Health</a:t>
            </a:r>
            <a:endParaRPr lang="en-US" sz="1800" dirty="0"/>
          </a:p>
        </p:txBody>
      </p:sp>
      <p:sp>
        <p:nvSpPr>
          <p:cNvPr id="6" name="Text 4"/>
          <p:cNvSpPr txBox="1"/>
          <p:nvPr/>
        </p:nvSpPr>
        <p:spPr>
          <a:xfrm>
            <a:off x="3337560" y="1645920"/>
            <a:ext cx="8183880" cy="59436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Drugs arriving before they are needed. Outbreaks flattened by prediction, not by panic.</a:t>
            </a:r>
            <a:endParaRPr lang="en-US" sz="1600" dirty="0"/>
          </a:p>
        </p:txBody>
      </p:sp>
      <p:sp>
        <p:nvSpPr>
          <p:cNvPr id="7" name="Shape 5"/>
          <p:cNvSpPr/>
          <p:nvPr/>
        </p:nvSpPr>
        <p:spPr>
          <a:xfrm>
            <a:off x="640080" y="2404872"/>
            <a:ext cx="2468880" cy="694944"/>
          </a:xfrm>
          <a:prstGeom prst="rect">
            <a:avLst/>
          </a:prstGeom>
          <a:solidFill>
            <a:srgbClr val="0B6B3A"/>
          </a:solidFill>
          <a:ln/>
        </p:spPr>
      </p:sp>
      <p:sp>
        <p:nvSpPr>
          <p:cNvPr id="8" name="Text 6"/>
          <p:cNvSpPr txBox="1"/>
          <p:nvPr/>
        </p:nvSpPr>
        <p:spPr>
          <a:xfrm>
            <a:off x="822960" y="2532888"/>
            <a:ext cx="210312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Education</a:t>
            </a:r>
            <a:endParaRPr lang="en-US" sz="1800" dirty="0"/>
          </a:p>
        </p:txBody>
      </p:sp>
      <p:sp>
        <p:nvSpPr>
          <p:cNvPr id="9" name="Text 7"/>
          <p:cNvSpPr txBox="1"/>
          <p:nvPr/>
        </p:nvSpPr>
        <p:spPr>
          <a:xfrm>
            <a:off x="3337560" y="2450592"/>
            <a:ext cx="8183880" cy="59436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Teachers posted where the children actually are, not where the posting is convenient.</a:t>
            </a:r>
            <a:endParaRPr lang="en-US" sz="1600" dirty="0"/>
          </a:p>
        </p:txBody>
      </p:sp>
      <p:sp>
        <p:nvSpPr>
          <p:cNvPr id="10" name="Shape 8"/>
          <p:cNvSpPr/>
          <p:nvPr/>
        </p:nvSpPr>
        <p:spPr>
          <a:xfrm>
            <a:off x="640080" y="3209544"/>
            <a:ext cx="2468880" cy="694944"/>
          </a:xfrm>
          <a:prstGeom prst="rect">
            <a:avLst/>
          </a:prstGeom>
          <a:solidFill>
            <a:srgbClr val="0B6B3A"/>
          </a:solidFill>
          <a:ln/>
        </p:spPr>
      </p:sp>
      <p:sp>
        <p:nvSpPr>
          <p:cNvPr id="11" name="Text 9"/>
          <p:cNvSpPr txBox="1"/>
          <p:nvPr/>
        </p:nvSpPr>
        <p:spPr>
          <a:xfrm>
            <a:off x="822960" y="3337560"/>
            <a:ext cx="210312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Agriculture</a:t>
            </a:r>
            <a:endParaRPr lang="en-US" sz="1800" dirty="0"/>
          </a:p>
        </p:txBody>
      </p:sp>
      <p:sp>
        <p:nvSpPr>
          <p:cNvPr id="12" name="Text 10"/>
          <p:cNvSpPr txBox="1"/>
          <p:nvPr/>
        </p:nvSpPr>
        <p:spPr>
          <a:xfrm>
            <a:off x="3337560" y="3255264"/>
            <a:ext cx="8183880" cy="59436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Post-harvest losses cut by routing and storage. Prices settled by forecasting, not by decree.</a:t>
            </a:r>
            <a:endParaRPr lang="en-US" sz="1600" dirty="0"/>
          </a:p>
        </p:txBody>
      </p:sp>
      <p:sp>
        <p:nvSpPr>
          <p:cNvPr id="13" name="Shape 11"/>
          <p:cNvSpPr/>
          <p:nvPr/>
        </p:nvSpPr>
        <p:spPr>
          <a:xfrm>
            <a:off x="640080" y="4014216"/>
            <a:ext cx="2468880" cy="694944"/>
          </a:xfrm>
          <a:prstGeom prst="rect">
            <a:avLst/>
          </a:prstGeom>
          <a:solidFill>
            <a:srgbClr val="0B6B3A"/>
          </a:solidFill>
          <a:ln/>
        </p:spPr>
      </p:sp>
      <p:sp>
        <p:nvSpPr>
          <p:cNvPr id="14" name="Text 12"/>
          <p:cNvSpPr txBox="1"/>
          <p:nvPr/>
        </p:nvSpPr>
        <p:spPr>
          <a:xfrm>
            <a:off x="822960" y="4142232"/>
            <a:ext cx="210312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Energy</a:t>
            </a:r>
            <a:endParaRPr lang="en-US" sz="1800" dirty="0"/>
          </a:p>
        </p:txBody>
      </p:sp>
      <p:sp>
        <p:nvSpPr>
          <p:cNvPr id="15" name="Text 13"/>
          <p:cNvSpPr txBox="1"/>
          <p:nvPr/>
        </p:nvSpPr>
        <p:spPr>
          <a:xfrm>
            <a:off x="3337560" y="4059936"/>
            <a:ext cx="8183880" cy="59436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A grid that balances instead of collapsing.</a:t>
            </a:r>
            <a:endParaRPr lang="en-US" sz="1600" dirty="0"/>
          </a:p>
        </p:txBody>
      </p:sp>
      <p:sp>
        <p:nvSpPr>
          <p:cNvPr id="16" name="Shape 14"/>
          <p:cNvSpPr/>
          <p:nvPr/>
        </p:nvSpPr>
        <p:spPr>
          <a:xfrm>
            <a:off x="640080" y="4818888"/>
            <a:ext cx="2468880" cy="694944"/>
          </a:xfrm>
          <a:prstGeom prst="rect">
            <a:avLst/>
          </a:prstGeom>
          <a:solidFill>
            <a:srgbClr val="0B6B3A"/>
          </a:solidFill>
          <a:ln/>
        </p:spPr>
      </p:sp>
      <p:sp>
        <p:nvSpPr>
          <p:cNvPr id="17" name="Text 15"/>
          <p:cNvSpPr txBox="1"/>
          <p:nvPr/>
        </p:nvSpPr>
        <p:spPr>
          <a:xfrm>
            <a:off x="822960" y="4946904"/>
            <a:ext cx="210312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Governance</a:t>
            </a:r>
            <a:endParaRPr lang="en-US" sz="1800" dirty="0"/>
          </a:p>
        </p:txBody>
      </p:sp>
      <p:sp>
        <p:nvSpPr>
          <p:cNvPr id="18" name="Text 16"/>
          <p:cNvSpPr txBox="1"/>
          <p:nvPr/>
        </p:nvSpPr>
        <p:spPr>
          <a:xfrm>
            <a:off x="3337560" y="4864608"/>
            <a:ext cx="8183880" cy="594360"/>
          </a:xfrm>
          <a:prstGeom prst="rect">
            <a:avLst/>
          </a:prstGeom>
          <a:noFill/>
          <a:ln/>
        </p:spPr>
        <p:txBody>
          <a:bodyPr wrap="square" lIns="0" tIns="0" rIns="0" bIns="0" rtlCol="0" anchor="ctr"/>
          <a:lstStyle/>
          <a:p>
            <a:pPr indent="0" marL="0">
              <a:lnSpc>
                <a:spcPts val="2200"/>
              </a:lnSpc>
              <a:buNone/>
            </a:pPr>
            <a:r>
              <a:rPr lang="en-US" sz="1600" dirty="0">
                <a:solidFill>
                  <a:srgbClr val="111111"/>
                </a:solidFill>
                <a:latin typeface="Arial" pitchFamily="34" charset="0"/>
                <a:ea typeface="Arial" pitchFamily="34" charset="-122"/>
                <a:cs typeface="Arial" pitchFamily="34" charset="-120"/>
              </a:rPr>
              <a:t>Budgets that are feasible. Inflated contracts flagged before the money leaves.</a:t>
            </a:r>
            <a:endParaRPr lang="en-US" sz="1600" dirty="0"/>
          </a:p>
        </p:txBody>
      </p:sp>
      <p:sp>
        <p:nvSpPr>
          <p:cNvPr id="19" name="Text 17"/>
          <p:cNvSpPr txBox="1"/>
          <p:nvPr/>
        </p:nvSpPr>
        <p:spPr>
          <a:xfrm>
            <a:off x="640080" y="5760720"/>
            <a:ext cx="9601200" cy="731520"/>
          </a:xfrm>
          <a:prstGeom prst="rect">
            <a:avLst/>
          </a:prstGeom>
          <a:noFill/>
          <a:ln/>
        </p:spPr>
        <p:txBody>
          <a:bodyPr wrap="square" lIns="0" tIns="0" rIns="0" bIns="0" rtlCol="0" anchor="ctr"/>
          <a:lstStyle/>
          <a:p>
            <a:pPr indent="0" marL="0">
              <a:buNone/>
            </a:pPr>
            <a:r>
              <a:rPr lang="en-US" sz="1700" b="1" i="1" dirty="0">
                <a:solidFill>
                  <a:srgbClr val="C8102E"/>
                </a:solidFill>
                <a:latin typeface="Cambria" pitchFamily="34" charset="0"/>
                <a:ea typeface="Cambria" pitchFamily="34" charset="-122"/>
                <a:cs typeface="Cambria" pitchFamily="34" charset="-120"/>
              </a:rPr>
              <a:t>Every single item on this list is already a solved problem somewhere in the world today. We are not waiting for a discovery. We are waiting for a decision.</a:t>
            </a:r>
            <a:endParaRPr lang="en-US" sz="1700" dirty="0"/>
          </a:p>
        </p:txBody>
      </p:sp>
      <p:sp>
        <p:nvSpPr>
          <p:cNvPr id="20" name="Text 18"/>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THE FUTURE IS ALREADY HERE</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AI is not a computing revolution.</a:t>
            </a:r>
            <a:endParaRPr lang="en-US" sz="4000" dirty="0"/>
          </a:p>
        </p:txBody>
      </p:sp>
      <p:sp>
        <p:nvSpPr>
          <p:cNvPr id="4" name="Text 2"/>
          <p:cNvSpPr txBox="1"/>
          <p:nvPr/>
        </p:nvSpPr>
        <p:spPr>
          <a:xfrm>
            <a:off x="640080" y="1600200"/>
            <a:ext cx="10881360" cy="822960"/>
          </a:xfrm>
          <a:prstGeom prst="rect">
            <a:avLst/>
          </a:prstGeom>
          <a:noFill/>
          <a:ln/>
        </p:spPr>
        <p:txBody>
          <a:bodyPr wrap="square" lIns="0" tIns="0" rIns="0" bIns="0" rtlCol="0" anchor="ctr"/>
          <a:lstStyle/>
          <a:p>
            <a:pPr indent="0" marL="0">
              <a:lnSpc>
                <a:spcPts val="4000"/>
              </a:lnSpc>
              <a:buNone/>
            </a:pPr>
            <a:r>
              <a:rPr lang="en-US" sz="3200" b="1" dirty="0">
                <a:solidFill>
                  <a:srgbClr val="0B6B3A"/>
                </a:solidFill>
                <a:latin typeface="Cambria" pitchFamily="34" charset="0"/>
                <a:ea typeface="Cambria" pitchFamily="34" charset="-122"/>
                <a:cs typeface="Cambria" pitchFamily="34" charset="-120"/>
              </a:rPr>
              <a:t>It is a mathematics revolution wearing a computing costume.</a:t>
            </a:r>
            <a:endParaRPr lang="en-US" sz="3200" dirty="0"/>
          </a:p>
        </p:txBody>
      </p:sp>
      <p:sp>
        <p:nvSpPr>
          <p:cNvPr id="5" name="Shape 3"/>
          <p:cNvSpPr/>
          <p:nvPr/>
        </p:nvSpPr>
        <p:spPr>
          <a:xfrm>
            <a:off x="640080" y="2743200"/>
            <a:ext cx="2011680" cy="1371600"/>
          </a:xfrm>
          <a:prstGeom prst="rect">
            <a:avLst/>
          </a:prstGeom>
          <a:solidFill>
            <a:srgbClr val="F2F5F3"/>
          </a:solidFill>
          <a:ln/>
        </p:spPr>
      </p:sp>
      <p:sp>
        <p:nvSpPr>
          <p:cNvPr id="6" name="Text 4"/>
          <p:cNvSpPr txBox="1"/>
          <p:nvPr/>
        </p:nvSpPr>
        <p:spPr>
          <a:xfrm>
            <a:off x="804672" y="2971800"/>
            <a:ext cx="1682496" cy="914400"/>
          </a:xfrm>
          <a:prstGeom prst="rect">
            <a:avLst/>
          </a:prstGeom>
          <a:noFill/>
          <a:ln/>
        </p:spPr>
        <p:txBody>
          <a:bodyPr wrap="square" lIns="0" tIns="0" rIns="0" bIns="0" rtlCol="0" anchor="ctr"/>
          <a:lstStyle/>
          <a:p>
            <a:pPr algn="ctr" indent="0" marL="0">
              <a:lnSpc>
                <a:spcPts val="2200"/>
              </a:lnSpc>
              <a:buNone/>
            </a:pPr>
            <a:r>
              <a:rPr lang="en-US" sz="1700" b="1" dirty="0">
                <a:solidFill>
                  <a:srgbClr val="111111"/>
                </a:solidFill>
                <a:latin typeface="Arial" pitchFamily="34" charset="0"/>
                <a:ea typeface="Arial" pitchFamily="34" charset="-122"/>
                <a:cs typeface="Arial" pitchFamily="34" charset="-120"/>
              </a:rPr>
              <a:t>Linear algebra</a:t>
            </a:r>
            <a:endParaRPr lang="en-US" sz="1700" dirty="0"/>
          </a:p>
        </p:txBody>
      </p:sp>
      <p:sp>
        <p:nvSpPr>
          <p:cNvPr id="7" name="Shape 5"/>
          <p:cNvSpPr/>
          <p:nvPr/>
        </p:nvSpPr>
        <p:spPr>
          <a:xfrm>
            <a:off x="2852928" y="2743200"/>
            <a:ext cx="2011680" cy="1371600"/>
          </a:xfrm>
          <a:prstGeom prst="rect">
            <a:avLst/>
          </a:prstGeom>
          <a:solidFill>
            <a:srgbClr val="F2F5F3"/>
          </a:solidFill>
          <a:ln/>
        </p:spPr>
      </p:sp>
      <p:sp>
        <p:nvSpPr>
          <p:cNvPr id="8" name="Text 6"/>
          <p:cNvSpPr txBox="1"/>
          <p:nvPr/>
        </p:nvSpPr>
        <p:spPr>
          <a:xfrm>
            <a:off x="3017520" y="2971800"/>
            <a:ext cx="1682496" cy="914400"/>
          </a:xfrm>
          <a:prstGeom prst="rect">
            <a:avLst/>
          </a:prstGeom>
          <a:noFill/>
          <a:ln/>
        </p:spPr>
        <p:txBody>
          <a:bodyPr wrap="square" lIns="0" tIns="0" rIns="0" bIns="0" rtlCol="0" anchor="ctr"/>
          <a:lstStyle/>
          <a:p>
            <a:pPr algn="ctr" indent="0" marL="0">
              <a:lnSpc>
                <a:spcPts val="2200"/>
              </a:lnSpc>
              <a:buNone/>
            </a:pPr>
            <a:r>
              <a:rPr lang="en-US" sz="1700" b="1" dirty="0">
                <a:solidFill>
                  <a:srgbClr val="111111"/>
                </a:solidFill>
                <a:latin typeface="Arial" pitchFamily="34" charset="0"/>
                <a:ea typeface="Arial" pitchFamily="34" charset="-122"/>
                <a:cs typeface="Arial" pitchFamily="34" charset="-120"/>
              </a:rPr>
              <a:t>Multivariable calculus</a:t>
            </a:r>
            <a:endParaRPr lang="en-US" sz="1700" dirty="0"/>
          </a:p>
        </p:txBody>
      </p:sp>
      <p:sp>
        <p:nvSpPr>
          <p:cNvPr id="9" name="Shape 7"/>
          <p:cNvSpPr/>
          <p:nvPr/>
        </p:nvSpPr>
        <p:spPr>
          <a:xfrm>
            <a:off x="5065776" y="2743200"/>
            <a:ext cx="2011680" cy="1371600"/>
          </a:xfrm>
          <a:prstGeom prst="rect">
            <a:avLst/>
          </a:prstGeom>
          <a:solidFill>
            <a:srgbClr val="F2F5F3"/>
          </a:solidFill>
          <a:ln/>
        </p:spPr>
      </p:sp>
      <p:sp>
        <p:nvSpPr>
          <p:cNvPr id="10" name="Text 8"/>
          <p:cNvSpPr txBox="1"/>
          <p:nvPr/>
        </p:nvSpPr>
        <p:spPr>
          <a:xfrm>
            <a:off x="5230368" y="2971800"/>
            <a:ext cx="1682496" cy="914400"/>
          </a:xfrm>
          <a:prstGeom prst="rect">
            <a:avLst/>
          </a:prstGeom>
          <a:noFill/>
          <a:ln/>
        </p:spPr>
        <p:txBody>
          <a:bodyPr wrap="square" lIns="0" tIns="0" rIns="0" bIns="0" rtlCol="0" anchor="ctr"/>
          <a:lstStyle/>
          <a:p>
            <a:pPr algn="ctr" indent="0" marL="0">
              <a:lnSpc>
                <a:spcPts val="2200"/>
              </a:lnSpc>
              <a:buNone/>
            </a:pPr>
            <a:r>
              <a:rPr lang="en-US" sz="1700" b="1" dirty="0">
                <a:solidFill>
                  <a:srgbClr val="111111"/>
                </a:solidFill>
                <a:latin typeface="Arial" pitchFamily="34" charset="0"/>
                <a:ea typeface="Arial" pitchFamily="34" charset="-122"/>
                <a:cs typeface="Arial" pitchFamily="34" charset="-120"/>
              </a:rPr>
              <a:t>Probability</a:t>
            </a:r>
            <a:endParaRPr lang="en-US" sz="1700" dirty="0"/>
          </a:p>
        </p:txBody>
      </p:sp>
      <p:sp>
        <p:nvSpPr>
          <p:cNvPr id="11" name="Shape 9"/>
          <p:cNvSpPr/>
          <p:nvPr/>
        </p:nvSpPr>
        <p:spPr>
          <a:xfrm>
            <a:off x="7278624" y="2743200"/>
            <a:ext cx="2011680" cy="1371600"/>
          </a:xfrm>
          <a:prstGeom prst="rect">
            <a:avLst/>
          </a:prstGeom>
          <a:solidFill>
            <a:srgbClr val="F2F5F3"/>
          </a:solidFill>
          <a:ln/>
        </p:spPr>
      </p:sp>
      <p:sp>
        <p:nvSpPr>
          <p:cNvPr id="12" name="Text 10"/>
          <p:cNvSpPr txBox="1"/>
          <p:nvPr/>
        </p:nvSpPr>
        <p:spPr>
          <a:xfrm>
            <a:off x="7443216" y="2971800"/>
            <a:ext cx="1682496" cy="914400"/>
          </a:xfrm>
          <a:prstGeom prst="rect">
            <a:avLst/>
          </a:prstGeom>
          <a:noFill/>
          <a:ln/>
        </p:spPr>
        <p:txBody>
          <a:bodyPr wrap="square" lIns="0" tIns="0" rIns="0" bIns="0" rtlCol="0" anchor="ctr"/>
          <a:lstStyle/>
          <a:p>
            <a:pPr algn="ctr" indent="0" marL="0">
              <a:lnSpc>
                <a:spcPts val="2200"/>
              </a:lnSpc>
              <a:buNone/>
            </a:pPr>
            <a:r>
              <a:rPr lang="en-US" sz="1700" b="1" dirty="0">
                <a:solidFill>
                  <a:srgbClr val="111111"/>
                </a:solidFill>
                <a:latin typeface="Arial" pitchFamily="34" charset="0"/>
                <a:ea typeface="Arial" pitchFamily="34" charset="-122"/>
                <a:cs typeface="Arial" pitchFamily="34" charset="-120"/>
              </a:rPr>
              <a:t>Optimisation</a:t>
            </a:r>
            <a:endParaRPr lang="en-US" sz="1700" dirty="0"/>
          </a:p>
        </p:txBody>
      </p:sp>
      <p:sp>
        <p:nvSpPr>
          <p:cNvPr id="13" name="Shape 11"/>
          <p:cNvSpPr/>
          <p:nvPr/>
        </p:nvSpPr>
        <p:spPr>
          <a:xfrm>
            <a:off x="9491472" y="2743200"/>
            <a:ext cx="2011680" cy="1371600"/>
          </a:xfrm>
          <a:prstGeom prst="rect">
            <a:avLst/>
          </a:prstGeom>
          <a:solidFill>
            <a:srgbClr val="F2F5F3"/>
          </a:solidFill>
          <a:ln/>
        </p:spPr>
      </p:sp>
      <p:sp>
        <p:nvSpPr>
          <p:cNvPr id="14" name="Text 12"/>
          <p:cNvSpPr txBox="1"/>
          <p:nvPr/>
        </p:nvSpPr>
        <p:spPr>
          <a:xfrm>
            <a:off x="9656064" y="2971800"/>
            <a:ext cx="1682496" cy="914400"/>
          </a:xfrm>
          <a:prstGeom prst="rect">
            <a:avLst/>
          </a:prstGeom>
          <a:noFill/>
          <a:ln/>
        </p:spPr>
        <p:txBody>
          <a:bodyPr wrap="square" lIns="0" tIns="0" rIns="0" bIns="0" rtlCol="0" anchor="ctr"/>
          <a:lstStyle/>
          <a:p>
            <a:pPr algn="ctr" indent="0" marL="0">
              <a:lnSpc>
                <a:spcPts val="2200"/>
              </a:lnSpc>
              <a:buNone/>
            </a:pPr>
            <a:r>
              <a:rPr lang="en-US" sz="1700" b="1" dirty="0">
                <a:solidFill>
                  <a:srgbClr val="111111"/>
                </a:solidFill>
                <a:latin typeface="Arial" pitchFamily="34" charset="0"/>
                <a:ea typeface="Arial" pitchFamily="34" charset="-122"/>
                <a:cs typeface="Arial" pitchFamily="34" charset="-120"/>
              </a:rPr>
              <a:t>Information theory</a:t>
            </a:r>
            <a:endParaRPr lang="en-US" sz="1700" dirty="0"/>
          </a:p>
        </p:txBody>
      </p:sp>
      <p:sp>
        <p:nvSpPr>
          <p:cNvPr id="15" name="Shape 13"/>
          <p:cNvSpPr/>
          <p:nvPr/>
        </p:nvSpPr>
        <p:spPr>
          <a:xfrm>
            <a:off x="640080" y="4526280"/>
            <a:ext cx="10881360" cy="1417320"/>
          </a:xfrm>
          <a:prstGeom prst="rect">
            <a:avLst/>
          </a:prstGeom>
          <a:solidFill>
            <a:srgbClr val="0B6B3A"/>
          </a:solidFill>
          <a:ln/>
        </p:spPr>
      </p:sp>
      <p:sp>
        <p:nvSpPr>
          <p:cNvPr id="16" name="Text 14"/>
          <p:cNvSpPr txBox="1"/>
          <p:nvPr/>
        </p:nvSpPr>
        <p:spPr>
          <a:xfrm>
            <a:off x="1005840" y="4754880"/>
            <a:ext cx="10149840" cy="1005840"/>
          </a:xfrm>
          <a:prstGeom prst="rect">
            <a:avLst/>
          </a:prstGeom>
          <a:noFill/>
          <a:ln/>
        </p:spPr>
        <p:txBody>
          <a:bodyPr wrap="square" lIns="0" tIns="0" rIns="0" bIns="0" rtlCol="0" anchor="ctr"/>
          <a:lstStyle/>
          <a:p>
            <a:pPr indent="0" marL="0">
              <a:lnSpc>
                <a:spcPts val="2800"/>
              </a:lnSpc>
              <a:buNone/>
            </a:pPr>
            <a:r>
              <a:rPr lang="en-US" sz="1900" dirty="0">
                <a:solidFill>
                  <a:srgbClr val="FFFFFF"/>
                </a:solidFill>
                <a:latin typeface="Arial" pitchFamily="34" charset="0"/>
                <a:ea typeface="Arial" pitchFamily="34" charset="-122"/>
                <a:cs typeface="Arial" pitchFamily="34" charset="-120"/>
              </a:rPr>
              <a:t>Everybody sitting in this hall is already an AI researcher. The subject the whole world is now pouring trillions of dollars into is your own subject. You were doing it before it became fashionable.</a:t>
            </a:r>
            <a:endParaRPr lang="en-US" sz="1900" dirty="0"/>
          </a:p>
        </p:txBody>
      </p:sp>
      <p:sp>
        <p:nvSpPr>
          <p:cNvPr id="17" name="Text 15"/>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EVERY OPPORTUNITY CARRIES ITS OWN DANGER</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The other edge of the blade.</a:t>
            </a:r>
            <a:endParaRPr lang="en-US" sz="4000" dirty="0"/>
          </a:p>
        </p:txBody>
      </p:sp>
      <p:sp>
        <p:nvSpPr>
          <p:cNvPr id="4" name="Shape 2"/>
          <p:cNvSpPr/>
          <p:nvPr/>
        </p:nvSpPr>
        <p:spPr>
          <a:xfrm>
            <a:off x="640080" y="1737360"/>
            <a:ext cx="5257800" cy="1828800"/>
          </a:xfrm>
          <a:prstGeom prst="rect">
            <a:avLst/>
          </a:prstGeom>
          <a:solidFill>
            <a:srgbClr val="F2F5F3"/>
          </a:solidFill>
          <a:ln/>
        </p:spPr>
      </p:sp>
      <p:sp>
        <p:nvSpPr>
          <p:cNvPr id="5" name="Text 3"/>
          <p:cNvSpPr txBox="1"/>
          <p:nvPr/>
        </p:nvSpPr>
        <p:spPr>
          <a:xfrm>
            <a:off x="960120" y="1920240"/>
            <a:ext cx="4617720" cy="457200"/>
          </a:xfrm>
          <a:prstGeom prst="rect">
            <a:avLst/>
          </a:prstGeom>
          <a:noFill/>
          <a:ln/>
        </p:spPr>
        <p:txBody>
          <a:bodyPr wrap="square" lIns="0" tIns="0" rIns="0" bIns="0" rtlCol="0" anchor="ctr"/>
          <a:lstStyle/>
          <a:p>
            <a:pPr indent="0" marL="0">
              <a:buNone/>
            </a:pPr>
            <a:r>
              <a:rPr lang="en-US" sz="2400" b="1" dirty="0">
                <a:solidFill>
                  <a:srgbClr val="C8102E"/>
                </a:solidFill>
                <a:latin typeface="Cambria" pitchFamily="34" charset="0"/>
                <a:ea typeface="Cambria" pitchFamily="34" charset="-122"/>
                <a:cs typeface="Cambria" pitchFamily="34" charset="-120"/>
              </a:rPr>
              <a:t>Steganography</a:t>
            </a:r>
            <a:endParaRPr lang="en-US" sz="2400" dirty="0"/>
          </a:p>
        </p:txBody>
      </p:sp>
      <p:sp>
        <p:nvSpPr>
          <p:cNvPr id="6" name="Text 4"/>
          <p:cNvSpPr txBox="1"/>
          <p:nvPr/>
        </p:nvSpPr>
        <p:spPr>
          <a:xfrm>
            <a:off x="960120" y="2423160"/>
            <a:ext cx="4617720" cy="1005840"/>
          </a:xfrm>
          <a:prstGeom prst="rect">
            <a:avLst/>
          </a:prstGeom>
          <a:noFill/>
          <a:ln/>
        </p:spPr>
        <p:txBody>
          <a:bodyPr wrap="square" lIns="0" tIns="0" rIns="0" bIns="0" rtlCol="0" anchor="ctr"/>
          <a:lstStyle/>
          <a:p>
            <a:pPr indent="0" marL="0">
              <a:lnSpc>
                <a:spcPts val="2000"/>
              </a:lnSpc>
              <a:buNone/>
            </a:pPr>
            <a:r>
              <a:rPr lang="en-US" sz="1400" dirty="0">
                <a:solidFill>
                  <a:srgbClr val="111111"/>
                </a:solidFill>
                <a:latin typeface="Arial" pitchFamily="34" charset="0"/>
                <a:ea typeface="Arial" pitchFamily="34" charset="-122"/>
                <a:cs typeface="Arial" pitchFamily="34" charset="-120"/>
              </a:rPr>
              <a:t>AI-generated images can now hide payloads that are statistically indistinguishable from ordinary content. A picture is no longer just a picture.</a:t>
            </a:r>
            <a:endParaRPr lang="en-US" sz="1400" dirty="0"/>
          </a:p>
        </p:txBody>
      </p:sp>
      <p:sp>
        <p:nvSpPr>
          <p:cNvPr id="7" name="Shape 5"/>
          <p:cNvSpPr/>
          <p:nvPr/>
        </p:nvSpPr>
        <p:spPr>
          <a:xfrm>
            <a:off x="6263640" y="1737360"/>
            <a:ext cx="5257800" cy="1828800"/>
          </a:xfrm>
          <a:prstGeom prst="rect">
            <a:avLst/>
          </a:prstGeom>
          <a:solidFill>
            <a:srgbClr val="F2F5F3"/>
          </a:solidFill>
          <a:ln/>
        </p:spPr>
      </p:sp>
      <p:sp>
        <p:nvSpPr>
          <p:cNvPr id="8" name="Text 6"/>
          <p:cNvSpPr txBox="1"/>
          <p:nvPr/>
        </p:nvSpPr>
        <p:spPr>
          <a:xfrm>
            <a:off x="6583680" y="1920240"/>
            <a:ext cx="4617720" cy="457200"/>
          </a:xfrm>
          <a:prstGeom prst="rect">
            <a:avLst/>
          </a:prstGeom>
          <a:noFill/>
          <a:ln/>
        </p:spPr>
        <p:txBody>
          <a:bodyPr wrap="square" lIns="0" tIns="0" rIns="0" bIns="0" rtlCol="0" anchor="ctr"/>
          <a:lstStyle/>
          <a:p>
            <a:pPr indent="0" marL="0">
              <a:buNone/>
            </a:pPr>
            <a:r>
              <a:rPr lang="en-US" sz="2400" b="1" dirty="0">
                <a:solidFill>
                  <a:srgbClr val="C8102E"/>
                </a:solidFill>
                <a:latin typeface="Cambria" pitchFamily="34" charset="0"/>
                <a:ea typeface="Cambria" pitchFamily="34" charset="-122"/>
                <a:cs typeface="Cambria" pitchFamily="34" charset="-120"/>
              </a:rPr>
              <a:t>Synthetic media</a:t>
            </a:r>
            <a:endParaRPr lang="en-US" sz="2400" dirty="0"/>
          </a:p>
        </p:txBody>
      </p:sp>
      <p:sp>
        <p:nvSpPr>
          <p:cNvPr id="9" name="Text 7"/>
          <p:cNvSpPr txBox="1"/>
          <p:nvPr/>
        </p:nvSpPr>
        <p:spPr>
          <a:xfrm>
            <a:off x="6583680" y="2423160"/>
            <a:ext cx="4617720" cy="1005840"/>
          </a:xfrm>
          <a:prstGeom prst="rect">
            <a:avLst/>
          </a:prstGeom>
          <a:noFill/>
          <a:ln/>
        </p:spPr>
        <p:txBody>
          <a:bodyPr wrap="square" lIns="0" tIns="0" rIns="0" bIns="0" rtlCol="0" anchor="ctr"/>
          <a:lstStyle/>
          <a:p>
            <a:pPr indent="0" marL="0">
              <a:lnSpc>
                <a:spcPts val="2000"/>
              </a:lnSpc>
              <a:buNone/>
            </a:pPr>
            <a:r>
              <a:rPr lang="en-US" sz="1400" dirty="0">
                <a:solidFill>
                  <a:srgbClr val="111111"/>
                </a:solidFill>
                <a:latin typeface="Arial" pitchFamily="34" charset="0"/>
                <a:ea typeface="Arial" pitchFamily="34" charset="-122"/>
                <a:cs typeface="Arial" pitchFamily="34" charset="-120"/>
              </a:rPr>
              <a:t>A voice cloned from thirty seconds of audio. In a country where one false statement can start a fire, this is national security.</a:t>
            </a:r>
            <a:endParaRPr lang="en-US" sz="1400" dirty="0"/>
          </a:p>
        </p:txBody>
      </p:sp>
      <p:sp>
        <p:nvSpPr>
          <p:cNvPr id="10" name="Shape 8"/>
          <p:cNvSpPr/>
          <p:nvPr/>
        </p:nvSpPr>
        <p:spPr>
          <a:xfrm>
            <a:off x="640080" y="3840480"/>
            <a:ext cx="5257800" cy="1828800"/>
          </a:xfrm>
          <a:prstGeom prst="rect">
            <a:avLst/>
          </a:prstGeom>
          <a:solidFill>
            <a:srgbClr val="F2F5F3"/>
          </a:solidFill>
          <a:ln/>
        </p:spPr>
      </p:sp>
      <p:sp>
        <p:nvSpPr>
          <p:cNvPr id="11" name="Text 9"/>
          <p:cNvSpPr txBox="1"/>
          <p:nvPr/>
        </p:nvSpPr>
        <p:spPr>
          <a:xfrm>
            <a:off x="960120" y="4023360"/>
            <a:ext cx="4617720" cy="457200"/>
          </a:xfrm>
          <a:prstGeom prst="rect">
            <a:avLst/>
          </a:prstGeom>
          <a:noFill/>
          <a:ln/>
        </p:spPr>
        <p:txBody>
          <a:bodyPr wrap="square" lIns="0" tIns="0" rIns="0" bIns="0" rtlCol="0" anchor="ctr"/>
          <a:lstStyle/>
          <a:p>
            <a:pPr indent="0" marL="0">
              <a:buNone/>
            </a:pPr>
            <a:r>
              <a:rPr lang="en-US" sz="2400" b="1" dirty="0">
                <a:solidFill>
                  <a:srgbClr val="C8102E"/>
                </a:solidFill>
                <a:latin typeface="Cambria" pitchFamily="34" charset="0"/>
                <a:ea typeface="Cambria" pitchFamily="34" charset="-122"/>
                <a:cs typeface="Cambria" pitchFamily="34" charset="-120"/>
              </a:rPr>
              <a:t>Post-quantum</a:t>
            </a:r>
            <a:endParaRPr lang="en-US" sz="2400" dirty="0"/>
          </a:p>
        </p:txBody>
      </p:sp>
      <p:sp>
        <p:nvSpPr>
          <p:cNvPr id="12" name="Text 10"/>
          <p:cNvSpPr txBox="1"/>
          <p:nvPr/>
        </p:nvSpPr>
        <p:spPr>
          <a:xfrm>
            <a:off x="960120" y="4526280"/>
            <a:ext cx="4617720" cy="1005840"/>
          </a:xfrm>
          <a:prstGeom prst="rect">
            <a:avLst/>
          </a:prstGeom>
          <a:noFill/>
          <a:ln/>
        </p:spPr>
        <p:txBody>
          <a:bodyPr wrap="square" lIns="0" tIns="0" rIns="0" bIns="0" rtlCol="0" anchor="ctr"/>
          <a:lstStyle/>
          <a:p>
            <a:pPr indent="0" marL="0">
              <a:lnSpc>
                <a:spcPts val="2000"/>
              </a:lnSpc>
              <a:buNone/>
            </a:pPr>
            <a:r>
              <a:rPr lang="en-US" sz="1400" dirty="0">
                <a:solidFill>
                  <a:srgbClr val="111111"/>
                </a:solidFill>
                <a:latin typeface="Arial" pitchFamily="34" charset="0"/>
                <a:ea typeface="Arial" pitchFamily="34" charset="-122"/>
                <a:cs typeface="Arial" pitchFamily="34" charset="-120"/>
              </a:rPr>
              <a:t>Every classified file and bank record rests on an assumption about factorisation. Other nations are already migrating. Where is our own plan?</a:t>
            </a:r>
            <a:endParaRPr lang="en-US" sz="1400" dirty="0"/>
          </a:p>
        </p:txBody>
      </p:sp>
      <p:sp>
        <p:nvSpPr>
          <p:cNvPr id="13" name="Shape 11"/>
          <p:cNvSpPr/>
          <p:nvPr/>
        </p:nvSpPr>
        <p:spPr>
          <a:xfrm>
            <a:off x="6263640" y="3840480"/>
            <a:ext cx="5257800" cy="1828800"/>
          </a:xfrm>
          <a:prstGeom prst="rect">
            <a:avLst/>
          </a:prstGeom>
          <a:solidFill>
            <a:srgbClr val="F2F5F3"/>
          </a:solidFill>
          <a:ln/>
        </p:spPr>
      </p:sp>
      <p:sp>
        <p:nvSpPr>
          <p:cNvPr id="14" name="Text 12"/>
          <p:cNvSpPr txBox="1"/>
          <p:nvPr/>
        </p:nvSpPr>
        <p:spPr>
          <a:xfrm>
            <a:off x="6583680" y="4023360"/>
            <a:ext cx="4617720" cy="457200"/>
          </a:xfrm>
          <a:prstGeom prst="rect">
            <a:avLst/>
          </a:prstGeom>
          <a:noFill/>
          <a:ln/>
        </p:spPr>
        <p:txBody>
          <a:bodyPr wrap="square" lIns="0" tIns="0" rIns="0" bIns="0" rtlCol="0" anchor="ctr"/>
          <a:lstStyle/>
          <a:p>
            <a:pPr indent="0" marL="0">
              <a:buNone/>
            </a:pPr>
            <a:r>
              <a:rPr lang="en-US" sz="2400" b="1" dirty="0">
                <a:solidFill>
                  <a:srgbClr val="C8102E"/>
                </a:solidFill>
                <a:latin typeface="Cambria" pitchFamily="34" charset="0"/>
                <a:ea typeface="Cambria" pitchFamily="34" charset="-122"/>
                <a:cs typeface="Cambria" pitchFamily="34" charset="-120"/>
              </a:rPr>
              <a:t>Algorithmic bias</a:t>
            </a:r>
            <a:endParaRPr lang="en-US" sz="2400" dirty="0"/>
          </a:p>
        </p:txBody>
      </p:sp>
      <p:sp>
        <p:nvSpPr>
          <p:cNvPr id="15" name="Text 13"/>
          <p:cNvSpPr txBox="1"/>
          <p:nvPr/>
        </p:nvSpPr>
        <p:spPr>
          <a:xfrm>
            <a:off x="6583680" y="4526280"/>
            <a:ext cx="4617720" cy="1005840"/>
          </a:xfrm>
          <a:prstGeom prst="rect">
            <a:avLst/>
          </a:prstGeom>
          <a:noFill/>
          <a:ln/>
        </p:spPr>
        <p:txBody>
          <a:bodyPr wrap="square" lIns="0" tIns="0" rIns="0" bIns="0" rtlCol="0" anchor="ctr"/>
          <a:lstStyle/>
          <a:p>
            <a:pPr indent="0" marL="0">
              <a:lnSpc>
                <a:spcPts val="2000"/>
              </a:lnSpc>
              <a:buNone/>
            </a:pPr>
            <a:r>
              <a:rPr lang="en-US" sz="1400" dirty="0">
                <a:solidFill>
                  <a:srgbClr val="111111"/>
                </a:solidFill>
                <a:latin typeface="Arial" pitchFamily="34" charset="0"/>
                <a:ea typeface="Arial" pitchFamily="34" charset="-122"/>
                <a:cs typeface="Arial" pitchFamily="34" charset="-120"/>
              </a:rPr>
              <a:t>A model trained on data that does not include us, now making decisions about us, in credit, in medicine, in visas.</a:t>
            </a:r>
            <a:endParaRPr lang="en-US" sz="1400" dirty="0"/>
          </a:p>
        </p:txBody>
      </p:sp>
      <p:sp>
        <p:nvSpPr>
          <p:cNvPr id="16" name="Text 14"/>
          <p:cNvSpPr txBox="1"/>
          <p:nvPr/>
        </p:nvSpPr>
        <p:spPr>
          <a:xfrm>
            <a:off x="640080" y="5897880"/>
            <a:ext cx="9692640" cy="502920"/>
          </a:xfrm>
          <a:prstGeom prst="rect">
            <a:avLst/>
          </a:prstGeom>
          <a:noFill/>
          <a:ln/>
        </p:spPr>
        <p:txBody>
          <a:bodyPr wrap="square" lIns="0" tIns="0" rIns="0" bIns="0" rtlCol="0" anchor="ctr"/>
          <a:lstStyle/>
          <a:p>
            <a:pPr indent="0" marL="0">
              <a:buNone/>
            </a:pPr>
            <a:r>
              <a:rPr lang="en-US" sz="1900" b="1" i="1" dirty="0">
                <a:solidFill>
                  <a:srgbClr val="0B6B3A"/>
                </a:solidFill>
                <a:latin typeface="Cambria" pitchFamily="34" charset="0"/>
                <a:ea typeface="Cambria" pitchFamily="34" charset="-122"/>
                <a:cs typeface="Cambria" pitchFamily="34" charset="-120"/>
              </a:rPr>
              <a:t>We cannot only consume this mathematics. We must audit it, build it, and defend against it.</a:t>
            </a:r>
            <a:endParaRPr lang="en-US" sz="1900" dirty="0"/>
          </a:p>
        </p:txBody>
      </p:sp>
      <p:sp>
        <p:nvSpPr>
          <p:cNvPr id="17" name="Text 15"/>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300" b="1" spc="200" kern="0" dirty="0">
                <a:solidFill>
                  <a:srgbClr val="0B6B3A"/>
                </a:solidFill>
                <a:latin typeface="Arial" pitchFamily="34" charset="0"/>
                <a:ea typeface="Arial" pitchFamily="34" charset="-122"/>
                <a:cs typeface="Arial" pitchFamily="34" charset="-120"/>
              </a:rPr>
              <a:t>SO WHAT DO WE DO FROM HERE?</a:t>
            </a:r>
            <a:endParaRPr lang="en-US" sz="1300" dirty="0"/>
          </a:p>
        </p:txBody>
      </p:sp>
      <p:sp>
        <p:nvSpPr>
          <p:cNvPr id="3" name="Text 1"/>
          <p:cNvSpPr txBox="1"/>
          <p:nvPr/>
        </p:nvSpPr>
        <p:spPr>
          <a:xfrm>
            <a:off x="640080" y="502920"/>
            <a:ext cx="10881360" cy="1005840"/>
          </a:xfrm>
          <a:prstGeom prst="rect">
            <a:avLst/>
          </a:prstGeom>
          <a:noFill/>
          <a:ln/>
        </p:spPr>
        <p:txBody>
          <a:bodyPr wrap="square" lIns="0" tIns="0" rIns="0" bIns="0" rtlCol="0" anchor="t"/>
          <a:lstStyle/>
          <a:p>
            <a:pPr indent="0" marL="0">
              <a:buNone/>
            </a:pPr>
            <a:r>
              <a:rPr lang="en-US" sz="4000" b="1" dirty="0">
                <a:solidFill>
                  <a:srgbClr val="111111"/>
                </a:solidFill>
                <a:latin typeface="Cambria" pitchFamily="34" charset="0"/>
                <a:ea typeface="Cambria" pitchFamily="34" charset="-122"/>
                <a:cs typeface="Cambria" pitchFamily="34" charset="-120"/>
              </a:rPr>
              <a:t>There is one variable we control.</a:t>
            </a:r>
            <a:endParaRPr lang="en-US" sz="4000" dirty="0"/>
          </a:p>
        </p:txBody>
      </p:sp>
      <p:sp>
        <p:nvSpPr>
          <p:cNvPr id="4" name="Shape 2"/>
          <p:cNvSpPr/>
          <p:nvPr/>
        </p:nvSpPr>
        <p:spPr>
          <a:xfrm>
            <a:off x="640080" y="1691640"/>
            <a:ext cx="10881360" cy="1828800"/>
          </a:xfrm>
          <a:prstGeom prst="rect">
            <a:avLst/>
          </a:prstGeom>
          <a:solidFill>
            <a:srgbClr val="F2F5F3"/>
          </a:solidFill>
          <a:ln/>
        </p:spPr>
      </p:sp>
      <p:sp>
        <p:nvSpPr>
          <p:cNvPr id="5" name="Text 3"/>
          <p:cNvSpPr txBox="1"/>
          <p:nvPr/>
        </p:nvSpPr>
        <p:spPr>
          <a:xfrm>
            <a:off x="1005840" y="1965960"/>
            <a:ext cx="10149840" cy="1280160"/>
          </a:xfrm>
          <a:prstGeom prst="rect">
            <a:avLst/>
          </a:prstGeom>
          <a:noFill/>
          <a:ln/>
        </p:spPr>
        <p:txBody>
          <a:bodyPr wrap="square" lIns="0" tIns="0" rIns="0" bIns="0" rtlCol="0" anchor="ctr"/>
          <a:lstStyle/>
          <a:p>
            <a:pPr indent="0" marL="0">
              <a:lnSpc>
                <a:spcPts val="3800"/>
              </a:lnSpc>
              <a:buNone/>
            </a:pPr>
            <a:r>
              <a:rPr lang="en-US" sz="2800" b="1" dirty="0">
                <a:solidFill>
                  <a:srgbClr val="111111"/>
                </a:solidFill>
                <a:latin typeface="Cambria" pitchFamily="34" charset="0"/>
                <a:ea typeface="Cambria" pitchFamily="34" charset="-122"/>
                <a:cs typeface="Cambria" pitchFamily="34" charset="-120"/>
              </a:rPr>
              <a:t>It is the number of people in this nation who are willing to carry rigour out of the classroom and apply it to the country.</a:t>
            </a:r>
            <a:endParaRPr lang="en-US" sz="2800" dirty="0"/>
          </a:p>
        </p:txBody>
      </p:sp>
      <p:sp>
        <p:nvSpPr>
          <p:cNvPr id="6" name="Shape 4"/>
          <p:cNvSpPr/>
          <p:nvPr/>
        </p:nvSpPr>
        <p:spPr>
          <a:xfrm>
            <a:off x="640080" y="3794760"/>
            <a:ext cx="3429000" cy="1417320"/>
          </a:xfrm>
          <a:prstGeom prst="rect">
            <a:avLst/>
          </a:prstGeom>
          <a:solidFill>
            <a:srgbClr val="0B6B3A"/>
          </a:solidFill>
          <a:ln/>
        </p:spPr>
      </p:sp>
      <p:sp>
        <p:nvSpPr>
          <p:cNvPr id="7" name="Text 5"/>
          <p:cNvSpPr txBox="1"/>
          <p:nvPr/>
        </p:nvSpPr>
        <p:spPr>
          <a:xfrm>
            <a:off x="914400" y="3977640"/>
            <a:ext cx="2880360" cy="1051560"/>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Arial" pitchFamily="34" charset="0"/>
                <a:ea typeface="Arial" pitchFamily="34" charset="-122"/>
                <a:cs typeface="Arial" pitchFamily="34" charset="-120"/>
              </a:rPr>
              <a:t>The professor who adopts a ministry.</a:t>
            </a:r>
            <a:endParaRPr lang="en-US" sz="1600" dirty="0"/>
          </a:p>
        </p:txBody>
      </p:sp>
      <p:sp>
        <p:nvSpPr>
          <p:cNvPr id="8" name="Shape 6"/>
          <p:cNvSpPr/>
          <p:nvPr/>
        </p:nvSpPr>
        <p:spPr>
          <a:xfrm>
            <a:off x="4343400" y="3794760"/>
            <a:ext cx="3429000" cy="1417320"/>
          </a:xfrm>
          <a:prstGeom prst="rect">
            <a:avLst/>
          </a:prstGeom>
          <a:solidFill>
            <a:srgbClr val="0B6B3A"/>
          </a:solidFill>
          <a:ln/>
        </p:spPr>
      </p:sp>
      <p:sp>
        <p:nvSpPr>
          <p:cNvPr id="9" name="Text 7"/>
          <p:cNvSpPr txBox="1"/>
          <p:nvPr/>
        </p:nvSpPr>
        <p:spPr>
          <a:xfrm>
            <a:off x="4617720" y="3977640"/>
            <a:ext cx="2880360" cy="1051560"/>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Arial" pitchFamily="34" charset="0"/>
                <a:ea typeface="Arial" pitchFamily="34" charset="-122"/>
                <a:cs typeface="Arial" pitchFamily="34" charset="-120"/>
              </a:rPr>
              <a:t>The student who builds for the local government, not only for the journal.</a:t>
            </a:r>
            <a:endParaRPr lang="en-US" sz="1600" dirty="0"/>
          </a:p>
        </p:txBody>
      </p:sp>
      <p:sp>
        <p:nvSpPr>
          <p:cNvPr id="10" name="Shape 8"/>
          <p:cNvSpPr/>
          <p:nvPr/>
        </p:nvSpPr>
        <p:spPr>
          <a:xfrm>
            <a:off x="8046720" y="3794760"/>
            <a:ext cx="3429000" cy="1417320"/>
          </a:xfrm>
          <a:prstGeom prst="rect">
            <a:avLst/>
          </a:prstGeom>
          <a:solidFill>
            <a:srgbClr val="0B6B3A"/>
          </a:solidFill>
          <a:ln/>
        </p:spPr>
      </p:sp>
      <p:sp>
        <p:nvSpPr>
          <p:cNvPr id="11" name="Text 9"/>
          <p:cNvSpPr txBox="1"/>
          <p:nvPr/>
        </p:nvSpPr>
        <p:spPr>
          <a:xfrm>
            <a:off x="8321040" y="3977640"/>
            <a:ext cx="2880360" cy="1051560"/>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Arial" pitchFamily="34" charset="0"/>
                <a:ea typeface="Arial" pitchFamily="34" charset="-122"/>
                <a:cs typeface="Arial" pitchFamily="34" charset="-120"/>
              </a:rPr>
              <a:t>The young person who makes Nigeria's decisions defensible.</a:t>
            </a:r>
            <a:endParaRPr lang="en-US" sz="1600" dirty="0"/>
          </a:p>
        </p:txBody>
      </p:sp>
      <p:sp>
        <p:nvSpPr>
          <p:cNvPr id="12" name="Text 10"/>
          <p:cNvSpPr txBox="1"/>
          <p:nvPr/>
        </p:nvSpPr>
        <p:spPr>
          <a:xfrm>
            <a:off x="640080" y="5440680"/>
            <a:ext cx="10881360" cy="548640"/>
          </a:xfrm>
          <a:prstGeom prst="rect">
            <a:avLst/>
          </a:prstGeom>
          <a:noFill/>
          <a:ln/>
        </p:spPr>
        <p:txBody>
          <a:bodyPr wrap="square" lIns="0" tIns="0" rIns="0" bIns="0" rtlCol="0" anchor="ctr"/>
          <a:lstStyle/>
          <a:p>
            <a:pPr indent="0" marL="0">
              <a:buNone/>
            </a:pPr>
            <a:r>
              <a:rPr lang="en-US" sz="2200" b="1" i="1" dirty="0">
                <a:solidFill>
                  <a:srgbClr val="C8102E"/>
                </a:solidFill>
                <a:latin typeface="Cambria" pitchFamily="34" charset="0"/>
                <a:ea typeface="Cambria" pitchFamily="34" charset="-122"/>
                <a:cs typeface="Cambria" pitchFamily="34" charset="-120"/>
              </a:rPr>
              <a:t>No legislation required. No budget line. No permission. You can start on Monday morning.</a:t>
            </a:r>
            <a:endParaRPr lang="en-US" sz="2200" dirty="0"/>
          </a:p>
        </p:txBody>
      </p:sp>
      <p:sp>
        <p:nvSpPr>
          <p:cNvPr id="13" name="Text 11"/>
          <p:cNvSpPr txBox="1"/>
          <p:nvPr/>
        </p:nvSpPr>
        <p:spPr>
          <a:xfrm>
            <a:off x="10515600" y="6172200"/>
            <a:ext cx="1188720" cy="365760"/>
          </a:xfrm>
          <a:prstGeom prst="rect">
            <a:avLst/>
          </a:prstGeom>
          <a:noFill/>
          <a:ln/>
        </p:spPr>
        <p:txBody>
          <a:bodyPr wrap="square" lIns="0" tIns="0" rIns="0" bIns="0" rtlCol="0" anchor="ctr"/>
          <a:lstStyle/>
          <a:p>
            <a:pPr algn="r" indent="0" marL="0">
              <a:buNone/>
            </a:pPr>
            <a:r>
              <a:rPr lang="en-US" sz="1400" b="1" dirty="0">
                <a:solidFill>
                  <a:srgbClr val="0B6B3A"/>
                </a:solidFill>
                <a:latin typeface="Arial" pitchFamily="34" charset="0"/>
                <a:ea typeface="Arial" pitchFamily="34" charset="-122"/>
                <a:cs typeface="Arial" pitchFamily="34" charset="-120"/>
              </a:rPr>
              <a:t>RAIN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6B3A"/>
        </a:solidFill>
      </p:bgPr>
    </p:bg>
    <p:spTree>
      <p:nvGrpSpPr>
        <p:cNvPr id="1" name=""/>
        <p:cNvGrpSpPr/>
        <p:nvPr/>
      </p:nvGrpSpPr>
      <p:grpSpPr>
        <a:xfrm>
          <a:off x="0" y="0"/>
          <a:ext cx="0" cy="0"/>
          <a:chOff x="0" y="0"/>
          <a:chExt cx="0" cy="0"/>
        </a:xfrm>
      </p:grpSpPr>
      <p:sp>
        <p:nvSpPr>
          <p:cNvPr id="2" name="Text 0"/>
          <p:cNvSpPr txBox="1"/>
          <p:nvPr/>
        </p:nvSpPr>
        <p:spPr>
          <a:xfrm>
            <a:off x="822960" y="1737360"/>
            <a:ext cx="10515600" cy="1645920"/>
          </a:xfrm>
          <a:prstGeom prst="rect">
            <a:avLst/>
          </a:prstGeom>
          <a:noFill/>
          <a:ln/>
        </p:spPr>
        <p:txBody>
          <a:bodyPr wrap="square" lIns="0" tIns="0" rIns="0" bIns="0" rtlCol="0" anchor="ctr"/>
          <a:lstStyle/>
          <a:p>
            <a:pPr indent="0" marL="0">
              <a:lnSpc>
                <a:spcPts val="5200"/>
              </a:lnSpc>
              <a:buNone/>
            </a:pPr>
            <a:r>
              <a:rPr lang="en-US" sz="4000" dirty="0">
                <a:solidFill>
                  <a:srgbClr val="C3E0D0"/>
                </a:solidFill>
                <a:latin typeface="Cambria" pitchFamily="34" charset="0"/>
                <a:ea typeface="Cambria" pitchFamily="34" charset="-122"/>
                <a:cs typeface="Cambria" pitchFamily="34" charset="-120"/>
              </a:rPr>
              <a:t>A nation is not built by</a:t>
            </a:r>
            <a:endParaRPr lang="en-US" sz="4000" dirty="0"/>
          </a:p>
          <a:p>
            <a:pPr indent="0" marL="0">
              <a:lnSpc>
                <a:spcPts val="5200"/>
              </a:lnSpc>
              <a:buNone/>
            </a:pPr>
            <a:r>
              <a:rPr lang="en-US" sz="4000" dirty="0">
                <a:solidFill>
                  <a:srgbClr val="C3E0D0"/>
                </a:solidFill>
                <a:latin typeface="Cambria" pitchFamily="34" charset="0"/>
                <a:ea typeface="Cambria" pitchFamily="34" charset="-122"/>
                <a:cs typeface="Cambria" pitchFamily="34" charset="-120"/>
              </a:rPr>
              <a:t>those who admire the problem.</a:t>
            </a:r>
            <a:endParaRPr lang="en-US" sz="4000" dirty="0"/>
          </a:p>
        </p:txBody>
      </p:sp>
      <p:sp>
        <p:nvSpPr>
          <p:cNvPr id="3" name="Text 1"/>
          <p:cNvSpPr txBox="1"/>
          <p:nvPr/>
        </p:nvSpPr>
        <p:spPr>
          <a:xfrm>
            <a:off x="822960" y="347472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It is built by those who solve it.</a:t>
            </a:r>
            <a:endParaRPr lang="en-US" sz="4600" dirty="0"/>
          </a:p>
        </p:txBody>
      </p:sp>
      <p:sp>
        <p:nvSpPr>
          <p:cNvPr id="4" name="Text 2"/>
          <p:cNvSpPr txBox="1"/>
          <p:nvPr/>
        </p:nvSpPr>
        <p:spPr>
          <a:xfrm>
            <a:off x="822960" y="4663440"/>
            <a:ext cx="10515600" cy="548640"/>
          </a:xfrm>
          <a:prstGeom prst="rect">
            <a:avLst/>
          </a:prstGeom>
          <a:noFill/>
          <a:ln/>
        </p:spPr>
        <p:txBody>
          <a:bodyPr wrap="square" lIns="0" tIns="0" rIns="0" bIns="0" rtlCol="0" anchor="ctr"/>
          <a:lstStyle/>
          <a:p>
            <a:pPr indent="0" marL="0">
              <a:buNone/>
            </a:pPr>
            <a:r>
              <a:rPr lang="en-US" sz="2400" i="1" dirty="0">
                <a:solidFill>
                  <a:srgbClr val="A9D4BC"/>
                </a:solidFill>
                <a:latin typeface="Cambria" pitchFamily="34" charset="0"/>
                <a:ea typeface="Cambria" pitchFamily="34" charset="-122"/>
                <a:cs typeface="Cambria" pitchFamily="34" charset="-120"/>
              </a:rPr>
              <a:t>Thank you very much.</a:t>
            </a:r>
            <a:endParaRPr lang="en-US" sz="2400" dirty="0"/>
          </a:p>
        </p:txBody>
      </p:sp>
      <p:sp>
        <p:nvSpPr>
          <p:cNvPr id="5" name="Text 3"/>
          <p:cNvSpPr txBox="1"/>
          <p:nvPr/>
        </p:nvSpPr>
        <p:spPr>
          <a:xfrm>
            <a:off x="822960" y="5852160"/>
            <a:ext cx="10515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Dr. Olusola Ayoola  ·  Robotics and Artificial Intelligence Nigeria (RAIN)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Mathematical Sciences on Nation Building</dc:title>
  <dc:subject>PptxGenJS Presentation</dc:subject>
  <dc:creator>Dr. Olusola Ayoola</dc:creator>
  <cp:lastModifiedBy>Dr. Olusola Ayoola</cp:lastModifiedBy>
  <cp:revision>1</cp:revision>
  <dcterms:created xsi:type="dcterms:W3CDTF">2026-08-27T01:08:14Z</dcterms:created>
  <dcterms:modified xsi:type="dcterms:W3CDTF">2026-08-27T01:08:14Z</dcterms:modified>
</cp:coreProperties>
</file>