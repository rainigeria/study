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84" r:id="rId3"/>
    <p:sldId id="271" r:id="rId4"/>
    <p:sldId id="275" r:id="rId5"/>
    <p:sldId id="276" r:id="rId6"/>
    <p:sldId id="257" r:id="rId7"/>
    <p:sldId id="270" r:id="rId8"/>
    <p:sldId id="294" r:id="rId9"/>
    <p:sldId id="258" r:id="rId10"/>
    <p:sldId id="260" r:id="rId11"/>
    <p:sldId id="292" r:id="rId12"/>
    <p:sldId id="291" r:id="rId13"/>
    <p:sldId id="261" r:id="rId14"/>
    <p:sldId id="296" r:id="rId15"/>
    <p:sldId id="297" r:id="rId16"/>
    <p:sldId id="262" r:id="rId17"/>
    <p:sldId id="293" r:id="rId18"/>
    <p:sldId id="282" r:id="rId19"/>
    <p:sldId id="290" r:id="rId20"/>
    <p:sldId id="264" r:id="rId21"/>
    <p:sldId id="316" r:id="rId22"/>
    <p:sldId id="317" r:id="rId23"/>
    <p:sldId id="31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08" r:id="rId32"/>
    <p:sldId id="307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306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776" y="-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1B3B0C-63C0-46E2-A286-18DE144EBF25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778B61-6D33-4A86-9E9B-EF80D7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771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778B61-6D33-4A86-9E9B-EF80D73FF2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282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4575-14BC-4BFE-8D39-7263007F07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2DDC-4FD2-4926-977B-487F808A0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586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4575-14BC-4BFE-8D39-7263007F07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2DDC-4FD2-4926-977B-487F808A0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559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4575-14BC-4BFE-8D39-7263007F07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2DDC-4FD2-4926-977B-487F808A0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497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4575-14BC-4BFE-8D39-7263007F07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2DDC-4FD2-4926-977B-487F808A0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947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4575-14BC-4BFE-8D39-7263007F07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2DDC-4FD2-4926-977B-487F808A0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085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4575-14BC-4BFE-8D39-7263007F07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2DDC-4FD2-4926-977B-487F808A0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59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4575-14BC-4BFE-8D39-7263007F07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2DDC-4FD2-4926-977B-487F808A0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94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4575-14BC-4BFE-8D39-7263007F07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2DDC-4FD2-4926-977B-487F808A0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27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4575-14BC-4BFE-8D39-7263007F07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2DDC-4FD2-4926-977B-487F808A0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02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4575-14BC-4BFE-8D39-7263007F07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2DDC-4FD2-4926-977B-487F808A0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21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4575-14BC-4BFE-8D39-7263007F07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42DDC-4FD2-4926-977B-487F808A0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6868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6791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184575-14BC-4BFE-8D39-7263007F07B3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42DDC-4FD2-4926-977B-487F808A0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236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10" Type="http://schemas.openxmlformats.org/officeDocument/2006/relationships/image" Target="../media/image13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33.jpe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12" Type="http://schemas.openxmlformats.org/officeDocument/2006/relationships/image" Target="../media/image30.png"/><Relationship Id="rId17" Type="http://schemas.openxmlformats.org/officeDocument/2006/relationships/image" Target="../media/image16.svg"/><Relationship Id="rId2" Type="http://schemas.openxmlformats.org/officeDocument/2006/relationships/image" Target="../media/image24.png"/><Relationship Id="rId16" Type="http://schemas.openxmlformats.org/officeDocument/2006/relationships/image" Target="../media/image32.png"/><Relationship Id="rId20" Type="http://schemas.openxmlformats.org/officeDocument/2006/relationships/image" Target="../media/image3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29.png"/><Relationship Id="rId5" Type="http://schemas.openxmlformats.org/officeDocument/2006/relationships/image" Target="../media/image26.pn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19" Type="http://schemas.openxmlformats.org/officeDocument/2006/relationships/image" Target="../media/image34.jpeg"/><Relationship Id="rId4" Type="http://schemas.openxmlformats.org/officeDocument/2006/relationships/image" Target="../media/image3.svg"/><Relationship Id="rId9" Type="http://schemas.openxmlformats.org/officeDocument/2006/relationships/image" Target="../media/image28.png"/><Relationship Id="rId1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31.svg"/><Relationship Id="rId18" Type="http://schemas.openxmlformats.org/officeDocument/2006/relationships/image" Target="../media/image24.pn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12" Type="http://schemas.openxmlformats.org/officeDocument/2006/relationships/image" Target="../media/image41.png"/><Relationship Id="rId17" Type="http://schemas.openxmlformats.org/officeDocument/2006/relationships/image" Target="../media/image44.png"/><Relationship Id="rId2" Type="http://schemas.openxmlformats.org/officeDocument/2006/relationships/image" Target="../media/image36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5" Type="http://schemas.openxmlformats.org/officeDocument/2006/relationships/image" Target="../media/image33.svg"/><Relationship Id="rId10" Type="http://schemas.openxmlformats.org/officeDocument/2006/relationships/image" Target="../media/image40.png"/><Relationship Id="rId4" Type="http://schemas.openxmlformats.org/officeDocument/2006/relationships/image" Target="../media/image37.png"/><Relationship Id="rId9" Type="http://schemas.openxmlformats.org/officeDocument/2006/relationships/image" Target="../media/image27.svg"/><Relationship Id="rId1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60.svg"/><Relationship Id="rId18" Type="http://schemas.openxmlformats.org/officeDocument/2006/relationships/image" Target="../media/image53.png"/><Relationship Id="rId3" Type="http://schemas.openxmlformats.org/officeDocument/2006/relationships/image" Target="../media/image50.svg"/><Relationship Id="rId21" Type="http://schemas.openxmlformats.org/officeDocument/2006/relationships/image" Target="../media/image68.svg"/><Relationship Id="rId7" Type="http://schemas.openxmlformats.org/officeDocument/2006/relationships/image" Target="../media/image54.svg"/><Relationship Id="rId12" Type="http://schemas.openxmlformats.org/officeDocument/2006/relationships/image" Target="../media/image50.png"/><Relationship Id="rId17" Type="http://schemas.openxmlformats.org/officeDocument/2006/relationships/image" Target="../media/image64.svg"/><Relationship Id="rId2" Type="http://schemas.openxmlformats.org/officeDocument/2006/relationships/image" Target="../media/image45.png"/><Relationship Id="rId16" Type="http://schemas.openxmlformats.org/officeDocument/2006/relationships/image" Target="../media/image52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58.svg"/><Relationship Id="rId5" Type="http://schemas.openxmlformats.org/officeDocument/2006/relationships/image" Target="../media/image52.svg"/><Relationship Id="rId15" Type="http://schemas.openxmlformats.org/officeDocument/2006/relationships/image" Target="../media/image62.svg"/><Relationship Id="rId10" Type="http://schemas.openxmlformats.org/officeDocument/2006/relationships/image" Target="../media/image49.png"/><Relationship Id="rId19" Type="http://schemas.openxmlformats.org/officeDocument/2006/relationships/image" Target="../media/image66.svg"/><Relationship Id="rId4" Type="http://schemas.openxmlformats.org/officeDocument/2006/relationships/image" Target="../media/image46.png"/><Relationship Id="rId9" Type="http://schemas.openxmlformats.org/officeDocument/2006/relationships/image" Target="../media/image56.svg"/><Relationship Id="rId14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svg"/><Relationship Id="rId13" Type="http://schemas.openxmlformats.org/officeDocument/2006/relationships/image" Target="../media/image60.png"/><Relationship Id="rId3" Type="http://schemas.openxmlformats.org/officeDocument/2006/relationships/image" Target="../media/image81.svg"/><Relationship Id="rId7" Type="http://schemas.openxmlformats.org/officeDocument/2006/relationships/image" Target="../media/image57.png"/><Relationship Id="rId12" Type="http://schemas.openxmlformats.org/officeDocument/2006/relationships/image" Target="../media/image90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svg"/><Relationship Id="rId11" Type="http://schemas.openxmlformats.org/officeDocument/2006/relationships/image" Target="../media/image59.png"/><Relationship Id="rId5" Type="http://schemas.openxmlformats.org/officeDocument/2006/relationships/image" Target="../media/image56.png"/><Relationship Id="rId10" Type="http://schemas.openxmlformats.org/officeDocument/2006/relationships/image" Target="../media/image88.svg"/><Relationship Id="rId4" Type="http://schemas.openxmlformats.org/officeDocument/2006/relationships/image" Target="../media/image55.png"/><Relationship Id="rId9" Type="http://schemas.openxmlformats.org/officeDocument/2006/relationships/image" Target="../media/image58.png"/><Relationship Id="rId14" Type="http://schemas.openxmlformats.org/officeDocument/2006/relationships/image" Target="../media/image92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94.svg"/><Relationship Id="rId7" Type="http://schemas.openxmlformats.org/officeDocument/2006/relationships/image" Target="../media/image98.sv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96.svg"/><Relationship Id="rId4" Type="http://schemas.openxmlformats.org/officeDocument/2006/relationships/image" Target="../media/image6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90.svg"/><Relationship Id="rId7" Type="http://schemas.openxmlformats.org/officeDocument/2006/relationships/image" Target="../media/image98.sv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96.svg"/><Relationship Id="rId4" Type="http://schemas.openxmlformats.org/officeDocument/2006/relationships/image" Target="../media/image6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90.svg"/><Relationship Id="rId7" Type="http://schemas.openxmlformats.org/officeDocument/2006/relationships/image" Target="../media/image98.sv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96.svg"/><Relationship Id="rId4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90.svg"/><Relationship Id="rId7" Type="http://schemas.openxmlformats.org/officeDocument/2006/relationships/image" Target="../media/image98.sv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96.svg"/><Relationship Id="rId4" Type="http://schemas.openxmlformats.org/officeDocument/2006/relationships/image" Target="../media/image6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24.png"/><Relationship Id="rId7" Type="http://schemas.openxmlformats.org/officeDocument/2006/relationships/image" Target="../media/image90.sv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92.svg"/><Relationship Id="rId10" Type="http://schemas.openxmlformats.org/officeDocument/2006/relationships/image" Target="../media/image70.jpeg"/><Relationship Id="rId4" Type="http://schemas.openxmlformats.org/officeDocument/2006/relationships/image" Target="../media/image60.png"/><Relationship Id="rId9" Type="http://schemas.openxmlformats.org/officeDocument/2006/relationships/image" Target="../media/image133.sv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"/>
            <a:ext cx="7772400" cy="6172199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Robotics and Artificial Intelligence Nigeria (RAIN)</a:t>
            </a:r>
            <a:br>
              <a:rPr lang="en-US" b="1" dirty="0" smtClean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/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 err="1" smtClean="0"/>
              <a:t>Dr</a:t>
            </a:r>
            <a:r>
              <a:rPr lang="en-US" b="1" dirty="0" smtClean="0"/>
              <a:t> </a:t>
            </a:r>
            <a:r>
              <a:rPr lang="en-US" b="1" dirty="0" smtClean="0"/>
              <a:t>Olusola Ayoola</a:t>
            </a:r>
            <a:br>
              <a:rPr lang="en-US" b="1" dirty="0" smtClean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25230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135475" y="3861048"/>
            <a:ext cx="9252520" cy="1348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endParaRPr lang="en-GB" sz="2000" b="1" dirty="0">
              <a:solidFill>
                <a:schemeClr val="bg2">
                  <a:lumMod val="25000"/>
                </a:schemeClr>
              </a:solidFill>
              <a:cs typeface="Arial" charset="0"/>
            </a:endParaRPr>
          </a:p>
          <a:p>
            <a:pPr>
              <a:lnSpc>
                <a:spcPct val="120000"/>
              </a:lnSpc>
            </a:pPr>
            <a:r>
              <a:rPr lang="en-GB" sz="2800" b="1" dirty="0">
                <a:cs typeface="Arial" charset="0"/>
              </a:rPr>
              <a:t>Dr. Olusola </a:t>
            </a:r>
            <a:r>
              <a:rPr lang="en-GB" sz="2800" b="1" dirty="0" err="1">
                <a:cs typeface="Arial" charset="0"/>
              </a:rPr>
              <a:t>Sayeed</a:t>
            </a:r>
            <a:r>
              <a:rPr lang="en-GB" sz="2800" b="1" dirty="0">
                <a:cs typeface="Arial" charset="0"/>
              </a:rPr>
              <a:t> Ayoola</a:t>
            </a:r>
            <a:r>
              <a:rPr lang="en-GB" b="1" dirty="0">
                <a:cs typeface="Arial" charset="0"/>
              </a:rPr>
              <a:t>, </a:t>
            </a:r>
            <a:r>
              <a:rPr lang="en-GB" sz="1600" b="1" dirty="0">
                <a:cs typeface="Arial" charset="0"/>
              </a:rPr>
              <a:t>B.Sc (Ib.) </a:t>
            </a:r>
            <a:r>
              <a:rPr lang="en-GB" sz="1600" b="1" dirty="0" err="1">
                <a:cs typeface="Arial" charset="0"/>
              </a:rPr>
              <a:t>M.Sc</a:t>
            </a:r>
            <a:r>
              <a:rPr lang="en-GB" sz="1600" b="1" dirty="0">
                <a:cs typeface="Arial" charset="0"/>
              </a:rPr>
              <a:t> (</a:t>
            </a:r>
            <a:r>
              <a:rPr lang="en-GB" sz="1600" b="1" dirty="0" err="1">
                <a:cs typeface="Arial" charset="0"/>
              </a:rPr>
              <a:t>Manc</a:t>
            </a:r>
            <a:r>
              <a:rPr lang="en-GB" sz="1600" b="1" dirty="0">
                <a:cs typeface="Arial" charset="0"/>
              </a:rPr>
              <a:t>.), Ph.D (</a:t>
            </a:r>
            <a:r>
              <a:rPr lang="en-GB" sz="1600" b="1" dirty="0" err="1">
                <a:cs typeface="Arial" charset="0"/>
              </a:rPr>
              <a:t>Manc</a:t>
            </a:r>
            <a:r>
              <a:rPr lang="en-GB" sz="1600" b="1" dirty="0">
                <a:cs typeface="Arial" charset="0"/>
              </a:rPr>
              <a:t>.), MIET ,</a:t>
            </a:r>
            <a:r>
              <a:rPr lang="en-GB" sz="1600" b="1" dirty="0" smtClean="0">
                <a:cs typeface="Arial" charset="0"/>
              </a:rPr>
              <a:t>MNSE,MNCS</a:t>
            </a:r>
            <a:endParaRPr lang="en-GB" b="1" dirty="0">
              <a:cs typeface="Arial" charset="0"/>
            </a:endParaRPr>
          </a:p>
          <a:p>
            <a:pPr>
              <a:lnSpc>
                <a:spcPct val="120000"/>
              </a:lnSpc>
            </a:pPr>
            <a: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  <a:cs typeface="Arial" charset="0"/>
              </a:rPr>
              <a:t>CEO </a:t>
            </a:r>
            <a:r>
              <a:rPr lang="en-GB" sz="2000" dirty="0">
                <a:solidFill>
                  <a:schemeClr val="tx1">
                    <a:lumMod val="95000"/>
                    <a:lumOff val="5000"/>
                  </a:schemeClr>
                </a:solidFill>
                <a:cs typeface="Arial" charset="0"/>
              </a:rPr>
              <a:t>| Robotics and Artificial Intelligence Nigeria (RAIN</a:t>
            </a:r>
            <a: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  <a:cs typeface="Arial" charset="0"/>
              </a:rPr>
              <a:t>)</a:t>
            </a:r>
            <a:endParaRPr lang="en-GB" sz="2000" dirty="0">
              <a:solidFill>
                <a:schemeClr val="tx1">
                  <a:lumMod val="95000"/>
                  <a:lumOff val="5000"/>
                </a:schemeClr>
              </a:solidFill>
              <a:cs typeface="Arial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35475" y="2263223"/>
            <a:ext cx="858838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4000" b="1" dirty="0" smtClean="0">
                <a:latin typeface="Bahnschrift Condensed" pitchFamily="34" charset="0"/>
                <a:cs typeface="Arial"/>
              </a:rPr>
              <a:t>Partnership </a:t>
            </a:r>
          </a:p>
          <a:p>
            <a:pPr algn="ctr">
              <a:defRPr/>
            </a:pPr>
            <a:r>
              <a:rPr lang="en-GB" sz="4000" b="1" dirty="0" smtClean="0">
                <a:latin typeface="Bahnschrift Condensed" pitchFamily="34" charset="0"/>
                <a:cs typeface="Arial"/>
              </a:rPr>
              <a:t>for Technological Advancement</a:t>
            </a:r>
            <a:endParaRPr lang="en-GB" sz="4000" b="1" dirty="0">
              <a:latin typeface="Bahnschrift Condensed" pitchFamily="34" charset="0"/>
              <a:cs typeface="Arial"/>
            </a:endParaRPr>
          </a:p>
        </p:txBody>
      </p:sp>
      <p:cxnSp>
        <p:nvCxnSpPr>
          <p:cNvPr id="8" name="Straight Connector 7"/>
          <p:cNvCxnSpPr>
            <a:cxnSpLocks noChangeShapeType="1"/>
          </p:cNvCxnSpPr>
          <p:nvPr/>
        </p:nvCxnSpPr>
        <p:spPr bwMode="auto">
          <a:xfrm>
            <a:off x="0" y="2924944"/>
            <a:ext cx="9144000" cy="0"/>
          </a:xfrm>
          <a:prstGeom prst="line">
            <a:avLst/>
          </a:prstGeom>
          <a:noFill/>
          <a:ln w="25400">
            <a:solidFill>
              <a:srgbClr val="660066"/>
            </a:solidFill>
            <a:prstDash val="dot"/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388383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US" b="1" dirty="0" smtClean="0">
                <a:latin typeface="Arial Black" pitchFamily="34" charset="0"/>
              </a:rPr>
              <a:t>RAIN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1"/>
            <a:r>
              <a:rPr lang="en-US" dirty="0"/>
              <a:t>F</a:t>
            </a:r>
            <a:r>
              <a:rPr lang="en-US" dirty="0" smtClean="0"/>
              <a:t>ounded in 2019</a:t>
            </a:r>
          </a:p>
          <a:p>
            <a:pPr lvl="1"/>
            <a:r>
              <a:rPr lang="en-US" dirty="0" smtClean="0"/>
              <a:t>Robotics and Artificial Intelligence Nigeria (RAIN) has grown to be Nigeria’s leading facility for research, training and certification in Robotics and Artificial Intelligence.</a:t>
            </a:r>
          </a:p>
          <a:p>
            <a:pPr lvl="1"/>
            <a:r>
              <a:rPr lang="en-US" dirty="0" smtClean="0"/>
              <a:t>Located in a serene environment in </a:t>
            </a:r>
            <a:r>
              <a:rPr lang="en-US" dirty="0" err="1" smtClean="0"/>
              <a:t>Iyaganku</a:t>
            </a:r>
            <a:r>
              <a:rPr lang="en-US" dirty="0" smtClean="0"/>
              <a:t> G.R.A, Ibadan, Oyo State.</a:t>
            </a:r>
          </a:p>
          <a:p>
            <a:pPr lvl="1"/>
            <a:r>
              <a:rPr lang="en-US" dirty="0" smtClean="0"/>
              <a:t>RAIN designs a structured training curriculum, delivers training, conducts research and engages in product designs and development for organizations. </a:t>
            </a:r>
          </a:p>
        </p:txBody>
      </p:sp>
    </p:spTree>
    <p:extLst>
      <p:ext uri="{BB962C8B-B14F-4D97-AF65-F5344CB8AC3E}">
        <p14:creationId xmlns:p14="http://schemas.microsoft.com/office/powerpoint/2010/main" val="3638323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24B30-335C-4599-A944-21B99C7854FC}" type="slidenum">
              <a:rPr lang="en-GB" smtClean="0"/>
              <a:t>4</a:t>
            </a:fld>
            <a:endParaRPr lang="en-GB"/>
          </a:p>
        </p:txBody>
      </p:sp>
      <p:pic>
        <p:nvPicPr>
          <p:cNvPr id="3" name="Picture 2" descr="POL_258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0051"/>
            <a:ext cx="9144000" cy="3600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POL_2585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1741" y="4375196"/>
            <a:ext cx="2382259" cy="1899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POL_2581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00520"/>
            <a:ext cx="3707904" cy="2455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POL_2871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6" y="4063525"/>
            <a:ext cx="3809763" cy="25233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3753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8505418" y="6414760"/>
            <a:ext cx="181382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  <p:pic>
        <p:nvPicPr>
          <p:cNvPr id="10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95536" y="188639"/>
            <a:ext cx="3203849" cy="24028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9232" y="2292557"/>
            <a:ext cx="2711288" cy="203346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Picture 4" descr="Picture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25684" y="2320938"/>
            <a:ext cx="2531775" cy="18988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Picture 5" descr="Picture 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203848" y="0"/>
            <a:ext cx="3381841" cy="450912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" name="Picture 6" descr="Picture 6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711286" y="4509120"/>
            <a:ext cx="3387531" cy="228388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" name="Picture 7" descr="Picture 7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106788" y="563211"/>
            <a:ext cx="3289749" cy="241967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0" name="Picture 8" descr="Picture 8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368093" y="2815274"/>
            <a:ext cx="2767137" cy="183274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3" descr="Picture 3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-39550" y="4587407"/>
            <a:ext cx="2836417" cy="2127313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Picture 2" descr="Picture 2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6098817" y="4648022"/>
            <a:ext cx="3045183" cy="228388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64365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US" b="1" dirty="0" smtClean="0">
                <a:latin typeface="Arial Black" pitchFamily="34" charset="0"/>
              </a:rPr>
              <a:t>RAIN: The Facility </a:t>
            </a:r>
            <a:r>
              <a:rPr lang="en-US" sz="2000" b="1" dirty="0" smtClean="0">
                <a:solidFill>
                  <a:srgbClr val="FF0000"/>
                </a:solidFill>
                <a:latin typeface="Arial Black" pitchFamily="34" charset="0"/>
              </a:rPr>
              <a:t>is</a:t>
            </a:r>
            <a:endParaRPr lang="en-US" b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Home to a fully equipped robotics laboratory, sound academics and researchers.</a:t>
            </a:r>
          </a:p>
          <a:p>
            <a:r>
              <a:rPr lang="en-US" dirty="0" smtClean="0"/>
              <a:t>Nigeria’s concentration hub of highly skilled software and hardware developers that see no impossibilities.</a:t>
            </a:r>
          </a:p>
          <a:p>
            <a:r>
              <a:rPr lang="en-US" dirty="0" smtClean="0"/>
              <a:t>Leading the discussion with stakeholders across sectors on Artificial Intelligence (AI) based interventions.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377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096" y="381000"/>
            <a:ext cx="8331200" cy="624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4227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66"/>
          <a:stretch/>
        </p:blipFill>
        <p:spPr>
          <a:xfrm>
            <a:off x="152400" y="1219200"/>
            <a:ext cx="863498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6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US" b="1" dirty="0" smtClean="0">
                <a:latin typeface="Arial Black" pitchFamily="34" charset="0"/>
              </a:rPr>
              <a:t>RAIN: The Objective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Develop a robust Curriculum in Robotics and AI.</a:t>
            </a:r>
          </a:p>
          <a:p>
            <a:r>
              <a:rPr lang="en-US" dirty="0" smtClean="0"/>
              <a:t>Develop a large number of </a:t>
            </a:r>
            <a:r>
              <a:rPr lang="en-US" b="1" dirty="0" smtClean="0"/>
              <a:t>skilled</a:t>
            </a:r>
            <a:r>
              <a:rPr lang="en-US" dirty="0" smtClean="0"/>
              <a:t> workforce through practical trainings with live projects.</a:t>
            </a:r>
          </a:p>
          <a:p>
            <a:r>
              <a:rPr lang="en-US" dirty="0" smtClean="0"/>
              <a:t>Enhance industry growth through 4IR-based interventions.</a:t>
            </a:r>
          </a:p>
          <a:p>
            <a:r>
              <a:rPr lang="en-US" dirty="0" smtClean="0"/>
              <a:t>Promote technological advancement through ground-breaking research in AI and Robotics.</a:t>
            </a:r>
          </a:p>
          <a:p>
            <a:r>
              <a:rPr lang="en-US" dirty="0" smtClean="0"/>
              <a:t>Encourage wide-spread adoption of AI and 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060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US" b="1" dirty="0" smtClean="0">
                <a:latin typeface="Arial Black" pitchFamily="34" charset="0"/>
              </a:rPr>
              <a:t>RAIN: The Strength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602245"/>
            <a:ext cx="8229600" cy="5027155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Proven competitive advantage</a:t>
            </a:r>
          </a:p>
          <a:p>
            <a:r>
              <a:rPr lang="en-US" dirty="0" smtClean="0"/>
              <a:t>Product Design (3D) &amp; Parts Fabrication</a:t>
            </a:r>
          </a:p>
          <a:p>
            <a:r>
              <a:rPr lang="en-US" dirty="0" smtClean="0"/>
              <a:t>Internet of Things (IOT)</a:t>
            </a:r>
          </a:p>
          <a:p>
            <a:r>
              <a:rPr lang="en-US" dirty="0" smtClean="0"/>
              <a:t>Advanced Machine Learning</a:t>
            </a:r>
          </a:p>
          <a:p>
            <a:r>
              <a:rPr lang="en-US" dirty="0" smtClean="0"/>
              <a:t>Deep Neural Networks</a:t>
            </a:r>
          </a:p>
          <a:p>
            <a:r>
              <a:rPr lang="en-US" dirty="0" smtClean="0"/>
              <a:t>Computer Vision and Natural Language Processing NLP</a:t>
            </a:r>
          </a:p>
          <a:p>
            <a:r>
              <a:rPr lang="en-US" dirty="0" smtClean="0"/>
              <a:t>Simultaneous Localization and Mapping (SLAM)</a:t>
            </a:r>
          </a:p>
          <a:p>
            <a:r>
              <a:rPr lang="en-US" dirty="0" smtClean="0"/>
              <a:t>Robot Operated Systems (ROS)</a:t>
            </a:r>
          </a:p>
          <a:p>
            <a:r>
              <a:rPr lang="en-US" dirty="0" smtClean="0"/>
              <a:t>Robot Process Automation (RPA)</a:t>
            </a:r>
          </a:p>
          <a:p>
            <a:r>
              <a:rPr lang="en-US" dirty="0" smtClean="0"/>
              <a:t>Unmanned Aerial, Ground and Underwater Systems</a:t>
            </a:r>
          </a:p>
          <a:p>
            <a:r>
              <a:rPr lang="en-US" dirty="0" smtClean="0"/>
              <a:t>Real-World Model Deployment</a:t>
            </a:r>
          </a:p>
          <a:p>
            <a:r>
              <a:rPr lang="en-US" dirty="0" smtClean="0"/>
              <a:t>App Development (Web, Desktop, Android &amp; </a:t>
            </a:r>
            <a:r>
              <a:rPr lang="en-US" dirty="0" err="1" smtClean="0"/>
              <a:t>iOS</a:t>
            </a:r>
            <a:r>
              <a:rPr lang="en-US" dirty="0" smtClean="0"/>
              <a:t>)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13443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US" b="1" dirty="0" smtClean="0">
                <a:latin typeface="Arial Black" pitchFamily="34" charset="0"/>
              </a:rPr>
              <a:t>RAIN: The Milestones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-5105400" y="60960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2245"/>
            <a:ext cx="8229600" cy="5027155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Robotics and Artificial Intelligence Nigeria (RAIN) was founded in 2019 and has since grown to be Nigeria’s leading facility for research, training and certification in Robotics and Artificial Intelligence.</a:t>
            </a:r>
          </a:p>
          <a:p>
            <a:r>
              <a:rPr lang="en-US" dirty="0" smtClean="0"/>
              <a:t>First International Student Arrival – October 2022</a:t>
            </a:r>
          </a:p>
          <a:p>
            <a:r>
              <a:rPr lang="en-US" dirty="0" smtClean="0"/>
              <a:t>Visit of the Deputy Secretary General of the United Nations – December 2021</a:t>
            </a:r>
          </a:p>
          <a:p>
            <a:r>
              <a:rPr lang="en-US" dirty="0" smtClean="0"/>
              <a:t>Resolution by the House of Representatives tasking the Federal Government of Nigeria to </a:t>
            </a:r>
            <a:r>
              <a:rPr lang="en-US" dirty="0" err="1" smtClean="0"/>
              <a:t>liase</a:t>
            </a:r>
            <a:r>
              <a:rPr lang="en-US" dirty="0" smtClean="0"/>
              <a:t> with RAIN – December 2021</a:t>
            </a:r>
          </a:p>
        </p:txBody>
      </p:sp>
    </p:spTree>
    <p:extLst>
      <p:ext uri="{BB962C8B-B14F-4D97-AF65-F5344CB8AC3E}">
        <p14:creationId xmlns:p14="http://schemas.microsoft.com/office/powerpoint/2010/main" val="483993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457200"/>
            <a:ext cx="8953500" cy="6096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4300" y="5181600"/>
            <a:ext cx="9029700" cy="1371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/>
                </a:solidFill>
              </a:rPr>
              <a:t>At Robotics and Artificial Intelligence Nigeria (R-A-I-N)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536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US" b="1" dirty="0" smtClean="0">
                <a:latin typeface="Arial Black" pitchFamily="34" charset="0"/>
              </a:rPr>
              <a:t>RAIN: The Milestones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-5105400" y="60960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2245"/>
            <a:ext cx="8229600" cy="5027155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The Federal Government has collaborated with RAIN severally through the following organs:</a:t>
            </a:r>
          </a:p>
          <a:p>
            <a:pPr lvl="1"/>
            <a:r>
              <a:rPr lang="en-US" dirty="0" smtClean="0"/>
              <a:t>National Information Technology Development Agency (NITDA)</a:t>
            </a:r>
          </a:p>
          <a:p>
            <a:pPr lvl="1"/>
            <a:r>
              <a:rPr lang="en-US" dirty="0" smtClean="0"/>
              <a:t>Security Departments</a:t>
            </a:r>
          </a:p>
          <a:p>
            <a:pPr lvl="1"/>
            <a:r>
              <a:rPr lang="en-US" dirty="0" smtClean="0"/>
              <a:t>Federal Ministry of Youths and Sport Development</a:t>
            </a:r>
          </a:p>
          <a:p>
            <a:r>
              <a:rPr lang="en-US" dirty="0" smtClean="0"/>
              <a:t>Other Collaborators include:</a:t>
            </a:r>
          </a:p>
          <a:p>
            <a:pPr lvl="1"/>
            <a:r>
              <a:rPr lang="en-US" dirty="0" smtClean="0"/>
              <a:t>MIT </a:t>
            </a:r>
            <a:r>
              <a:rPr lang="en-US" dirty="0" err="1" smtClean="0"/>
              <a:t>LaunchX</a:t>
            </a:r>
            <a:r>
              <a:rPr lang="en-US" dirty="0" smtClean="0"/>
              <a:t> 2022</a:t>
            </a:r>
          </a:p>
          <a:p>
            <a:pPr lvl="1"/>
            <a:r>
              <a:rPr lang="en-US" dirty="0" smtClean="0"/>
              <a:t>Nile University, Egypt AI4Dev 2022</a:t>
            </a:r>
          </a:p>
          <a:p>
            <a:pPr lvl="1"/>
            <a:r>
              <a:rPr lang="en-US" dirty="0" smtClean="0"/>
              <a:t>The Government of </a:t>
            </a:r>
            <a:r>
              <a:rPr lang="en-US" dirty="0" err="1" smtClean="0"/>
              <a:t>Kogi</a:t>
            </a:r>
            <a:r>
              <a:rPr lang="en-US" dirty="0" smtClean="0"/>
              <a:t> State</a:t>
            </a:r>
          </a:p>
          <a:p>
            <a:pPr lvl="1"/>
            <a:r>
              <a:rPr lang="en-US" dirty="0" smtClean="0"/>
              <a:t>The United Nations Development </a:t>
            </a:r>
            <a:r>
              <a:rPr lang="en-US" dirty="0" err="1" smtClean="0"/>
              <a:t>Programme</a:t>
            </a:r>
            <a:r>
              <a:rPr lang="en-US" dirty="0" smtClean="0"/>
              <a:t> (UNDP)</a:t>
            </a:r>
          </a:p>
          <a:p>
            <a:pPr lvl="1"/>
            <a:r>
              <a:rPr lang="en-US" dirty="0" err="1" smtClean="0"/>
              <a:t>Adeus</a:t>
            </a:r>
            <a:r>
              <a:rPr lang="en-US" dirty="0" smtClean="0"/>
              <a:t> Ltd, United Kingdom</a:t>
            </a:r>
          </a:p>
          <a:p>
            <a:pPr lvl="1"/>
            <a:r>
              <a:rPr lang="en-US" dirty="0" smtClean="0"/>
              <a:t>One Watt Solar (OWS) Ltd, UK</a:t>
            </a:r>
          </a:p>
          <a:p>
            <a:pPr lvl="1"/>
            <a:r>
              <a:rPr lang="en-US" dirty="0" smtClean="0"/>
              <a:t>Trade &amp; Investment Consultants Ltd, UK  </a:t>
            </a:r>
          </a:p>
        </p:txBody>
      </p:sp>
    </p:spTree>
    <p:extLst>
      <p:ext uri="{BB962C8B-B14F-4D97-AF65-F5344CB8AC3E}">
        <p14:creationId xmlns:p14="http://schemas.microsoft.com/office/powerpoint/2010/main" val="2569027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264" y="228600"/>
            <a:ext cx="6858000" cy="517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14300" y="5181600"/>
            <a:ext cx="9029700" cy="1371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/>
                </a:solidFill>
              </a:rPr>
              <a:t>Collaboration with Nigeria Police (Oyo State)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535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8600"/>
            <a:ext cx="6648450" cy="554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14300" y="5181600"/>
            <a:ext cx="9029700" cy="1371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/>
                </a:solidFill>
              </a:rPr>
              <a:t>Collaboration with Raspberry Pi Africa Region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278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US" b="1" dirty="0" smtClean="0">
                <a:latin typeface="Arial Black" pitchFamily="34" charset="0"/>
              </a:rPr>
              <a:t>RAIN: Notable Projects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RAIN CEDBAS - CARBON EMISSION BASED AERIAL SURVEILLANCE 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RAIN DBCV – AI-CV Based Drone Footage Analysis for Human Detection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RAIN </a:t>
            </a:r>
            <a:r>
              <a:rPr lang="en-US" dirty="0" err="1" smtClean="0"/>
              <a:t>IMoRP</a:t>
            </a:r>
            <a:r>
              <a:rPr lang="en-US" dirty="0" smtClean="0"/>
              <a:t> -  Industrial Mobile Robotic Platform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RAIN SOS -90 - SMS and IOT based emergency GPS tracking and alarm system for personal protection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RAINY: IOT and speech controlled smart socket and power metering system for apartments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RAIN-PAS: IOT based public address system for information dissemination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RAIN Physio-01: IOT based robotic sleeve for physiotherapy exercises and wearable sensors for analytics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RAIN SC-75: AI-IOT based crop farm irrigation control 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RAIN SC-76: AI-IOT based poultry farm brooding temperature control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</a:t>
            </a:r>
            <a:r>
              <a:rPr lang="en-US" dirty="0" smtClean="0"/>
              <a:t>obile traffic light solution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Invisible perimeter fencing solution</a:t>
            </a:r>
          </a:p>
        </p:txBody>
      </p:sp>
    </p:spTree>
    <p:extLst>
      <p:ext uri="{BB962C8B-B14F-4D97-AF65-F5344CB8AC3E}">
        <p14:creationId xmlns:p14="http://schemas.microsoft.com/office/powerpoint/2010/main" val="287555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14300" y="5181600"/>
            <a:ext cx="9029700" cy="1371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/>
                </a:solidFill>
              </a:rPr>
              <a:t>RAIN </a:t>
            </a:r>
            <a:r>
              <a:rPr lang="en-US" sz="2800" dirty="0" err="1" smtClean="0">
                <a:solidFill>
                  <a:schemeClr val="tx1"/>
                </a:solidFill>
              </a:rPr>
              <a:t>IMoRP</a:t>
            </a:r>
            <a:r>
              <a:rPr lang="en-US" sz="2800" dirty="0" smtClean="0">
                <a:solidFill>
                  <a:schemeClr val="tx1"/>
                </a:solidFill>
              </a:rPr>
              <a:t> at the early stage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-17756"/>
            <a:ext cx="5689600" cy="5199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8992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-20210315-WA0031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0" t="-1" r="28000" b="2494"/>
          <a:stretch/>
        </p:blipFill>
        <p:spPr>
          <a:xfrm>
            <a:off x="596096" y="3733800"/>
            <a:ext cx="3840480" cy="3004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IMG-20210218-WA0004"/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1000" y="45720"/>
            <a:ext cx="4854152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56" r="28063" b="25249"/>
          <a:stretch/>
        </p:blipFill>
        <p:spPr bwMode="auto">
          <a:xfrm>
            <a:off x="4447032" y="-2133600"/>
            <a:ext cx="4270248" cy="546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8306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50" b="45253"/>
          <a:stretch/>
        </p:blipFill>
        <p:spPr>
          <a:xfrm>
            <a:off x="1295400" y="1327826"/>
            <a:ext cx="6629400" cy="5515583"/>
          </a:xfr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smtClean="0"/>
              <a:t>The RAIN SC-75/76 Device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25761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r>
              <a:rPr lang="en-US" b="1" dirty="0" smtClean="0">
                <a:latin typeface="Arial Black" pitchFamily="34" charset="0"/>
              </a:rPr>
              <a:t>RAIN: Other Potentials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City Wide Central Surveillance System</a:t>
            </a:r>
            <a:endParaRPr lang="en-US" dirty="0"/>
          </a:p>
          <a:p>
            <a:r>
              <a:rPr lang="en-US" dirty="0" smtClean="0"/>
              <a:t>Robust Unmanned Ground Vehicle for Extreme Environment Exploration</a:t>
            </a:r>
          </a:p>
          <a:p>
            <a:r>
              <a:rPr lang="en-US" dirty="0" smtClean="0"/>
              <a:t>Training to Solve the Existing </a:t>
            </a:r>
            <a:r>
              <a:rPr lang="en-US" dirty="0"/>
              <a:t>Skill </a:t>
            </a:r>
            <a:r>
              <a:rPr lang="en-US" dirty="0" smtClean="0"/>
              <a:t>Gap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494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677455" y="4214034"/>
            <a:ext cx="2043326" cy="5390761"/>
            <a:chOff x="0" y="0"/>
            <a:chExt cx="2620010" cy="5184140"/>
          </a:xfrm>
        </p:grpSpPr>
        <p:sp>
          <p:nvSpPr>
            <p:cNvPr id="3" name="Freeform 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82E2D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t="-22" b="-22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162651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162651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162651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162651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-1543405" y="-2071532"/>
            <a:ext cx="2557187" cy="2930110"/>
            <a:chOff x="0" y="0"/>
            <a:chExt cx="812800" cy="698500"/>
          </a:xfrm>
        </p:grpSpPr>
        <p:sp>
          <p:nvSpPr>
            <p:cNvPr id="13" name="Freeform 13"/>
            <p:cNvSpPr/>
            <p:nvPr/>
          </p:nvSpPr>
          <p:spPr>
            <a:xfrm>
              <a:off x="4360" y="0"/>
              <a:ext cx="804080" cy="698500"/>
            </a:xfrm>
            <a:custGeom>
              <a:avLst/>
              <a:gdLst/>
              <a:ahLst/>
              <a:cxnLst/>
              <a:rect l="l" t="t" r="r" b="b"/>
              <a:pathLst>
                <a:path w="804080" h="698500">
                  <a:moveTo>
                    <a:pt x="797021" y="368876"/>
                  </a:moveTo>
                  <a:lnTo>
                    <a:pt x="616659" y="678874"/>
                  </a:lnTo>
                  <a:cubicBezTo>
                    <a:pt x="609589" y="691025"/>
                    <a:pt x="596592" y="698500"/>
                    <a:pt x="582534" y="698500"/>
                  </a:cubicBezTo>
                  <a:lnTo>
                    <a:pt x="221546" y="698500"/>
                  </a:lnTo>
                  <a:cubicBezTo>
                    <a:pt x="207488" y="698500"/>
                    <a:pt x="194491" y="691025"/>
                    <a:pt x="187421" y="678874"/>
                  </a:cubicBezTo>
                  <a:lnTo>
                    <a:pt x="7059" y="368876"/>
                  </a:lnTo>
                  <a:cubicBezTo>
                    <a:pt x="0" y="356744"/>
                    <a:pt x="0" y="341756"/>
                    <a:pt x="7059" y="329624"/>
                  </a:cubicBezTo>
                  <a:lnTo>
                    <a:pt x="187421" y="19626"/>
                  </a:lnTo>
                  <a:cubicBezTo>
                    <a:pt x="194491" y="7475"/>
                    <a:pt x="207488" y="0"/>
                    <a:pt x="221546" y="0"/>
                  </a:cubicBezTo>
                  <a:lnTo>
                    <a:pt x="582534" y="0"/>
                  </a:lnTo>
                  <a:cubicBezTo>
                    <a:pt x="596592" y="0"/>
                    <a:pt x="609589" y="7475"/>
                    <a:pt x="616659" y="19626"/>
                  </a:cubicBezTo>
                  <a:lnTo>
                    <a:pt x="797021" y="329624"/>
                  </a:lnTo>
                  <a:cubicBezTo>
                    <a:pt x="804080" y="341756"/>
                    <a:pt x="804080" y="356744"/>
                    <a:pt x="797021" y="368876"/>
                  </a:cubicBezTo>
                  <a:close/>
                </a:path>
              </a:pathLst>
            </a:custGeom>
            <a:solidFill>
              <a:srgbClr val="AF1D04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14300" y="-66675"/>
              <a:ext cx="5842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944210" y="1250892"/>
            <a:ext cx="754908" cy="223188"/>
          </a:xfrm>
          <a:custGeom>
            <a:avLst/>
            <a:gdLst/>
            <a:ahLst/>
            <a:cxnLst/>
            <a:rect l="l" t="t" r="r" b="b"/>
            <a:pathLst>
              <a:path w="1509816" h="334782">
                <a:moveTo>
                  <a:pt x="0" y="0"/>
                </a:moveTo>
                <a:lnTo>
                  <a:pt x="1509817" y="0"/>
                </a:lnTo>
                <a:lnTo>
                  <a:pt x="1509817" y="334782"/>
                </a:lnTo>
                <a:lnTo>
                  <a:pt x="0" y="3347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t="-157624"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289596" y="5050208"/>
            <a:ext cx="2828495" cy="836243"/>
          </a:xfrm>
          <a:custGeom>
            <a:avLst/>
            <a:gdLst/>
            <a:ahLst/>
            <a:cxnLst/>
            <a:rect l="l" t="t" r="r" b="b"/>
            <a:pathLst>
              <a:path w="5656989" h="1254365">
                <a:moveTo>
                  <a:pt x="0" y="0"/>
                </a:moveTo>
                <a:lnTo>
                  <a:pt x="5656990" y="0"/>
                </a:lnTo>
                <a:lnTo>
                  <a:pt x="5656990" y="1254364"/>
                </a:lnTo>
                <a:lnTo>
                  <a:pt x="0" y="12543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t="-157624"/>
            </a:stretch>
          </a:blipFill>
          <a:ln cap="sq">
            <a:noFill/>
            <a:prstDash val="solid"/>
            <a:miter/>
          </a:ln>
        </p:spPr>
      </p:sp>
      <p:grpSp>
        <p:nvGrpSpPr>
          <p:cNvPr id="17" name="Group 17"/>
          <p:cNvGrpSpPr/>
          <p:nvPr/>
        </p:nvGrpSpPr>
        <p:grpSpPr>
          <a:xfrm>
            <a:off x="537031" y="4718807"/>
            <a:ext cx="2333625" cy="662801"/>
            <a:chOff x="0" y="0"/>
            <a:chExt cx="1229235" cy="26184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29235" cy="261847"/>
            </a:xfrm>
            <a:custGeom>
              <a:avLst/>
              <a:gdLst/>
              <a:ahLst/>
              <a:cxnLst/>
              <a:rect l="l" t="t" r="r" b="b"/>
              <a:pathLst>
                <a:path w="1229235" h="261847">
                  <a:moveTo>
                    <a:pt x="24882" y="0"/>
                  </a:moveTo>
                  <a:lnTo>
                    <a:pt x="1204353" y="0"/>
                  </a:lnTo>
                  <a:cubicBezTo>
                    <a:pt x="1210952" y="0"/>
                    <a:pt x="1217281" y="2621"/>
                    <a:pt x="1221947" y="7288"/>
                  </a:cubicBezTo>
                  <a:cubicBezTo>
                    <a:pt x="1226613" y="11954"/>
                    <a:pt x="1229235" y="18283"/>
                    <a:pt x="1229235" y="24882"/>
                  </a:cubicBezTo>
                  <a:lnTo>
                    <a:pt x="1229235" y="236966"/>
                  </a:lnTo>
                  <a:cubicBezTo>
                    <a:pt x="1229235" y="243565"/>
                    <a:pt x="1226613" y="249893"/>
                    <a:pt x="1221947" y="254560"/>
                  </a:cubicBezTo>
                  <a:cubicBezTo>
                    <a:pt x="1217281" y="259226"/>
                    <a:pt x="1210952" y="261847"/>
                    <a:pt x="1204353" y="261847"/>
                  </a:cubicBezTo>
                  <a:lnTo>
                    <a:pt x="24882" y="261847"/>
                  </a:lnTo>
                  <a:cubicBezTo>
                    <a:pt x="18283" y="261847"/>
                    <a:pt x="11954" y="259226"/>
                    <a:pt x="7288" y="254560"/>
                  </a:cubicBezTo>
                  <a:cubicBezTo>
                    <a:pt x="2621" y="249893"/>
                    <a:pt x="0" y="243565"/>
                    <a:pt x="0" y="236966"/>
                  </a:cubicBezTo>
                  <a:lnTo>
                    <a:pt x="0" y="24882"/>
                  </a:lnTo>
                  <a:cubicBezTo>
                    <a:pt x="0" y="18283"/>
                    <a:pt x="2621" y="11954"/>
                    <a:pt x="7288" y="7288"/>
                  </a:cubicBezTo>
                  <a:cubicBezTo>
                    <a:pt x="11954" y="2621"/>
                    <a:pt x="18283" y="0"/>
                    <a:pt x="24882" y="0"/>
                  </a:cubicBezTo>
                  <a:close/>
                </a:path>
              </a:pathLst>
            </a:custGeom>
            <a:solidFill>
              <a:srgbClr val="E39D21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1229235" cy="3285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4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 www.yardcode.ng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709073" y="4893449"/>
            <a:ext cx="235137" cy="313516"/>
          </a:xfrm>
          <a:custGeom>
            <a:avLst/>
            <a:gdLst/>
            <a:ahLst/>
            <a:cxnLst/>
            <a:rect l="l" t="t" r="r" b="b"/>
            <a:pathLst>
              <a:path w="470274" h="470274">
                <a:moveTo>
                  <a:pt x="0" y="0"/>
                </a:moveTo>
                <a:lnTo>
                  <a:pt x="470274" y="0"/>
                </a:lnTo>
                <a:lnTo>
                  <a:pt x="470274" y="470274"/>
                </a:lnTo>
                <a:lnTo>
                  <a:pt x="0" y="4702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759908" y="4960532"/>
            <a:ext cx="133468" cy="177957"/>
          </a:xfrm>
          <a:custGeom>
            <a:avLst/>
            <a:gdLst/>
            <a:ahLst/>
            <a:cxnLst/>
            <a:rect l="l" t="t" r="r" b="b"/>
            <a:pathLst>
              <a:path w="266935" h="266935">
                <a:moveTo>
                  <a:pt x="0" y="0"/>
                </a:moveTo>
                <a:lnTo>
                  <a:pt x="266935" y="0"/>
                </a:lnTo>
                <a:lnTo>
                  <a:pt x="266935" y="266935"/>
                </a:lnTo>
                <a:lnTo>
                  <a:pt x="0" y="2669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289596" y="343875"/>
            <a:ext cx="449509" cy="488466"/>
          </a:xfrm>
          <a:custGeom>
            <a:avLst/>
            <a:gdLst/>
            <a:ahLst/>
            <a:cxnLst/>
            <a:rect l="l" t="t" r="r" b="b"/>
            <a:pathLst>
              <a:path w="899017" h="732699">
                <a:moveTo>
                  <a:pt x="0" y="0"/>
                </a:moveTo>
                <a:lnTo>
                  <a:pt x="899018" y="0"/>
                </a:lnTo>
                <a:lnTo>
                  <a:pt x="899018" y="732699"/>
                </a:lnTo>
                <a:lnTo>
                  <a:pt x="0" y="7326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013782" y="501050"/>
            <a:ext cx="615763" cy="823754"/>
          </a:xfrm>
          <a:custGeom>
            <a:avLst/>
            <a:gdLst/>
            <a:ahLst/>
            <a:cxnLst/>
            <a:rect l="l" t="t" r="r" b="b"/>
            <a:pathLst>
              <a:path w="1231526" h="1235631">
                <a:moveTo>
                  <a:pt x="0" y="0"/>
                </a:moveTo>
                <a:lnTo>
                  <a:pt x="1231527" y="0"/>
                </a:lnTo>
                <a:lnTo>
                  <a:pt x="1231527" y="1235632"/>
                </a:lnTo>
                <a:lnTo>
                  <a:pt x="0" y="12356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4" name="TextBox 24"/>
          <p:cNvSpPr txBox="1"/>
          <p:nvPr/>
        </p:nvSpPr>
        <p:spPr>
          <a:xfrm>
            <a:off x="587375" y="2384779"/>
            <a:ext cx="3889375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69"/>
              </a:lnSpc>
            </a:pPr>
            <a:r>
              <a:rPr lang="en-US" sz="4400" b="1">
                <a:solidFill>
                  <a:srgbClr val="E39D21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YARD</a:t>
            </a:r>
            <a:r>
              <a:rPr lang="en-US" sz="4400" b="1">
                <a:solidFill>
                  <a:srgbClr val="D20713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CODE</a:t>
            </a:r>
          </a:p>
        </p:txBody>
      </p:sp>
      <p:sp>
        <p:nvSpPr>
          <p:cNvPr id="25" name="Freeform 25"/>
          <p:cNvSpPr/>
          <p:nvPr/>
        </p:nvSpPr>
        <p:spPr>
          <a:xfrm rot="4158953">
            <a:off x="2237876" y="6167454"/>
            <a:ext cx="13812249" cy="5179594"/>
          </a:xfrm>
          <a:custGeom>
            <a:avLst/>
            <a:gdLst/>
            <a:ahLst/>
            <a:cxnLst/>
            <a:rect l="l" t="t" r="r" b="b"/>
            <a:pathLst>
              <a:path w="20718374" h="10359187">
                <a:moveTo>
                  <a:pt x="0" y="0"/>
                </a:moveTo>
                <a:lnTo>
                  <a:pt x="20718374" y="0"/>
                </a:lnTo>
                <a:lnTo>
                  <a:pt x="20718374" y="10359187"/>
                </a:lnTo>
                <a:lnTo>
                  <a:pt x="0" y="1035918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4158953">
            <a:off x="2736761" y="6282829"/>
            <a:ext cx="13196793" cy="4948798"/>
          </a:xfrm>
          <a:custGeom>
            <a:avLst/>
            <a:gdLst/>
            <a:ahLst/>
            <a:cxnLst/>
            <a:rect l="l" t="t" r="r" b="b"/>
            <a:pathLst>
              <a:path w="19795190" h="9897595">
                <a:moveTo>
                  <a:pt x="0" y="0"/>
                </a:moveTo>
                <a:lnTo>
                  <a:pt x="19795190" y="0"/>
                </a:lnTo>
                <a:lnTo>
                  <a:pt x="19795190" y="9897594"/>
                </a:lnTo>
                <a:lnTo>
                  <a:pt x="0" y="989759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3897972" y="1418823"/>
            <a:ext cx="3221152" cy="4294869"/>
          </a:xfrm>
          <a:custGeom>
            <a:avLst/>
            <a:gdLst/>
            <a:ahLst/>
            <a:cxnLst/>
            <a:rect l="l" t="t" r="r" b="b"/>
            <a:pathLst>
              <a:path w="6442304" h="6442304">
                <a:moveTo>
                  <a:pt x="0" y="0"/>
                </a:moveTo>
                <a:lnTo>
                  <a:pt x="6442304" y="0"/>
                </a:lnTo>
                <a:lnTo>
                  <a:pt x="6442304" y="6442304"/>
                </a:lnTo>
                <a:lnTo>
                  <a:pt x="0" y="644230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4143850" y="1746660"/>
            <a:ext cx="2729396" cy="3639195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8"/>
              <a:stretch>
                <a:fillRect l="-20370" r="-20370"/>
              </a:stretch>
            </a:blipFill>
            <a:ln w="76200" cap="sq">
              <a:solidFill>
                <a:srgbClr val="E39D21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5614231" y="2621064"/>
            <a:ext cx="2393586" cy="3191447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9"/>
              <a:stretch>
                <a:fillRect l="-16740" r="-16740"/>
              </a:stretch>
            </a:blipFill>
            <a:ln w="76200" cap="sq">
              <a:solidFill>
                <a:srgbClr val="E39D21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8088561" y="3068274"/>
            <a:ext cx="541090" cy="721453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39D21"/>
            </a:solidFill>
            <a:ln cap="sq">
              <a:noFill/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39700" y="130175"/>
              <a:ext cx="533400" cy="542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62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476750" y="4163380"/>
            <a:ext cx="1948654" cy="2598205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0"/>
              <a:stretch>
                <a:fillRect l="-10502" r="-10502"/>
              </a:stretch>
            </a:blipFill>
            <a:ln w="76200" cap="sq">
              <a:solidFill>
                <a:srgbClr val="E39D21"/>
              </a:solidFill>
              <a:prstDash val="solid"/>
              <a:miter/>
            </a:ln>
          </p:spPr>
        </p:sp>
      </p:grpSp>
      <p:sp>
        <p:nvSpPr>
          <p:cNvPr id="37" name="TextBox 37"/>
          <p:cNvSpPr txBox="1"/>
          <p:nvPr/>
        </p:nvSpPr>
        <p:spPr>
          <a:xfrm>
            <a:off x="587375" y="3205070"/>
            <a:ext cx="2956759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65"/>
              </a:lnSpc>
            </a:pPr>
            <a:r>
              <a:rPr lang="en-US" sz="17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DIGITAL ADDRESSING FOR </a:t>
            </a:r>
            <a:r>
              <a:rPr lang="en-US" sz="1700" b="1">
                <a:solidFill>
                  <a:srgbClr val="00BF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NIGERIA</a:t>
            </a:r>
          </a:p>
        </p:txBody>
      </p:sp>
    </p:spTree>
    <p:extLst>
      <p:ext uri="{BB962C8B-B14F-4D97-AF65-F5344CB8AC3E}">
        <p14:creationId xmlns:p14="http://schemas.microsoft.com/office/powerpoint/2010/main" val="28840407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91570" y="306498"/>
            <a:ext cx="6978976" cy="930530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39D2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216020" y="-3675353"/>
            <a:ext cx="4730905" cy="63078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39D2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2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286129" y="-521416"/>
            <a:ext cx="933891" cy="1447892"/>
          </a:xfrm>
          <a:custGeom>
            <a:avLst/>
            <a:gdLst/>
            <a:ahLst/>
            <a:cxnLst/>
            <a:rect l="l" t="t" r="r" b="b"/>
            <a:pathLst>
              <a:path w="1867781" h="2171838">
                <a:moveTo>
                  <a:pt x="0" y="0"/>
                </a:moveTo>
                <a:lnTo>
                  <a:pt x="1867780" y="0"/>
                </a:lnTo>
                <a:lnTo>
                  <a:pt x="1867780" y="2171838"/>
                </a:lnTo>
                <a:lnTo>
                  <a:pt x="0" y="21718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154780" y="-290657"/>
            <a:ext cx="932533" cy="1447892"/>
          </a:xfrm>
          <a:custGeom>
            <a:avLst/>
            <a:gdLst/>
            <a:ahLst/>
            <a:cxnLst/>
            <a:rect l="l" t="t" r="r" b="b"/>
            <a:pathLst>
              <a:path w="1865066" h="2171838">
                <a:moveTo>
                  <a:pt x="0" y="0"/>
                </a:moveTo>
                <a:lnTo>
                  <a:pt x="1865066" y="0"/>
                </a:lnTo>
                <a:lnTo>
                  <a:pt x="1865066" y="2171838"/>
                </a:lnTo>
                <a:lnTo>
                  <a:pt x="0" y="21718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306933" y="1995406"/>
            <a:ext cx="555576" cy="185192"/>
          </a:xfrm>
          <a:custGeom>
            <a:avLst/>
            <a:gdLst/>
            <a:ahLst/>
            <a:cxnLst/>
            <a:rect l="l" t="t" r="r" b="b"/>
            <a:pathLst>
              <a:path w="1111152" h="277788">
                <a:moveTo>
                  <a:pt x="0" y="0"/>
                </a:moveTo>
                <a:lnTo>
                  <a:pt x="1111152" y="0"/>
                </a:lnTo>
                <a:lnTo>
                  <a:pt x="1111152" y="277788"/>
                </a:lnTo>
                <a:lnTo>
                  <a:pt x="0" y="2777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14350" y="2001756"/>
            <a:ext cx="220943" cy="498250"/>
          </a:xfrm>
          <a:custGeom>
            <a:avLst/>
            <a:gdLst/>
            <a:ahLst/>
            <a:cxnLst/>
            <a:rect l="l" t="t" r="r" b="b"/>
            <a:pathLst>
              <a:path w="441885" h="747375">
                <a:moveTo>
                  <a:pt x="0" y="0"/>
                </a:moveTo>
                <a:lnTo>
                  <a:pt x="441885" y="0"/>
                </a:lnTo>
                <a:lnTo>
                  <a:pt x="441885" y="747375"/>
                </a:lnTo>
                <a:lnTo>
                  <a:pt x="0" y="7473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239753" y="2001756"/>
            <a:ext cx="375610" cy="475317"/>
          </a:xfrm>
          <a:custGeom>
            <a:avLst/>
            <a:gdLst/>
            <a:ahLst/>
            <a:cxnLst/>
            <a:rect l="l" t="t" r="r" b="b"/>
            <a:pathLst>
              <a:path w="751220" h="712976">
                <a:moveTo>
                  <a:pt x="0" y="0"/>
                </a:moveTo>
                <a:lnTo>
                  <a:pt x="751220" y="0"/>
                </a:lnTo>
                <a:lnTo>
                  <a:pt x="751220" y="712976"/>
                </a:lnTo>
                <a:lnTo>
                  <a:pt x="0" y="7129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239753" y="4256937"/>
            <a:ext cx="375610" cy="462000"/>
          </a:xfrm>
          <a:custGeom>
            <a:avLst/>
            <a:gdLst/>
            <a:ahLst/>
            <a:cxnLst/>
            <a:rect l="l" t="t" r="r" b="b"/>
            <a:pathLst>
              <a:path w="751220" h="693000">
                <a:moveTo>
                  <a:pt x="0" y="0"/>
                </a:moveTo>
                <a:lnTo>
                  <a:pt x="751220" y="0"/>
                </a:lnTo>
                <a:lnTo>
                  <a:pt x="751220" y="693001"/>
                </a:lnTo>
                <a:lnTo>
                  <a:pt x="0" y="6930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99858" y="4169504"/>
            <a:ext cx="398060" cy="530746"/>
          </a:xfrm>
          <a:custGeom>
            <a:avLst/>
            <a:gdLst/>
            <a:ahLst/>
            <a:cxnLst/>
            <a:rect l="l" t="t" r="r" b="b"/>
            <a:pathLst>
              <a:path w="796119" h="796119">
                <a:moveTo>
                  <a:pt x="0" y="0"/>
                </a:moveTo>
                <a:lnTo>
                  <a:pt x="796119" y="0"/>
                </a:lnTo>
                <a:lnTo>
                  <a:pt x="796119" y="796119"/>
                </a:lnTo>
                <a:lnTo>
                  <a:pt x="0" y="79611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14350" y="2927669"/>
            <a:ext cx="2027982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82"/>
              </a:lnSpc>
            </a:pPr>
            <a:r>
              <a:rPr lang="en-US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 hidden charges. Every Nigerian gets their YardCode at zero cost - forever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2486998" y="3615935"/>
            <a:ext cx="1588253" cy="4190175"/>
            <a:chOff x="0" y="0"/>
            <a:chExt cx="2620010" cy="5184140"/>
          </a:xfrm>
        </p:grpSpPr>
        <p:sp>
          <p:nvSpPr>
            <p:cNvPr id="17" name="Freeform 17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16"/>
              <a:stretch>
                <a:fillRect l="-22" r="-22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5096439" y="3615935"/>
            <a:ext cx="1588253" cy="4190175"/>
            <a:chOff x="0" y="0"/>
            <a:chExt cx="2620010" cy="5184140"/>
          </a:xfrm>
        </p:grpSpPr>
        <p:sp>
          <p:nvSpPr>
            <p:cNvPr id="27" name="Freeform 27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17"/>
              <a:stretch>
                <a:fillRect t="-22" b="-22"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36" name="Group 36"/>
          <p:cNvGrpSpPr>
            <a:grpSpLocks noChangeAspect="1"/>
          </p:cNvGrpSpPr>
          <p:nvPr/>
        </p:nvGrpSpPr>
        <p:grpSpPr>
          <a:xfrm>
            <a:off x="3621437" y="2632521"/>
            <a:ext cx="1920178" cy="5065868"/>
            <a:chOff x="0" y="0"/>
            <a:chExt cx="2620010" cy="5184140"/>
          </a:xfrm>
        </p:grpSpPr>
        <p:sp>
          <p:nvSpPr>
            <p:cNvPr id="37" name="Freeform 37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18"/>
              <a:stretch>
                <a:fillRect t="-158" b="-158"/>
              </a:stretch>
            </a:blipFill>
          </p:spPr>
        </p:sp>
        <p:sp>
          <p:nvSpPr>
            <p:cNvPr id="39" name="Freeform 39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id="46" name="TextBox 46"/>
          <p:cNvSpPr txBox="1"/>
          <p:nvPr/>
        </p:nvSpPr>
        <p:spPr>
          <a:xfrm>
            <a:off x="2921786" y="787044"/>
            <a:ext cx="3325870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7"/>
              </a:lnSpc>
            </a:pPr>
            <a:r>
              <a:rPr lang="en-US" sz="3200" b="1">
                <a:solidFill>
                  <a:srgbClr val="000000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INTRODUCING</a:t>
            </a:r>
          </a:p>
          <a:p>
            <a:pPr algn="ctr">
              <a:lnSpc>
                <a:spcPts val="3447"/>
              </a:lnSpc>
            </a:pPr>
            <a:r>
              <a:rPr lang="en-US" sz="3200" b="1">
                <a:solidFill>
                  <a:srgbClr val="AF1D04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YARD</a:t>
            </a:r>
            <a:r>
              <a:rPr lang="en-US" sz="3200" b="1">
                <a:solidFill>
                  <a:srgbClr val="000000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CODE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14350" y="2664271"/>
            <a:ext cx="1465265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93"/>
              </a:lnSpc>
            </a:pPr>
            <a:r>
              <a:rPr lang="en-US" sz="1600" b="1">
                <a:solidFill>
                  <a:srgbClr val="000000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FREE TO USE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133897" y="2664271"/>
            <a:ext cx="1495754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93"/>
              </a:lnSpc>
            </a:pPr>
            <a:r>
              <a:rPr lang="en-US" sz="1600" b="1">
                <a:solidFill>
                  <a:srgbClr val="000000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RELIABLE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825997" y="2927669"/>
            <a:ext cx="1803653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2"/>
              </a:lnSpc>
            </a:pPr>
            <a:r>
              <a:rPr lang="en-US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From Lagos Island to remote villages - if you're in Nigeria, you can get yourYardCode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14350" y="4830623"/>
            <a:ext cx="1914096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93"/>
              </a:lnSpc>
            </a:pPr>
            <a:r>
              <a:rPr lang="en-US" sz="1600" b="1">
                <a:solidFill>
                  <a:srgbClr val="000000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WORKS ANYWHERE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14350" y="5094021"/>
            <a:ext cx="1465265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82"/>
              </a:lnSpc>
            </a:pPr>
            <a:r>
              <a:rPr lang="en-US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Works 24/7, rain or shine. When other systems fail, YardCode delivers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953315" y="4732273"/>
            <a:ext cx="1662048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93"/>
              </a:lnSpc>
            </a:pPr>
            <a:r>
              <a:rPr lang="en-US" sz="1600" b="1">
                <a:solidFill>
                  <a:srgbClr val="000000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PERFECT FOR YOU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773547" y="5122671"/>
            <a:ext cx="1841816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2"/>
              </a:lnSpc>
            </a:pPr>
            <a:r>
              <a:rPr lang="en-US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Simple enough for grandma, smart enough for tech experts. Built for every Nigerian</a:t>
            </a:r>
          </a:p>
        </p:txBody>
      </p:sp>
    </p:spTree>
    <p:extLst>
      <p:ext uri="{BB962C8B-B14F-4D97-AF65-F5344CB8AC3E}">
        <p14:creationId xmlns:p14="http://schemas.microsoft.com/office/powerpoint/2010/main" val="8912251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0" y="0"/>
            <a:ext cx="4334193" cy="6858000"/>
          </a:xfrm>
          <a:prstGeom prst="rect">
            <a:avLst/>
          </a:prstGeom>
          <a:solidFill>
            <a:srgbClr val="E39D21"/>
          </a:solidFill>
        </p:spPr>
      </p:sp>
      <p:grpSp>
        <p:nvGrpSpPr>
          <p:cNvPr id="3" name="Group 3"/>
          <p:cNvGrpSpPr/>
          <p:nvPr/>
        </p:nvGrpSpPr>
        <p:grpSpPr>
          <a:xfrm>
            <a:off x="431184" y="1706621"/>
            <a:ext cx="488914" cy="615479"/>
            <a:chOff x="0" y="0"/>
            <a:chExt cx="488943" cy="46163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8943" cy="461637"/>
            </a:xfrm>
            <a:custGeom>
              <a:avLst/>
              <a:gdLst/>
              <a:ahLst/>
              <a:cxnLst/>
              <a:rect l="l" t="t" r="r" b="b"/>
              <a:pathLst>
                <a:path w="488943" h="461637">
                  <a:moveTo>
                    <a:pt x="230818" y="0"/>
                  </a:moveTo>
                  <a:lnTo>
                    <a:pt x="258125" y="0"/>
                  </a:lnTo>
                  <a:cubicBezTo>
                    <a:pt x="319342" y="0"/>
                    <a:pt x="378051" y="24318"/>
                    <a:pt x="421338" y="67605"/>
                  </a:cubicBezTo>
                  <a:cubicBezTo>
                    <a:pt x="464625" y="110892"/>
                    <a:pt x="488943" y="169602"/>
                    <a:pt x="488943" y="230818"/>
                  </a:cubicBezTo>
                  <a:lnTo>
                    <a:pt x="488943" y="230818"/>
                  </a:lnTo>
                  <a:cubicBezTo>
                    <a:pt x="488943" y="358296"/>
                    <a:pt x="385603" y="461637"/>
                    <a:pt x="258125" y="461637"/>
                  </a:cubicBezTo>
                  <a:lnTo>
                    <a:pt x="230818" y="461637"/>
                  </a:lnTo>
                  <a:cubicBezTo>
                    <a:pt x="169602" y="461637"/>
                    <a:pt x="110892" y="437318"/>
                    <a:pt x="67605" y="394032"/>
                  </a:cubicBezTo>
                  <a:cubicBezTo>
                    <a:pt x="24318" y="350745"/>
                    <a:pt x="0" y="292035"/>
                    <a:pt x="0" y="230818"/>
                  </a:cubicBezTo>
                  <a:lnTo>
                    <a:pt x="0" y="230818"/>
                  </a:lnTo>
                  <a:cubicBezTo>
                    <a:pt x="0" y="169602"/>
                    <a:pt x="24318" y="110892"/>
                    <a:pt x="67605" y="67605"/>
                  </a:cubicBezTo>
                  <a:cubicBezTo>
                    <a:pt x="110892" y="24318"/>
                    <a:pt x="169602" y="0"/>
                    <a:pt x="230818" y="0"/>
                  </a:cubicBezTo>
                  <a:close/>
                </a:path>
              </a:pathLst>
            </a:custGeom>
            <a:solidFill>
              <a:srgbClr val="FFF1B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8943" cy="499737"/>
            </a:xfrm>
            <a:prstGeom prst="rect">
              <a:avLst/>
            </a:prstGeom>
          </p:spPr>
          <p:txBody>
            <a:bodyPr lIns="41714" tIns="41714" rIns="41714" bIns="41714" rtlCol="0" anchor="ctr"/>
            <a:lstStyle/>
            <a:p>
              <a:pPr algn="ctr">
                <a:lnSpc>
                  <a:spcPts val="164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31184" y="2709991"/>
            <a:ext cx="488914" cy="615479"/>
            <a:chOff x="0" y="0"/>
            <a:chExt cx="488943" cy="4616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8943" cy="461637"/>
            </a:xfrm>
            <a:custGeom>
              <a:avLst/>
              <a:gdLst/>
              <a:ahLst/>
              <a:cxnLst/>
              <a:rect l="l" t="t" r="r" b="b"/>
              <a:pathLst>
                <a:path w="488943" h="461637">
                  <a:moveTo>
                    <a:pt x="230818" y="0"/>
                  </a:moveTo>
                  <a:lnTo>
                    <a:pt x="258125" y="0"/>
                  </a:lnTo>
                  <a:cubicBezTo>
                    <a:pt x="319342" y="0"/>
                    <a:pt x="378051" y="24318"/>
                    <a:pt x="421338" y="67605"/>
                  </a:cubicBezTo>
                  <a:cubicBezTo>
                    <a:pt x="464625" y="110892"/>
                    <a:pt x="488943" y="169602"/>
                    <a:pt x="488943" y="230818"/>
                  </a:cubicBezTo>
                  <a:lnTo>
                    <a:pt x="488943" y="230818"/>
                  </a:lnTo>
                  <a:cubicBezTo>
                    <a:pt x="488943" y="358296"/>
                    <a:pt x="385603" y="461637"/>
                    <a:pt x="258125" y="461637"/>
                  </a:cubicBezTo>
                  <a:lnTo>
                    <a:pt x="230818" y="461637"/>
                  </a:lnTo>
                  <a:cubicBezTo>
                    <a:pt x="169602" y="461637"/>
                    <a:pt x="110892" y="437318"/>
                    <a:pt x="67605" y="394032"/>
                  </a:cubicBezTo>
                  <a:cubicBezTo>
                    <a:pt x="24318" y="350745"/>
                    <a:pt x="0" y="292035"/>
                    <a:pt x="0" y="230818"/>
                  </a:cubicBezTo>
                  <a:lnTo>
                    <a:pt x="0" y="230818"/>
                  </a:lnTo>
                  <a:cubicBezTo>
                    <a:pt x="0" y="169602"/>
                    <a:pt x="24318" y="110892"/>
                    <a:pt x="67605" y="67605"/>
                  </a:cubicBezTo>
                  <a:cubicBezTo>
                    <a:pt x="110892" y="24318"/>
                    <a:pt x="169602" y="0"/>
                    <a:pt x="230818" y="0"/>
                  </a:cubicBezTo>
                  <a:close/>
                </a:path>
              </a:pathLst>
            </a:custGeom>
            <a:solidFill>
              <a:srgbClr val="FFF1B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88943" cy="509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4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511063" y="2821035"/>
            <a:ext cx="329156" cy="393391"/>
          </a:xfrm>
          <a:custGeom>
            <a:avLst/>
            <a:gdLst/>
            <a:ahLst/>
            <a:cxnLst/>
            <a:rect l="l" t="t" r="r" b="b"/>
            <a:pathLst>
              <a:path w="658311" h="590086">
                <a:moveTo>
                  <a:pt x="0" y="0"/>
                </a:moveTo>
                <a:lnTo>
                  <a:pt x="658311" y="0"/>
                </a:lnTo>
                <a:lnTo>
                  <a:pt x="658311" y="590085"/>
                </a:lnTo>
                <a:lnTo>
                  <a:pt x="0" y="5900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57382" y="3789230"/>
            <a:ext cx="488914" cy="615479"/>
            <a:chOff x="0" y="0"/>
            <a:chExt cx="488943" cy="46163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8943" cy="461637"/>
            </a:xfrm>
            <a:custGeom>
              <a:avLst/>
              <a:gdLst/>
              <a:ahLst/>
              <a:cxnLst/>
              <a:rect l="l" t="t" r="r" b="b"/>
              <a:pathLst>
                <a:path w="488943" h="461637">
                  <a:moveTo>
                    <a:pt x="230818" y="0"/>
                  </a:moveTo>
                  <a:lnTo>
                    <a:pt x="258125" y="0"/>
                  </a:lnTo>
                  <a:cubicBezTo>
                    <a:pt x="319342" y="0"/>
                    <a:pt x="378051" y="24318"/>
                    <a:pt x="421338" y="67605"/>
                  </a:cubicBezTo>
                  <a:cubicBezTo>
                    <a:pt x="464625" y="110892"/>
                    <a:pt x="488943" y="169602"/>
                    <a:pt x="488943" y="230818"/>
                  </a:cubicBezTo>
                  <a:lnTo>
                    <a:pt x="488943" y="230818"/>
                  </a:lnTo>
                  <a:cubicBezTo>
                    <a:pt x="488943" y="358296"/>
                    <a:pt x="385603" y="461637"/>
                    <a:pt x="258125" y="461637"/>
                  </a:cubicBezTo>
                  <a:lnTo>
                    <a:pt x="230818" y="461637"/>
                  </a:lnTo>
                  <a:cubicBezTo>
                    <a:pt x="169602" y="461637"/>
                    <a:pt x="110892" y="437318"/>
                    <a:pt x="67605" y="394032"/>
                  </a:cubicBezTo>
                  <a:cubicBezTo>
                    <a:pt x="24318" y="350745"/>
                    <a:pt x="0" y="292035"/>
                    <a:pt x="0" y="230818"/>
                  </a:cubicBezTo>
                  <a:lnTo>
                    <a:pt x="0" y="230818"/>
                  </a:lnTo>
                  <a:cubicBezTo>
                    <a:pt x="0" y="169602"/>
                    <a:pt x="24318" y="110892"/>
                    <a:pt x="67605" y="67605"/>
                  </a:cubicBezTo>
                  <a:cubicBezTo>
                    <a:pt x="110892" y="24318"/>
                    <a:pt x="169602" y="0"/>
                    <a:pt x="230818" y="0"/>
                  </a:cubicBezTo>
                  <a:close/>
                </a:path>
              </a:pathLst>
            </a:custGeom>
            <a:solidFill>
              <a:srgbClr val="FFF1B6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88943" cy="509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46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534483" y="3932382"/>
            <a:ext cx="334711" cy="304029"/>
          </a:xfrm>
          <a:custGeom>
            <a:avLst/>
            <a:gdLst/>
            <a:ahLst/>
            <a:cxnLst/>
            <a:rect l="l" t="t" r="r" b="b"/>
            <a:pathLst>
              <a:path w="669422" h="456044">
                <a:moveTo>
                  <a:pt x="0" y="0"/>
                </a:moveTo>
                <a:lnTo>
                  <a:pt x="669422" y="0"/>
                </a:lnTo>
                <a:lnTo>
                  <a:pt x="669422" y="456043"/>
                </a:lnTo>
                <a:lnTo>
                  <a:pt x="0" y="4560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431184" y="5886905"/>
            <a:ext cx="488914" cy="615479"/>
            <a:chOff x="0" y="0"/>
            <a:chExt cx="488943" cy="46163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8943" cy="461637"/>
            </a:xfrm>
            <a:custGeom>
              <a:avLst/>
              <a:gdLst/>
              <a:ahLst/>
              <a:cxnLst/>
              <a:rect l="l" t="t" r="r" b="b"/>
              <a:pathLst>
                <a:path w="488943" h="461637">
                  <a:moveTo>
                    <a:pt x="230818" y="0"/>
                  </a:moveTo>
                  <a:lnTo>
                    <a:pt x="258125" y="0"/>
                  </a:lnTo>
                  <a:cubicBezTo>
                    <a:pt x="319342" y="0"/>
                    <a:pt x="378051" y="24318"/>
                    <a:pt x="421338" y="67605"/>
                  </a:cubicBezTo>
                  <a:cubicBezTo>
                    <a:pt x="464625" y="110892"/>
                    <a:pt x="488943" y="169602"/>
                    <a:pt x="488943" y="230818"/>
                  </a:cubicBezTo>
                  <a:lnTo>
                    <a:pt x="488943" y="230818"/>
                  </a:lnTo>
                  <a:cubicBezTo>
                    <a:pt x="488943" y="358296"/>
                    <a:pt x="385603" y="461637"/>
                    <a:pt x="258125" y="461637"/>
                  </a:cubicBezTo>
                  <a:lnTo>
                    <a:pt x="230818" y="461637"/>
                  </a:lnTo>
                  <a:cubicBezTo>
                    <a:pt x="169602" y="461637"/>
                    <a:pt x="110892" y="437318"/>
                    <a:pt x="67605" y="394032"/>
                  </a:cubicBezTo>
                  <a:cubicBezTo>
                    <a:pt x="24318" y="350745"/>
                    <a:pt x="0" y="292035"/>
                    <a:pt x="0" y="230818"/>
                  </a:cubicBezTo>
                  <a:lnTo>
                    <a:pt x="0" y="230818"/>
                  </a:lnTo>
                  <a:cubicBezTo>
                    <a:pt x="0" y="169602"/>
                    <a:pt x="24318" y="110892"/>
                    <a:pt x="67605" y="67605"/>
                  </a:cubicBezTo>
                  <a:cubicBezTo>
                    <a:pt x="110892" y="24318"/>
                    <a:pt x="169602" y="0"/>
                    <a:pt x="230818" y="0"/>
                  </a:cubicBezTo>
                  <a:close/>
                </a:path>
              </a:pathLst>
            </a:custGeom>
            <a:solidFill>
              <a:srgbClr val="FFF1B6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488943" cy="509262"/>
            </a:xfrm>
            <a:prstGeom prst="rect">
              <a:avLst/>
            </a:prstGeom>
          </p:spPr>
          <p:txBody>
            <a:bodyPr lIns="41714" tIns="41714" rIns="41714" bIns="41714" rtlCol="0" anchor="ctr"/>
            <a:lstStyle/>
            <a:p>
              <a:pPr algn="ctr">
                <a:lnSpc>
                  <a:spcPts val="1646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1184" y="4884077"/>
            <a:ext cx="488914" cy="615479"/>
            <a:chOff x="0" y="0"/>
            <a:chExt cx="488943" cy="46163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8943" cy="461637"/>
            </a:xfrm>
            <a:custGeom>
              <a:avLst/>
              <a:gdLst/>
              <a:ahLst/>
              <a:cxnLst/>
              <a:rect l="l" t="t" r="r" b="b"/>
              <a:pathLst>
                <a:path w="488943" h="461637">
                  <a:moveTo>
                    <a:pt x="230818" y="0"/>
                  </a:moveTo>
                  <a:lnTo>
                    <a:pt x="258125" y="0"/>
                  </a:lnTo>
                  <a:cubicBezTo>
                    <a:pt x="319342" y="0"/>
                    <a:pt x="378051" y="24318"/>
                    <a:pt x="421338" y="67605"/>
                  </a:cubicBezTo>
                  <a:cubicBezTo>
                    <a:pt x="464625" y="110892"/>
                    <a:pt x="488943" y="169602"/>
                    <a:pt x="488943" y="230818"/>
                  </a:cubicBezTo>
                  <a:lnTo>
                    <a:pt x="488943" y="230818"/>
                  </a:lnTo>
                  <a:cubicBezTo>
                    <a:pt x="488943" y="358296"/>
                    <a:pt x="385603" y="461637"/>
                    <a:pt x="258125" y="461637"/>
                  </a:cubicBezTo>
                  <a:lnTo>
                    <a:pt x="230818" y="461637"/>
                  </a:lnTo>
                  <a:cubicBezTo>
                    <a:pt x="169602" y="461637"/>
                    <a:pt x="110892" y="437318"/>
                    <a:pt x="67605" y="394032"/>
                  </a:cubicBezTo>
                  <a:cubicBezTo>
                    <a:pt x="24318" y="350745"/>
                    <a:pt x="0" y="292035"/>
                    <a:pt x="0" y="230818"/>
                  </a:cubicBezTo>
                  <a:lnTo>
                    <a:pt x="0" y="230818"/>
                  </a:lnTo>
                  <a:cubicBezTo>
                    <a:pt x="0" y="169602"/>
                    <a:pt x="24318" y="110892"/>
                    <a:pt x="67605" y="67605"/>
                  </a:cubicBezTo>
                  <a:cubicBezTo>
                    <a:pt x="110892" y="24318"/>
                    <a:pt x="169602" y="0"/>
                    <a:pt x="230818" y="0"/>
                  </a:cubicBezTo>
                  <a:close/>
                </a:path>
              </a:pathLst>
            </a:custGeom>
            <a:solidFill>
              <a:srgbClr val="FFF1B6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488943" cy="509262"/>
            </a:xfrm>
            <a:prstGeom prst="rect">
              <a:avLst/>
            </a:prstGeom>
          </p:spPr>
          <p:txBody>
            <a:bodyPr lIns="41714" tIns="41714" rIns="41714" bIns="41714" rtlCol="0" anchor="ctr"/>
            <a:lstStyle/>
            <a:p>
              <a:pPr algn="ctr">
                <a:lnSpc>
                  <a:spcPts val="1646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095104" y="1706621"/>
            <a:ext cx="488914" cy="615479"/>
            <a:chOff x="0" y="0"/>
            <a:chExt cx="488943" cy="46163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88943" cy="461637"/>
            </a:xfrm>
            <a:custGeom>
              <a:avLst/>
              <a:gdLst/>
              <a:ahLst/>
              <a:cxnLst/>
              <a:rect l="l" t="t" r="r" b="b"/>
              <a:pathLst>
                <a:path w="488943" h="461637">
                  <a:moveTo>
                    <a:pt x="230818" y="0"/>
                  </a:moveTo>
                  <a:lnTo>
                    <a:pt x="258125" y="0"/>
                  </a:lnTo>
                  <a:cubicBezTo>
                    <a:pt x="319342" y="0"/>
                    <a:pt x="378051" y="24318"/>
                    <a:pt x="421338" y="67605"/>
                  </a:cubicBezTo>
                  <a:cubicBezTo>
                    <a:pt x="464625" y="110892"/>
                    <a:pt x="488943" y="169602"/>
                    <a:pt x="488943" y="230818"/>
                  </a:cubicBezTo>
                  <a:lnTo>
                    <a:pt x="488943" y="230818"/>
                  </a:lnTo>
                  <a:cubicBezTo>
                    <a:pt x="488943" y="358296"/>
                    <a:pt x="385603" y="461637"/>
                    <a:pt x="258125" y="461637"/>
                  </a:cubicBezTo>
                  <a:lnTo>
                    <a:pt x="230818" y="461637"/>
                  </a:lnTo>
                  <a:cubicBezTo>
                    <a:pt x="169602" y="461637"/>
                    <a:pt x="110892" y="437318"/>
                    <a:pt x="67605" y="394032"/>
                  </a:cubicBezTo>
                  <a:cubicBezTo>
                    <a:pt x="24318" y="350745"/>
                    <a:pt x="0" y="292035"/>
                    <a:pt x="0" y="230818"/>
                  </a:cubicBezTo>
                  <a:lnTo>
                    <a:pt x="0" y="230818"/>
                  </a:lnTo>
                  <a:cubicBezTo>
                    <a:pt x="0" y="169602"/>
                    <a:pt x="24318" y="110892"/>
                    <a:pt x="67605" y="67605"/>
                  </a:cubicBezTo>
                  <a:cubicBezTo>
                    <a:pt x="110892" y="24318"/>
                    <a:pt x="169602" y="0"/>
                    <a:pt x="230818" y="0"/>
                  </a:cubicBezTo>
                  <a:close/>
                </a:path>
              </a:pathLst>
            </a:custGeom>
            <a:solidFill>
              <a:srgbClr val="D2071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488943" cy="499737"/>
            </a:xfrm>
            <a:prstGeom prst="rect">
              <a:avLst/>
            </a:prstGeom>
          </p:spPr>
          <p:txBody>
            <a:bodyPr lIns="41714" tIns="41714" rIns="41714" bIns="41714" rtlCol="0" anchor="ctr"/>
            <a:lstStyle/>
            <a:p>
              <a:pPr algn="ctr">
                <a:lnSpc>
                  <a:spcPts val="1646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95104" y="2709991"/>
            <a:ext cx="488914" cy="615479"/>
            <a:chOff x="0" y="0"/>
            <a:chExt cx="488943" cy="46163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88943" cy="461637"/>
            </a:xfrm>
            <a:custGeom>
              <a:avLst/>
              <a:gdLst/>
              <a:ahLst/>
              <a:cxnLst/>
              <a:rect l="l" t="t" r="r" b="b"/>
              <a:pathLst>
                <a:path w="488943" h="461637">
                  <a:moveTo>
                    <a:pt x="230818" y="0"/>
                  </a:moveTo>
                  <a:lnTo>
                    <a:pt x="258125" y="0"/>
                  </a:lnTo>
                  <a:cubicBezTo>
                    <a:pt x="319342" y="0"/>
                    <a:pt x="378051" y="24318"/>
                    <a:pt x="421338" y="67605"/>
                  </a:cubicBezTo>
                  <a:cubicBezTo>
                    <a:pt x="464625" y="110892"/>
                    <a:pt x="488943" y="169602"/>
                    <a:pt x="488943" y="230818"/>
                  </a:cubicBezTo>
                  <a:lnTo>
                    <a:pt x="488943" y="230818"/>
                  </a:lnTo>
                  <a:cubicBezTo>
                    <a:pt x="488943" y="358296"/>
                    <a:pt x="385603" y="461637"/>
                    <a:pt x="258125" y="461637"/>
                  </a:cubicBezTo>
                  <a:lnTo>
                    <a:pt x="230818" y="461637"/>
                  </a:lnTo>
                  <a:cubicBezTo>
                    <a:pt x="169602" y="461637"/>
                    <a:pt x="110892" y="437318"/>
                    <a:pt x="67605" y="394032"/>
                  </a:cubicBezTo>
                  <a:cubicBezTo>
                    <a:pt x="24318" y="350745"/>
                    <a:pt x="0" y="292035"/>
                    <a:pt x="0" y="230818"/>
                  </a:cubicBezTo>
                  <a:lnTo>
                    <a:pt x="0" y="230818"/>
                  </a:lnTo>
                  <a:cubicBezTo>
                    <a:pt x="0" y="169602"/>
                    <a:pt x="24318" y="110892"/>
                    <a:pt x="67605" y="67605"/>
                  </a:cubicBezTo>
                  <a:cubicBezTo>
                    <a:pt x="110892" y="24318"/>
                    <a:pt x="169602" y="0"/>
                    <a:pt x="230818" y="0"/>
                  </a:cubicBezTo>
                  <a:close/>
                </a:path>
              </a:pathLst>
            </a:custGeom>
            <a:solidFill>
              <a:srgbClr val="D2071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488943" cy="499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46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121302" y="3789230"/>
            <a:ext cx="488914" cy="615479"/>
            <a:chOff x="0" y="0"/>
            <a:chExt cx="488943" cy="46163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88943" cy="461637"/>
            </a:xfrm>
            <a:custGeom>
              <a:avLst/>
              <a:gdLst/>
              <a:ahLst/>
              <a:cxnLst/>
              <a:rect l="l" t="t" r="r" b="b"/>
              <a:pathLst>
                <a:path w="488943" h="461637">
                  <a:moveTo>
                    <a:pt x="230818" y="0"/>
                  </a:moveTo>
                  <a:lnTo>
                    <a:pt x="258125" y="0"/>
                  </a:lnTo>
                  <a:cubicBezTo>
                    <a:pt x="319342" y="0"/>
                    <a:pt x="378051" y="24318"/>
                    <a:pt x="421338" y="67605"/>
                  </a:cubicBezTo>
                  <a:cubicBezTo>
                    <a:pt x="464625" y="110892"/>
                    <a:pt x="488943" y="169602"/>
                    <a:pt x="488943" y="230818"/>
                  </a:cubicBezTo>
                  <a:lnTo>
                    <a:pt x="488943" y="230818"/>
                  </a:lnTo>
                  <a:cubicBezTo>
                    <a:pt x="488943" y="358296"/>
                    <a:pt x="385603" y="461637"/>
                    <a:pt x="258125" y="461637"/>
                  </a:cubicBezTo>
                  <a:lnTo>
                    <a:pt x="230818" y="461637"/>
                  </a:lnTo>
                  <a:cubicBezTo>
                    <a:pt x="169602" y="461637"/>
                    <a:pt x="110892" y="437318"/>
                    <a:pt x="67605" y="394032"/>
                  </a:cubicBezTo>
                  <a:cubicBezTo>
                    <a:pt x="24318" y="350745"/>
                    <a:pt x="0" y="292035"/>
                    <a:pt x="0" y="230818"/>
                  </a:cubicBezTo>
                  <a:lnTo>
                    <a:pt x="0" y="230818"/>
                  </a:lnTo>
                  <a:cubicBezTo>
                    <a:pt x="0" y="169602"/>
                    <a:pt x="24318" y="110892"/>
                    <a:pt x="67605" y="67605"/>
                  </a:cubicBezTo>
                  <a:cubicBezTo>
                    <a:pt x="110892" y="24318"/>
                    <a:pt x="169602" y="0"/>
                    <a:pt x="230818" y="0"/>
                  </a:cubicBezTo>
                  <a:close/>
                </a:path>
              </a:pathLst>
            </a:custGeom>
            <a:solidFill>
              <a:srgbClr val="D20713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488943" cy="499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46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095104" y="5886905"/>
            <a:ext cx="488914" cy="615479"/>
            <a:chOff x="0" y="0"/>
            <a:chExt cx="488943" cy="46163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88943" cy="461637"/>
            </a:xfrm>
            <a:custGeom>
              <a:avLst/>
              <a:gdLst/>
              <a:ahLst/>
              <a:cxnLst/>
              <a:rect l="l" t="t" r="r" b="b"/>
              <a:pathLst>
                <a:path w="488943" h="461637">
                  <a:moveTo>
                    <a:pt x="230818" y="0"/>
                  </a:moveTo>
                  <a:lnTo>
                    <a:pt x="258125" y="0"/>
                  </a:lnTo>
                  <a:cubicBezTo>
                    <a:pt x="319342" y="0"/>
                    <a:pt x="378051" y="24318"/>
                    <a:pt x="421338" y="67605"/>
                  </a:cubicBezTo>
                  <a:cubicBezTo>
                    <a:pt x="464625" y="110892"/>
                    <a:pt x="488943" y="169602"/>
                    <a:pt x="488943" y="230818"/>
                  </a:cubicBezTo>
                  <a:lnTo>
                    <a:pt x="488943" y="230818"/>
                  </a:lnTo>
                  <a:cubicBezTo>
                    <a:pt x="488943" y="358296"/>
                    <a:pt x="385603" y="461637"/>
                    <a:pt x="258125" y="461637"/>
                  </a:cubicBezTo>
                  <a:lnTo>
                    <a:pt x="230818" y="461637"/>
                  </a:lnTo>
                  <a:cubicBezTo>
                    <a:pt x="169602" y="461637"/>
                    <a:pt x="110892" y="437318"/>
                    <a:pt x="67605" y="394032"/>
                  </a:cubicBezTo>
                  <a:cubicBezTo>
                    <a:pt x="24318" y="350745"/>
                    <a:pt x="0" y="292035"/>
                    <a:pt x="0" y="230818"/>
                  </a:cubicBezTo>
                  <a:lnTo>
                    <a:pt x="0" y="230818"/>
                  </a:lnTo>
                  <a:cubicBezTo>
                    <a:pt x="0" y="169602"/>
                    <a:pt x="24318" y="110892"/>
                    <a:pt x="67605" y="67605"/>
                  </a:cubicBezTo>
                  <a:cubicBezTo>
                    <a:pt x="110892" y="24318"/>
                    <a:pt x="169602" y="0"/>
                    <a:pt x="230818" y="0"/>
                  </a:cubicBezTo>
                  <a:close/>
                </a:path>
              </a:pathLst>
            </a:custGeom>
            <a:solidFill>
              <a:srgbClr val="D20713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488943" cy="499737"/>
            </a:xfrm>
            <a:prstGeom prst="rect">
              <a:avLst/>
            </a:prstGeom>
          </p:spPr>
          <p:txBody>
            <a:bodyPr lIns="41714" tIns="41714" rIns="41714" bIns="41714" rtlCol="0" anchor="ctr"/>
            <a:lstStyle/>
            <a:p>
              <a:pPr algn="ctr">
                <a:lnSpc>
                  <a:spcPts val="1646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095104" y="4884077"/>
            <a:ext cx="488914" cy="615479"/>
            <a:chOff x="0" y="0"/>
            <a:chExt cx="488943" cy="46163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88943" cy="461637"/>
            </a:xfrm>
            <a:custGeom>
              <a:avLst/>
              <a:gdLst/>
              <a:ahLst/>
              <a:cxnLst/>
              <a:rect l="l" t="t" r="r" b="b"/>
              <a:pathLst>
                <a:path w="488943" h="461637">
                  <a:moveTo>
                    <a:pt x="230818" y="0"/>
                  </a:moveTo>
                  <a:lnTo>
                    <a:pt x="258125" y="0"/>
                  </a:lnTo>
                  <a:cubicBezTo>
                    <a:pt x="319342" y="0"/>
                    <a:pt x="378051" y="24318"/>
                    <a:pt x="421338" y="67605"/>
                  </a:cubicBezTo>
                  <a:cubicBezTo>
                    <a:pt x="464625" y="110892"/>
                    <a:pt x="488943" y="169602"/>
                    <a:pt x="488943" y="230818"/>
                  </a:cubicBezTo>
                  <a:lnTo>
                    <a:pt x="488943" y="230818"/>
                  </a:lnTo>
                  <a:cubicBezTo>
                    <a:pt x="488943" y="358296"/>
                    <a:pt x="385603" y="461637"/>
                    <a:pt x="258125" y="461637"/>
                  </a:cubicBezTo>
                  <a:lnTo>
                    <a:pt x="230818" y="461637"/>
                  </a:lnTo>
                  <a:cubicBezTo>
                    <a:pt x="169602" y="461637"/>
                    <a:pt x="110892" y="437318"/>
                    <a:pt x="67605" y="394032"/>
                  </a:cubicBezTo>
                  <a:cubicBezTo>
                    <a:pt x="24318" y="350745"/>
                    <a:pt x="0" y="292035"/>
                    <a:pt x="0" y="230818"/>
                  </a:cubicBezTo>
                  <a:lnTo>
                    <a:pt x="0" y="230818"/>
                  </a:lnTo>
                  <a:cubicBezTo>
                    <a:pt x="0" y="169602"/>
                    <a:pt x="24318" y="110892"/>
                    <a:pt x="67605" y="67605"/>
                  </a:cubicBezTo>
                  <a:cubicBezTo>
                    <a:pt x="110892" y="24318"/>
                    <a:pt x="169602" y="0"/>
                    <a:pt x="230818" y="0"/>
                  </a:cubicBezTo>
                  <a:close/>
                </a:path>
              </a:pathLst>
            </a:custGeom>
            <a:solidFill>
              <a:srgbClr val="D20713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488943" cy="499737"/>
            </a:xfrm>
            <a:prstGeom prst="rect">
              <a:avLst/>
            </a:prstGeom>
          </p:spPr>
          <p:txBody>
            <a:bodyPr lIns="41714" tIns="41714" rIns="41714" bIns="41714" rtlCol="0" anchor="ctr"/>
            <a:lstStyle/>
            <a:p>
              <a:pPr algn="ctr">
                <a:lnSpc>
                  <a:spcPts val="1646"/>
                </a:lnSpc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522086" y="1757453"/>
            <a:ext cx="318413" cy="424551"/>
          </a:xfrm>
          <a:custGeom>
            <a:avLst/>
            <a:gdLst/>
            <a:ahLst/>
            <a:cxnLst/>
            <a:rect l="l" t="t" r="r" b="b"/>
            <a:pathLst>
              <a:path w="636826" h="636826">
                <a:moveTo>
                  <a:pt x="0" y="0"/>
                </a:moveTo>
                <a:lnTo>
                  <a:pt x="636826" y="0"/>
                </a:lnTo>
                <a:lnTo>
                  <a:pt x="636826" y="636826"/>
                </a:lnTo>
                <a:lnTo>
                  <a:pt x="0" y="6368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5198403" y="2785650"/>
            <a:ext cx="278489" cy="371318"/>
          </a:xfrm>
          <a:custGeom>
            <a:avLst/>
            <a:gdLst/>
            <a:ahLst/>
            <a:cxnLst/>
            <a:rect l="l" t="t" r="r" b="b"/>
            <a:pathLst>
              <a:path w="556977" h="556977">
                <a:moveTo>
                  <a:pt x="0" y="0"/>
                </a:moveTo>
                <a:lnTo>
                  <a:pt x="556978" y="0"/>
                </a:lnTo>
                <a:lnTo>
                  <a:pt x="556978" y="556978"/>
                </a:lnTo>
                <a:lnTo>
                  <a:pt x="0" y="556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534483" y="4931759"/>
            <a:ext cx="340123" cy="453497"/>
          </a:xfrm>
          <a:custGeom>
            <a:avLst/>
            <a:gdLst/>
            <a:ahLst/>
            <a:cxnLst/>
            <a:rect l="l" t="t" r="r" b="b"/>
            <a:pathLst>
              <a:path w="680245" h="680245">
                <a:moveTo>
                  <a:pt x="0" y="0"/>
                </a:moveTo>
                <a:lnTo>
                  <a:pt x="680245" y="0"/>
                </a:lnTo>
                <a:lnTo>
                  <a:pt x="680245" y="680245"/>
                </a:lnTo>
                <a:lnTo>
                  <a:pt x="0" y="6802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498769" y="5975806"/>
            <a:ext cx="303267" cy="447419"/>
          </a:xfrm>
          <a:custGeom>
            <a:avLst/>
            <a:gdLst/>
            <a:ahLst/>
            <a:cxnLst/>
            <a:rect l="l" t="t" r="r" b="b"/>
            <a:pathLst>
              <a:path w="606533" h="671129">
                <a:moveTo>
                  <a:pt x="0" y="0"/>
                </a:moveTo>
                <a:lnTo>
                  <a:pt x="606532" y="0"/>
                </a:lnTo>
                <a:lnTo>
                  <a:pt x="606532" y="671129"/>
                </a:lnTo>
                <a:lnTo>
                  <a:pt x="0" y="67112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5147581" y="1750471"/>
            <a:ext cx="383959" cy="527779"/>
          </a:xfrm>
          <a:custGeom>
            <a:avLst/>
            <a:gdLst/>
            <a:ahLst/>
            <a:cxnLst/>
            <a:rect l="l" t="t" r="r" b="b"/>
            <a:pathLst>
              <a:path w="767918" h="791668">
                <a:moveTo>
                  <a:pt x="0" y="0"/>
                </a:moveTo>
                <a:lnTo>
                  <a:pt x="767919" y="0"/>
                </a:lnTo>
                <a:lnTo>
                  <a:pt x="767919" y="791668"/>
                </a:lnTo>
                <a:lnTo>
                  <a:pt x="0" y="79166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5174983" y="3853685"/>
            <a:ext cx="402404" cy="461423"/>
          </a:xfrm>
          <a:custGeom>
            <a:avLst/>
            <a:gdLst/>
            <a:ahLst/>
            <a:cxnLst/>
            <a:rect l="l" t="t" r="r" b="b"/>
            <a:pathLst>
              <a:path w="804808" h="692135">
                <a:moveTo>
                  <a:pt x="0" y="0"/>
                </a:moveTo>
                <a:lnTo>
                  <a:pt x="804808" y="0"/>
                </a:lnTo>
                <a:lnTo>
                  <a:pt x="804808" y="692135"/>
                </a:lnTo>
                <a:lnTo>
                  <a:pt x="0" y="69213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5126702" y="5026577"/>
            <a:ext cx="404839" cy="349511"/>
          </a:xfrm>
          <a:custGeom>
            <a:avLst/>
            <a:gdLst/>
            <a:ahLst/>
            <a:cxnLst/>
            <a:rect l="l" t="t" r="r" b="b"/>
            <a:pathLst>
              <a:path w="809677" h="524266">
                <a:moveTo>
                  <a:pt x="0" y="0"/>
                </a:moveTo>
                <a:lnTo>
                  <a:pt x="809678" y="0"/>
                </a:lnTo>
                <a:lnTo>
                  <a:pt x="809678" y="524266"/>
                </a:lnTo>
                <a:lnTo>
                  <a:pt x="0" y="52426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5206031" y="5998490"/>
            <a:ext cx="340308" cy="395891"/>
          </a:xfrm>
          <a:custGeom>
            <a:avLst/>
            <a:gdLst/>
            <a:ahLst/>
            <a:cxnLst/>
            <a:rect l="l" t="t" r="r" b="b"/>
            <a:pathLst>
              <a:path w="680616" h="593837">
                <a:moveTo>
                  <a:pt x="0" y="0"/>
                </a:moveTo>
                <a:lnTo>
                  <a:pt x="680616" y="0"/>
                </a:lnTo>
                <a:lnTo>
                  <a:pt x="680616" y="593837"/>
                </a:lnTo>
                <a:lnTo>
                  <a:pt x="0" y="59383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1016712" y="5855155"/>
            <a:ext cx="283390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38"/>
              </a:lnSpc>
              <a:spcBef>
                <a:spcPct val="0"/>
              </a:spcBef>
            </a:pPr>
            <a:r>
              <a:rPr lang="en-US" sz="1200" b="1" spc="9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GPS Complexity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16712" y="6128238"/>
            <a:ext cx="2833901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63"/>
              </a:lnSpc>
              <a:spcBef>
                <a:spcPct val="0"/>
              </a:spcBef>
            </a:pPr>
            <a:r>
              <a:rPr lang="en-US" sz="900" spc="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Traditional GPS coordinates are too long and difficult to remember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16712" y="4852327"/>
            <a:ext cx="283390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38"/>
              </a:lnSpc>
              <a:spcBef>
                <a:spcPct val="0"/>
              </a:spcBef>
            </a:pPr>
            <a:r>
              <a:rPr lang="en-US" sz="1200" b="1" spc="9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Economic Impact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16712" y="5125409"/>
            <a:ext cx="2833901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63"/>
              </a:lnSpc>
              <a:spcBef>
                <a:spcPct val="0"/>
              </a:spcBef>
            </a:pPr>
            <a:r>
              <a:rPr lang="en-US" sz="900" spc="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Poor addressing limits financial inclusion, logistics, and emergency services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16712" y="2677700"/>
            <a:ext cx="283390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38"/>
              </a:lnSpc>
              <a:spcBef>
                <a:spcPct val="0"/>
              </a:spcBef>
            </a:pPr>
            <a:r>
              <a:rPr lang="en-US" sz="1200" b="1" spc="9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Inconsistent Address Standards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16712" y="2951323"/>
            <a:ext cx="2833901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63"/>
              </a:lnSpc>
              <a:spcBef>
                <a:spcPct val="0"/>
              </a:spcBef>
            </a:pPr>
            <a:r>
              <a:rPr lang="en-US" sz="900" spc="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 unified system for house numbering and street naming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42910" y="3773087"/>
            <a:ext cx="283390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38"/>
              </a:lnSpc>
              <a:spcBef>
                <a:spcPct val="0"/>
              </a:spcBef>
            </a:pPr>
            <a:r>
              <a:rPr lang="en-US" sz="1200" b="1" spc="9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Infrastructure Gaps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42910" y="4046170"/>
            <a:ext cx="2833901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63"/>
              </a:lnSpc>
              <a:spcBef>
                <a:spcPct val="0"/>
              </a:spcBef>
            </a:pPr>
            <a:r>
              <a:rPr lang="en-US" sz="900" spc="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Remote areas lack proper addressing, hindering service delivery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760059" y="109387"/>
            <a:ext cx="6829849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67"/>
              </a:lnSpc>
            </a:pPr>
            <a:r>
              <a:rPr lang="en-US" sz="2700" b="1" spc="137">
                <a:solidFill>
                  <a:srgbClr val="1C2529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THE PROBLEM WE'RE SOLVING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16712" y="1674872"/>
            <a:ext cx="3257818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38"/>
              </a:lnSpc>
              <a:spcBef>
                <a:spcPct val="0"/>
              </a:spcBef>
            </a:pPr>
            <a:r>
              <a:rPr lang="en-US" sz="1200" b="1" spc="9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Current postcode system is obsolete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16712" y="1947954"/>
            <a:ext cx="2833901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63"/>
              </a:lnSpc>
              <a:spcBef>
                <a:spcPct val="0"/>
              </a:spcBef>
            </a:pPr>
            <a:r>
              <a:rPr lang="en-US" sz="900" spc="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and fails to meet digital needs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45672" y="920098"/>
            <a:ext cx="3815331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94"/>
              </a:lnSpc>
            </a:pPr>
            <a:r>
              <a:rPr lang="en-US" sz="2100" b="1" spc="104">
                <a:solidFill>
                  <a:srgbClr val="1C25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CURRENT CHALLENGES: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680632" y="1826393"/>
            <a:ext cx="283390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38"/>
              </a:lnSpc>
              <a:spcBef>
                <a:spcPct val="0"/>
              </a:spcBef>
            </a:pPr>
            <a:r>
              <a:rPr lang="en-US" sz="1200" b="1" spc="9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Delayed emergency responses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680632" y="2874395"/>
            <a:ext cx="283390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38"/>
              </a:lnSpc>
              <a:spcBef>
                <a:spcPct val="0"/>
              </a:spcBef>
            </a:pPr>
            <a:r>
              <a:rPr lang="en-US" sz="1200" b="1" spc="9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Failed package deliveries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680632" y="3831083"/>
            <a:ext cx="2833901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38"/>
              </a:lnSpc>
              <a:spcBef>
                <a:spcPct val="0"/>
              </a:spcBef>
            </a:pPr>
            <a:r>
              <a:rPr lang="en-US" sz="1200" b="1" spc="9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Poor census and demographic data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680632" y="5920955"/>
            <a:ext cx="2833901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38"/>
              </a:lnSpc>
              <a:spcBef>
                <a:spcPct val="0"/>
              </a:spcBef>
            </a:pPr>
            <a:r>
              <a:rPr lang="en-US" sz="1200" b="1" spc="9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Reduced investment in remote areas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680632" y="5048481"/>
            <a:ext cx="283390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38"/>
              </a:lnSpc>
              <a:spcBef>
                <a:spcPct val="0"/>
              </a:spcBef>
            </a:pPr>
            <a:r>
              <a:rPr lang="en-US" sz="1200" b="1" spc="9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Lack of Brand Differentiation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121302" y="918799"/>
            <a:ext cx="1008061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94"/>
              </a:lnSpc>
            </a:pPr>
            <a:r>
              <a:rPr lang="en-US" sz="2100" b="1" spc="104">
                <a:solidFill>
                  <a:srgbClr val="1C25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COST:</a:t>
            </a:r>
          </a:p>
        </p:txBody>
      </p:sp>
    </p:spTree>
    <p:extLst>
      <p:ext uri="{BB962C8B-B14F-4D97-AF65-F5344CB8AC3E}">
        <p14:creationId xmlns:p14="http://schemas.microsoft.com/office/powerpoint/2010/main" val="33930600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63" y="3635945"/>
            <a:ext cx="9144000" cy="3222055"/>
            <a:chOff x="0" y="0"/>
            <a:chExt cx="4816593" cy="12729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272910"/>
            </a:xfrm>
            <a:custGeom>
              <a:avLst/>
              <a:gdLst/>
              <a:ahLst/>
              <a:cxnLst/>
              <a:rect l="l" t="t" r="r" b="b"/>
              <a:pathLst>
                <a:path w="4816592" h="1272910">
                  <a:moveTo>
                    <a:pt x="0" y="0"/>
                  </a:moveTo>
                  <a:lnTo>
                    <a:pt x="4816592" y="0"/>
                  </a:lnTo>
                  <a:lnTo>
                    <a:pt x="4816592" y="1272910"/>
                  </a:lnTo>
                  <a:lnTo>
                    <a:pt x="0" y="127291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3110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11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12943" y="1036856"/>
            <a:ext cx="2836515" cy="169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99"/>
              </a:lnSpc>
            </a:pPr>
            <a:r>
              <a:rPr lang="en-US" sz="450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What Sets YardCode Apart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495960" y="497056"/>
            <a:ext cx="2572196" cy="1300209"/>
            <a:chOff x="0" y="0"/>
            <a:chExt cx="1333116" cy="5054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33116" cy="505404"/>
            </a:xfrm>
            <a:custGeom>
              <a:avLst/>
              <a:gdLst/>
              <a:ahLst/>
              <a:cxnLst/>
              <a:rect l="l" t="t" r="r" b="b"/>
              <a:pathLst>
                <a:path w="1333116" h="505404">
                  <a:moveTo>
                    <a:pt x="60197" y="0"/>
                  </a:moveTo>
                  <a:lnTo>
                    <a:pt x="1272919" y="0"/>
                  </a:lnTo>
                  <a:cubicBezTo>
                    <a:pt x="1288885" y="0"/>
                    <a:pt x="1304196" y="6342"/>
                    <a:pt x="1315485" y="17631"/>
                  </a:cubicBezTo>
                  <a:cubicBezTo>
                    <a:pt x="1326774" y="28920"/>
                    <a:pt x="1333116" y="44232"/>
                    <a:pt x="1333116" y="60197"/>
                  </a:cubicBezTo>
                  <a:lnTo>
                    <a:pt x="1333116" y="445207"/>
                  </a:lnTo>
                  <a:cubicBezTo>
                    <a:pt x="1333116" y="461172"/>
                    <a:pt x="1326774" y="476483"/>
                    <a:pt x="1315485" y="487773"/>
                  </a:cubicBezTo>
                  <a:cubicBezTo>
                    <a:pt x="1304196" y="499062"/>
                    <a:pt x="1288885" y="505404"/>
                    <a:pt x="1272919" y="505404"/>
                  </a:cubicBezTo>
                  <a:lnTo>
                    <a:pt x="60197" y="505404"/>
                  </a:lnTo>
                  <a:cubicBezTo>
                    <a:pt x="44232" y="505404"/>
                    <a:pt x="28920" y="499062"/>
                    <a:pt x="17631" y="487773"/>
                  </a:cubicBezTo>
                  <a:cubicBezTo>
                    <a:pt x="6342" y="476483"/>
                    <a:pt x="0" y="461172"/>
                    <a:pt x="0" y="445207"/>
                  </a:cubicBezTo>
                  <a:lnTo>
                    <a:pt x="0" y="60197"/>
                  </a:lnTo>
                  <a:cubicBezTo>
                    <a:pt x="0" y="44232"/>
                    <a:pt x="6342" y="28920"/>
                    <a:pt x="17631" y="17631"/>
                  </a:cubicBezTo>
                  <a:cubicBezTo>
                    <a:pt x="28920" y="6342"/>
                    <a:pt x="44232" y="0"/>
                    <a:pt x="6019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333116" cy="543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8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813602" y="1067453"/>
            <a:ext cx="2085143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89"/>
              </a:lnSpc>
            </a:pPr>
            <a:r>
              <a:rPr lang="en-US" sz="1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Every 1m x 1m grid gets a unique, memorable code (e.g., GQ9 U88)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59773" y="656949"/>
            <a:ext cx="1985816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27"/>
              </a:lnSpc>
            </a:pPr>
            <a:r>
              <a:rPr lang="en-US" sz="1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UNIQUE IDENTIFIER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89837" y="4378896"/>
            <a:ext cx="3895370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37"/>
              </a:lnSpc>
            </a:pPr>
            <a:r>
              <a:rPr lang="en-US" sz="440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Key Differentiators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495960" y="2234136"/>
            <a:ext cx="2572196" cy="1300209"/>
            <a:chOff x="0" y="0"/>
            <a:chExt cx="1333116" cy="5054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33116" cy="505404"/>
            </a:xfrm>
            <a:custGeom>
              <a:avLst/>
              <a:gdLst/>
              <a:ahLst/>
              <a:cxnLst/>
              <a:rect l="l" t="t" r="r" b="b"/>
              <a:pathLst>
                <a:path w="1333116" h="505404">
                  <a:moveTo>
                    <a:pt x="60197" y="0"/>
                  </a:moveTo>
                  <a:lnTo>
                    <a:pt x="1272919" y="0"/>
                  </a:lnTo>
                  <a:cubicBezTo>
                    <a:pt x="1288885" y="0"/>
                    <a:pt x="1304196" y="6342"/>
                    <a:pt x="1315485" y="17631"/>
                  </a:cubicBezTo>
                  <a:cubicBezTo>
                    <a:pt x="1326774" y="28920"/>
                    <a:pt x="1333116" y="44232"/>
                    <a:pt x="1333116" y="60197"/>
                  </a:cubicBezTo>
                  <a:lnTo>
                    <a:pt x="1333116" y="445207"/>
                  </a:lnTo>
                  <a:cubicBezTo>
                    <a:pt x="1333116" y="461172"/>
                    <a:pt x="1326774" y="476483"/>
                    <a:pt x="1315485" y="487773"/>
                  </a:cubicBezTo>
                  <a:cubicBezTo>
                    <a:pt x="1304196" y="499062"/>
                    <a:pt x="1288885" y="505404"/>
                    <a:pt x="1272919" y="505404"/>
                  </a:cubicBezTo>
                  <a:lnTo>
                    <a:pt x="60197" y="505404"/>
                  </a:lnTo>
                  <a:cubicBezTo>
                    <a:pt x="44232" y="505404"/>
                    <a:pt x="28920" y="499062"/>
                    <a:pt x="17631" y="487773"/>
                  </a:cubicBezTo>
                  <a:cubicBezTo>
                    <a:pt x="6342" y="476483"/>
                    <a:pt x="0" y="461172"/>
                    <a:pt x="0" y="445207"/>
                  </a:cubicBezTo>
                  <a:lnTo>
                    <a:pt x="0" y="60197"/>
                  </a:lnTo>
                  <a:cubicBezTo>
                    <a:pt x="0" y="44232"/>
                    <a:pt x="6342" y="28920"/>
                    <a:pt x="17631" y="17631"/>
                  </a:cubicBezTo>
                  <a:cubicBezTo>
                    <a:pt x="28920" y="6342"/>
                    <a:pt x="44232" y="0"/>
                    <a:pt x="6019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333116" cy="543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8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813602" y="2804533"/>
            <a:ext cx="2085143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89"/>
              </a:lnSpc>
            </a:pPr>
            <a:r>
              <a:rPr lang="en-US" sz="1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Adjacent locations have related codes (unlike What3Words)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67490" y="2437836"/>
            <a:ext cx="2515903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27"/>
              </a:lnSpc>
            </a:pPr>
            <a:r>
              <a:rPr lang="en-US" sz="1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RELATED POSITIONING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427369" y="497056"/>
            <a:ext cx="2572196" cy="1300209"/>
            <a:chOff x="0" y="0"/>
            <a:chExt cx="1333116" cy="50540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33116" cy="505404"/>
            </a:xfrm>
            <a:custGeom>
              <a:avLst/>
              <a:gdLst/>
              <a:ahLst/>
              <a:cxnLst/>
              <a:rect l="l" t="t" r="r" b="b"/>
              <a:pathLst>
                <a:path w="1333116" h="505404">
                  <a:moveTo>
                    <a:pt x="60197" y="0"/>
                  </a:moveTo>
                  <a:lnTo>
                    <a:pt x="1272919" y="0"/>
                  </a:lnTo>
                  <a:cubicBezTo>
                    <a:pt x="1288885" y="0"/>
                    <a:pt x="1304196" y="6342"/>
                    <a:pt x="1315485" y="17631"/>
                  </a:cubicBezTo>
                  <a:cubicBezTo>
                    <a:pt x="1326774" y="28920"/>
                    <a:pt x="1333116" y="44232"/>
                    <a:pt x="1333116" y="60197"/>
                  </a:cubicBezTo>
                  <a:lnTo>
                    <a:pt x="1333116" y="445207"/>
                  </a:lnTo>
                  <a:cubicBezTo>
                    <a:pt x="1333116" y="461172"/>
                    <a:pt x="1326774" y="476483"/>
                    <a:pt x="1315485" y="487773"/>
                  </a:cubicBezTo>
                  <a:cubicBezTo>
                    <a:pt x="1304196" y="499062"/>
                    <a:pt x="1288885" y="505404"/>
                    <a:pt x="1272919" y="505404"/>
                  </a:cubicBezTo>
                  <a:lnTo>
                    <a:pt x="60197" y="505404"/>
                  </a:lnTo>
                  <a:cubicBezTo>
                    <a:pt x="44232" y="505404"/>
                    <a:pt x="28920" y="499062"/>
                    <a:pt x="17631" y="487773"/>
                  </a:cubicBezTo>
                  <a:cubicBezTo>
                    <a:pt x="6342" y="476483"/>
                    <a:pt x="0" y="461172"/>
                    <a:pt x="0" y="445207"/>
                  </a:cubicBezTo>
                  <a:lnTo>
                    <a:pt x="0" y="60197"/>
                  </a:lnTo>
                  <a:cubicBezTo>
                    <a:pt x="0" y="44232"/>
                    <a:pt x="6342" y="28920"/>
                    <a:pt x="17631" y="17631"/>
                  </a:cubicBezTo>
                  <a:cubicBezTo>
                    <a:pt x="28920" y="6342"/>
                    <a:pt x="44232" y="0"/>
                    <a:pt x="6019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333116" cy="543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8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770367" y="1197663"/>
            <a:ext cx="2085143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89"/>
              </a:lnSpc>
            </a:pPr>
            <a:r>
              <a:rPr lang="en-US" sz="1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 database dependency - purely mathematical relationships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13749" y="566318"/>
            <a:ext cx="1985816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27"/>
              </a:lnSpc>
            </a:pPr>
            <a:r>
              <a:rPr lang="en-US" sz="1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MATHEMATICAL FOUNDATION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6427369" y="2234136"/>
            <a:ext cx="2572196" cy="1300209"/>
            <a:chOff x="0" y="0"/>
            <a:chExt cx="1333116" cy="50540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33116" cy="505404"/>
            </a:xfrm>
            <a:custGeom>
              <a:avLst/>
              <a:gdLst/>
              <a:ahLst/>
              <a:cxnLst/>
              <a:rect l="l" t="t" r="r" b="b"/>
              <a:pathLst>
                <a:path w="1333116" h="505404">
                  <a:moveTo>
                    <a:pt x="60197" y="0"/>
                  </a:moveTo>
                  <a:lnTo>
                    <a:pt x="1272919" y="0"/>
                  </a:lnTo>
                  <a:cubicBezTo>
                    <a:pt x="1288885" y="0"/>
                    <a:pt x="1304196" y="6342"/>
                    <a:pt x="1315485" y="17631"/>
                  </a:cubicBezTo>
                  <a:cubicBezTo>
                    <a:pt x="1326774" y="28920"/>
                    <a:pt x="1333116" y="44232"/>
                    <a:pt x="1333116" y="60197"/>
                  </a:cubicBezTo>
                  <a:lnTo>
                    <a:pt x="1333116" y="445207"/>
                  </a:lnTo>
                  <a:cubicBezTo>
                    <a:pt x="1333116" y="461172"/>
                    <a:pt x="1326774" y="476483"/>
                    <a:pt x="1315485" y="487773"/>
                  </a:cubicBezTo>
                  <a:cubicBezTo>
                    <a:pt x="1304196" y="499062"/>
                    <a:pt x="1288885" y="505404"/>
                    <a:pt x="1272919" y="505404"/>
                  </a:cubicBezTo>
                  <a:lnTo>
                    <a:pt x="60197" y="505404"/>
                  </a:lnTo>
                  <a:cubicBezTo>
                    <a:pt x="44232" y="505404"/>
                    <a:pt x="28920" y="499062"/>
                    <a:pt x="17631" y="487773"/>
                  </a:cubicBezTo>
                  <a:cubicBezTo>
                    <a:pt x="6342" y="476483"/>
                    <a:pt x="0" y="461172"/>
                    <a:pt x="0" y="445207"/>
                  </a:cubicBezTo>
                  <a:lnTo>
                    <a:pt x="0" y="60197"/>
                  </a:lnTo>
                  <a:cubicBezTo>
                    <a:pt x="0" y="44232"/>
                    <a:pt x="6342" y="28920"/>
                    <a:pt x="17631" y="17631"/>
                  </a:cubicBezTo>
                  <a:cubicBezTo>
                    <a:pt x="28920" y="6342"/>
                    <a:pt x="44232" y="0"/>
                    <a:pt x="6019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333116" cy="543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8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745011" y="2804534"/>
            <a:ext cx="2085143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89"/>
              </a:lnSpc>
            </a:pPr>
            <a:r>
              <a:rPr lang="en-US" sz="1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Sustainable, energy-efficient, requiring minimal computational power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64848" y="2459695"/>
            <a:ext cx="2045468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27"/>
              </a:lnSpc>
            </a:pPr>
            <a:r>
              <a:rPr lang="en-US" sz="1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PERMANENT SYSTEM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34892" y="4229240"/>
            <a:ext cx="2082076" cy="1052461"/>
            <a:chOff x="0" y="0"/>
            <a:chExt cx="1333116" cy="50540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33116" cy="505404"/>
            </a:xfrm>
            <a:custGeom>
              <a:avLst/>
              <a:gdLst/>
              <a:ahLst/>
              <a:cxnLst/>
              <a:rect l="l" t="t" r="r" b="b"/>
              <a:pathLst>
                <a:path w="1333116" h="505404">
                  <a:moveTo>
                    <a:pt x="74367" y="0"/>
                  </a:moveTo>
                  <a:lnTo>
                    <a:pt x="1258749" y="0"/>
                  </a:lnTo>
                  <a:cubicBezTo>
                    <a:pt x="1278472" y="0"/>
                    <a:pt x="1297388" y="7835"/>
                    <a:pt x="1311335" y="21782"/>
                  </a:cubicBezTo>
                  <a:cubicBezTo>
                    <a:pt x="1325281" y="35728"/>
                    <a:pt x="1333116" y="54644"/>
                    <a:pt x="1333116" y="74367"/>
                  </a:cubicBezTo>
                  <a:lnTo>
                    <a:pt x="1333116" y="431037"/>
                  </a:lnTo>
                  <a:cubicBezTo>
                    <a:pt x="1333116" y="472108"/>
                    <a:pt x="1299821" y="505404"/>
                    <a:pt x="1258749" y="505404"/>
                  </a:cubicBezTo>
                  <a:lnTo>
                    <a:pt x="74367" y="505404"/>
                  </a:lnTo>
                  <a:cubicBezTo>
                    <a:pt x="33295" y="505404"/>
                    <a:pt x="0" y="472108"/>
                    <a:pt x="0" y="431037"/>
                  </a:cubicBezTo>
                  <a:lnTo>
                    <a:pt x="0" y="74367"/>
                  </a:lnTo>
                  <a:cubicBezTo>
                    <a:pt x="0" y="33295"/>
                    <a:pt x="33295" y="0"/>
                    <a:pt x="74367" y="0"/>
                  </a:cubicBezTo>
                  <a:close/>
                </a:path>
              </a:pathLst>
            </a:custGeom>
            <a:solidFill>
              <a:srgbClr val="E39D21"/>
            </a:solidFill>
            <a:ln cap="rnd">
              <a:noFill/>
              <a:prstDash val="solid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333116" cy="543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8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792009" y="4679760"/>
            <a:ext cx="1687829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19"/>
              </a:lnSpc>
            </a:pPr>
            <a:r>
              <a:rPr lang="en-US" sz="1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1m x 1m precision vs. competitors' 3m x 3m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09540" y="4415465"/>
            <a:ext cx="1469114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03"/>
              </a:lnSpc>
            </a:pPr>
            <a:r>
              <a:rPr lang="en-US" sz="1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SMALLER GRID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34892" y="5635327"/>
            <a:ext cx="2082076" cy="1052461"/>
            <a:chOff x="0" y="0"/>
            <a:chExt cx="1333116" cy="50540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333116" cy="505404"/>
            </a:xfrm>
            <a:custGeom>
              <a:avLst/>
              <a:gdLst/>
              <a:ahLst/>
              <a:cxnLst/>
              <a:rect l="l" t="t" r="r" b="b"/>
              <a:pathLst>
                <a:path w="1333116" h="505404">
                  <a:moveTo>
                    <a:pt x="74367" y="0"/>
                  </a:moveTo>
                  <a:lnTo>
                    <a:pt x="1258749" y="0"/>
                  </a:lnTo>
                  <a:cubicBezTo>
                    <a:pt x="1278472" y="0"/>
                    <a:pt x="1297388" y="7835"/>
                    <a:pt x="1311335" y="21782"/>
                  </a:cubicBezTo>
                  <a:cubicBezTo>
                    <a:pt x="1325281" y="35728"/>
                    <a:pt x="1333116" y="54644"/>
                    <a:pt x="1333116" y="74367"/>
                  </a:cubicBezTo>
                  <a:lnTo>
                    <a:pt x="1333116" y="431037"/>
                  </a:lnTo>
                  <a:cubicBezTo>
                    <a:pt x="1333116" y="472108"/>
                    <a:pt x="1299821" y="505404"/>
                    <a:pt x="1258749" y="505404"/>
                  </a:cubicBezTo>
                  <a:lnTo>
                    <a:pt x="74367" y="505404"/>
                  </a:lnTo>
                  <a:cubicBezTo>
                    <a:pt x="33295" y="505404"/>
                    <a:pt x="0" y="472108"/>
                    <a:pt x="0" y="431037"/>
                  </a:cubicBezTo>
                  <a:lnTo>
                    <a:pt x="0" y="74367"/>
                  </a:lnTo>
                  <a:cubicBezTo>
                    <a:pt x="0" y="33295"/>
                    <a:pt x="33295" y="0"/>
                    <a:pt x="74367" y="0"/>
                  </a:cubicBezTo>
                  <a:close/>
                </a:path>
              </a:pathLst>
            </a:custGeom>
            <a:solidFill>
              <a:srgbClr val="E39D21"/>
            </a:solidFill>
            <a:ln cap="rnd">
              <a:noFill/>
              <a:prstDash val="solid"/>
              <a:round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333116" cy="543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89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790826" y="6129807"/>
            <a:ext cx="1687829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19"/>
              </a:lnSpc>
            </a:pPr>
            <a:r>
              <a:rPr lang="en-US" sz="1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Related codes for adjacent areas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71967" y="5821553"/>
            <a:ext cx="2036509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03"/>
              </a:lnSpc>
            </a:pPr>
            <a:r>
              <a:rPr lang="en-US" sz="1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LOGICAL SEQUENCE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2907736" y="4229240"/>
            <a:ext cx="2082076" cy="1052461"/>
            <a:chOff x="0" y="0"/>
            <a:chExt cx="1333116" cy="50540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333116" cy="505404"/>
            </a:xfrm>
            <a:custGeom>
              <a:avLst/>
              <a:gdLst/>
              <a:ahLst/>
              <a:cxnLst/>
              <a:rect l="l" t="t" r="r" b="b"/>
              <a:pathLst>
                <a:path w="1333116" h="505404">
                  <a:moveTo>
                    <a:pt x="74367" y="0"/>
                  </a:moveTo>
                  <a:lnTo>
                    <a:pt x="1258749" y="0"/>
                  </a:lnTo>
                  <a:cubicBezTo>
                    <a:pt x="1278472" y="0"/>
                    <a:pt x="1297388" y="7835"/>
                    <a:pt x="1311335" y="21782"/>
                  </a:cubicBezTo>
                  <a:cubicBezTo>
                    <a:pt x="1325281" y="35728"/>
                    <a:pt x="1333116" y="54644"/>
                    <a:pt x="1333116" y="74367"/>
                  </a:cubicBezTo>
                  <a:lnTo>
                    <a:pt x="1333116" y="431037"/>
                  </a:lnTo>
                  <a:cubicBezTo>
                    <a:pt x="1333116" y="472108"/>
                    <a:pt x="1299821" y="505404"/>
                    <a:pt x="1258749" y="505404"/>
                  </a:cubicBezTo>
                  <a:lnTo>
                    <a:pt x="74367" y="505404"/>
                  </a:lnTo>
                  <a:cubicBezTo>
                    <a:pt x="33295" y="505404"/>
                    <a:pt x="0" y="472108"/>
                    <a:pt x="0" y="431037"/>
                  </a:cubicBezTo>
                  <a:lnTo>
                    <a:pt x="0" y="74367"/>
                  </a:lnTo>
                  <a:cubicBezTo>
                    <a:pt x="0" y="33295"/>
                    <a:pt x="33295" y="0"/>
                    <a:pt x="74367" y="0"/>
                  </a:cubicBezTo>
                  <a:close/>
                </a:path>
              </a:pathLst>
            </a:custGeom>
            <a:solidFill>
              <a:srgbClr val="E39D21"/>
            </a:solidFill>
            <a:ln cap="rnd">
              <a:noFill/>
              <a:prstDash val="solid"/>
              <a:round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1333116" cy="543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89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2987693" y="4785159"/>
            <a:ext cx="1885513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19"/>
              </a:lnSpc>
            </a:pPr>
            <a:r>
              <a:rPr lang="en-US" sz="1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Mathematical algorithm reduces infrastructure needs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382383" y="4279254"/>
            <a:ext cx="1607428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03"/>
              </a:lnSpc>
            </a:pPr>
            <a:r>
              <a:rPr lang="en-US" sz="1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DATABASE DEPENDENCY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2907736" y="5635327"/>
            <a:ext cx="2082076" cy="1052461"/>
            <a:chOff x="0" y="0"/>
            <a:chExt cx="1333116" cy="50540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333116" cy="505404"/>
            </a:xfrm>
            <a:custGeom>
              <a:avLst/>
              <a:gdLst/>
              <a:ahLst/>
              <a:cxnLst/>
              <a:rect l="l" t="t" r="r" b="b"/>
              <a:pathLst>
                <a:path w="1333116" h="505404">
                  <a:moveTo>
                    <a:pt x="74367" y="0"/>
                  </a:moveTo>
                  <a:lnTo>
                    <a:pt x="1258749" y="0"/>
                  </a:lnTo>
                  <a:cubicBezTo>
                    <a:pt x="1278472" y="0"/>
                    <a:pt x="1297388" y="7835"/>
                    <a:pt x="1311335" y="21782"/>
                  </a:cubicBezTo>
                  <a:cubicBezTo>
                    <a:pt x="1325281" y="35728"/>
                    <a:pt x="1333116" y="54644"/>
                    <a:pt x="1333116" y="74367"/>
                  </a:cubicBezTo>
                  <a:lnTo>
                    <a:pt x="1333116" y="431037"/>
                  </a:lnTo>
                  <a:cubicBezTo>
                    <a:pt x="1333116" y="472108"/>
                    <a:pt x="1299821" y="505404"/>
                    <a:pt x="1258749" y="505404"/>
                  </a:cubicBezTo>
                  <a:lnTo>
                    <a:pt x="74367" y="505404"/>
                  </a:lnTo>
                  <a:cubicBezTo>
                    <a:pt x="33295" y="505404"/>
                    <a:pt x="0" y="472108"/>
                    <a:pt x="0" y="431037"/>
                  </a:cubicBezTo>
                  <a:lnTo>
                    <a:pt x="0" y="74367"/>
                  </a:lnTo>
                  <a:cubicBezTo>
                    <a:pt x="0" y="33295"/>
                    <a:pt x="33295" y="0"/>
                    <a:pt x="74367" y="0"/>
                  </a:cubicBezTo>
                  <a:close/>
                </a:path>
              </a:pathLst>
            </a:custGeom>
            <a:solidFill>
              <a:srgbClr val="E39D21"/>
            </a:solidFill>
            <a:ln cap="rnd">
              <a:noFill/>
              <a:prstDash val="solid"/>
              <a:round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1333116" cy="543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89"/>
                </a:lnSpc>
              </a:pPr>
              <a:endParaRPr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2987693" y="6049313"/>
            <a:ext cx="1922162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19"/>
              </a:lnSpc>
            </a:pPr>
            <a:r>
              <a:rPr lang="en-US" sz="1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Designed specifically for Nigerian addressing standards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334098" y="5794163"/>
            <a:ext cx="1655714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03"/>
              </a:lnSpc>
            </a:pPr>
            <a:r>
              <a:rPr lang="en-US" sz="1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NIGERIAN-BUILT</a:t>
            </a:r>
          </a:p>
        </p:txBody>
      </p:sp>
    </p:spTree>
    <p:extLst>
      <p:ext uri="{BB962C8B-B14F-4D97-AF65-F5344CB8AC3E}">
        <p14:creationId xmlns:p14="http://schemas.microsoft.com/office/powerpoint/2010/main" val="4157168961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85418" y="6024228"/>
            <a:ext cx="3534392" cy="833772"/>
          </a:xfrm>
          <a:custGeom>
            <a:avLst/>
            <a:gdLst/>
            <a:ahLst/>
            <a:cxnLst/>
            <a:rect l="l" t="t" r="r" b="b"/>
            <a:pathLst>
              <a:path w="7068784" h="1250658">
                <a:moveTo>
                  <a:pt x="0" y="0"/>
                </a:moveTo>
                <a:lnTo>
                  <a:pt x="7068784" y="0"/>
                </a:lnTo>
                <a:lnTo>
                  <a:pt x="7068784" y="1250658"/>
                </a:lnTo>
                <a:lnTo>
                  <a:pt x="0" y="12506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222873"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6400810" y="524505"/>
            <a:ext cx="3056709" cy="5647695"/>
            <a:chOff x="0" y="0"/>
            <a:chExt cx="4734560" cy="6560820"/>
          </a:xfrm>
        </p:grpSpPr>
        <p:sp>
          <p:nvSpPr>
            <p:cNvPr id="4" name="Freeform 4"/>
            <p:cNvSpPr/>
            <p:nvPr/>
          </p:nvSpPr>
          <p:spPr>
            <a:xfrm>
              <a:off x="36830" y="50800"/>
              <a:ext cx="4645660" cy="6473190"/>
            </a:xfrm>
            <a:custGeom>
              <a:avLst/>
              <a:gdLst/>
              <a:ahLst/>
              <a:cxnLst/>
              <a:rect l="l" t="t" r="r" b="b"/>
              <a:pathLst>
                <a:path w="4645660" h="6473190">
                  <a:moveTo>
                    <a:pt x="4368800" y="0"/>
                  </a:moveTo>
                  <a:lnTo>
                    <a:pt x="276860" y="0"/>
                  </a:lnTo>
                  <a:cubicBezTo>
                    <a:pt x="124460" y="0"/>
                    <a:pt x="0" y="123190"/>
                    <a:pt x="0" y="276860"/>
                  </a:cubicBezTo>
                  <a:lnTo>
                    <a:pt x="0" y="6196330"/>
                  </a:lnTo>
                  <a:cubicBezTo>
                    <a:pt x="0" y="6350000"/>
                    <a:pt x="124460" y="6473190"/>
                    <a:pt x="276860" y="6473190"/>
                  </a:cubicBezTo>
                  <a:lnTo>
                    <a:pt x="4368800" y="6473190"/>
                  </a:lnTo>
                  <a:cubicBezTo>
                    <a:pt x="4522470" y="6473190"/>
                    <a:pt x="4645660" y="6348730"/>
                    <a:pt x="4645660" y="6196330"/>
                  </a:cubicBezTo>
                  <a:lnTo>
                    <a:pt x="4645660" y="276860"/>
                  </a:lnTo>
                  <a:cubicBezTo>
                    <a:pt x="4645660" y="123190"/>
                    <a:pt x="4522470" y="0"/>
                    <a:pt x="4368800" y="0"/>
                  </a:cubicBezTo>
                  <a:close/>
                  <a:moveTo>
                    <a:pt x="4425950" y="6156960"/>
                  </a:moveTo>
                  <a:cubicBezTo>
                    <a:pt x="4425950" y="6212840"/>
                    <a:pt x="4380230" y="6258560"/>
                    <a:pt x="4324350" y="6258560"/>
                  </a:cubicBezTo>
                  <a:lnTo>
                    <a:pt x="321310" y="6258560"/>
                  </a:lnTo>
                  <a:cubicBezTo>
                    <a:pt x="265430" y="6258560"/>
                    <a:pt x="219710" y="6212840"/>
                    <a:pt x="219710" y="6156960"/>
                  </a:cubicBezTo>
                  <a:lnTo>
                    <a:pt x="219710" y="316230"/>
                  </a:lnTo>
                  <a:cubicBezTo>
                    <a:pt x="219710" y="260350"/>
                    <a:pt x="265430" y="214630"/>
                    <a:pt x="321310" y="214630"/>
                  </a:cubicBezTo>
                  <a:lnTo>
                    <a:pt x="4325620" y="214630"/>
                  </a:lnTo>
                  <a:cubicBezTo>
                    <a:pt x="4381500" y="214630"/>
                    <a:pt x="4427220" y="260350"/>
                    <a:pt x="4427220" y="316230"/>
                  </a:cubicBezTo>
                  <a:lnTo>
                    <a:pt x="4427220" y="6156960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0" y="16511"/>
              <a:ext cx="4716780" cy="6544310"/>
            </a:xfrm>
            <a:custGeom>
              <a:avLst/>
              <a:gdLst/>
              <a:ahLst/>
              <a:cxnLst/>
              <a:rect l="l" t="t" r="r" b="b"/>
              <a:pathLst>
                <a:path w="4716780" h="6544310">
                  <a:moveTo>
                    <a:pt x="4395470" y="36829"/>
                  </a:moveTo>
                  <a:cubicBezTo>
                    <a:pt x="4552950" y="36829"/>
                    <a:pt x="4681220" y="165099"/>
                    <a:pt x="4681220" y="322579"/>
                  </a:cubicBezTo>
                  <a:lnTo>
                    <a:pt x="4681220" y="6222999"/>
                  </a:lnTo>
                  <a:cubicBezTo>
                    <a:pt x="4681220" y="6380479"/>
                    <a:pt x="4552950" y="6508750"/>
                    <a:pt x="4395470" y="6508750"/>
                  </a:cubicBezTo>
                  <a:lnTo>
                    <a:pt x="321310" y="6508750"/>
                  </a:lnTo>
                  <a:cubicBezTo>
                    <a:pt x="163830" y="6508750"/>
                    <a:pt x="35560" y="6380480"/>
                    <a:pt x="35560" y="6223000"/>
                  </a:cubicBezTo>
                  <a:lnTo>
                    <a:pt x="35560" y="322580"/>
                  </a:lnTo>
                  <a:cubicBezTo>
                    <a:pt x="35560" y="165100"/>
                    <a:pt x="163830" y="36830"/>
                    <a:pt x="321310" y="36830"/>
                  </a:cubicBezTo>
                  <a:lnTo>
                    <a:pt x="4395470" y="36830"/>
                  </a:lnTo>
                  <a:moveTo>
                    <a:pt x="4395470" y="0"/>
                  </a:moveTo>
                  <a:lnTo>
                    <a:pt x="321310" y="0"/>
                  </a:lnTo>
                  <a:cubicBezTo>
                    <a:pt x="143510" y="0"/>
                    <a:pt x="0" y="144780"/>
                    <a:pt x="0" y="322580"/>
                  </a:cubicBezTo>
                  <a:lnTo>
                    <a:pt x="0" y="6223000"/>
                  </a:lnTo>
                  <a:cubicBezTo>
                    <a:pt x="0" y="6400800"/>
                    <a:pt x="143510" y="6544309"/>
                    <a:pt x="321310" y="6544309"/>
                  </a:cubicBezTo>
                  <a:lnTo>
                    <a:pt x="4395470" y="6544309"/>
                  </a:lnTo>
                  <a:cubicBezTo>
                    <a:pt x="4573270" y="6544309"/>
                    <a:pt x="4716780" y="6400800"/>
                    <a:pt x="4716780" y="6223000"/>
                  </a:cubicBezTo>
                  <a:lnTo>
                    <a:pt x="4716780" y="322580"/>
                  </a:lnTo>
                  <a:cubicBezTo>
                    <a:pt x="4716780" y="144780"/>
                    <a:pt x="4573270" y="0"/>
                    <a:pt x="4395470" y="0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256540" y="265430"/>
              <a:ext cx="4207510" cy="6043930"/>
            </a:xfrm>
            <a:custGeom>
              <a:avLst/>
              <a:gdLst/>
              <a:ahLst/>
              <a:cxnLst/>
              <a:rect l="l" t="t" r="r" b="b"/>
              <a:pathLst>
                <a:path w="4207510" h="6043930">
                  <a:moveTo>
                    <a:pt x="4206240" y="5942330"/>
                  </a:moveTo>
                  <a:cubicBezTo>
                    <a:pt x="4206240" y="5998210"/>
                    <a:pt x="4160520" y="6043930"/>
                    <a:pt x="4104640" y="6043930"/>
                  </a:cubicBezTo>
                  <a:lnTo>
                    <a:pt x="101600" y="6043930"/>
                  </a:lnTo>
                  <a:cubicBezTo>
                    <a:pt x="45720" y="6043930"/>
                    <a:pt x="0" y="5998210"/>
                    <a:pt x="0" y="5942330"/>
                  </a:cubicBezTo>
                  <a:lnTo>
                    <a:pt x="0" y="101600"/>
                  </a:lnTo>
                  <a:cubicBezTo>
                    <a:pt x="0" y="45720"/>
                    <a:pt x="45720" y="0"/>
                    <a:pt x="101600" y="0"/>
                  </a:cubicBezTo>
                  <a:lnTo>
                    <a:pt x="4105910" y="0"/>
                  </a:lnTo>
                  <a:cubicBezTo>
                    <a:pt x="4161790" y="0"/>
                    <a:pt x="4207510" y="45720"/>
                    <a:pt x="4207510" y="101600"/>
                  </a:cubicBezTo>
                  <a:lnTo>
                    <a:pt x="4207510" y="5942330"/>
                  </a:lnTo>
                  <a:close/>
                </a:path>
              </a:pathLst>
            </a:custGeom>
            <a:blipFill>
              <a:blip r:embed="rId4"/>
              <a:stretch>
                <a:fillRect t="-115" b="-115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951378" y="120589"/>
              <a:ext cx="79963" cy="76322"/>
            </a:xfrm>
            <a:custGeom>
              <a:avLst/>
              <a:gdLst/>
              <a:ahLst/>
              <a:cxnLst/>
              <a:rect l="l" t="t" r="r" b="b"/>
              <a:pathLst>
                <a:path w="79963" h="76322">
                  <a:moveTo>
                    <a:pt x="39982" y="61"/>
                  </a:moveTo>
                  <a:cubicBezTo>
                    <a:pt x="26330" y="0"/>
                    <a:pt x="13688" y="7248"/>
                    <a:pt x="6844" y="19062"/>
                  </a:cubicBezTo>
                  <a:cubicBezTo>
                    <a:pt x="0" y="30875"/>
                    <a:pt x="0" y="45447"/>
                    <a:pt x="6844" y="57260"/>
                  </a:cubicBezTo>
                  <a:cubicBezTo>
                    <a:pt x="13688" y="69074"/>
                    <a:pt x="26330" y="76322"/>
                    <a:pt x="39982" y="76261"/>
                  </a:cubicBezTo>
                  <a:cubicBezTo>
                    <a:pt x="53634" y="76322"/>
                    <a:pt x="66276" y="69074"/>
                    <a:pt x="73120" y="57260"/>
                  </a:cubicBezTo>
                  <a:cubicBezTo>
                    <a:pt x="79964" y="45447"/>
                    <a:pt x="79964" y="30875"/>
                    <a:pt x="73120" y="19062"/>
                  </a:cubicBezTo>
                  <a:cubicBezTo>
                    <a:pt x="66276" y="7248"/>
                    <a:pt x="53634" y="0"/>
                    <a:pt x="39982" y="61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2119473" y="104052"/>
              <a:ext cx="114614" cy="109395"/>
            </a:xfrm>
            <a:custGeom>
              <a:avLst/>
              <a:gdLst/>
              <a:ahLst/>
              <a:cxnLst/>
              <a:rect l="l" t="t" r="r" b="b"/>
              <a:pathLst>
                <a:path w="114614" h="109395">
                  <a:moveTo>
                    <a:pt x="57307" y="88"/>
                  </a:moveTo>
                  <a:cubicBezTo>
                    <a:pt x="37739" y="0"/>
                    <a:pt x="19619" y="10390"/>
                    <a:pt x="9809" y="27322"/>
                  </a:cubicBezTo>
                  <a:cubicBezTo>
                    <a:pt x="0" y="44255"/>
                    <a:pt x="0" y="65141"/>
                    <a:pt x="9809" y="82074"/>
                  </a:cubicBezTo>
                  <a:cubicBezTo>
                    <a:pt x="19619" y="99006"/>
                    <a:pt x="37739" y="109396"/>
                    <a:pt x="57307" y="109308"/>
                  </a:cubicBezTo>
                  <a:cubicBezTo>
                    <a:pt x="76875" y="109396"/>
                    <a:pt x="94995" y="99006"/>
                    <a:pt x="104804" y="82074"/>
                  </a:cubicBezTo>
                  <a:cubicBezTo>
                    <a:pt x="114614" y="65141"/>
                    <a:pt x="114614" y="44255"/>
                    <a:pt x="104804" y="27322"/>
                  </a:cubicBezTo>
                  <a:cubicBezTo>
                    <a:pt x="94995" y="10390"/>
                    <a:pt x="76875" y="0"/>
                    <a:pt x="57307" y="88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2328944" y="128221"/>
              <a:ext cx="63971" cy="61058"/>
            </a:xfrm>
            <a:custGeom>
              <a:avLst/>
              <a:gdLst/>
              <a:ahLst/>
              <a:cxnLst/>
              <a:rect l="l" t="t" r="r" b="b"/>
              <a:pathLst>
                <a:path w="63971" h="61058">
                  <a:moveTo>
                    <a:pt x="31986" y="49"/>
                  </a:moveTo>
                  <a:cubicBezTo>
                    <a:pt x="21064" y="0"/>
                    <a:pt x="10951" y="5799"/>
                    <a:pt x="5476" y="15250"/>
                  </a:cubicBezTo>
                  <a:cubicBezTo>
                    <a:pt x="0" y="24700"/>
                    <a:pt x="0" y="36358"/>
                    <a:pt x="5476" y="45808"/>
                  </a:cubicBezTo>
                  <a:cubicBezTo>
                    <a:pt x="10951" y="55259"/>
                    <a:pt x="21064" y="61058"/>
                    <a:pt x="31986" y="61009"/>
                  </a:cubicBezTo>
                  <a:cubicBezTo>
                    <a:pt x="42908" y="61058"/>
                    <a:pt x="53021" y="55259"/>
                    <a:pt x="58496" y="45808"/>
                  </a:cubicBezTo>
                  <a:cubicBezTo>
                    <a:pt x="63971" y="36358"/>
                    <a:pt x="63971" y="24700"/>
                    <a:pt x="58496" y="15250"/>
                  </a:cubicBezTo>
                  <a:cubicBezTo>
                    <a:pt x="53021" y="5799"/>
                    <a:pt x="42908" y="0"/>
                    <a:pt x="31986" y="49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346270" y="144758"/>
              <a:ext cx="29320" cy="27985"/>
            </a:xfrm>
            <a:custGeom>
              <a:avLst/>
              <a:gdLst/>
              <a:ahLst/>
              <a:cxnLst/>
              <a:rect l="l" t="t" r="r" b="b"/>
              <a:pathLst>
                <a:path w="29320" h="27985">
                  <a:moveTo>
                    <a:pt x="14660" y="22"/>
                  </a:moveTo>
                  <a:cubicBezTo>
                    <a:pt x="9654" y="0"/>
                    <a:pt x="5019" y="2657"/>
                    <a:pt x="2509" y="6989"/>
                  </a:cubicBezTo>
                  <a:cubicBezTo>
                    <a:pt x="0" y="11320"/>
                    <a:pt x="0" y="16664"/>
                    <a:pt x="2509" y="20995"/>
                  </a:cubicBezTo>
                  <a:cubicBezTo>
                    <a:pt x="5019" y="25327"/>
                    <a:pt x="9654" y="27984"/>
                    <a:pt x="14660" y="27962"/>
                  </a:cubicBezTo>
                  <a:cubicBezTo>
                    <a:pt x="19666" y="27984"/>
                    <a:pt x="24301" y="25327"/>
                    <a:pt x="26811" y="20995"/>
                  </a:cubicBezTo>
                  <a:cubicBezTo>
                    <a:pt x="29320" y="16664"/>
                    <a:pt x="29320" y="11320"/>
                    <a:pt x="26811" y="6989"/>
                  </a:cubicBezTo>
                  <a:cubicBezTo>
                    <a:pt x="24301" y="2657"/>
                    <a:pt x="19666" y="0"/>
                    <a:pt x="14660" y="22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344044" y="144768"/>
              <a:ext cx="15993" cy="15264"/>
            </a:xfrm>
            <a:custGeom>
              <a:avLst/>
              <a:gdLst/>
              <a:ahLst/>
              <a:cxnLst/>
              <a:rect l="l" t="t" r="r" b="b"/>
              <a:pathLst>
                <a:path w="15993" h="15264">
                  <a:moveTo>
                    <a:pt x="7996" y="12"/>
                  </a:moveTo>
                  <a:cubicBezTo>
                    <a:pt x="5266" y="0"/>
                    <a:pt x="2737" y="1449"/>
                    <a:pt x="1368" y="3812"/>
                  </a:cubicBezTo>
                  <a:cubicBezTo>
                    <a:pt x="0" y="6175"/>
                    <a:pt x="0" y="9089"/>
                    <a:pt x="1368" y="11452"/>
                  </a:cubicBezTo>
                  <a:cubicBezTo>
                    <a:pt x="2737" y="13815"/>
                    <a:pt x="5266" y="15264"/>
                    <a:pt x="7996" y="15252"/>
                  </a:cubicBezTo>
                  <a:cubicBezTo>
                    <a:pt x="10726" y="15264"/>
                    <a:pt x="13255" y="13815"/>
                    <a:pt x="14623" y="11452"/>
                  </a:cubicBezTo>
                  <a:cubicBezTo>
                    <a:pt x="15992" y="9089"/>
                    <a:pt x="15992" y="6175"/>
                    <a:pt x="14623" y="3812"/>
                  </a:cubicBezTo>
                  <a:cubicBezTo>
                    <a:pt x="13255" y="1449"/>
                    <a:pt x="10726" y="0"/>
                    <a:pt x="7996" y="12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4716780" y="534670"/>
              <a:ext cx="19050" cy="278130"/>
            </a:xfrm>
            <a:custGeom>
              <a:avLst/>
              <a:gdLst/>
              <a:ahLst/>
              <a:cxnLst/>
              <a:rect l="l" t="t" r="r" b="b"/>
              <a:pathLst>
                <a:path w="19050" h="278130">
                  <a:moveTo>
                    <a:pt x="0" y="0"/>
                  </a:moveTo>
                  <a:lnTo>
                    <a:pt x="0" y="278130"/>
                  </a:lnTo>
                  <a:cubicBezTo>
                    <a:pt x="19050" y="278130"/>
                    <a:pt x="16510" y="262890"/>
                    <a:pt x="16510" y="243840"/>
                  </a:cubicBezTo>
                  <a:lnTo>
                    <a:pt x="16510" y="35560"/>
                  </a:lnTo>
                  <a:cubicBezTo>
                    <a:pt x="16510" y="16510"/>
                    <a:pt x="19050" y="0"/>
                    <a:pt x="0" y="0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4716780" y="861060"/>
              <a:ext cx="19050" cy="278130"/>
            </a:xfrm>
            <a:custGeom>
              <a:avLst/>
              <a:gdLst/>
              <a:ahLst/>
              <a:cxnLst/>
              <a:rect l="l" t="t" r="r" b="b"/>
              <a:pathLst>
                <a:path w="19050" h="278130">
                  <a:moveTo>
                    <a:pt x="0" y="0"/>
                  </a:moveTo>
                  <a:lnTo>
                    <a:pt x="0" y="278130"/>
                  </a:lnTo>
                  <a:cubicBezTo>
                    <a:pt x="19050" y="278130"/>
                    <a:pt x="16510" y="262890"/>
                    <a:pt x="16510" y="243840"/>
                  </a:cubicBezTo>
                  <a:lnTo>
                    <a:pt x="16510" y="35560"/>
                  </a:lnTo>
                  <a:cubicBezTo>
                    <a:pt x="16510" y="16510"/>
                    <a:pt x="19050" y="0"/>
                    <a:pt x="0" y="0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4064000" y="-2540"/>
              <a:ext cx="320040" cy="19050"/>
            </a:xfrm>
            <a:custGeom>
              <a:avLst/>
              <a:gdLst/>
              <a:ahLst/>
              <a:cxnLst/>
              <a:rect l="l" t="t" r="r" b="b"/>
              <a:pathLst>
                <a:path w="320040" h="19050">
                  <a:moveTo>
                    <a:pt x="0" y="19050"/>
                  </a:moveTo>
                  <a:lnTo>
                    <a:pt x="320040" y="19050"/>
                  </a:lnTo>
                  <a:cubicBezTo>
                    <a:pt x="320040" y="0"/>
                    <a:pt x="304800" y="2540"/>
                    <a:pt x="285750" y="2540"/>
                  </a:cubicBezTo>
                  <a:lnTo>
                    <a:pt x="34290" y="2540"/>
                  </a:lnTo>
                  <a:cubicBezTo>
                    <a:pt x="15240" y="2540"/>
                    <a:pt x="0" y="0"/>
                    <a:pt x="0" y="19050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</p:grpSp>
      <p:sp>
        <p:nvSpPr>
          <p:cNvPr id="15" name="Freeform 15"/>
          <p:cNvSpPr/>
          <p:nvPr/>
        </p:nvSpPr>
        <p:spPr>
          <a:xfrm>
            <a:off x="100934" y="6051550"/>
            <a:ext cx="2225016" cy="524887"/>
          </a:xfrm>
          <a:custGeom>
            <a:avLst/>
            <a:gdLst/>
            <a:ahLst/>
            <a:cxnLst/>
            <a:rect l="l" t="t" r="r" b="b"/>
            <a:pathLst>
              <a:path w="4450031" h="787330">
                <a:moveTo>
                  <a:pt x="0" y="0"/>
                </a:moveTo>
                <a:lnTo>
                  <a:pt x="4450031" y="0"/>
                </a:lnTo>
                <a:lnTo>
                  <a:pt x="4450031" y="787330"/>
                </a:lnTo>
                <a:lnTo>
                  <a:pt x="0" y="787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222873"/>
            </a:stretch>
          </a:blipFill>
          <a:ln cap="sq">
            <a:noFill/>
            <a:prstDash val="solid"/>
            <a:miter/>
          </a:ln>
        </p:spPr>
      </p:sp>
      <p:grpSp>
        <p:nvGrpSpPr>
          <p:cNvPr id="16" name="Group 16"/>
          <p:cNvGrpSpPr/>
          <p:nvPr/>
        </p:nvGrpSpPr>
        <p:grpSpPr>
          <a:xfrm>
            <a:off x="262025" y="2653028"/>
            <a:ext cx="1902833" cy="3519173"/>
            <a:chOff x="0" y="0"/>
            <a:chExt cx="999092" cy="13858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99092" cy="1385820"/>
            </a:xfrm>
            <a:custGeom>
              <a:avLst/>
              <a:gdLst/>
              <a:ahLst/>
              <a:cxnLst/>
              <a:rect l="l" t="t" r="r" b="b"/>
              <a:pathLst>
                <a:path w="999092" h="1385820">
                  <a:moveTo>
                    <a:pt x="50858" y="0"/>
                  </a:moveTo>
                  <a:lnTo>
                    <a:pt x="948234" y="0"/>
                  </a:lnTo>
                  <a:cubicBezTo>
                    <a:pt x="961722" y="0"/>
                    <a:pt x="974658" y="5358"/>
                    <a:pt x="984196" y="14896"/>
                  </a:cubicBezTo>
                  <a:cubicBezTo>
                    <a:pt x="993734" y="24434"/>
                    <a:pt x="999092" y="37370"/>
                    <a:pt x="999092" y="50858"/>
                  </a:cubicBezTo>
                  <a:lnTo>
                    <a:pt x="999092" y="1334962"/>
                  </a:lnTo>
                  <a:cubicBezTo>
                    <a:pt x="999092" y="1348450"/>
                    <a:pt x="993734" y="1361386"/>
                    <a:pt x="984196" y="1370924"/>
                  </a:cubicBezTo>
                  <a:cubicBezTo>
                    <a:pt x="974658" y="1380461"/>
                    <a:pt x="961722" y="1385820"/>
                    <a:pt x="948234" y="1385820"/>
                  </a:cubicBezTo>
                  <a:lnTo>
                    <a:pt x="50858" y="1385820"/>
                  </a:lnTo>
                  <a:cubicBezTo>
                    <a:pt x="37370" y="1385820"/>
                    <a:pt x="24434" y="1380461"/>
                    <a:pt x="14896" y="1370924"/>
                  </a:cubicBezTo>
                  <a:cubicBezTo>
                    <a:pt x="5358" y="1361386"/>
                    <a:pt x="0" y="1348450"/>
                    <a:pt x="0" y="1334962"/>
                  </a:cubicBezTo>
                  <a:lnTo>
                    <a:pt x="0" y="50858"/>
                  </a:lnTo>
                  <a:cubicBezTo>
                    <a:pt x="0" y="37370"/>
                    <a:pt x="5358" y="24434"/>
                    <a:pt x="14896" y="14896"/>
                  </a:cubicBezTo>
                  <a:cubicBezTo>
                    <a:pt x="24434" y="5358"/>
                    <a:pt x="37370" y="0"/>
                    <a:pt x="50858" y="0"/>
                  </a:cubicBezTo>
                  <a:close/>
                </a:path>
              </a:pathLst>
            </a:custGeom>
            <a:solidFill>
              <a:srgbClr val="E39D21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999092" cy="14334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24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1917" y="2448476"/>
            <a:ext cx="1543050" cy="387871"/>
            <a:chOff x="0" y="0"/>
            <a:chExt cx="812800" cy="15323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153233"/>
            </a:xfrm>
            <a:custGeom>
              <a:avLst/>
              <a:gdLst/>
              <a:ahLst/>
              <a:cxnLst/>
              <a:rect l="l" t="t" r="r" b="b"/>
              <a:pathLst>
                <a:path w="812800" h="153233">
                  <a:moveTo>
                    <a:pt x="76617" y="0"/>
                  </a:moveTo>
                  <a:lnTo>
                    <a:pt x="736183" y="0"/>
                  </a:lnTo>
                  <a:cubicBezTo>
                    <a:pt x="756503" y="0"/>
                    <a:pt x="775991" y="8072"/>
                    <a:pt x="790360" y="22440"/>
                  </a:cubicBezTo>
                  <a:cubicBezTo>
                    <a:pt x="804728" y="36809"/>
                    <a:pt x="812800" y="56297"/>
                    <a:pt x="812800" y="76617"/>
                  </a:cubicBezTo>
                  <a:lnTo>
                    <a:pt x="812800" y="76617"/>
                  </a:lnTo>
                  <a:cubicBezTo>
                    <a:pt x="812800" y="118931"/>
                    <a:pt x="778498" y="153233"/>
                    <a:pt x="736183" y="153233"/>
                  </a:cubicBezTo>
                  <a:lnTo>
                    <a:pt x="76617" y="153233"/>
                  </a:lnTo>
                  <a:cubicBezTo>
                    <a:pt x="56297" y="153233"/>
                    <a:pt x="36809" y="145161"/>
                    <a:pt x="22440" y="130793"/>
                  </a:cubicBezTo>
                  <a:cubicBezTo>
                    <a:pt x="8072" y="116424"/>
                    <a:pt x="0" y="96937"/>
                    <a:pt x="0" y="76617"/>
                  </a:cubicBezTo>
                  <a:lnTo>
                    <a:pt x="0" y="76617"/>
                  </a:lnTo>
                  <a:cubicBezTo>
                    <a:pt x="0" y="56297"/>
                    <a:pt x="8072" y="36809"/>
                    <a:pt x="22440" y="22440"/>
                  </a:cubicBezTo>
                  <a:cubicBezTo>
                    <a:pt x="36809" y="8072"/>
                    <a:pt x="56297" y="0"/>
                    <a:pt x="76617" y="0"/>
                  </a:cubicBezTo>
                  <a:close/>
                </a:path>
              </a:pathLst>
            </a:custGeom>
            <a:solidFill>
              <a:srgbClr val="E39D21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812800" cy="200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2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4242869" y="6051550"/>
            <a:ext cx="2225016" cy="524887"/>
          </a:xfrm>
          <a:custGeom>
            <a:avLst/>
            <a:gdLst/>
            <a:ahLst/>
            <a:cxnLst/>
            <a:rect l="l" t="t" r="r" b="b"/>
            <a:pathLst>
              <a:path w="4450031" h="787330">
                <a:moveTo>
                  <a:pt x="0" y="0"/>
                </a:moveTo>
                <a:lnTo>
                  <a:pt x="4450031" y="0"/>
                </a:lnTo>
                <a:lnTo>
                  <a:pt x="4450031" y="787330"/>
                </a:lnTo>
                <a:lnTo>
                  <a:pt x="0" y="787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222873"/>
            </a:stretch>
          </a:blipFill>
          <a:ln cap="sq">
            <a:noFill/>
            <a:prstDash val="solid"/>
            <a:miter/>
          </a:ln>
        </p:spPr>
      </p:sp>
      <p:sp>
        <p:nvSpPr>
          <p:cNvPr id="23" name="Freeform 23"/>
          <p:cNvSpPr/>
          <p:nvPr/>
        </p:nvSpPr>
        <p:spPr>
          <a:xfrm>
            <a:off x="2087624" y="6051550"/>
            <a:ext cx="2225016" cy="524887"/>
          </a:xfrm>
          <a:custGeom>
            <a:avLst/>
            <a:gdLst/>
            <a:ahLst/>
            <a:cxnLst/>
            <a:rect l="l" t="t" r="r" b="b"/>
            <a:pathLst>
              <a:path w="4450031" h="787330">
                <a:moveTo>
                  <a:pt x="0" y="0"/>
                </a:moveTo>
                <a:lnTo>
                  <a:pt x="4450030" y="0"/>
                </a:lnTo>
                <a:lnTo>
                  <a:pt x="4450030" y="787330"/>
                </a:lnTo>
                <a:lnTo>
                  <a:pt x="0" y="787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222873"/>
            </a:stretch>
          </a:blipFill>
          <a:ln cap="sq">
            <a:noFill/>
            <a:prstDash val="solid"/>
            <a:miter/>
          </a:ln>
        </p:spPr>
      </p:sp>
      <p:grpSp>
        <p:nvGrpSpPr>
          <p:cNvPr id="24" name="Group 24"/>
          <p:cNvGrpSpPr/>
          <p:nvPr/>
        </p:nvGrpSpPr>
        <p:grpSpPr>
          <a:xfrm>
            <a:off x="2340037" y="2653028"/>
            <a:ext cx="1902833" cy="3519173"/>
            <a:chOff x="0" y="0"/>
            <a:chExt cx="999092" cy="13858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99092" cy="1385820"/>
            </a:xfrm>
            <a:custGeom>
              <a:avLst/>
              <a:gdLst/>
              <a:ahLst/>
              <a:cxnLst/>
              <a:rect l="l" t="t" r="r" b="b"/>
              <a:pathLst>
                <a:path w="999092" h="1385820">
                  <a:moveTo>
                    <a:pt x="50858" y="0"/>
                  </a:moveTo>
                  <a:lnTo>
                    <a:pt x="948234" y="0"/>
                  </a:lnTo>
                  <a:cubicBezTo>
                    <a:pt x="961722" y="0"/>
                    <a:pt x="974658" y="5358"/>
                    <a:pt x="984196" y="14896"/>
                  </a:cubicBezTo>
                  <a:cubicBezTo>
                    <a:pt x="993734" y="24434"/>
                    <a:pt x="999092" y="37370"/>
                    <a:pt x="999092" y="50858"/>
                  </a:cubicBezTo>
                  <a:lnTo>
                    <a:pt x="999092" y="1334962"/>
                  </a:lnTo>
                  <a:cubicBezTo>
                    <a:pt x="999092" y="1348450"/>
                    <a:pt x="993734" y="1361386"/>
                    <a:pt x="984196" y="1370924"/>
                  </a:cubicBezTo>
                  <a:cubicBezTo>
                    <a:pt x="974658" y="1380461"/>
                    <a:pt x="961722" y="1385820"/>
                    <a:pt x="948234" y="1385820"/>
                  </a:cubicBezTo>
                  <a:lnTo>
                    <a:pt x="50858" y="1385820"/>
                  </a:lnTo>
                  <a:cubicBezTo>
                    <a:pt x="37370" y="1385820"/>
                    <a:pt x="24434" y="1380461"/>
                    <a:pt x="14896" y="1370924"/>
                  </a:cubicBezTo>
                  <a:cubicBezTo>
                    <a:pt x="5358" y="1361386"/>
                    <a:pt x="0" y="1348450"/>
                    <a:pt x="0" y="1334962"/>
                  </a:cubicBezTo>
                  <a:lnTo>
                    <a:pt x="0" y="50858"/>
                  </a:lnTo>
                  <a:cubicBezTo>
                    <a:pt x="0" y="37370"/>
                    <a:pt x="5358" y="24434"/>
                    <a:pt x="14896" y="14896"/>
                  </a:cubicBezTo>
                  <a:cubicBezTo>
                    <a:pt x="24434" y="5358"/>
                    <a:pt x="37370" y="0"/>
                    <a:pt x="50858" y="0"/>
                  </a:cubicBezTo>
                  <a:close/>
                </a:path>
              </a:pathLst>
            </a:custGeom>
            <a:solidFill>
              <a:srgbClr val="E39D21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999092" cy="14334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24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418047" y="2653028"/>
            <a:ext cx="1902833" cy="3519173"/>
            <a:chOff x="0" y="0"/>
            <a:chExt cx="999092" cy="13858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99092" cy="1385820"/>
            </a:xfrm>
            <a:custGeom>
              <a:avLst/>
              <a:gdLst/>
              <a:ahLst/>
              <a:cxnLst/>
              <a:rect l="l" t="t" r="r" b="b"/>
              <a:pathLst>
                <a:path w="999092" h="1385820">
                  <a:moveTo>
                    <a:pt x="50858" y="0"/>
                  </a:moveTo>
                  <a:lnTo>
                    <a:pt x="948234" y="0"/>
                  </a:lnTo>
                  <a:cubicBezTo>
                    <a:pt x="961722" y="0"/>
                    <a:pt x="974658" y="5358"/>
                    <a:pt x="984196" y="14896"/>
                  </a:cubicBezTo>
                  <a:cubicBezTo>
                    <a:pt x="993734" y="24434"/>
                    <a:pt x="999092" y="37370"/>
                    <a:pt x="999092" y="50858"/>
                  </a:cubicBezTo>
                  <a:lnTo>
                    <a:pt x="999092" y="1334962"/>
                  </a:lnTo>
                  <a:cubicBezTo>
                    <a:pt x="999092" y="1348450"/>
                    <a:pt x="993734" y="1361386"/>
                    <a:pt x="984196" y="1370924"/>
                  </a:cubicBezTo>
                  <a:cubicBezTo>
                    <a:pt x="974658" y="1380461"/>
                    <a:pt x="961722" y="1385820"/>
                    <a:pt x="948234" y="1385820"/>
                  </a:cubicBezTo>
                  <a:lnTo>
                    <a:pt x="50858" y="1385820"/>
                  </a:lnTo>
                  <a:cubicBezTo>
                    <a:pt x="37370" y="1385820"/>
                    <a:pt x="24434" y="1380461"/>
                    <a:pt x="14896" y="1370924"/>
                  </a:cubicBezTo>
                  <a:cubicBezTo>
                    <a:pt x="5358" y="1361386"/>
                    <a:pt x="0" y="1348450"/>
                    <a:pt x="0" y="1334962"/>
                  </a:cubicBezTo>
                  <a:lnTo>
                    <a:pt x="0" y="50858"/>
                  </a:lnTo>
                  <a:cubicBezTo>
                    <a:pt x="0" y="37370"/>
                    <a:pt x="5358" y="24434"/>
                    <a:pt x="14896" y="14896"/>
                  </a:cubicBezTo>
                  <a:cubicBezTo>
                    <a:pt x="24434" y="5358"/>
                    <a:pt x="37370" y="0"/>
                    <a:pt x="50858" y="0"/>
                  </a:cubicBezTo>
                  <a:close/>
                </a:path>
              </a:pathLst>
            </a:custGeom>
            <a:solidFill>
              <a:srgbClr val="AF1D04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999092" cy="14334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24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939565" y="3095109"/>
            <a:ext cx="515759" cy="742432"/>
          </a:xfrm>
          <a:custGeom>
            <a:avLst/>
            <a:gdLst/>
            <a:ahLst/>
            <a:cxnLst/>
            <a:rect l="l" t="t" r="r" b="b"/>
            <a:pathLst>
              <a:path w="1031517" h="1113648">
                <a:moveTo>
                  <a:pt x="0" y="0"/>
                </a:moveTo>
                <a:lnTo>
                  <a:pt x="1031516" y="0"/>
                </a:lnTo>
                <a:lnTo>
                  <a:pt x="1031516" y="1113648"/>
                </a:lnTo>
                <a:lnTo>
                  <a:pt x="0" y="11136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3129788" y="3095109"/>
            <a:ext cx="323330" cy="803929"/>
          </a:xfrm>
          <a:custGeom>
            <a:avLst/>
            <a:gdLst/>
            <a:ahLst/>
            <a:cxnLst/>
            <a:rect l="l" t="t" r="r" b="b"/>
            <a:pathLst>
              <a:path w="646660" h="1205893">
                <a:moveTo>
                  <a:pt x="0" y="0"/>
                </a:moveTo>
                <a:lnTo>
                  <a:pt x="646660" y="0"/>
                </a:lnTo>
                <a:lnTo>
                  <a:pt x="646660" y="1205893"/>
                </a:lnTo>
                <a:lnTo>
                  <a:pt x="0" y="12058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5060367" y="3095109"/>
            <a:ext cx="710244" cy="688936"/>
          </a:xfrm>
          <a:custGeom>
            <a:avLst/>
            <a:gdLst/>
            <a:ahLst/>
            <a:cxnLst/>
            <a:rect l="l" t="t" r="r" b="b"/>
            <a:pathLst>
              <a:path w="1420487" h="1033404">
                <a:moveTo>
                  <a:pt x="0" y="0"/>
                </a:moveTo>
                <a:lnTo>
                  <a:pt x="1420487" y="0"/>
                </a:lnTo>
                <a:lnTo>
                  <a:pt x="1420487" y="1033404"/>
                </a:lnTo>
                <a:lnTo>
                  <a:pt x="0" y="10334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4575128" y="4269739"/>
            <a:ext cx="1588671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24531" lvl="1" indent="-112265" algn="ctr">
              <a:lnSpc>
                <a:spcPts val="1560"/>
              </a:lnSpc>
              <a:buFont typeface="Arial"/>
              <a:buChar char="•"/>
            </a:pPr>
            <a:r>
              <a:rPr lang="en-US" sz="1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Convert YardCodes to GPS coordinates</a:t>
            </a:r>
          </a:p>
          <a:p>
            <a:pPr marL="224531" lvl="1" indent="-112265" algn="ctr">
              <a:lnSpc>
                <a:spcPts val="1560"/>
              </a:lnSpc>
              <a:buFont typeface="Arial"/>
              <a:buChar char="•"/>
            </a:pPr>
            <a:r>
              <a:rPr lang="en-US" sz="1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Integration with existing platforms</a:t>
            </a:r>
          </a:p>
          <a:p>
            <a:pPr marL="224531" lvl="1" indent="-112265" algn="ctr">
              <a:lnSpc>
                <a:spcPts val="1560"/>
              </a:lnSpc>
              <a:buFont typeface="Arial"/>
              <a:buChar char="•"/>
            </a:pPr>
            <a:r>
              <a:rPr lang="en-US" sz="1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Scalable for enterprise solutions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439813" y="4102734"/>
            <a:ext cx="1740110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6621" lvl="1" indent="-118311" algn="ctr">
              <a:lnSpc>
                <a:spcPts val="1644"/>
              </a:lnSpc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Offline functionality- works without internet</a:t>
            </a:r>
          </a:p>
          <a:p>
            <a:pPr marL="236621" lvl="1" indent="-118311" algn="ctr">
              <a:lnSpc>
                <a:spcPts val="1644"/>
              </a:lnSpc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Available on Google Play Store and Apple App Store</a:t>
            </a:r>
          </a:p>
          <a:p>
            <a:pPr marL="236621" lvl="1" indent="-118311" algn="ctr">
              <a:lnSpc>
                <a:spcPts val="1644"/>
              </a:lnSpc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Real-time location services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49874" y="3857171"/>
            <a:ext cx="1752038" cy="164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24531" lvl="1" indent="-112265" algn="ctr">
              <a:lnSpc>
                <a:spcPts val="1560"/>
              </a:lnSpc>
              <a:buFont typeface="Arial"/>
              <a:buChar char="•"/>
            </a:pPr>
            <a:r>
              <a:rPr lang="en-US" sz="1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Free YardCode lookup for all Nigerians</a:t>
            </a:r>
          </a:p>
          <a:p>
            <a:pPr marL="224531" lvl="1" indent="-112265" algn="ctr">
              <a:lnSpc>
                <a:spcPts val="1560"/>
              </a:lnSpc>
              <a:buFont typeface="Arial"/>
              <a:buChar char="•"/>
            </a:pPr>
            <a:r>
              <a:rPr lang="en-US" sz="1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Street address to YardCode conversion</a:t>
            </a:r>
          </a:p>
          <a:p>
            <a:pPr marL="224531" lvl="1" indent="-112265" algn="ctr">
              <a:lnSpc>
                <a:spcPts val="1560"/>
              </a:lnSpc>
              <a:buFont typeface="Arial"/>
              <a:buChar char="•"/>
            </a:pPr>
            <a:r>
              <a:rPr lang="en-US" sz="1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Google Street View integration for accuracy</a:t>
            </a:r>
          </a:p>
          <a:p>
            <a:pPr marL="224531" lvl="1" indent="-112265" algn="ctr">
              <a:lnSpc>
                <a:spcPts val="1560"/>
              </a:lnSpc>
              <a:buFont typeface="Arial"/>
              <a:buChar char="•"/>
            </a:pPr>
            <a:r>
              <a:rPr lang="en-US" sz="1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View and share local yard gossips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14350" y="755793"/>
            <a:ext cx="5196401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24"/>
              </a:lnSpc>
            </a:pPr>
            <a:r>
              <a:rPr lang="en-US" sz="3900" spc="-63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COMPREHENSIVE PLATFORM SERVICES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14350" y="1859066"/>
            <a:ext cx="4174135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95"/>
              </a:lnSpc>
            </a:pPr>
            <a:r>
              <a:rPr lang="en-US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Beyond Just Codes - A Complete Ecosystem*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4600057" y="2448476"/>
            <a:ext cx="1543050" cy="387871"/>
            <a:chOff x="0" y="0"/>
            <a:chExt cx="812800" cy="15323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153233"/>
            </a:xfrm>
            <a:custGeom>
              <a:avLst/>
              <a:gdLst/>
              <a:ahLst/>
              <a:cxnLst/>
              <a:rect l="l" t="t" r="r" b="b"/>
              <a:pathLst>
                <a:path w="812800" h="153233">
                  <a:moveTo>
                    <a:pt x="76617" y="0"/>
                  </a:moveTo>
                  <a:lnTo>
                    <a:pt x="736183" y="0"/>
                  </a:lnTo>
                  <a:cubicBezTo>
                    <a:pt x="756503" y="0"/>
                    <a:pt x="775991" y="8072"/>
                    <a:pt x="790360" y="22440"/>
                  </a:cubicBezTo>
                  <a:cubicBezTo>
                    <a:pt x="804728" y="36809"/>
                    <a:pt x="812800" y="56297"/>
                    <a:pt x="812800" y="76617"/>
                  </a:cubicBezTo>
                  <a:lnTo>
                    <a:pt x="812800" y="76617"/>
                  </a:lnTo>
                  <a:cubicBezTo>
                    <a:pt x="812800" y="118931"/>
                    <a:pt x="778498" y="153233"/>
                    <a:pt x="736183" y="153233"/>
                  </a:cubicBezTo>
                  <a:lnTo>
                    <a:pt x="76617" y="153233"/>
                  </a:lnTo>
                  <a:cubicBezTo>
                    <a:pt x="56297" y="153233"/>
                    <a:pt x="36809" y="145161"/>
                    <a:pt x="22440" y="130793"/>
                  </a:cubicBezTo>
                  <a:cubicBezTo>
                    <a:pt x="8072" y="116424"/>
                    <a:pt x="0" y="96937"/>
                    <a:pt x="0" y="76617"/>
                  </a:cubicBezTo>
                  <a:lnTo>
                    <a:pt x="0" y="76617"/>
                  </a:lnTo>
                  <a:cubicBezTo>
                    <a:pt x="0" y="56297"/>
                    <a:pt x="8072" y="36809"/>
                    <a:pt x="22440" y="22440"/>
                  </a:cubicBezTo>
                  <a:cubicBezTo>
                    <a:pt x="36809" y="8072"/>
                    <a:pt x="56297" y="0"/>
                    <a:pt x="76617" y="0"/>
                  </a:cubicBezTo>
                  <a:close/>
                </a:path>
              </a:pathLst>
            </a:custGeom>
            <a:solidFill>
              <a:srgbClr val="AF1D04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812800" cy="200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2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519928" y="2459092"/>
            <a:ext cx="1543050" cy="387871"/>
            <a:chOff x="0" y="0"/>
            <a:chExt cx="812800" cy="15323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153233"/>
            </a:xfrm>
            <a:custGeom>
              <a:avLst/>
              <a:gdLst/>
              <a:ahLst/>
              <a:cxnLst/>
              <a:rect l="l" t="t" r="r" b="b"/>
              <a:pathLst>
                <a:path w="812800" h="153233">
                  <a:moveTo>
                    <a:pt x="76617" y="0"/>
                  </a:moveTo>
                  <a:lnTo>
                    <a:pt x="736183" y="0"/>
                  </a:lnTo>
                  <a:cubicBezTo>
                    <a:pt x="756503" y="0"/>
                    <a:pt x="775991" y="8072"/>
                    <a:pt x="790360" y="22440"/>
                  </a:cubicBezTo>
                  <a:cubicBezTo>
                    <a:pt x="804728" y="36809"/>
                    <a:pt x="812800" y="56297"/>
                    <a:pt x="812800" y="76617"/>
                  </a:cubicBezTo>
                  <a:lnTo>
                    <a:pt x="812800" y="76617"/>
                  </a:lnTo>
                  <a:cubicBezTo>
                    <a:pt x="812800" y="118931"/>
                    <a:pt x="778498" y="153233"/>
                    <a:pt x="736183" y="153233"/>
                  </a:cubicBezTo>
                  <a:lnTo>
                    <a:pt x="76617" y="153233"/>
                  </a:lnTo>
                  <a:cubicBezTo>
                    <a:pt x="56297" y="153233"/>
                    <a:pt x="36809" y="145161"/>
                    <a:pt x="22440" y="130793"/>
                  </a:cubicBezTo>
                  <a:cubicBezTo>
                    <a:pt x="8072" y="116424"/>
                    <a:pt x="0" y="96937"/>
                    <a:pt x="0" y="76617"/>
                  </a:cubicBezTo>
                  <a:lnTo>
                    <a:pt x="0" y="76617"/>
                  </a:lnTo>
                  <a:cubicBezTo>
                    <a:pt x="0" y="56297"/>
                    <a:pt x="8072" y="36809"/>
                    <a:pt x="22440" y="22440"/>
                  </a:cubicBezTo>
                  <a:cubicBezTo>
                    <a:pt x="36809" y="8072"/>
                    <a:pt x="56297" y="0"/>
                    <a:pt x="76617" y="0"/>
                  </a:cubicBezTo>
                  <a:close/>
                </a:path>
              </a:pathLst>
            </a:custGeom>
            <a:solidFill>
              <a:srgbClr val="E39D21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812800" cy="200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2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665204" y="2443868"/>
            <a:ext cx="131976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95"/>
              </a:lnSpc>
            </a:pPr>
            <a:r>
              <a:rPr lang="en-US" sz="1600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WEB SERVICE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868592" y="2454484"/>
            <a:ext cx="1027732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95"/>
              </a:lnSpc>
            </a:pPr>
            <a:r>
              <a:rPr lang="en-US" sz="1600">
                <a:solidFill>
                  <a:srgbClr val="000000"/>
                </a:solidFill>
                <a:latin typeface="Blogger"/>
                <a:ea typeface="Blogger"/>
                <a:cs typeface="Blogger"/>
                <a:sym typeface="Blogger"/>
              </a:rPr>
              <a:t>MOBILE APP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823343" y="2454484"/>
            <a:ext cx="131976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95"/>
              </a:lnSpc>
            </a:pPr>
            <a:r>
              <a:rPr lang="en-US" sz="1600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DEVELOPER API</a:t>
            </a:r>
          </a:p>
        </p:txBody>
      </p:sp>
      <p:sp>
        <p:nvSpPr>
          <p:cNvPr id="47" name="Freeform 47"/>
          <p:cNvSpPr/>
          <p:nvPr/>
        </p:nvSpPr>
        <p:spPr>
          <a:xfrm>
            <a:off x="7720729" y="-1456124"/>
            <a:ext cx="2328034" cy="2743200"/>
          </a:xfrm>
          <a:custGeom>
            <a:avLst/>
            <a:gdLst/>
            <a:ahLst/>
            <a:cxnLst/>
            <a:rect l="l" t="t" r="r" b="b"/>
            <a:pathLst>
              <a:path w="4656068" h="4114800">
                <a:moveTo>
                  <a:pt x="0" y="0"/>
                </a:moveTo>
                <a:lnTo>
                  <a:pt x="4656068" y="0"/>
                </a:lnTo>
                <a:lnTo>
                  <a:pt x="46560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48" name="Group 48"/>
          <p:cNvGrpSpPr/>
          <p:nvPr/>
        </p:nvGrpSpPr>
        <p:grpSpPr>
          <a:xfrm rot="-9260550">
            <a:off x="-929471" y="-700056"/>
            <a:ext cx="1896523" cy="2180042"/>
            <a:chOff x="0" y="0"/>
            <a:chExt cx="1370149" cy="1181234"/>
          </a:xfrm>
        </p:grpSpPr>
        <p:sp>
          <p:nvSpPr>
            <p:cNvPr id="49" name="Freeform 49"/>
            <p:cNvSpPr/>
            <p:nvPr/>
          </p:nvSpPr>
          <p:spPr>
            <a:xfrm>
              <a:off x="24372" y="35273"/>
              <a:ext cx="1321406" cy="1145961"/>
            </a:xfrm>
            <a:custGeom>
              <a:avLst/>
              <a:gdLst/>
              <a:ahLst/>
              <a:cxnLst/>
              <a:rect l="l" t="t" r="r" b="b"/>
              <a:pathLst>
                <a:path w="1321406" h="1145961">
                  <a:moveTo>
                    <a:pt x="691423" y="17696"/>
                  </a:moveTo>
                  <a:lnTo>
                    <a:pt x="1315057" y="1092992"/>
                  </a:lnTo>
                  <a:cubicBezTo>
                    <a:pt x="1321386" y="1103904"/>
                    <a:pt x="1321406" y="1117364"/>
                    <a:pt x="1315109" y="1128295"/>
                  </a:cubicBezTo>
                  <a:cubicBezTo>
                    <a:pt x="1308813" y="1139225"/>
                    <a:pt x="1297159" y="1145961"/>
                    <a:pt x="1284545" y="1145961"/>
                  </a:cubicBezTo>
                  <a:lnTo>
                    <a:pt x="36860" y="1145961"/>
                  </a:lnTo>
                  <a:cubicBezTo>
                    <a:pt x="24246" y="1145961"/>
                    <a:pt x="12593" y="1139225"/>
                    <a:pt x="6296" y="1128295"/>
                  </a:cubicBezTo>
                  <a:cubicBezTo>
                    <a:pt x="0" y="1117364"/>
                    <a:pt x="20" y="1103904"/>
                    <a:pt x="6348" y="1092992"/>
                  </a:cubicBezTo>
                  <a:lnTo>
                    <a:pt x="629983" y="17696"/>
                  </a:lnTo>
                  <a:cubicBezTo>
                    <a:pt x="636335" y="6742"/>
                    <a:pt x="648040" y="0"/>
                    <a:pt x="660703" y="0"/>
                  </a:cubicBezTo>
                  <a:cubicBezTo>
                    <a:pt x="673365" y="0"/>
                    <a:pt x="685070" y="6742"/>
                    <a:pt x="691423" y="17696"/>
                  </a:cubicBezTo>
                  <a:close/>
                </a:path>
              </a:pathLst>
            </a:custGeom>
            <a:solidFill>
              <a:srgbClr val="AF1D04">
                <a:alpha val="89804"/>
              </a:srgbClr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214086" y="481755"/>
              <a:ext cx="941978" cy="615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1" name="Freeform 51"/>
          <p:cNvSpPr/>
          <p:nvPr/>
        </p:nvSpPr>
        <p:spPr>
          <a:xfrm flipH="1">
            <a:off x="-455376" y="-251189"/>
            <a:ext cx="1555750" cy="814176"/>
          </a:xfrm>
          <a:custGeom>
            <a:avLst/>
            <a:gdLst/>
            <a:ahLst/>
            <a:cxnLst/>
            <a:rect l="l" t="t" r="r" b="b"/>
            <a:pathLst>
              <a:path w="3111500" h="1221264">
                <a:moveTo>
                  <a:pt x="3111500" y="0"/>
                </a:moveTo>
                <a:lnTo>
                  <a:pt x="0" y="0"/>
                </a:lnTo>
                <a:lnTo>
                  <a:pt x="0" y="1221263"/>
                </a:lnTo>
                <a:lnTo>
                  <a:pt x="3111500" y="1221263"/>
                </a:lnTo>
                <a:lnTo>
                  <a:pt x="311150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1988374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9828" y="5749056"/>
            <a:ext cx="4902435" cy="899528"/>
            <a:chOff x="0" y="0"/>
            <a:chExt cx="2643200" cy="3637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43200" cy="363743"/>
            </a:xfrm>
            <a:custGeom>
              <a:avLst/>
              <a:gdLst/>
              <a:ahLst/>
              <a:cxnLst/>
              <a:rect l="l" t="t" r="r" b="b"/>
              <a:pathLst>
                <a:path w="2643200" h="363743">
                  <a:moveTo>
                    <a:pt x="19740" y="0"/>
                  </a:moveTo>
                  <a:lnTo>
                    <a:pt x="2623460" y="0"/>
                  </a:lnTo>
                  <a:cubicBezTo>
                    <a:pt x="2634363" y="0"/>
                    <a:pt x="2643200" y="8838"/>
                    <a:pt x="2643200" y="19740"/>
                  </a:cubicBezTo>
                  <a:lnTo>
                    <a:pt x="2643200" y="344003"/>
                  </a:lnTo>
                  <a:cubicBezTo>
                    <a:pt x="2643200" y="354905"/>
                    <a:pt x="2634363" y="363743"/>
                    <a:pt x="2623460" y="363743"/>
                  </a:cubicBezTo>
                  <a:lnTo>
                    <a:pt x="19740" y="363743"/>
                  </a:lnTo>
                  <a:cubicBezTo>
                    <a:pt x="8838" y="363743"/>
                    <a:pt x="0" y="354905"/>
                    <a:pt x="0" y="344003"/>
                  </a:cubicBezTo>
                  <a:lnTo>
                    <a:pt x="0" y="19740"/>
                  </a:lnTo>
                  <a:cubicBezTo>
                    <a:pt x="0" y="8838"/>
                    <a:pt x="8838" y="0"/>
                    <a:pt x="19740" y="0"/>
                  </a:cubicBezTo>
                  <a:close/>
                </a:path>
              </a:pathLst>
            </a:custGeom>
            <a:solidFill>
              <a:srgbClr val="E39D21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43200" cy="411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2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79828" y="4570127"/>
            <a:ext cx="4902435" cy="899528"/>
            <a:chOff x="0" y="0"/>
            <a:chExt cx="2643200" cy="3637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43200" cy="363743"/>
            </a:xfrm>
            <a:custGeom>
              <a:avLst/>
              <a:gdLst/>
              <a:ahLst/>
              <a:cxnLst/>
              <a:rect l="l" t="t" r="r" b="b"/>
              <a:pathLst>
                <a:path w="2643200" h="363743">
                  <a:moveTo>
                    <a:pt x="19740" y="0"/>
                  </a:moveTo>
                  <a:lnTo>
                    <a:pt x="2623460" y="0"/>
                  </a:lnTo>
                  <a:cubicBezTo>
                    <a:pt x="2634363" y="0"/>
                    <a:pt x="2643200" y="8838"/>
                    <a:pt x="2643200" y="19740"/>
                  </a:cubicBezTo>
                  <a:lnTo>
                    <a:pt x="2643200" y="344003"/>
                  </a:lnTo>
                  <a:cubicBezTo>
                    <a:pt x="2643200" y="354905"/>
                    <a:pt x="2634363" y="363743"/>
                    <a:pt x="2623460" y="363743"/>
                  </a:cubicBezTo>
                  <a:lnTo>
                    <a:pt x="19740" y="363743"/>
                  </a:lnTo>
                  <a:cubicBezTo>
                    <a:pt x="8838" y="363743"/>
                    <a:pt x="0" y="354905"/>
                    <a:pt x="0" y="344003"/>
                  </a:cubicBezTo>
                  <a:lnTo>
                    <a:pt x="0" y="19740"/>
                  </a:lnTo>
                  <a:cubicBezTo>
                    <a:pt x="0" y="8838"/>
                    <a:pt x="8838" y="0"/>
                    <a:pt x="19740" y="0"/>
                  </a:cubicBezTo>
                  <a:close/>
                </a:path>
              </a:pathLst>
            </a:custGeom>
            <a:solidFill>
              <a:srgbClr val="E39D21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643200" cy="411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2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79828" y="3391199"/>
            <a:ext cx="4902435" cy="899528"/>
            <a:chOff x="0" y="0"/>
            <a:chExt cx="2643200" cy="36374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43200" cy="363743"/>
            </a:xfrm>
            <a:custGeom>
              <a:avLst/>
              <a:gdLst/>
              <a:ahLst/>
              <a:cxnLst/>
              <a:rect l="l" t="t" r="r" b="b"/>
              <a:pathLst>
                <a:path w="2643200" h="363743">
                  <a:moveTo>
                    <a:pt x="19740" y="0"/>
                  </a:moveTo>
                  <a:lnTo>
                    <a:pt x="2623460" y="0"/>
                  </a:lnTo>
                  <a:cubicBezTo>
                    <a:pt x="2634363" y="0"/>
                    <a:pt x="2643200" y="8838"/>
                    <a:pt x="2643200" y="19740"/>
                  </a:cubicBezTo>
                  <a:lnTo>
                    <a:pt x="2643200" y="344003"/>
                  </a:lnTo>
                  <a:cubicBezTo>
                    <a:pt x="2643200" y="354905"/>
                    <a:pt x="2634363" y="363743"/>
                    <a:pt x="2623460" y="363743"/>
                  </a:cubicBezTo>
                  <a:lnTo>
                    <a:pt x="19740" y="363743"/>
                  </a:lnTo>
                  <a:cubicBezTo>
                    <a:pt x="8838" y="363743"/>
                    <a:pt x="0" y="354905"/>
                    <a:pt x="0" y="344003"/>
                  </a:cubicBezTo>
                  <a:lnTo>
                    <a:pt x="0" y="19740"/>
                  </a:lnTo>
                  <a:cubicBezTo>
                    <a:pt x="0" y="8838"/>
                    <a:pt x="8838" y="0"/>
                    <a:pt x="19740" y="0"/>
                  </a:cubicBezTo>
                  <a:close/>
                </a:path>
              </a:pathLst>
            </a:custGeom>
            <a:solidFill>
              <a:srgbClr val="E39D21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643200" cy="411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2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79828" y="2212578"/>
            <a:ext cx="4902435" cy="899528"/>
            <a:chOff x="0" y="0"/>
            <a:chExt cx="2643200" cy="36374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43200" cy="363743"/>
            </a:xfrm>
            <a:custGeom>
              <a:avLst/>
              <a:gdLst/>
              <a:ahLst/>
              <a:cxnLst/>
              <a:rect l="l" t="t" r="r" b="b"/>
              <a:pathLst>
                <a:path w="2643200" h="363743">
                  <a:moveTo>
                    <a:pt x="19740" y="0"/>
                  </a:moveTo>
                  <a:lnTo>
                    <a:pt x="2623460" y="0"/>
                  </a:lnTo>
                  <a:cubicBezTo>
                    <a:pt x="2634363" y="0"/>
                    <a:pt x="2643200" y="8838"/>
                    <a:pt x="2643200" y="19740"/>
                  </a:cubicBezTo>
                  <a:lnTo>
                    <a:pt x="2643200" y="344003"/>
                  </a:lnTo>
                  <a:cubicBezTo>
                    <a:pt x="2643200" y="354905"/>
                    <a:pt x="2634363" y="363743"/>
                    <a:pt x="2623460" y="363743"/>
                  </a:cubicBezTo>
                  <a:lnTo>
                    <a:pt x="19740" y="363743"/>
                  </a:lnTo>
                  <a:cubicBezTo>
                    <a:pt x="8838" y="363743"/>
                    <a:pt x="0" y="354905"/>
                    <a:pt x="0" y="344003"/>
                  </a:cubicBezTo>
                  <a:lnTo>
                    <a:pt x="0" y="19740"/>
                  </a:lnTo>
                  <a:cubicBezTo>
                    <a:pt x="0" y="8838"/>
                    <a:pt x="8838" y="0"/>
                    <a:pt x="19740" y="0"/>
                  </a:cubicBezTo>
                  <a:close/>
                </a:path>
              </a:pathLst>
            </a:custGeom>
            <a:solidFill>
              <a:srgbClr val="E39D21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643200" cy="411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24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7720729" y="-1456124"/>
            <a:ext cx="2328034" cy="2743200"/>
          </a:xfrm>
          <a:custGeom>
            <a:avLst/>
            <a:gdLst/>
            <a:ahLst/>
            <a:cxnLst/>
            <a:rect l="l" t="t" r="r" b="b"/>
            <a:pathLst>
              <a:path w="4656068" h="4114800">
                <a:moveTo>
                  <a:pt x="0" y="0"/>
                </a:moveTo>
                <a:lnTo>
                  <a:pt x="4656068" y="0"/>
                </a:lnTo>
                <a:lnTo>
                  <a:pt x="46560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 rot="-9260550">
            <a:off x="-929471" y="-700056"/>
            <a:ext cx="1896523" cy="2180042"/>
            <a:chOff x="0" y="0"/>
            <a:chExt cx="1370149" cy="1181234"/>
          </a:xfrm>
        </p:grpSpPr>
        <p:sp>
          <p:nvSpPr>
            <p:cNvPr id="16" name="Freeform 16"/>
            <p:cNvSpPr/>
            <p:nvPr/>
          </p:nvSpPr>
          <p:spPr>
            <a:xfrm>
              <a:off x="24372" y="35273"/>
              <a:ext cx="1321406" cy="1145961"/>
            </a:xfrm>
            <a:custGeom>
              <a:avLst/>
              <a:gdLst/>
              <a:ahLst/>
              <a:cxnLst/>
              <a:rect l="l" t="t" r="r" b="b"/>
              <a:pathLst>
                <a:path w="1321406" h="1145961">
                  <a:moveTo>
                    <a:pt x="691423" y="17696"/>
                  </a:moveTo>
                  <a:lnTo>
                    <a:pt x="1315057" y="1092992"/>
                  </a:lnTo>
                  <a:cubicBezTo>
                    <a:pt x="1321386" y="1103904"/>
                    <a:pt x="1321406" y="1117364"/>
                    <a:pt x="1315109" y="1128295"/>
                  </a:cubicBezTo>
                  <a:cubicBezTo>
                    <a:pt x="1308813" y="1139225"/>
                    <a:pt x="1297159" y="1145961"/>
                    <a:pt x="1284545" y="1145961"/>
                  </a:cubicBezTo>
                  <a:lnTo>
                    <a:pt x="36860" y="1145961"/>
                  </a:lnTo>
                  <a:cubicBezTo>
                    <a:pt x="24246" y="1145961"/>
                    <a:pt x="12593" y="1139225"/>
                    <a:pt x="6296" y="1128295"/>
                  </a:cubicBezTo>
                  <a:cubicBezTo>
                    <a:pt x="0" y="1117364"/>
                    <a:pt x="20" y="1103904"/>
                    <a:pt x="6348" y="1092992"/>
                  </a:cubicBezTo>
                  <a:lnTo>
                    <a:pt x="629983" y="17696"/>
                  </a:lnTo>
                  <a:cubicBezTo>
                    <a:pt x="636335" y="6742"/>
                    <a:pt x="648040" y="0"/>
                    <a:pt x="660703" y="0"/>
                  </a:cubicBezTo>
                  <a:cubicBezTo>
                    <a:pt x="673365" y="0"/>
                    <a:pt x="685070" y="6742"/>
                    <a:pt x="691423" y="17696"/>
                  </a:cubicBezTo>
                  <a:close/>
                </a:path>
              </a:pathLst>
            </a:custGeom>
            <a:solidFill>
              <a:srgbClr val="AF1D04">
                <a:alpha val="89804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214086" y="481755"/>
              <a:ext cx="941978" cy="615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 flipH="1">
            <a:off x="-455376" y="-251189"/>
            <a:ext cx="1555750" cy="814176"/>
          </a:xfrm>
          <a:custGeom>
            <a:avLst/>
            <a:gdLst/>
            <a:ahLst/>
            <a:cxnLst/>
            <a:rect l="l" t="t" r="r" b="b"/>
            <a:pathLst>
              <a:path w="3111500" h="1221264">
                <a:moveTo>
                  <a:pt x="3111500" y="0"/>
                </a:moveTo>
                <a:lnTo>
                  <a:pt x="0" y="0"/>
                </a:lnTo>
                <a:lnTo>
                  <a:pt x="0" y="1221263"/>
                </a:lnTo>
                <a:lnTo>
                  <a:pt x="3111500" y="1221263"/>
                </a:lnTo>
                <a:lnTo>
                  <a:pt x="31115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395457" y="6198820"/>
            <a:ext cx="1333170" cy="697693"/>
          </a:xfrm>
          <a:custGeom>
            <a:avLst/>
            <a:gdLst/>
            <a:ahLst/>
            <a:cxnLst/>
            <a:rect l="l" t="t" r="r" b="b"/>
            <a:pathLst>
              <a:path w="2666340" h="1046539">
                <a:moveTo>
                  <a:pt x="0" y="0"/>
                </a:moveTo>
                <a:lnTo>
                  <a:pt x="2666341" y="0"/>
                </a:lnTo>
                <a:lnTo>
                  <a:pt x="2666341" y="1046538"/>
                </a:lnTo>
                <a:lnTo>
                  <a:pt x="0" y="10465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779828" y="1124356"/>
            <a:ext cx="4959442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90"/>
              </a:lnSpc>
            </a:pPr>
            <a:r>
              <a:rPr lang="en-US" sz="3000" spc="-15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ADDRESS VERIFICATION PORTAL</a:t>
            </a:r>
          </a:p>
        </p:txBody>
      </p: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5547956" y="862708"/>
            <a:ext cx="3081695" cy="8130217"/>
            <a:chOff x="0" y="0"/>
            <a:chExt cx="2620010" cy="5184140"/>
          </a:xfrm>
        </p:grpSpPr>
        <p:sp>
          <p:nvSpPr>
            <p:cNvPr id="22" name="Freeform 22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8"/>
              <a:stretch>
                <a:fillRect t="-22" b="-22"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1418068" y="4750689"/>
            <a:ext cx="7151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3"/>
              </a:lnSpc>
            </a:pPr>
            <a:r>
              <a:rPr lang="en-US" sz="2400" spc="-235">
                <a:solidFill>
                  <a:srgbClr val="000000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03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18068" y="3571761"/>
            <a:ext cx="7151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3"/>
              </a:lnSpc>
            </a:pPr>
            <a:r>
              <a:rPr lang="en-US" sz="2400" spc="-235">
                <a:solidFill>
                  <a:srgbClr val="000000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02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133202" y="2418527"/>
            <a:ext cx="3179701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63"/>
              </a:lnSpc>
            </a:pPr>
            <a:r>
              <a:rPr lang="en-US" sz="1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AI-powered residency verification for  over 7-30 days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18068" y="2393140"/>
            <a:ext cx="7151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3"/>
              </a:lnSpc>
            </a:pPr>
            <a:r>
              <a:rPr lang="en-US" sz="2400" spc="-235">
                <a:solidFill>
                  <a:srgbClr val="000000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01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18068" y="5901456"/>
            <a:ext cx="7151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3"/>
              </a:lnSpc>
            </a:pPr>
            <a:r>
              <a:rPr lang="en-US" sz="2400" spc="-235">
                <a:solidFill>
                  <a:srgbClr val="000000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04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133202" y="3684272"/>
            <a:ext cx="3179701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63"/>
              </a:lnSpc>
            </a:pPr>
            <a:r>
              <a:rPr lang="en-US" sz="1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28 daily location pings for accuracy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133202" y="4713821"/>
            <a:ext cx="3179701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63"/>
              </a:lnSpc>
            </a:pPr>
            <a:r>
              <a:rPr lang="en-US" sz="1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20-meter tolerance  for same premise verification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133202" y="5927040"/>
            <a:ext cx="3414754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63"/>
              </a:lnSpc>
            </a:pPr>
            <a:r>
              <a:rPr lang="en-US" sz="1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Digital certificates for confirmed addresses &amp; Annual re-verification reminders</a:t>
            </a:r>
          </a:p>
        </p:txBody>
      </p:sp>
    </p:spTree>
    <p:extLst>
      <p:ext uri="{BB962C8B-B14F-4D97-AF65-F5344CB8AC3E}">
        <p14:creationId xmlns:p14="http://schemas.microsoft.com/office/powerpoint/2010/main" val="1261485412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18602" y="4746022"/>
            <a:ext cx="4902435" cy="899528"/>
            <a:chOff x="0" y="0"/>
            <a:chExt cx="2643200" cy="3637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43200" cy="363743"/>
            </a:xfrm>
            <a:custGeom>
              <a:avLst/>
              <a:gdLst/>
              <a:ahLst/>
              <a:cxnLst/>
              <a:rect l="l" t="t" r="r" b="b"/>
              <a:pathLst>
                <a:path w="2643200" h="363743">
                  <a:moveTo>
                    <a:pt x="19740" y="0"/>
                  </a:moveTo>
                  <a:lnTo>
                    <a:pt x="2623460" y="0"/>
                  </a:lnTo>
                  <a:cubicBezTo>
                    <a:pt x="2634363" y="0"/>
                    <a:pt x="2643200" y="8838"/>
                    <a:pt x="2643200" y="19740"/>
                  </a:cubicBezTo>
                  <a:lnTo>
                    <a:pt x="2643200" y="344003"/>
                  </a:lnTo>
                  <a:cubicBezTo>
                    <a:pt x="2643200" y="354905"/>
                    <a:pt x="2634363" y="363743"/>
                    <a:pt x="2623460" y="363743"/>
                  </a:cubicBezTo>
                  <a:lnTo>
                    <a:pt x="19740" y="363743"/>
                  </a:lnTo>
                  <a:cubicBezTo>
                    <a:pt x="8838" y="363743"/>
                    <a:pt x="0" y="354905"/>
                    <a:pt x="0" y="344003"/>
                  </a:cubicBezTo>
                  <a:lnTo>
                    <a:pt x="0" y="19740"/>
                  </a:lnTo>
                  <a:cubicBezTo>
                    <a:pt x="0" y="8838"/>
                    <a:pt x="8838" y="0"/>
                    <a:pt x="19740" y="0"/>
                  </a:cubicBezTo>
                  <a:close/>
                </a:path>
              </a:pathLst>
            </a:custGeom>
            <a:solidFill>
              <a:srgbClr val="E39D2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43200" cy="411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2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518602" y="3567094"/>
            <a:ext cx="4902435" cy="899528"/>
            <a:chOff x="0" y="0"/>
            <a:chExt cx="2643200" cy="3637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43200" cy="363743"/>
            </a:xfrm>
            <a:custGeom>
              <a:avLst/>
              <a:gdLst/>
              <a:ahLst/>
              <a:cxnLst/>
              <a:rect l="l" t="t" r="r" b="b"/>
              <a:pathLst>
                <a:path w="2643200" h="363743">
                  <a:moveTo>
                    <a:pt x="19740" y="0"/>
                  </a:moveTo>
                  <a:lnTo>
                    <a:pt x="2623460" y="0"/>
                  </a:lnTo>
                  <a:cubicBezTo>
                    <a:pt x="2634363" y="0"/>
                    <a:pt x="2643200" y="8838"/>
                    <a:pt x="2643200" y="19740"/>
                  </a:cubicBezTo>
                  <a:lnTo>
                    <a:pt x="2643200" y="344003"/>
                  </a:lnTo>
                  <a:cubicBezTo>
                    <a:pt x="2643200" y="354905"/>
                    <a:pt x="2634363" y="363743"/>
                    <a:pt x="2623460" y="363743"/>
                  </a:cubicBezTo>
                  <a:lnTo>
                    <a:pt x="19740" y="363743"/>
                  </a:lnTo>
                  <a:cubicBezTo>
                    <a:pt x="8838" y="363743"/>
                    <a:pt x="0" y="354905"/>
                    <a:pt x="0" y="344003"/>
                  </a:cubicBezTo>
                  <a:lnTo>
                    <a:pt x="0" y="19740"/>
                  </a:lnTo>
                  <a:cubicBezTo>
                    <a:pt x="0" y="8838"/>
                    <a:pt x="8838" y="0"/>
                    <a:pt x="19740" y="0"/>
                  </a:cubicBezTo>
                  <a:close/>
                </a:path>
              </a:pathLst>
            </a:custGeom>
            <a:solidFill>
              <a:srgbClr val="E39D2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643200" cy="411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2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518602" y="2388473"/>
            <a:ext cx="4902435" cy="899528"/>
            <a:chOff x="0" y="0"/>
            <a:chExt cx="2643200" cy="36374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43200" cy="363743"/>
            </a:xfrm>
            <a:custGeom>
              <a:avLst/>
              <a:gdLst/>
              <a:ahLst/>
              <a:cxnLst/>
              <a:rect l="l" t="t" r="r" b="b"/>
              <a:pathLst>
                <a:path w="2643200" h="363743">
                  <a:moveTo>
                    <a:pt x="19740" y="0"/>
                  </a:moveTo>
                  <a:lnTo>
                    <a:pt x="2623460" y="0"/>
                  </a:lnTo>
                  <a:cubicBezTo>
                    <a:pt x="2634363" y="0"/>
                    <a:pt x="2643200" y="8838"/>
                    <a:pt x="2643200" y="19740"/>
                  </a:cubicBezTo>
                  <a:lnTo>
                    <a:pt x="2643200" y="344003"/>
                  </a:lnTo>
                  <a:cubicBezTo>
                    <a:pt x="2643200" y="354905"/>
                    <a:pt x="2634363" y="363743"/>
                    <a:pt x="2623460" y="363743"/>
                  </a:cubicBezTo>
                  <a:lnTo>
                    <a:pt x="19740" y="363743"/>
                  </a:lnTo>
                  <a:cubicBezTo>
                    <a:pt x="8838" y="363743"/>
                    <a:pt x="0" y="354905"/>
                    <a:pt x="0" y="344003"/>
                  </a:cubicBezTo>
                  <a:lnTo>
                    <a:pt x="0" y="19740"/>
                  </a:lnTo>
                  <a:cubicBezTo>
                    <a:pt x="0" y="8838"/>
                    <a:pt x="8838" y="0"/>
                    <a:pt x="19740" y="0"/>
                  </a:cubicBezTo>
                  <a:close/>
                </a:path>
              </a:pathLst>
            </a:custGeom>
            <a:solidFill>
              <a:srgbClr val="E39D2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643200" cy="411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24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7720729" y="-1456124"/>
            <a:ext cx="2328034" cy="2743200"/>
          </a:xfrm>
          <a:custGeom>
            <a:avLst/>
            <a:gdLst/>
            <a:ahLst/>
            <a:cxnLst/>
            <a:rect l="l" t="t" r="r" b="b"/>
            <a:pathLst>
              <a:path w="4656068" h="4114800">
                <a:moveTo>
                  <a:pt x="0" y="0"/>
                </a:moveTo>
                <a:lnTo>
                  <a:pt x="4656068" y="0"/>
                </a:lnTo>
                <a:lnTo>
                  <a:pt x="46560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 rot="-9260550">
            <a:off x="-929471" y="-700056"/>
            <a:ext cx="1896523" cy="2180042"/>
            <a:chOff x="0" y="0"/>
            <a:chExt cx="1370149" cy="1181234"/>
          </a:xfrm>
        </p:grpSpPr>
        <p:sp>
          <p:nvSpPr>
            <p:cNvPr id="13" name="Freeform 13"/>
            <p:cNvSpPr/>
            <p:nvPr/>
          </p:nvSpPr>
          <p:spPr>
            <a:xfrm>
              <a:off x="24372" y="35273"/>
              <a:ext cx="1321406" cy="1145961"/>
            </a:xfrm>
            <a:custGeom>
              <a:avLst/>
              <a:gdLst/>
              <a:ahLst/>
              <a:cxnLst/>
              <a:rect l="l" t="t" r="r" b="b"/>
              <a:pathLst>
                <a:path w="1321406" h="1145961">
                  <a:moveTo>
                    <a:pt x="691423" y="17696"/>
                  </a:moveTo>
                  <a:lnTo>
                    <a:pt x="1315057" y="1092992"/>
                  </a:lnTo>
                  <a:cubicBezTo>
                    <a:pt x="1321386" y="1103904"/>
                    <a:pt x="1321406" y="1117364"/>
                    <a:pt x="1315109" y="1128295"/>
                  </a:cubicBezTo>
                  <a:cubicBezTo>
                    <a:pt x="1308813" y="1139225"/>
                    <a:pt x="1297159" y="1145961"/>
                    <a:pt x="1284545" y="1145961"/>
                  </a:cubicBezTo>
                  <a:lnTo>
                    <a:pt x="36860" y="1145961"/>
                  </a:lnTo>
                  <a:cubicBezTo>
                    <a:pt x="24246" y="1145961"/>
                    <a:pt x="12593" y="1139225"/>
                    <a:pt x="6296" y="1128295"/>
                  </a:cubicBezTo>
                  <a:cubicBezTo>
                    <a:pt x="0" y="1117364"/>
                    <a:pt x="20" y="1103904"/>
                    <a:pt x="6348" y="1092992"/>
                  </a:cubicBezTo>
                  <a:lnTo>
                    <a:pt x="629983" y="17696"/>
                  </a:lnTo>
                  <a:cubicBezTo>
                    <a:pt x="636335" y="6742"/>
                    <a:pt x="648040" y="0"/>
                    <a:pt x="660703" y="0"/>
                  </a:cubicBezTo>
                  <a:cubicBezTo>
                    <a:pt x="673365" y="0"/>
                    <a:pt x="685070" y="6742"/>
                    <a:pt x="691423" y="17696"/>
                  </a:cubicBezTo>
                  <a:close/>
                </a:path>
              </a:pathLst>
            </a:custGeom>
            <a:solidFill>
              <a:srgbClr val="AF1D04">
                <a:alpha val="89804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214086" y="481755"/>
              <a:ext cx="941978" cy="615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flipH="1">
            <a:off x="-455376" y="-251189"/>
            <a:ext cx="1555750" cy="814176"/>
          </a:xfrm>
          <a:custGeom>
            <a:avLst/>
            <a:gdLst/>
            <a:ahLst/>
            <a:cxnLst/>
            <a:rect l="l" t="t" r="r" b="b"/>
            <a:pathLst>
              <a:path w="3111500" h="1221264">
                <a:moveTo>
                  <a:pt x="3111500" y="0"/>
                </a:moveTo>
                <a:lnTo>
                  <a:pt x="0" y="0"/>
                </a:lnTo>
                <a:lnTo>
                  <a:pt x="0" y="1221263"/>
                </a:lnTo>
                <a:lnTo>
                  <a:pt x="3111500" y="1221263"/>
                </a:lnTo>
                <a:lnTo>
                  <a:pt x="31115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-232796" y="6299738"/>
            <a:ext cx="1333170" cy="697693"/>
          </a:xfrm>
          <a:custGeom>
            <a:avLst/>
            <a:gdLst/>
            <a:ahLst/>
            <a:cxnLst/>
            <a:rect l="l" t="t" r="r" b="b"/>
            <a:pathLst>
              <a:path w="2666340" h="1046539">
                <a:moveTo>
                  <a:pt x="0" y="0"/>
                </a:moveTo>
                <a:lnTo>
                  <a:pt x="2666341" y="0"/>
                </a:lnTo>
                <a:lnTo>
                  <a:pt x="2666341" y="1046538"/>
                </a:lnTo>
                <a:lnTo>
                  <a:pt x="0" y="10465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648038" y="882650"/>
            <a:ext cx="3081695" cy="8130217"/>
            <a:chOff x="0" y="0"/>
            <a:chExt cx="2620010" cy="5184140"/>
          </a:xfrm>
        </p:grpSpPr>
        <p:sp>
          <p:nvSpPr>
            <p:cNvPr id="18" name="Freeform 18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8"/>
              <a:stretch>
                <a:fillRect t="-22" b="-22"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4156842" y="4926584"/>
            <a:ext cx="7151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3"/>
              </a:lnSpc>
            </a:pPr>
            <a:r>
              <a:rPr lang="en-US" sz="2400" spc="-235">
                <a:solidFill>
                  <a:srgbClr val="000000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03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156842" y="3747656"/>
            <a:ext cx="7151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3"/>
              </a:lnSpc>
            </a:pPr>
            <a:r>
              <a:rPr lang="en-US" sz="2400" spc="-235">
                <a:solidFill>
                  <a:srgbClr val="000000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02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871977" y="2681904"/>
            <a:ext cx="354906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5"/>
              </a:lnSpc>
            </a:pPr>
            <a:r>
              <a:rPr lang="en-US" sz="1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for managing location requests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156842" y="2569035"/>
            <a:ext cx="7151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3"/>
              </a:lnSpc>
            </a:pPr>
            <a:r>
              <a:rPr lang="en-US" sz="2400" spc="-235">
                <a:solidFill>
                  <a:srgbClr val="000000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01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060827" y="1097051"/>
            <a:ext cx="3397362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06"/>
              </a:lnSpc>
            </a:pPr>
            <a:r>
              <a:rPr lang="en-US" sz="3300" spc="-16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MERCHANT PORTAL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871977" y="3860167"/>
            <a:ext cx="3179701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5"/>
              </a:lnSpc>
            </a:pPr>
            <a:r>
              <a:rPr lang="en-US" sz="1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permission management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871977" y="5038122"/>
            <a:ext cx="3179701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5"/>
              </a:lnSpc>
            </a:pPr>
            <a:r>
              <a:rPr lang="en-US" sz="1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Billing/subscription management</a:t>
            </a:r>
          </a:p>
        </p:txBody>
      </p:sp>
    </p:spTree>
    <p:extLst>
      <p:ext uri="{BB962C8B-B14F-4D97-AF65-F5344CB8AC3E}">
        <p14:creationId xmlns:p14="http://schemas.microsoft.com/office/powerpoint/2010/main" val="1047744827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20729" y="-1456124"/>
            <a:ext cx="2328034" cy="2743200"/>
          </a:xfrm>
          <a:custGeom>
            <a:avLst/>
            <a:gdLst/>
            <a:ahLst/>
            <a:cxnLst/>
            <a:rect l="l" t="t" r="r" b="b"/>
            <a:pathLst>
              <a:path w="4656068" h="4114800">
                <a:moveTo>
                  <a:pt x="0" y="0"/>
                </a:moveTo>
                <a:lnTo>
                  <a:pt x="4656068" y="0"/>
                </a:lnTo>
                <a:lnTo>
                  <a:pt x="46560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9260550">
            <a:off x="-929471" y="-700056"/>
            <a:ext cx="1896523" cy="2180042"/>
            <a:chOff x="0" y="0"/>
            <a:chExt cx="1370149" cy="1181234"/>
          </a:xfrm>
        </p:grpSpPr>
        <p:sp>
          <p:nvSpPr>
            <p:cNvPr id="4" name="Freeform 4"/>
            <p:cNvSpPr/>
            <p:nvPr/>
          </p:nvSpPr>
          <p:spPr>
            <a:xfrm>
              <a:off x="24372" y="35273"/>
              <a:ext cx="1321406" cy="1145961"/>
            </a:xfrm>
            <a:custGeom>
              <a:avLst/>
              <a:gdLst/>
              <a:ahLst/>
              <a:cxnLst/>
              <a:rect l="l" t="t" r="r" b="b"/>
              <a:pathLst>
                <a:path w="1321406" h="1145961">
                  <a:moveTo>
                    <a:pt x="691423" y="17696"/>
                  </a:moveTo>
                  <a:lnTo>
                    <a:pt x="1315057" y="1092992"/>
                  </a:lnTo>
                  <a:cubicBezTo>
                    <a:pt x="1321386" y="1103904"/>
                    <a:pt x="1321406" y="1117364"/>
                    <a:pt x="1315109" y="1128295"/>
                  </a:cubicBezTo>
                  <a:cubicBezTo>
                    <a:pt x="1308813" y="1139225"/>
                    <a:pt x="1297159" y="1145961"/>
                    <a:pt x="1284545" y="1145961"/>
                  </a:cubicBezTo>
                  <a:lnTo>
                    <a:pt x="36860" y="1145961"/>
                  </a:lnTo>
                  <a:cubicBezTo>
                    <a:pt x="24246" y="1145961"/>
                    <a:pt x="12593" y="1139225"/>
                    <a:pt x="6296" y="1128295"/>
                  </a:cubicBezTo>
                  <a:cubicBezTo>
                    <a:pt x="0" y="1117364"/>
                    <a:pt x="20" y="1103904"/>
                    <a:pt x="6348" y="1092992"/>
                  </a:cubicBezTo>
                  <a:lnTo>
                    <a:pt x="629983" y="17696"/>
                  </a:lnTo>
                  <a:cubicBezTo>
                    <a:pt x="636335" y="6742"/>
                    <a:pt x="648040" y="0"/>
                    <a:pt x="660703" y="0"/>
                  </a:cubicBezTo>
                  <a:cubicBezTo>
                    <a:pt x="673365" y="0"/>
                    <a:pt x="685070" y="6742"/>
                    <a:pt x="691423" y="17696"/>
                  </a:cubicBezTo>
                  <a:close/>
                </a:path>
              </a:pathLst>
            </a:custGeom>
            <a:solidFill>
              <a:srgbClr val="AF1D04">
                <a:alpha val="89804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214086" y="481755"/>
              <a:ext cx="941978" cy="615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-455376" y="-251189"/>
            <a:ext cx="1555750" cy="814176"/>
          </a:xfrm>
          <a:custGeom>
            <a:avLst/>
            <a:gdLst/>
            <a:ahLst/>
            <a:cxnLst/>
            <a:rect l="l" t="t" r="r" b="b"/>
            <a:pathLst>
              <a:path w="3111500" h="1221264">
                <a:moveTo>
                  <a:pt x="3111500" y="0"/>
                </a:moveTo>
                <a:lnTo>
                  <a:pt x="0" y="0"/>
                </a:lnTo>
                <a:lnTo>
                  <a:pt x="0" y="1221263"/>
                </a:lnTo>
                <a:lnTo>
                  <a:pt x="3111500" y="1221263"/>
                </a:lnTo>
                <a:lnTo>
                  <a:pt x="31115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32796" y="6299738"/>
            <a:ext cx="1333170" cy="697693"/>
          </a:xfrm>
          <a:custGeom>
            <a:avLst/>
            <a:gdLst/>
            <a:ahLst/>
            <a:cxnLst/>
            <a:rect l="l" t="t" r="r" b="b"/>
            <a:pathLst>
              <a:path w="2666340" h="1046539">
                <a:moveTo>
                  <a:pt x="0" y="0"/>
                </a:moveTo>
                <a:lnTo>
                  <a:pt x="2666341" y="0"/>
                </a:lnTo>
                <a:lnTo>
                  <a:pt x="2666341" y="1046538"/>
                </a:lnTo>
                <a:lnTo>
                  <a:pt x="0" y="10465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67385" y="2388166"/>
            <a:ext cx="4902435" cy="899528"/>
            <a:chOff x="0" y="0"/>
            <a:chExt cx="13073159" cy="1799056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3073159" cy="1799056"/>
              <a:chOff x="0" y="0"/>
              <a:chExt cx="2643200" cy="36374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643200" cy="363743"/>
              </a:xfrm>
              <a:custGeom>
                <a:avLst/>
                <a:gdLst/>
                <a:ahLst/>
                <a:cxnLst/>
                <a:rect l="l" t="t" r="r" b="b"/>
                <a:pathLst>
                  <a:path w="2643200" h="363743">
                    <a:moveTo>
                      <a:pt x="19740" y="0"/>
                    </a:moveTo>
                    <a:lnTo>
                      <a:pt x="2623460" y="0"/>
                    </a:lnTo>
                    <a:cubicBezTo>
                      <a:pt x="2634363" y="0"/>
                      <a:pt x="2643200" y="8838"/>
                      <a:pt x="2643200" y="19740"/>
                    </a:cubicBezTo>
                    <a:lnTo>
                      <a:pt x="2643200" y="344003"/>
                    </a:lnTo>
                    <a:cubicBezTo>
                      <a:pt x="2643200" y="354905"/>
                      <a:pt x="2634363" y="363743"/>
                      <a:pt x="2623460" y="363743"/>
                    </a:cubicBezTo>
                    <a:lnTo>
                      <a:pt x="19740" y="363743"/>
                    </a:lnTo>
                    <a:cubicBezTo>
                      <a:pt x="8838" y="363743"/>
                      <a:pt x="0" y="354905"/>
                      <a:pt x="0" y="344003"/>
                    </a:cubicBezTo>
                    <a:lnTo>
                      <a:pt x="0" y="19740"/>
                    </a:lnTo>
                    <a:cubicBezTo>
                      <a:pt x="0" y="8838"/>
                      <a:pt x="8838" y="0"/>
                      <a:pt x="19740" y="0"/>
                    </a:cubicBezTo>
                    <a:close/>
                  </a:path>
                </a:pathLst>
              </a:custGeom>
              <a:solidFill>
                <a:srgbClr val="E39D21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2643200" cy="4113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24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609000" y="430948"/>
              <a:ext cx="8479202" cy="10259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15"/>
                </a:lnSpc>
              </a:pPr>
              <a:r>
                <a:rPr lang="en-US" sz="1300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Uneditable location sharing for security and trust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1973" y="389698"/>
              <a:ext cx="1907027" cy="8463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293"/>
                </a:lnSpc>
              </a:pPr>
              <a:r>
                <a:rPr lang="en-US" sz="2400" spc="-235">
                  <a:solidFill>
                    <a:srgbClr val="000000"/>
                  </a:solidFill>
                  <a:latin typeface="Bank Gothic Medium"/>
                  <a:ea typeface="Bank Gothic Medium"/>
                  <a:cs typeface="Bank Gothic Medium"/>
                  <a:sym typeface="Bank Gothic Medium"/>
                </a:rPr>
                <a:t>01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67385" y="3567094"/>
            <a:ext cx="4902435" cy="899528"/>
            <a:chOff x="0" y="0"/>
            <a:chExt cx="13073159" cy="179905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3073159" cy="1799056"/>
              <a:chOff x="0" y="0"/>
              <a:chExt cx="2643200" cy="36374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643200" cy="363743"/>
              </a:xfrm>
              <a:custGeom>
                <a:avLst/>
                <a:gdLst/>
                <a:ahLst/>
                <a:cxnLst/>
                <a:rect l="l" t="t" r="r" b="b"/>
                <a:pathLst>
                  <a:path w="2643200" h="363743">
                    <a:moveTo>
                      <a:pt x="19740" y="0"/>
                    </a:moveTo>
                    <a:lnTo>
                      <a:pt x="2623460" y="0"/>
                    </a:lnTo>
                    <a:cubicBezTo>
                      <a:pt x="2634363" y="0"/>
                      <a:pt x="2643200" y="8838"/>
                      <a:pt x="2643200" y="19740"/>
                    </a:cubicBezTo>
                    <a:lnTo>
                      <a:pt x="2643200" y="344003"/>
                    </a:lnTo>
                    <a:cubicBezTo>
                      <a:pt x="2643200" y="354905"/>
                      <a:pt x="2634363" y="363743"/>
                      <a:pt x="2623460" y="363743"/>
                    </a:cubicBezTo>
                    <a:lnTo>
                      <a:pt x="19740" y="363743"/>
                    </a:lnTo>
                    <a:cubicBezTo>
                      <a:pt x="8838" y="363743"/>
                      <a:pt x="0" y="354905"/>
                      <a:pt x="0" y="344003"/>
                    </a:cubicBezTo>
                    <a:lnTo>
                      <a:pt x="0" y="19740"/>
                    </a:lnTo>
                    <a:cubicBezTo>
                      <a:pt x="0" y="8838"/>
                      <a:pt x="8838" y="0"/>
                      <a:pt x="19740" y="0"/>
                    </a:cubicBezTo>
                    <a:close/>
                  </a:path>
                </a:pathLst>
              </a:custGeom>
              <a:solidFill>
                <a:srgbClr val="E39D21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2643200" cy="4113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24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701973" y="389698"/>
              <a:ext cx="1907027" cy="8463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293"/>
                </a:lnSpc>
              </a:pPr>
              <a:r>
                <a:rPr lang="en-US" sz="2400" spc="-235">
                  <a:solidFill>
                    <a:srgbClr val="000000"/>
                  </a:solidFill>
                  <a:latin typeface="Bank Gothic Medium"/>
                  <a:ea typeface="Bank Gothic Medium"/>
                  <a:cs typeface="Bank Gothic Medium"/>
                  <a:sym typeface="Bank Gothic Medium"/>
                </a:rPr>
                <a:t>02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08999" y="605194"/>
              <a:ext cx="8479203" cy="5321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15"/>
                </a:lnSpc>
              </a:pPr>
              <a:r>
                <a:rPr lang="en-US" sz="1300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Instant YardCode + photo verification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67385" y="4746022"/>
            <a:ext cx="4902435" cy="899528"/>
            <a:chOff x="0" y="0"/>
            <a:chExt cx="13073159" cy="1799056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3073159" cy="1799056"/>
              <a:chOff x="0" y="0"/>
              <a:chExt cx="2643200" cy="36374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2643200" cy="363743"/>
              </a:xfrm>
              <a:custGeom>
                <a:avLst/>
                <a:gdLst/>
                <a:ahLst/>
                <a:cxnLst/>
                <a:rect l="l" t="t" r="r" b="b"/>
                <a:pathLst>
                  <a:path w="2643200" h="363743">
                    <a:moveTo>
                      <a:pt x="19740" y="0"/>
                    </a:moveTo>
                    <a:lnTo>
                      <a:pt x="2623460" y="0"/>
                    </a:lnTo>
                    <a:cubicBezTo>
                      <a:pt x="2634363" y="0"/>
                      <a:pt x="2643200" y="8838"/>
                      <a:pt x="2643200" y="19740"/>
                    </a:cubicBezTo>
                    <a:lnTo>
                      <a:pt x="2643200" y="344003"/>
                    </a:lnTo>
                    <a:cubicBezTo>
                      <a:pt x="2643200" y="354905"/>
                      <a:pt x="2634363" y="363743"/>
                      <a:pt x="2623460" y="363743"/>
                    </a:cubicBezTo>
                    <a:lnTo>
                      <a:pt x="19740" y="363743"/>
                    </a:lnTo>
                    <a:cubicBezTo>
                      <a:pt x="8838" y="363743"/>
                      <a:pt x="0" y="354905"/>
                      <a:pt x="0" y="344003"/>
                    </a:cubicBezTo>
                    <a:lnTo>
                      <a:pt x="0" y="19740"/>
                    </a:lnTo>
                    <a:cubicBezTo>
                      <a:pt x="0" y="8838"/>
                      <a:pt x="8838" y="0"/>
                      <a:pt x="19740" y="0"/>
                    </a:cubicBezTo>
                    <a:close/>
                  </a:path>
                </a:pathLst>
              </a:custGeom>
              <a:solidFill>
                <a:srgbClr val="E39D21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2643200" cy="4113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24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701973" y="389698"/>
              <a:ext cx="1907027" cy="8463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293"/>
                </a:lnSpc>
              </a:pPr>
              <a:r>
                <a:rPr lang="en-US" sz="2400" spc="-235">
                  <a:solidFill>
                    <a:srgbClr val="000000"/>
                  </a:solidFill>
                  <a:latin typeface="Bank Gothic Medium"/>
                  <a:ea typeface="Bank Gothic Medium"/>
                  <a:cs typeface="Bank Gothic Medium"/>
                  <a:sym typeface="Bank Gothic Medium"/>
                </a:rPr>
                <a:t>03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09000" y="306438"/>
              <a:ext cx="8479202" cy="10259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15"/>
                </a:lnSpc>
              </a:pPr>
              <a:r>
                <a:rPr lang="en-US" sz="1300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Perfect for field workers, students, security personnel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67385" y="5924951"/>
            <a:ext cx="4902435" cy="899528"/>
            <a:chOff x="0" y="0"/>
            <a:chExt cx="2643200" cy="36374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643200" cy="363743"/>
            </a:xfrm>
            <a:custGeom>
              <a:avLst/>
              <a:gdLst/>
              <a:ahLst/>
              <a:cxnLst/>
              <a:rect l="l" t="t" r="r" b="b"/>
              <a:pathLst>
                <a:path w="2643200" h="363743">
                  <a:moveTo>
                    <a:pt x="19740" y="0"/>
                  </a:moveTo>
                  <a:lnTo>
                    <a:pt x="2623460" y="0"/>
                  </a:lnTo>
                  <a:cubicBezTo>
                    <a:pt x="2634363" y="0"/>
                    <a:pt x="2643200" y="8838"/>
                    <a:pt x="2643200" y="19740"/>
                  </a:cubicBezTo>
                  <a:lnTo>
                    <a:pt x="2643200" y="344003"/>
                  </a:lnTo>
                  <a:cubicBezTo>
                    <a:pt x="2643200" y="354905"/>
                    <a:pt x="2634363" y="363743"/>
                    <a:pt x="2623460" y="363743"/>
                  </a:cubicBezTo>
                  <a:lnTo>
                    <a:pt x="19740" y="363743"/>
                  </a:lnTo>
                  <a:cubicBezTo>
                    <a:pt x="8838" y="363743"/>
                    <a:pt x="0" y="354905"/>
                    <a:pt x="0" y="344003"/>
                  </a:cubicBezTo>
                  <a:lnTo>
                    <a:pt x="0" y="19740"/>
                  </a:lnTo>
                  <a:cubicBezTo>
                    <a:pt x="0" y="8838"/>
                    <a:pt x="8838" y="0"/>
                    <a:pt x="19740" y="0"/>
                  </a:cubicBezTo>
                  <a:close/>
                </a:path>
              </a:pathLst>
            </a:custGeom>
            <a:solidFill>
              <a:srgbClr val="E39D21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2643200" cy="411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24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705625" y="6077351"/>
            <a:ext cx="7151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3"/>
              </a:lnSpc>
            </a:pPr>
            <a:r>
              <a:rPr lang="en-US" sz="2400" spc="-235">
                <a:solidFill>
                  <a:srgbClr val="000000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04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420760" y="6096401"/>
            <a:ext cx="3179701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5"/>
              </a:lnSpc>
            </a:pPr>
            <a:r>
              <a:rPr lang="en-US" sz="1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Direct integration via email or websocket</a:t>
            </a:r>
          </a:p>
        </p:txBody>
      </p:sp>
      <p:grpSp>
        <p:nvGrpSpPr>
          <p:cNvPr id="31" name="Group 31"/>
          <p:cNvGrpSpPr>
            <a:grpSpLocks noChangeAspect="1"/>
          </p:cNvGrpSpPr>
          <p:nvPr/>
        </p:nvGrpSpPr>
        <p:grpSpPr>
          <a:xfrm>
            <a:off x="5547956" y="882650"/>
            <a:ext cx="3081695" cy="8130217"/>
            <a:chOff x="0" y="0"/>
            <a:chExt cx="2620010" cy="5184140"/>
          </a:xfrm>
        </p:grpSpPr>
        <p:sp>
          <p:nvSpPr>
            <p:cNvPr id="32" name="Freeform 32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8"/>
              <a:stretch>
                <a:fillRect t="-22" b="-22"/>
              </a:stretch>
            </a:blipFill>
          </p:spPr>
        </p:sp>
        <p:sp>
          <p:nvSpPr>
            <p:cNvPr id="34" name="Freeform 34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41" name="TextBox 41"/>
          <p:cNvSpPr txBox="1"/>
          <p:nvPr/>
        </p:nvSpPr>
        <p:spPr>
          <a:xfrm>
            <a:off x="1227529" y="977900"/>
            <a:ext cx="4057650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06"/>
              </a:lnSpc>
            </a:pPr>
            <a:r>
              <a:rPr lang="en-US" sz="3300" spc="-16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PING ADDRESS FEATURE</a:t>
            </a:r>
          </a:p>
        </p:txBody>
      </p:sp>
    </p:spTree>
    <p:extLst>
      <p:ext uri="{BB962C8B-B14F-4D97-AF65-F5344CB8AC3E}">
        <p14:creationId xmlns:p14="http://schemas.microsoft.com/office/powerpoint/2010/main" val="2157903265"/>
      </p:ext>
    </p:extLst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18602" y="4746022"/>
            <a:ext cx="4902435" cy="899528"/>
            <a:chOff x="0" y="0"/>
            <a:chExt cx="2643200" cy="3637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43200" cy="363743"/>
            </a:xfrm>
            <a:custGeom>
              <a:avLst/>
              <a:gdLst/>
              <a:ahLst/>
              <a:cxnLst/>
              <a:rect l="l" t="t" r="r" b="b"/>
              <a:pathLst>
                <a:path w="2643200" h="363743">
                  <a:moveTo>
                    <a:pt x="19740" y="0"/>
                  </a:moveTo>
                  <a:lnTo>
                    <a:pt x="2623460" y="0"/>
                  </a:lnTo>
                  <a:cubicBezTo>
                    <a:pt x="2634363" y="0"/>
                    <a:pt x="2643200" y="8838"/>
                    <a:pt x="2643200" y="19740"/>
                  </a:cubicBezTo>
                  <a:lnTo>
                    <a:pt x="2643200" y="344003"/>
                  </a:lnTo>
                  <a:cubicBezTo>
                    <a:pt x="2643200" y="354905"/>
                    <a:pt x="2634363" y="363743"/>
                    <a:pt x="2623460" y="363743"/>
                  </a:cubicBezTo>
                  <a:lnTo>
                    <a:pt x="19740" y="363743"/>
                  </a:lnTo>
                  <a:cubicBezTo>
                    <a:pt x="8838" y="363743"/>
                    <a:pt x="0" y="354905"/>
                    <a:pt x="0" y="344003"/>
                  </a:cubicBezTo>
                  <a:lnTo>
                    <a:pt x="0" y="19740"/>
                  </a:lnTo>
                  <a:cubicBezTo>
                    <a:pt x="0" y="8838"/>
                    <a:pt x="8838" y="0"/>
                    <a:pt x="19740" y="0"/>
                  </a:cubicBezTo>
                  <a:close/>
                </a:path>
              </a:pathLst>
            </a:custGeom>
            <a:solidFill>
              <a:srgbClr val="E39D2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43200" cy="411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2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518602" y="3567094"/>
            <a:ext cx="4902435" cy="899528"/>
            <a:chOff x="0" y="0"/>
            <a:chExt cx="2643200" cy="3637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43200" cy="363743"/>
            </a:xfrm>
            <a:custGeom>
              <a:avLst/>
              <a:gdLst/>
              <a:ahLst/>
              <a:cxnLst/>
              <a:rect l="l" t="t" r="r" b="b"/>
              <a:pathLst>
                <a:path w="2643200" h="363743">
                  <a:moveTo>
                    <a:pt x="19740" y="0"/>
                  </a:moveTo>
                  <a:lnTo>
                    <a:pt x="2623460" y="0"/>
                  </a:lnTo>
                  <a:cubicBezTo>
                    <a:pt x="2634363" y="0"/>
                    <a:pt x="2643200" y="8838"/>
                    <a:pt x="2643200" y="19740"/>
                  </a:cubicBezTo>
                  <a:lnTo>
                    <a:pt x="2643200" y="344003"/>
                  </a:lnTo>
                  <a:cubicBezTo>
                    <a:pt x="2643200" y="354905"/>
                    <a:pt x="2634363" y="363743"/>
                    <a:pt x="2623460" y="363743"/>
                  </a:cubicBezTo>
                  <a:lnTo>
                    <a:pt x="19740" y="363743"/>
                  </a:lnTo>
                  <a:cubicBezTo>
                    <a:pt x="8838" y="363743"/>
                    <a:pt x="0" y="354905"/>
                    <a:pt x="0" y="344003"/>
                  </a:cubicBezTo>
                  <a:lnTo>
                    <a:pt x="0" y="19740"/>
                  </a:lnTo>
                  <a:cubicBezTo>
                    <a:pt x="0" y="8838"/>
                    <a:pt x="8838" y="0"/>
                    <a:pt x="19740" y="0"/>
                  </a:cubicBezTo>
                  <a:close/>
                </a:path>
              </a:pathLst>
            </a:custGeom>
            <a:solidFill>
              <a:srgbClr val="E39D2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643200" cy="411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2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518602" y="2388473"/>
            <a:ext cx="4902435" cy="899528"/>
            <a:chOff x="0" y="0"/>
            <a:chExt cx="2643200" cy="36374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43200" cy="363743"/>
            </a:xfrm>
            <a:custGeom>
              <a:avLst/>
              <a:gdLst/>
              <a:ahLst/>
              <a:cxnLst/>
              <a:rect l="l" t="t" r="r" b="b"/>
              <a:pathLst>
                <a:path w="2643200" h="363743">
                  <a:moveTo>
                    <a:pt x="19740" y="0"/>
                  </a:moveTo>
                  <a:lnTo>
                    <a:pt x="2623460" y="0"/>
                  </a:lnTo>
                  <a:cubicBezTo>
                    <a:pt x="2634363" y="0"/>
                    <a:pt x="2643200" y="8838"/>
                    <a:pt x="2643200" y="19740"/>
                  </a:cubicBezTo>
                  <a:lnTo>
                    <a:pt x="2643200" y="344003"/>
                  </a:lnTo>
                  <a:cubicBezTo>
                    <a:pt x="2643200" y="354905"/>
                    <a:pt x="2634363" y="363743"/>
                    <a:pt x="2623460" y="363743"/>
                  </a:cubicBezTo>
                  <a:lnTo>
                    <a:pt x="19740" y="363743"/>
                  </a:lnTo>
                  <a:cubicBezTo>
                    <a:pt x="8838" y="363743"/>
                    <a:pt x="0" y="354905"/>
                    <a:pt x="0" y="344003"/>
                  </a:cubicBezTo>
                  <a:lnTo>
                    <a:pt x="0" y="19740"/>
                  </a:lnTo>
                  <a:cubicBezTo>
                    <a:pt x="0" y="8838"/>
                    <a:pt x="8838" y="0"/>
                    <a:pt x="19740" y="0"/>
                  </a:cubicBezTo>
                  <a:close/>
                </a:path>
              </a:pathLst>
            </a:custGeom>
            <a:solidFill>
              <a:srgbClr val="E39D2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643200" cy="411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24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7720729" y="-1456124"/>
            <a:ext cx="2328034" cy="2743200"/>
          </a:xfrm>
          <a:custGeom>
            <a:avLst/>
            <a:gdLst/>
            <a:ahLst/>
            <a:cxnLst/>
            <a:rect l="l" t="t" r="r" b="b"/>
            <a:pathLst>
              <a:path w="4656068" h="4114800">
                <a:moveTo>
                  <a:pt x="0" y="0"/>
                </a:moveTo>
                <a:lnTo>
                  <a:pt x="4656068" y="0"/>
                </a:lnTo>
                <a:lnTo>
                  <a:pt x="46560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 rot="-9260550">
            <a:off x="-929471" y="-700056"/>
            <a:ext cx="1896523" cy="2180042"/>
            <a:chOff x="0" y="0"/>
            <a:chExt cx="1370149" cy="1181234"/>
          </a:xfrm>
        </p:grpSpPr>
        <p:sp>
          <p:nvSpPr>
            <p:cNvPr id="13" name="Freeform 13"/>
            <p:cNvSpPr/>
            <p:nvPr/>
          </p:nvSpPr>
          <p:spPr>
            <a:xfrm>
              <a:off x="24372" y="35273"/>
              <a:ext cx="1321406" cy="1145961"/>
            </a:xfrm>
            <a:custGeom>
              <a:avLst/>
              <a:gdLst/>
              <a:ahLst/>
              <a:cxnLst/>
              <a:rect l="l" t="t" r="r" b="b"/>
              <a:pathLst>
                <a:path w="1321406" h="1145961">
                  <a:moveTo>
                    <a:pt x="691423" y="17696"/>
                  </a:moveTo>
                  <a:lnTo>
                    <a:pt x="1315057" y="1092992"/>
                  </a:lnTo>
                  <a:cubicBezTo>
                    <a:pt x="1321386" y="1103904"/>
                    <a:pt x="1321406" y="1117364"/>
                    <a:pt x="1315109" y="1128295"/>
                  </a:cubicBezTo>
                  <a:cubicBezTo>
                    <a:pt x="1308813" y="1139225"/>
                    <a:pt x="1297159" y="1145961"/>
                    <a:pt x="1284545" y="1145961"/>
                  </a:cubicBezTo>
                  <a:lnTo>
                    <a:pt x="36860" y="1145961"/>
                  </a:lnTo>
                  <a:cubicBezTo>
                    <a:pt x="24246" y="1145961"/>
                    <a:pt x="12593" y="1139225"/>
                    <a:pt x="6296" y="1128295"/>
                  </a:cubicBezTo>
                  <a:cubicBezTo>
                    <a:pt x="0" y="1117364"/>
                    <a:pt x="20" y="1103904"/>
                    <a:pt x="6348" y="1092992"/>
                  </a:cubicBezTo>
                  <a:lnTo>
                    <a:pt x="629983" y="17696"/>
                  </a:lnTo>
                  <a:cubicBezTo>
                    <a:pt x="636335" y="6742"/>
                    <a:pt x="648040" y="0"/>
                    <a:pt x="660703" y="0"/>
                  </a:cubicBezTo>
                  <a:cubicBezTo>
                    <a:pt x="673365" y="0"/>
                    <a:pt x="685070" y="6742"/>
                    <a:pt x="691423" y="17696"/>
                  </a:cubicBezTo>
                  <a:close/>
                </a:path>
              </a:pathLst>
            </a:custGeom>
            <a:solidFill>
              <a:srgbClr val="AF1D04">
                <a:alpha val="89804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214086" y="481755"/>
              <a:ext cx="941978" cy="615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flipH="1">
            <a:off x="-455376" y="-251189"/>
            <a:ext cx="1555750" cy="814176"/>
          </a:xfrm>
          <a:custGeom>
            <a:avLst/>
            <a:gdLst/>
            <a:ahLst/>
            <a:cxnLst/>
            <a:rect l="l" t="t" r="r" b="b"/>
            <a:pathLst>
              <a:path w="3111500" h="1221264">
                <a:moveTo>
                  <a:pt x="3111500" y="0"/>
                </a:moveTo>
                <a:lnTo>
                  <a:pt x="0" y="0"/>
                </a:lnTo>
                <a:lnTo>
                  <a:pt x="0" y="1221263"/>
                </a:lnTo>
                <a:lnTo>
                  <a:pt x="3111500" y="1221263"/>
                </a:lnTo>
                <a:lnTo>
                  <a:pt x="31115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-232796" y="6299738"/>
            <a:ext cx="1333170" cy="697693"/>
          </a:xfrm>
          <a:custGeom>
            <a:avLst/>
            <a:gdLst/>
            <a:ahLst/>
            <a:cxnLst/>
            <a:rect l="l" t="t" r="r" b="b"/>
            <a:pathLst>
              <a:path w="2666340" h="1046539">
                <a:moveTo>
                  <a:pt x="0" y="0"/>
                </a:moveTo>
                <a:lnTo>
                  <a:pt x="2666341" y="0"/>
                </a:lnTo>
                <a:lnTo>
                  <a:pt x="2666341" y="1046538"/>
                </a:lnTo>
                <a:lnTo>
                  <a:pt x="0" y="10465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4156842" y="4926584"/>
            <a:ext cx="7151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3"/>
              </a:lnSpc>
            </a:pPr>
            <a:r>
              <a:rPr lang="en-US" sz="2400" spc="-235">
                <a:solidFill>
                  <a:srgbClr val="000000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56842" y="3747656"/>
            <a:ext cx="7151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3"/>
              </a:lnSpc>
            </a:pPr>
            <a:r>
              <a:rPr lang="en-US" sz="2400" spc="-235">
                <a:solidFill>
                  <a:srgbClr val="000000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71977" y="2681904"/>
            <a:ext cx="3179701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5"/>
              </a:lnSpc>
            </a:pPr>
            <a:r>
              <a:rPr lang="en-US" sz="1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Start-to-end route tracking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56842" y="2569035"/>
            <a:ext cx="7151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3"/>
              </a:lnSpc>
            </a:pPr>
            <a:r>
              <a:rPr lang="en-US" sz="2400" spc="-235">
                <a:solidFill>
                  <a:srgbClr val="000000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01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060827" y="1097051"/>
            <a:ext cx="3011127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06"/>
              </a:lnSpc>
            </a:pPr>
            <a:r>
              <a:rPr lang="en-US" sz="3300" spc="-16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ROUTE RECORDING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871977" y="3860167"/>
            <a:ext cx="3179701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5"/>
              </a:lnSpc>
            </a:pPr>
            <a:r>
              <a:rPr lang="en-US" sz="1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Automatic RouteCode generation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71977" y="5038122"/>
            <a:ext cx="3179701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5"/>
              </a:lnSpc>
            </a:pPr>
            <a:r>
              <a:rPr lang="en-US" sz="1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Organizational integration for logistics</a:t>
            </a:r>
          </a:p>
        </p:txBody>
      </p: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724238" y="984250"/>
            <a:ext cx="3081695" cy="8130217"/>
            <a:chOff x="0" y="0"/>
            <a:chExt cx="2620010" cy="5184140"/>
          </a:xfrm>
        </p:grpSpPr>
        <p:sp>
          <p:nvSpPr>
            <p:cNvPr id="25" name="Freeform 2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8"/>
              <a:stretch>
                <a:fillRect l="-38" r="-38"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</p:spTree>
    <p:extLst>
      <p:ext uri="{BB962C8B-B14F-4D97-AF65-F5344CB8AC3E}">
        <p14:creationId xmlns:p14="http://schemas.microsoft.com/office/powerpoint/2010/main" val="4286373907"/>
      </p:ext>
    </p:extLst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83163" y="5541083"/>
            <a:ext cx="2916582" cy="1662451"/>
          </a:xfrm>
          <a:custGeom>
            <a:avLst/>
            <a:gdLst/>
            <a:ahLst/>
            <a:cxnLst/>
            <a:rect l="l" t="t" r="r" b="b"/>
            <a:pathLst>
              <a:path w="5833163" h="2493677">
                <a:moveTo>
                  <a:pt x="0" y="0"/>
                </a:moveTo>
                <a:lnTo>
                  <a:pt x="5833163" y="0"/>
                </a:lnTo>
                <a:lnTo>
                  <a:pt x="5833163" y="2493677"/>
                </a:lnTo>
                <a:lnTo>
                  <a:pt x="0" y="24936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7535500" y="310290"/>
            <a:ext cx="2364245" cy="6237420"/>
            <a:chOff x="0" y="0"/>
            <a:chExt cx="2620010" cy="5184140"/>
          </a:xfrm>
        </p:grpSpPr>
        <p:sp>
          <p:nvSpPr>
            <p:cNvPr id="4" name="Freeform 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t="-158" b="-158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AF1D04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AF1D04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AF1D04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AF1D04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AF1D04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39D21"/>
            </a:solidFill>
          </p:spPr>
        </p:sp>
      </p:grpSp>
      <p:grpSp>
        <p:nvGrpSpPr>
          <p:cNvPr id="13" name="Group 13"/>
          <p:cNvGrpSpPr/>
          <p:nvPr/>
        </p:nvGrpSpPr>
        <p:grpSpPr>
          <a:xfrm rot="-10800000">
            <a:off x="-2653141" y="-143711"/>
            <a:ext cx="6173279" cy="7073548"/>
            <a:chOff x="0" y="0"/>
            <a:chExt cx="812800" cy="698500"/>
          </a:xfrm>
        </p:grpSpPr>
        <p:sp>
          <p:nvSpPr>
            <p:cNvPr id="14" name="Freeform 14"/>
            <p:cNvSpPr/>
            <p:nvPr/>
          </p:nvSpPr>
          <p:spPr>
            <a:xfrm>
              <a:off x="3612" y="0"/>
              <a:ext cx="805575" cy="698500"/>
            </a:xfrm>
            <a:custGeom>
              <a:avLst/>
              <a:gdLst/>
              <a:ahLst/>
              <a:cxnLst/>
              <a:rect l="l" t="t" r="r" b="b"/>
              <a:pathLst>
                <a:path w="805575" h="698500">
                  <a:moveTo>
                    <a:pt x="799728" y="365510"/>
                  </a:moveTo>
                  <a:lnTo>
                    <a:pt x="615448" y="682240"/>
                  </a:lnTo>
                  <a:cubicBezTo>
                    <a:pt x="609591" y="692307"/>
                    <a:pt x="598823" y="698500"/>
                    <a:pt x="587176" y="698500"/>
                  </a:cubicBezTo>
                  <a:lnTo>
                    <a:pt x="218400" y="698500"/>
                  </a:lnTo>
                  <a:cubicBezTo>
                    <a:pt x="206753" y="698500"/>
                    <a:pt x="195985" y="692307"/>
                    <a:pt x="190128" y="682240"/>
                  </a:cubicBezTo>
                  <a:lnTo>
                    <a:pt x="5848" y="365510"/>
                  </a:lnTo>
                  <a:cubicBezTo>
                    <a:pt x="0" y="355459"/>
                    <a:pt x="0" y="343041"/>
                    <a:pt x="5848" y="332990"/>
                  </a:cubicBezTo>
                  <a:lnTo>
                    <a:pt x="190128" y="16260"/>
                  </a:lnTo>
                  <a:cubicBezTo>
                    <a:pt x="195985" y="6193"/>
                    <a:pt x="206753" y="0"/>
                    <a:pt x="218400" y="0"/>
                  </a:cubicBezTo>
                  <a:lnTo>
                    <a:pt x="587176" y="0"/>
                  </a:lnTo>
                  <a:cubicBezTo>
                    <a:pt x="598823" y="0"/>
                    <a:pt x="609591" y="6193"/>
                    <a:pt x="615448" y="16260"/>
                  </a:cubicBezTo>
                  <a:lnTo>
                    <a:pt x="799728" y="332990"/>
                  </a:lnTo>
                  <a:cubicBezTo>
                    <a:pt x="805576" y="343041"/>
                    <a:pt x="805576" y="355459"/>
                    <a:pt x="799728" y="365510"/>
                  </a:cubicBezTo>
                  <a:close/>
                </a:path>
              </a:pathLst>
            </a:custGeom>
            <a:solidFill>
              <a:srgbClr val="8E0A0A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14300" y="-66675"/>
              <a:ext cx="5842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10800000">
            <a:off x="-3165330" y="938763"/>
            <a:ext cx="6426475" cy="7365569"/>
            <a:chOff x="0" y="0"/>
            <a:chExt cx="812800" cy="698680"/>
          </a:xfrm>
        </p:grpSpPr>
        <p:sp>
          <p:nvSpPr>
            <p:cNvPr id="17" name="Freeform 17"/>
            <p:cNvSpPr/>
            <p:nvPr/>
          </p:nvSpPr>
          <p:spPr>
            <a:xfrm>
              <a:off x="3469" y="0"/>
              <a:ext cx="805862" cy="698680"/>
            </a:xfrm>
            <a:custGeom>
              <a:avLst/>
              <a:gdLst/>
              <a:ahLst/>
              <a:cxnLst/>
              <a:rect l="l" t="t" r="r" b="b"/>
              <a:pathLst>
                <a:path w="805862" h="698680">
                  <a:moveTo>
                    <a:pt x="800245" y="364960"/>
                  </a:moveTo>
                  <a:lnTo>
                    <a:pt x="615217" y="683060"/>
                  </a:lnTo>
                  <a:cubicBezTo>
                    <a:pt x="609592" y="692731"/>
                    <a:pt x="599248" y="698680"/>
                    <a:pt x="588061" y="698680"/>
                  </a:cubicBezTo>
                  <a:lnTo>
                    <a:pt x="217801" y="698680"/>
                  </a:lnTo>
                  <a:cubicBezTo>
                    <a:pt x="206614" y="698680"/>
                    <a:pt x="196270" y="692731"/>
                    <a:pt x="190645" y="683060"/>
                  </a:cubicBezTo>
                  <a:lnTo>
                    <a:pt x="5617" y="364960"/>
                  </a:lnTo>
                  <a:cubicBezTo>
                    <a:pt x="0" y="355304"/>
                    <a:pt x="0" y="343376"/>
                    <a:pt x="5617" y="333720"/>
                  </a:cubicBezTo>
                  <a:lnTo>
                    <a:pt x="190645" y="15620"/>
                  </a:lnTo>
                  <a:cubicBezTo>
                    <a:pt x="196270" y="5950"/>
                    <a:pt x="206614" y="0"/>
                    <a:pt x="217801" y="0"/>
                  </a:cubicBezTo>
                  <a:lnTo>
                    <a:pt x="588061" y="0"/>
                  </a:lnTo>
                  <a:cubicBezTo>
                    <a:pt x="599248" y="0"/>
                    <a:pt x="609592" y="5950"/>
                    <a:pt x="615217" y="15620"/>
                  </a:cubicBezTo>
                  <a:lnTo>
                    <a:pt x="800245" y="333720"/>
                  </a:lnTo>
                  <a:cubicBezTo>
                    <a:pt x="805862" y="343376"/>
                    <a:pt x="805862" y="355304"/>
                    <a:pt x="800245" y="364960"/>
                  </a:cubicBezTo>
                  <a:close/>
                </a:path>
              </a:pathLst>
            </a:custGeom>
            <a:solidFill>
              <a:srgbClr val="AF1D04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14300" y="-66675"/>
              <a:ext cx="584200" cy="7653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 rot="-10800000">
            <a:off x="-677336" y="-80638"/>
            <a:ext cx="1458697" cy="763385"/>
          </a:xfrm>
          <a:custGeom>
            <a:avLst/>
            <a:gdLst/>
            <a:ahLst/>
            <a:cxnLst/>
            <a:rect l="l" t="t" r="r" b="b"/>
            <a:pathLst>
              <a:path w="2917393" h="1145077">
                <a:moveTo>
                  <a:pt x="0" y="0"/>
                </a:moveTo>
                <a:lnTo>
                  <a:pt x="2917393" y="0"/>
                </a:lnTo>
                <a:lnTo>
                  <a:pt x="2917393" y="1145077"/>
                </a:lnTo>
                <a:lnTo>
                  <a:pt x="0" y="11450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-10800000">
            <a:off x="213647" y="-172851"/>
            <a:ext cx="1091402" cy="1286035"/>
          </a:xfrm>
          <a:custGeom>
            <a:avLst/>
            <a:gdLst/>
            <a:ahLst/>
            <a:cxnLst/>
            <a:rect l="l" t="t" r="r" b="b"/>
            <a:pathLst>
              <a:path w="2182803" h="1929052">
                <a:moveTo>
                  <a:pt x="0" y="0"/>
                </a:moveTo>
                <a:lnTo>
                  <a:pt x="2182803" y="0"/>
                </a:lnTo>
                <a:lnTo>
                  <a:pt x="2182803" y="1929052"/>
                </a:lnTo>
                <a:lnTo>
                  <a:pt x="0" y="19290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-10800000">
            <a:off x="-515701" y="6100960"/>
            <a:ext cx="1458697" cy="763385"/>
          </a:xfrm>
          <a:custGeom>
            <a:avLst/>
            <a:gdLst/>
            <a:ahLst/>
            <a:cxnLst/>
            <a:rect l="l" t="t" r="r" b="b"/>
            <a:pathLst>
              <a:path w="2917393" h="1145077">
                <a:moveTo>
                  <a:pt x="0" y="0"/>
                </a:moveTo>
                <a:lnTo>
                  <a:pt x="2917393" y="0"/>
                </a:lnTo>
                <a:lnTo>
                  <a:pt x="2917393" y="1145077"/>
                </a:lnTo>
                <a:lnTo>
                  <a:pt x="0" y="11450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rot="-10800000">
            <a:off x="-197885" y="1801675"/>
            <a:ext cx="3509621" cy="4299285"/>
          </a:xfrm>
          <a:custGeom>
            <a:avLst/>
            <a:gdLst/>
            <a:ahLst/>
            <a:cxnLst/>
            <a:rect l="l" t="t" r="r" b="b"/>
            <a:pathLst>
              <a:path w="7019241" h="6448928">
                <a:moveTo>
                  <a:pt x="0" y="0"/>
                </a:moveTo>
                <a:lnTo>
                  <a:pt x="7019241" y="0"/>
                </a:lnTo>
                <a:lnTo>
                  <a:pt x="7019241" y="6448928"/>
                </a:lnTo>
                <a:lnTo>
                  <a:pt x="0" y="64489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23" name="Group 23"/>
          <p:cNvGrpSpPr/>
          <p:nvPr/>
        </p:nvGrpSpPr>
        <p:grpSpPr>
          <a:xfrm rot="-10800000">
            <a:off x="-1097489" y="938763"/>
            <a:ext cx="4283869" cy="4908600"/>
            <a:chOff x="0" y="0"/>
            <a:chExt cx="812800" cy="698500"/>
          </a:xfrm>
        </p:grpSpPr>
        <p:sp>
          <p:nvSpPr>
            <p:cNvPr id="24" name="Freeform 24"/>
            <p:cNvSpPr/>
            <p:nvPr/>
          </p:nvSpPr>
          <p:spPr>
            <a:xfrm>
              <a:off x="6941" y="0"/>
              <a:ext cx="798919" cy="698500"/>
            </a:xfrm>
            <a:custGeom>
              <a:avLst/>
              <a:gdLst/>
              <a:ahLst/>
              <a:cxnLst/>
              <a:rect l="l" t="t" r="r" b="b"/>
              <a:pathLst>
                <a:path w="798919" h="698500">
                  <a:moveTo>
                    <a:pt x="787682" y="380491"/>
                  </a:moveTo>
                  <a:lnTo>
                    <a:pt x="620836" y="667259"/>
                  </a:lnTo>
                  <a:cubicBezTo>
                    <a:pt x="609582" y="686601"/>
                    <a:pt x="588892" y="698500"/>
                    <a:pt x="566515" y="698500"/>
                  </a:cubicBezTo>
                  <a:lnTo>
                    <a:pt x="232404" y="698500"/>
                  </a:lnTo>
                  <a:cubicBezTo>
                    <a:pt x="210026" y="698500"/>
                    <a:pt x="189336" y="686601"/>
                    <a:pt x="178082" y="667259"/>
                  </a:cubicBezTo>
                  <a:lnTo>
                    <a:pt x="11236" y="380491"/>
                  </a:lnTo>
                  <a:cubicBezTo>
                    <a:pt x="0" y="361179"/>
                    <a:pt x="0" y="337321"/>
                    <a:pt x="11236" y="318009"/>
                  </a:cubicBezTo>
                  <a:lnTo>
                    <a:pt x="178082" y="31241"/>
                  </a:lnTo>
                  <a:cubicBezTo>
                    <a:pt x="189336" y="11899"/>
                    <a:pt x="210026" y="0"/>
                    <a:pt x="232404" y="0"/>
                  </a:cubicBezTo>
                  <a:lnTo>
                    <a:pt x="566515" y="0"/>
                  </a:lnTo>
                  <a:cubicBezTo>
                    <a:pt x="588892" y="0"/>
                    <a:pt x="609582" y="11899"/>
                    <a:pt x="620836" y="31241"/>
                  </a:cubicBezTo>
                  <a:lnTo>
                    <a:pt x="787682" y="318009"/>
                  </a:lnTo>
                  <a:cubicBezTo>
                    <a:pt x="798918" y="337321"/>
                    <a:pt x="798918" y="361179"/>
                    <a:pt x="787682" y="380491"/>
                  </a:cubicBezTo>
                  <a:close/>
                </a:path>
              </a:pathLst>
            </a:custGeom>
            <a:solidFill>
              <a:srgbClr val="E39D21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14300" y="-66675"/>
              <a:ext cx="584200" cy="765175"/>
            </a:xfrm>
            <a:prstGeom prst="rect">
              <a:avLst/>
            </a:prstGeom>
          </p:spPr>
          <p:txBody>
            <a:bodyPr lIns="61771" tIns="61771" rIns="61771" bIns="61771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-1886174" y="1113184"/>
            <a:ext cx="4923749" cy="4567587"/>
            <a:chOff x="0" y="0"/>
            <a:chExt cx="1003955" cy="698500"/>
          </a:xfrm>
        </p:grpSpPr>
        <p:sp>
          <p:nvSpPr>
            <p:cNvPr id="27" name="Freeform 27"/>
            <p:cNvSpPr/>
            <p:nvPr/>
          </p:nvSpPr>
          <p:spPr>
            <a:xfrm>
              <a:off x="4529" y="0"/>
              <a:ext cx="994897" cy="698500"/>
            </a:xfrm>
            <a:custGeom>
              <a:avLst/>
              <a:gdLst/>
              <a:ahLst/>
              <a:cxnLst/>
              <a:rect l="l" t="t" r="r" b="b"/>
              <a:pathLst>
                <a:path w="994897" h="698500">
                  <a:moveTo>
                    <a:pt x="987565" y="369636"/>
                  </a:moveTo>
                  <a:lnTo>
                    <a:pt x="808087" y="678114"/>
                  </a:lnTo>
                  <a:cubicBezTo>
                    <a:pt x="800744" y="690735"/>
                    <a:pt x="787243" y="698500"/>
                    <a:pt x="772641" y="698500"/>
                  </a:cubicBezTo>
                  <a:lnTo>
                    <a:pt x="222256" y="698500"/>
                  </a:lnTo>
                  <a:cubicBezTo>
                    <a:pt x="207654" y="698500"/>
                    <a:pt x="194153" y="690735"/>
                    <a:pt x="186810" y="678114"/>
                  </a:cubicBezTo>
                  <a:lnTo>
                    <a:pt x="7332" y="369636"/>
                  </a:lnTo>
                  <a:cubicBezTo>
                    <a:pt x="0" y="357034"/>
                    <a:pt x="0" y="341466"/>
                    <a:pt x="7332" y="328864"/>
                  </a:cubicBezTo>
                  <a:lnTo>
                    <a:pt x="186810" y="20386"/>
                  </a:lnTo>
                  <a:cubicBezTo>
                    <a:pt x="194153" y="7765"/>
                    <a:pt x="207654" y="0"/>
                    <a:pt x="222256" y="0"/>
                  </a:cubicBezTo>
                  <a:lnTo>
                    <a:pt x="772641" y="0"/>
                  </a:lnTo>
                  <a:cubicBezTo>
                    <a:pt x="787243" y="0"/>
                    <a:pt x="800744" y="7765"/>
                    <a:pt x="808087" y="20386"/>
                  </a:cubicBezTo>
                  <a:lnTo>
                    <a:pt x="987565" y="328864"/>
                  </a:lnTo>
                  <a:cubicBezTo>
                    <a:pt x="994897" y="341466"/>
                    <a:pt x="994897" y="357034"/>
                    <a:pt x="987565" y="369636"/>
                  </a:cubicBezTo>
                  <a:close/>
                </a:path>
              </a:pathLst>
            </a:custGeom>
            <a:blipFill>
              <a:blip r:embed="rId10"/>
              <a:stretch>
                <a:fillRect l="-12638" r="-12638"/>
              </a:stretch>
            </a:blipFill>
            <a:ln w="209550" cap="rnd">
              <a:solidFill>
                <a:srgbClr val="E39D21"/>
              </a:solidFill>
              <a:prstDash val="solid"/>
              <a:round/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3492604" y="2822738"/>
            <a:ext cx="3795196" cy="269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97"/>
              </a:lnSpc>
            </a:pPr>
            <a:r>
              <a:rPr lang="en-US" sz="1900" b="1">
                <a:solidFill>
                  <a:srgbClr val="000000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YARDCODE ISN'T JUST SOLVING A PROBLEM – WE'RE BUILDING THE FOUNDATION FOR NIGERIA'S DIGITAL FUTURE</a:t>
            </a:r>
          </a:p>
          <a:p>
            <a:pPr>
              <a:lnSpc>
                <a:spcPts val="2097"/>
              </a:lnSpc>
            </a:pPr>
            <a:endParaRPr lang="en-US" sz="1900" b="1">
              <a:solidFill>
                <a:srgbClr val="000000"/>
              </a:solidFill>
              <a:latin typeface="Cy Grotesk Key Bold"/>
              <a:ea typeface="Cy Grotesk Key Bold"/>
              <a:cs typeface="Cy Grotesk Key Bold"/>
              <a:sym typeface="Cy Grotesk Key Bold"/>
            </a:endParaRPr>
          </a:p>
          <a:p>
            <a:pPr>
              <a:lnSpc>
                <a:spcPts val="2097"/>
              </a:lnSpc>
            </a:pPr>
            <a:r>
              <a:rPr lang="en-US" sz="1900" b="1">
                <a:solidFill>
                  <a:srgbClr val="000000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EVERY ADDRESS MATTERS. EVERY LOCATION COUNTS.</a:t>
            </a:r>
          </a:p>
          <a:p>
            <a:pPr>
              <a:lnSpc>
                <a:spcPts val="2097"/>
              </a:lnSpc>
            </a:pPr>
            <a:r>
              <a:rPr lang="en-US" sz="1900" b="1" i="1" u="sng">
                <a:solidFill>
                  <a:srgbClr val="D20713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WELCOME TO THE YARDCODE ERA</a:t>
            </a:r>
          </a:p>
          <a:p>
            <a:pPr>
              <a:lnSpc>
                <a:spcPts val="45"/>
              </a:lnSpc>
            </a:pPr>
            <a:endParaRPr lang="en-US" sz="1900" b="1" i="1" u="sng">
              <a:solidFill>
                <a:srgbClr val="D20713"/>
              </a:solidFill>
              <a:latin typeface="Cy Grotesk Key Bold"/>
              <a:ea typeface="Cy Grotesk Key Bold"/>
              <a:cs typeface="Cy Grotesk Key Bold"/>
              <a:sym typeface="Cy Grotesk Key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3521072" y="847516"/>
            <a:ext cx="3738260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74"/>
              </a:lnSpc>
            </a:pPr>
            <a:r>
              <a:rPr lang="en-US" sz="4000" b="1">
                <a:solidFill>
                  <a:srgbClr val="000000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THE FUTURE IS </a:t>
            </a:r>
            <a:r>
              <a:rPr lang="en-US" sz="4000" b="1" i="1" u="sng">
                <a:solidFill>
                  <a:srgbClr val="D20713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701423910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480060" y="548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C9A2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RAIN · ROBOTICS AND ARTIFICIAL INTELLIGENCE NIGERIA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0060" y="2286000"/>
            <a:ext cx="8092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NRS is actually the 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 Room for National Prosperity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80060" y="3749040"/>
            <a:ext cx="72009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8DE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Reimagining the Nigeria Revenue Service as Nigeria's growth partner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80060" y="5943600"/>
            <a:ext cx="72009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492A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Prepared for the visit of the Executive Chairman, Nigeria Revenue Service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0383136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5BEDFC3-6DA8-904C-65E6-974848829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THE IMPORTANCE OF AI</a:t>
            </a:r>
            <a:endParaRPr lang="x-non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F7551E0-7942-8EF5-38FF-B7B61BE34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x-none" sz="24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Copyright Violation Detection:</a:t>
            </a:r>
            <a:r>
              <a:rPr lang="x-none" sz="2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Use AI tools to monitor digital platforms for pirated content automatically.</a:t>
            </a:r>
            <a:endParaRPr lang="en-US" sz="24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x-none" sz="24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Document Review and Automation:</a:t>
            </a:r>
            <a:r>
              <a:rPr lang="x-none" sz="2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NLP tools to quickly </a:t>
            </a:r>
            <a:r>
              <a:rPr lang="x-none" sz="2400" kern="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analy</a:t>
            </a:r>
            <a:r>
              <a:rPr lang="en-US" sz="2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x-none" sz="2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 contracts, case laws, and submissions.</a:t>
            </a:r>
            <a:endParaRPr lang="x-none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x-none" sz="24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Chatbots for Public Inquiries:</a:t>
            </a:r>
            <a:r>
              <a:rPr lang="x-none" sz="2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Provide 24/7 assistance to stakeholders about copyright laws and processes.</a:t>
            </a:r>
            <a:endParaRPr lang="en-US" sz="2400" kern="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Automatic</a:t>
            </a:r>
            <a:r>
              <a:rPr lang="x-none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 copyright registration</a:t>
            </a: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x-none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AI checks for existing duplicates in the NCC database</a:t>
            </a:r>
            <a:r>
              <a:rPr lang="en-US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4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Administrative Efficiency: </a:t>
            </a:r>
            <a:r>
              <a:rPr lang="x-none" sz="24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Data analysis for strategic decision-making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x-none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x-none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53153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617220" y="2743200"/>
            <a:ext cx="7886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300" dirty="0" smtClean="0">
                <a:solidFill>
                  <a:srgbClr val="C9A227"/>
                </a:solidFill>
                <a:latin typeface="Helvetica Neue" pitchFamily="34" charset="0"/>
                <a:ea typeface="Helvetica Neue" pitchFamily="34" charset="-122"/>
              </a:rPr>
              <a:t>WHAT MORE?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17220" y="3108960"/>
            <a:ext cx="78867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Platforms Where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Meets Government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9558000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060" y="3657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PLATFORM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0060" y="658368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Nigerian Trade Exchange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80060" y="1508760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5A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Alibaba-style marketplace for Nigerian goods and services to reach Africa and the world.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2542032"/>
            <a:ext cx="96012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54380" y="2423160"/>
            <a:ext cx="7749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Nigerian manufacturers, artisans, farmers, and service providers sell across Africa and globally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4350" y="3200400"/>
            <a:ext cx="96012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754380" y="3081528"/>
            <a:ext cx="7749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Integrated payment rails and settlement, in partnership with the Central Bank of Nigeria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14350" y="3858768"/>
            <a:ext cx="96012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754380" y="3739896"/>
            <a:ext cx="7749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Tax calculated and collected automatically at point of sale — compliance without confrontation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14350" y="4517136"/>
            <a:ext cx="96012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754380" y="4398264"/>
            <a:ext cx="7749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Logistics and delivery coordinated through the platform, order to doorstep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14350" y="5175504"/>
            <a:ext cx="96012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754380" y="5056632"/>
            <a:ext cx="7749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transaction feeds real trade and revenue data back to the Service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4651149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060" y="3657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PLATFORM TWO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0060" y="658368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National Employment &amp; Services Registry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80060" y="1508760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5A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portal where Nigeria's workers — formal and informal — are seen, connected, and folded into the tax net.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2542032"/>
            <a:ext cx="96012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54380" y="2423160"/>
            <a:ext cx="7749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Freelancers, consultants, and contractors register and are discoverable by clients nationwide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4350" y="3200400"/>
            <a:ext cx="96012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754380" y="3081528"/>
            <a:ext cx="7749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Employers and job-seekers meet on one portal — tax registration becomes a byproduct of finding work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14350" y="3858768"/>
            <a:ext cx="96012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754380" y="3739896"/>
            <a:ext cx="7749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PAYE and related remittances automated at the point of payment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14350" y="4517136"/>
            <a:ext cx="96012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754380" y="4398264"/>
            <a:ext cx="7749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living record of who is working, where, and how — the raw material for real employment statistics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261516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060" y="3657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PLATFORM THREE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0060" y="658368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Growth Desk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80060" y="1508760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5A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shift in posture — from an office businesses fear, to a desk businesses visit to grow.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2542032"/>
            <a:ext cx="96012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54380" y="2423160"/>
            <a:ext cx="7749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Tax advisory tailored to a business's actual stage: startup, SME, or scale-up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4350" y="3200400"/>
            <a:ext cx="96012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754380" y="3081528"/>
            <a:ext cx="7749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real-time compliance dashboard — business owners always know exactly what they owe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14350" y="3858768"/>
            <a:ext cx="96012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754380" y="3739896"/>
            <a:ext cx="7749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Pathways connecting compliant businesses to credit, grants, and partnership opportunities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14350" y="4517136"/>
            <a:ext cx="96012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754380" y="4398264"/>
            <a:ext cx="77495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Tax education delivered in the language and channel Nigerians already use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0217643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617220" y="2743200"/>
            <a:ext cx="7886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C9A2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INTELLIGENCE LAYER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17220" y="3108960"/>
            <a:ext cx="78867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AI Adds to the Picture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37483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060" y="3657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INTELLIGENCE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0060" y="658368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Ways AI Strengthens the Service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80060" y="1737360"/>
            <a:ext cx="2583180" cy="1828800"/>
          </a:xfrm>
          <a:prstGeom prst="roundRect">
            <a:avLst>
              <a:gd name="adj" fmla="val 3000"/>
            </a:avLst>
          </a:prstGeom>
          <a:solidFill>
            <a:srgbClr val="F6F3EA"/>
          </a:solidFill>
          <a:ln w="12700">
            <a:solidFill>
              <a:srgbClr val="E6E2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1510" y="1920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B1F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Compliance &amp; Risk Profiling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1510" y="251460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Flag unusual filing patterns and prioritise audit attention where it's genuinely needed.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68980" y="1737360"/>
            <a:ext cx="2583180" cy="1828800"/>
          </a:xfrm>
          <a:prstGeom prst="roundRect">
            <a:avLst>
              <a:gd name="adj" fmla="val 3000"/>
            </a:avLst>
          </a:prstGeom>
          <a:solidFill>
            <a:srgbClr val="F6F3EA"/>
          </a:solidFill>
          <a:ln w="12700">
            <a:solidFill>
              <a:srgbClr val="E6E2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40430" y="1920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B1F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Tax Education at Scale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440430" y="251460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Voice notes, chatbots, and local-language content that meet Nigerians where they are.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57900" y="1737360"/>
            <a:ext cx="2583180" cy="1828800"/>
          </a:xfrm>
          <a:prstGeom prst="roundRect">
            <a:avLst>
              <a:gd name="adj" fmla="val 3000"/>
            </a:avLst>
          </a:prstGeom>
          <a:solidFill>
            <a:srgbClr val="F6F3EA"/>
          </a:solidFill>
          <a:ln w="12700">
            <a:solidFill>
              <a:srgbClr val="E6E2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29350" y="1920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B1F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Automated Auditing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229350" y="251460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Pre-audit analysis narrows what a human auditor reviews — humans stay in the loop.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" y="3840480"/>
            <a:ext cx="2583180" cy="1828800"/>
          </a:xfrm>
          <a:prstGeom prst="roundRect">
            <a:avLst>
              <a:gd name="adj" fmla="val 3000"/>
            </a:avLst>
          </a:prstGeom>
          <a:solidFill>
            <a:srgbClr val="F6F3EA"/>
          </a:solidFill>
          <a:ln w="12700">
            <a:solidFill>
              <a:srgbClr val="E6E2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510" y="40233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B1F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Fraud &amp; Impersonation Detection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1510" y="461772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Continuous monitoring for cloned payment portals impersonating the Service.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68980" y="3840480"/>
            <a:ext cx="2583180" cy="1828800"/>
          </a:xfrm>
          <a:prstGeom prst="roundRect">
            <a:avLst>
              <a:gd name="adj" fmla="val 3000"/>
            </a:avLst>
          </a:prstGeom>
          <a:solidFill>
            <a:srgbClr val="F6F3EA"/>
          </a:solidFill>
          <a:ln w="12700">
            <a:solidFill>
              <a:srgbClr val="E6E2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0430" y="40233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B1F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Field Officer Monitoring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440430" y="461772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YardCode SDK integration tracks officer location, duration, and outcomes in the field.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57900" y="3840480"/>
            <a:ext cx="2583180" cy="1828800"/>
          </a:xfrm>
          <a:prstGeom prst="roundRect">
            <a:avLst>
              <a:gd name="adj" fmla="val 3000"/>
            </a:avLst>
          </a:prstGeom>
          <a:solidFill>
            <a:srgbClr val="F6F3EA"/>
          </a:solidFill>
          <a:ln w="12700">
            <a:solidFill>
              <a:srgbClr val="E6E2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29350" y="40233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B1F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Public-Private Delivery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229350" y="461772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RAIN and partners build and operate; government sets policy and shares the benefit.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543983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060" y="3657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BEYOND REVENUE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0060" y="658368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RAIN Already Brings to the Table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80060" y="1600200"/>
            <a:ext cx="6172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65860" y="1618488"/>
            <a:ext cx="73380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People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65860" y="1984248"/>
            <a:ext cx="7338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AIML and RDA programmes training the talent capable of building and operating platforms like these, at home.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80060" y="2743200"/>
            <a:ext cx="6172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65860" y="2761488"/>
            <a:ext cx="73380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Tools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65860" y="3127248"/>
            <a:ext cx="7338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RIDE, a browser-native robotics simulation platform, and YardCode, Nigeria's own geo-addressing infrastructure — real, deployed systems.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0060" y="3886200"/>
            <a:ext cx="6172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165860" y="3904488"/>
            <a:ext cx="73380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Shaping the Policy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65860" y="4270248"/>
            <a:ext cx="7338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Co-authorship of Nigeria's National AI Strategy and a seat on the UNDP AI4Dev Reference Group.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0060" y="5029200"/>
            <a:ext cx="6172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65860" y="5047488"/>
            <a:ext cx="73380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Across Sectors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65860" y="5413248"/>
            <a:ext cx="7338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5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 spanning education, security, and public administration — including AI curricula for Meta's AI Academy Nigeria.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2035241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060" y="3657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0060" y="658368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Proposal in One Table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143772"/>
              </p:ext>
            </p:extLst>
          </p:nvPr>
        </p:nvGraphicFramePr>
        <p:xfrm>
          <a:off x="480060" y="1645920"/>
          <a:ext cx="8161020" cy="4206240"/>
        </p:xfrm>
        <a:graphic>
          <a:graphicData uri="http://schemas.openxmlformats.org/drawingml/2006/table">
            <a:tbl>
              <a:tblPr/>
              <a:tblGrid>
                <a:gridCol w="2331720"/>
                <a:gridCol w="2880360"/>
                <a:gridCol w="2948940"/>
              </a:tblGrid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Dimension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Today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RAIN Vision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Primary posture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Collector of what is owed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Partner in what can be earned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Relationship with business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Compliance and enforcement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Growth, trade, and market access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Data on citizens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Filed returns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Live employment, trade, and income data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Technology role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Digitised forms and portals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AI-driven compliance, education, fraud prevention, field intelligence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Where revenue comes from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Enforcement pressure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growing economy, willingly compliant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9865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896</TotalTime>
  <Words>1760</Words>
  <Application>Microsoft Office PowerPoint</Application>
  <PresentationFormat>On-screen Show (4:3)</PresentationFormat>
  <Paragraphs>272</Paragraphs>
  <Slides>40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Robotics and Artificial Intelligence Nigeria (RAIN)  Dr Olusola Ayoola </vt:lpstr>
      <vt:lpstr>PowerPoint Presentation</vt:lpstr>
      <vt:lpstr>RAIN</vt:lpstr>
      <vt:lpstr>PowerPoint Presentation</vt:lpstr>
      <vt:lpstr>PowerPoint Presentation</vt:lpstr>
      <vt:lpstr>RAIN: The Facility is</vt:lpstr>
      <vt:lpstr>PowerPoint Presentation</vt:lpstr>
      <vt:lpstr>PowerPoint Presentation</vt:lpstr>
      <vt:lpstr>RAIN: The Objective</vt:lpstr>
      <vt:lpstr>RAIN: The Strength</vt:lpstr>
      <vt:lpstr>RAIN: The Milestones</vt:lpstr>
      <vt:lpstr>PowerPoint Presentation</vt:lpstr>
      <vt:lpstr>RAIN: The Milestones</vt:lpstr>
      <vt:lpstr>PowerPoint Presentation</vt:lpstr>
      <vt:lpstr>PowerPoint Presentation</vt:lpstr>
      <vt:lpstr>RAIN: Notable Projects</vt:lpstr>
      <vt:lpstr>PowerPoint Presentation</vt:lpstr>
      <vt:lpstr>PowerPoint Presentation</vt:lpstr>
      <vt:lpstr>PowerPoint Presentation</vt:lpstr>
      <vt:lpstr>RAIN: Other Potentials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IMPORTANCE OF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52</cp:revision>
  <dcterms:created xsi:type="dcterms:W3CDTF">2022-10-04T18:28:13Z</dcterms:created>
  <dcterms:modified xsi:type="dcterms:W3CDTF">2026-07-18T11:30:48Z</dcterms:modified>
</cp:coreProperties>
</file>