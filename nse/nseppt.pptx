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1" d="100"/>
          <a:sy n="81" d="100"/>
        </p:scale>
        <p:origin x="-56"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506E995F-360C-4577-B377-B6C265DE6C40}" type="datetimeFigureOut">
              <a:rPr lang="en-US" smtClean="0"/>
              <a:t>8/19/2026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C581C2B4-7D50-4C0E-802C-FDD5EAF407EB}" type="slidenum">
              <a:rPr lang="en-US" smtClean="0"/>
              <a:t>‹#›</a:t>
            </a:fld>
            <a:endParaRPr lang="en-US"/>
          </a:p>
        </p:txBody>
      </p:sp>
    </p:spTree>
    <p:extLst>
      <p:ext uri="{BB962C8B-B14F-4D97-AF65-F5344CB8AC3E}">
        <p14:creationId xmlns:p14="http://schemas.microsoft.com/office/powerpoint/2010/main" val="3782420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Protocols. Thank the Chairman and the Planning Sub-Committee. Ibadan is the Premier Branch — set that tone early.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Installed capacity 13,000–15,500 MW. Delivered 4,000–5,000 MW. National requirement roughly 30,000 MW. We cannot transmit one-sixth of what we need.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Nigeria funds TRL 1–3 and buys TRL 8–9. The entire qualification middle is absent. That is why research dies in the lab and procurement lands in a foreign account.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WAEC example here: mirror the live script traffic into the candidate marking system. Those marks are never issued to a single student. It is purely a qualification run.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685800" y="1572768"/>
            <a:ext cx="1371600" cy="82296"/>
          </a:xfrm>
          <a:prstGeom prst="rect">
            <a:avLst/>
          </a:prstGeom>
          <a:solidFill>
            <a:srgbClr val="E39400"/>
          </a:solidFill>
          <a:ln/>
        </p:spPr>
      </p:sp>
      <p:sp>
        <p:nvSpPr>
          <p:cNvPr id="3" name="Text 1"/>
          <p:cNvSpPr/>
          <p:nvPr/>
        </p:nvSpPr>
        <p:spPr>
          <a:xfrm>
            <a:off x="685800" y="1051560"/>
            <a:ext cx="10820095" cy="320040"/>
          </a:xfrm>
          <a:prstGeom prst="rect">
            <a:avLst/>
          </a:prstGeom>
          <a:noFill/>
          <a:ln/>
        </p:spPr>
        <p:txBody>
          <a:bodyPr wrap="square" lIns="0" tIns="0" rIns="0" bIns="0" rtlCol="0" anchor="t"/>
          <a:lstStyle/>
          <a:p>
            <a:pPr marL="0" indent="0">
              <a:buNone/>
            </a:pPr>
            <a:r>
              <a:rPr lang="en-US" sz="1300" b="1" kern="0" spc="300" dirty="0">
                <a:solidFill>
                  <a:srgbClr val="E39400"/>
                </a:solidFill>
                <a:latin typeface="Calibri" pitchFamily="34" charset="0"/>
                <a:ea typeface="Calibri" pitchFamily="34" charset="-122"/>
                <a:cs typeface="Calibri" pitchFamily="34" charset="-120"/>
              </a:rPr>
              <a:t>2026 NSE Ibadan Annual Conference and Exhibition  ·  Guest Lecture</a:t>
            </a:r>
            <a:endParaRPr lang="en-US" sz="1300" dirty="0"/>
          </a:p>
        </p:txBody>
      </p:sp>
      <p:sp>
        <p:nvSpPr>
          <p:cNvPr id="4" name="Text 2"/>
          <p:cNvSpPr/>
          <p:nvPr/>
        </p:nvSpPr>
        <p:spPr>
          <a:xfrm>
            <a:off x="685800" y="1874520"/>
            <a:ext cx="10820095" cy="2286000"/>
          </a:xfrm>
          <a:prstGeom prst="rect">
            <a:avLst/>
          </a:prstGeom>
          <a:noFill/>
          <a:ln/>
        </p:spPr>
        <p:txBody>
          <a:bodyPr wrap="square" lIns="0" tIns="0" rIns="0" bIns="0" rtlCol="0" anchor="t"/>
          <a:lstStyle/>
          <a:p>
            <a:pPr marL="0" indent="0">
              <a:lnSpc>
                <a:spcPts val="7600"/>
              </a:lnSpc>
              <a:buNone/>
            </a:pPr>
            <a:r>
              <a:rPr lang="en-US" sz="7600" b="1" dirty="0">
                <a:solidFill>
                  <a:srgbClr val="FFFFFF"/>
                </a:solidFill>
                <a:latin typeface="Arial" pitchFamily="34" charset="0"/>
                <a:ea typeface="Arial" pitchFamily="34" charset="-122"/>
                <a:cs typeface="Arial" pitchFamily="34" charset="-120"/>
              </a:rPr>
              <a:t>SECURING</a:t>
            </a:r>
            <a:endParaRPr lang="en-US" sz="7600" dirty="0"/>
          </a:p>
          <a:p>
            <a:pPr marL="0" indent="0">
              <a:lnSpc>
                <a:spcPts val="7600"/>
              </a:lnSpc>
              <a:buNone/>
            </a:pPr>
            <a:r>
              <a:rPr lang="en-US" sz="7600" b="1" dirty="0">
                <a:solidFill>
                  <a:srgbClr val="FFFFFF"/>
                </a:solidFill>
                <a:latin typeface="Arial" pitchFamily="34" charset="0"/>
                <a:ea typeface="Arial" pitchFamily="34" charset="-122"/>
                <a:cs typeface="Arial" pitchFamily="34" charset="-120"/>
              </a:rPr>
              <a:t>THE FUTURE</a:t>
            </a:r>
            <a:endParaRPr lang="en-US" sz="7600" dirty="0"/>
          </a:p>
        </p:txBody>
      </p:sp>
      <p:sp>
        <p:nvSpPr>
          <p:cNvPr id="5" name="Text 3"/>
          <p:cNvSpPr/>
          <p:nvPr/>
        </p:nvSpPr>
        <p:spPr>
          <a:xfrm>
            <a:off x="685800" y="4343400"/>
            <a:ext cx="8778240" cy="685800"/>
          </a:xfrm>
          <a:prstGeom prst="rect">
            <a:avLst/>
          </a:prstGeom>
          <a:noFill/>
          <a:ln/>
        </p:spPr>
        <p:txBody>
          <a:bodyPr wrap="square" lIns="0" tIns="0" rIns="0" bIns="0" rtlCol="0" anchor="t"/>
          <a:lstStyle/>
          <a:p>
            <a:pPr marL="0" indent="0">
              <a:lnSpc>
                <a:spcPts val="2700"/>
              </a:lnSpc>
              <a:buNone/>
            </a:pPr>
            <a:r>
              <a:rPr lang="en-US" sz="1900" dirty="0">
                <a:solidFill>
                  <a:srgbClr val="A6B0B9"/>
                </a:solidFill>
                <a:latin typeface="Calibri" pitchFamily="34" charset="0"/>
                <a:ea typeface="Calibri" pitchFamily="34" charset="-122"/>
                <a:cs typeface="Calibri" pitchFamily="34" charset="-120"/>
              </a:rPr>
              <a:t>Scaling engineering innovations for critical infrastructure resiliency and national security in Nigeria</a:t>
            </a:r>
            <a:endParaRPr lang="en-US" sz="1900" dirty="0"/>
          </a:p>
        </p:txBody>
      </p:sp>
      <p:sp>
        <p:nvSpPr>
          <p:cNvPr id="6" name="Text 4"/>
          <p:cNvSpPr/>
          <p:nvPr/>
        </p:nvSpPr>
        <p:spPr>
          <a:xfrm>
            <a:off x="685800" y="5394960"/>
            <a:ext cx="7315200" cy="292608"/>
          </a:xfrm>
          <a:prstGeom prst="rect">
            <a:avLst/>
          </a:prstGeom>
          <a:noFill/>
          <a:ln/>
        </p:spPr>
        <p:txBody>
          <a:bodyPr wrap="square" lIns="0" tIns="0" rIns="0" bIns="0" rtlCol="0" anchor="t"/>
          <a:lstStyle/>
          <a:p>
            <a:pPr marL="0" indent="0">
              <a:buNone/>
            </a:pPr>
            <a:r>
              <a:rPr lang="en-US" sz="1600" b="1" dirty="0" smtClean="0">
                <a:solidFill>
                  <a:srgbClr val="FFFFFF"/>
                </a:solidFill>
                <a:latin typeface="Calibri" pitchFamily="34" charset="0"/>
                <a:ea typeface="Calibri" pitchFamily="34" charset="-122"/>
                <a:cs typeface="Calibri" pitchFamily="34" charset="-120"/>
              </a:rPr>
              <a:t>Olusola </a:t>
            </a:r>
            <a:r>
              <a:rPr lang="en-US" sz="1600" b="1" dirty="0" err="1" smtClean="0">
                <a:solidFill>
                  <a:srgbClr val="FFFFFF"/>
                </a:solidFill>
                <a:latin typeface="Calibri" pitchFamily="34" charset="0"/>
                <a:ea typeface="Calibri" pitchFamily="34" charset="-122"/>
                <a:cs typeface="Calibri" pitchFamily="34" charset="-120"/>
              </a:rPr>
              <a:t>Sayeed</a:t>
            </a:r>
            <a:r>
              <a:rPr lang="en-US" sz="1600" b="1" dirty="0" smtClean="0">
                <a:solidFill>
                  <a:srgbClr val="FFFFFF"/>
                </a:solidFill>
                <a:latin typeface="Calibri" pitchFamily="34" charset="0"/>
                <a:ea typeface="Calibri" pitchFamily="34" charset="-122"/>
                <a:cs typeface="Calibri" pitchFamily="34" charset="-120"/>
              </a:rPr>
              <a:t> Ayoola, PhD, MIET, MNSE, MNCS</a:t>
            </a:r>
            <a:endParaRPr lang="en-US" sz="1600" dirty="0"/>
          </a:p>
        </p:txBody>
      </p:sp>
      <p:sp>
        <p:nvSpPr>
          <p:cNvPr id="7" name="Text 5"/>
          <p:cNvSpPr/>
          <p:nvPr/>
        </p:nvSpPr>
        <p:spPr>
          <a:xfrm>
            <a:off x="685800" y="5705856"/>
            <a:ext cx="9144000" cy="274320"/>
          </a:xfrm>
          <a:prstGeom prst="rect">
            <a:avLst/>
          </a:prstGeom>
          <a:noFill/>
          <a:ln/>
        </p:spPr>
        <p:txBody>
          <a:bodyPr wrap="square" lIns="0" tIns="0" rIns="0" bIns="0" rtlCol="0" anchor="t"/>
          <a:lstStyle/>
          <a:p>
            <a:pPr marL="0" indent="0">
              <a:buNone/>
            </a:pPr>
            <a:r>
              <a:rPr lang="en-US" sz="1300" dirty="0">
                <a:solidFill>
                  <a:srgbClr val="A6B0B9"/>
                </a:solidFill>
                <a:latin typeface="Calibri" pitchFamily="34" charset="0"/>
                <a:ea typeface="Calibri" pitchFamily="34" charset="-122"/>
                <a:cs typeface="Calibri" pitchFamily="34" charset="-120"/>
              </a:rPr>
              <a:t>Founder &amp; CEO, Robotics and Artificial Intelligence Nigeria (RAIN)   ·   19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STATE OF OUR CRITICAL INFRASTRUCTURE</a:t>
            </a:r>
            <a:endParaRPr lang="en-US" sz="1200" dirty="0"/>
          </a:p>
        </p:txBody>
      </p:sp>
      <p:sp>
        <p:nvSpPr>
          <p:cNvPr id="3" name="Text 1"/>
          <p:cNvSpPr/>
          <p:nvPr/>
        </p:nvSpPr>
        <p:spPr>
          <a:xfrm>
            <a:off x="685800" y="960120"/>
            <a:ext cx="10515600" cy="1463040"/>
          </a:xfrm>
          <a:prstGeom prst="rect">
            <a:avLst/>
          </a:prstGeom>
          <a:noFill/>
          <a:ln/>
        </p:spPr>
        <p:txBody>
          <a:bodyPr wrap="square" lIns="0" tIns="0" rIns="0" bIns="0" rtlCol="0" anchor="t"/>
          <a:lstStyle/>
          <a:p>
            <a:pPr marL="0" indent="0">
              <a:lnSpc>
                <a:spcPts val="5400"/>
              </a:lnSpc>
              <a:buNone/>
            </a:pPr>
            <a:r>
              <a:rPr lang="en-US" sz="4600" b="1" dirty="0">
                <a:solidFill>
                  <a:srgbClr val="FFFFFF"/>
                </a:solidFill>
                <a:latin typeface="Arial" pitchFamily="34" charset="0"/>
                <a:ea typeface="Arial" pitchFamily="34" charset="-122"/>
                <a:cs typeface="Arial" pitchFamily="34" charset="-120"/>
              </a:rPr>
              <a:t>This is not a</a:t>
            </a:r>
            <a:endParaRPr lang="en-US" sz="4600" dirty="0"/>
          </a:p>
          <a:p>
            <a:pPr marL="0" indent="0">
              <a:lnSpc>
                <a:spcPts val="5400"/>
              </a:lnSpc>
              <a:buNone/>
            </a:pPr>
            <a:r>
              <a:rPr lang="en-US" sz="4600" b="1" dirty="0">
                <a:solidFill>
                  <a:srgbClr val="FFFFFF"/>
                </a:solidFill>
                <a:latin typeface="Arial" pitchFamily="34" charset="0"/>
                <a:ea typeface="Arial" pitchFamily="34" charset="-122"/>
                <a:cs typeface="Arial" pitchFamily="34" charset="-120"/>
              </a:rPr>
              <a:t>maintenance problem.</a:t>
            </a:r>
            <a:endParaRPr lang="en-US" sz="4600" dirty="0"/>
          </a:p>
        </p:txBody>
      </p:sp>
      <p:sp>
        <p:nvSpPr>
          <p:cNvPr id="4" name="Text 2"/>
          <p:cNvSpPr/>
          <p:nvPr/>
        </p:nvSpPr>
        <p:spPr>
          <a:xfrm>
            <a:off x="685800" y="2880360"/>
            <a:ext cx="3383280" cy="1051560"/>
          </a:xfrm>
          <a:prstGeom prst="rect">
            <a:avLst/>
          </a:prstGeom>
          <a:noFill/>
          <a:ln/>
        </p:spPr>
        <p:txBody>
          <a:bodyPr wrap="square" lIns="0" tIns="0" rIns="0" bIns="0" rtlCol="0" anchor="t"/>
          <a:lstStyle/>
          <a:p>
            <a:pPr marL="0" indent="0">
              <a:buNone/>
            </a:pPr>
            <a:r>
              <a:rPr lang="en-US" sz="4800" b="1" dirty="0" err="1" smtClean="0">
                <a:solidFill>
                  <a:srgbClr val="E39400"/>
                </a:solidFill>
                <a:latin typeface="Arial" pitchFamily="34" charset="0"/>
                <a:ea typeface="Arial" pitchFamily="34" charset="-122"/>
                <a:cs typeface="Arial" pitchFamily="34" charset="-120"/>
              </a:rPr>
              <a:t>Hundress</a:t>
            </a:r>
            <a:endParaRPr lang="en-US" sz="4800" dirty="0"/>
          </a:p>
        </p:txBody>
      </p:sp>
      <p:sp>
        <p:nvSpPr>
          <p:cNvPr id="5" name="Text 3"/>
          <p:cNvSpPr/>
          <p:nvPr/>
        </p:nvSpPr>
        <p:spPr>
          <a:xfrm>
            <a:off x="685800" y="4023360"/>
            <a:ext cx="3200400" cy="914400"/>
          </a:xfrm>
          <a:prstGeom prst="rect">
            <a:avLst/>
          </a:prstGeom>
          <a:noFill/>
          <a:ln/>
        </p:spPr>
        <p:txBody>
          <a:bodyPr wrap="square" lIns="0" tIns="0" rIns="0" bIns="0" rtlCol="0" anchor="t"/>
          <a:lstStyle/>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partial and total national grid</a:t>
            </a:r>
            <a:endParaRPr lang="en-US" sz="1400" dirty="0"/>
          </a:p>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collapses since 2010</a:t>
            </a:r>
            <a:endParaRPr lang="en-US" sz="1400" dirty="0"/>
          </a:p>
        </p:txBody>
      </p:sp>
      <p:sp>
        <p:nvSpPr>
          <p:cNvPr id="6" name="Text 4"/>
          <p:cNvSpPr/>
          <p:nvPr/>
        </p:nvSpPr>
        <p:spPr>
          <a:xfrm>
            <a:off x="4343400" y="2880360"/>
            <a:ext cx="3383280" cy="1051560"/>
          </a:xfrm>
          <a:prstGeom prst="rect">
            <a:avLst/>
          </a:prstGeom>
          <a:noFill/>
          <a:ln/>
        </p:spPr>
        <p:txBody>
          <a:bodyPr wrap="square" lIns="0" tIns="0" rIns="0" bIns="0" rtlCol="0" anchor="t"/>
          <a:lstStyle/>
          <a:p>
            <a:pPr marL="0" indent="0">
              <a:buNone/>
            </a:pPr>
            <a:r>
              <a:rPr lang="en-US" sz="6600" b="1" dirty="0">
                <a:solidFill>
                  <a:srgbClr val="E39400"/>
                </a:solidFill>
                <a:latin typeface="Arial" pitchFamily="34" charset="0"/>
                <a:ea typeface="Arial" pitchFamily="34" charset="-122"/>
                <a:cs typeface="Arial" pitchFamily="34" charset="-120"/>
              </a:rPr>
              <a:t>12</a:t>
            </a:r>
            <a:endParaRPr lang="en-US" sz="6600" dirty="0"/>
          </a:p>
        </p:txBody>
      </p:sp>
      <p:sp>
        <p:nvSpPr>
          <p:cNvPr id="7" name="Text 5"/>
          <p:cNvSpPr/>
          <p:nvPr/>
        </p:nvSpPr>
        <p:spPr>
          <a:xfrm>
            <a:off x="4343400" y="4023360"/>
            <a:ext cx="3200400" cy="914400"/>
          </a:xfrm>
          <a:prstGeom prst="rect">
            <a:avLst/>
          </a:prstGeom>
          <a:noFill/>
          <a:ln/>
        </p:spPr>
        <p:txBody>
          <a:bodyPr wrap="square" lIns="0" tIns="0" rIns="0" bIns="0" rtlCol="0" anchor="t"/>
          <a:lstStyle/>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grid collapses in 2024 alone —</a:t>
            </a:r>
            <a:endParaRPr lang="en-US" sz="1400" dirty="0"/>
          </a:p>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virtually one a month</a:t>
            </a:r>
            <a:endParaRPr lang="en-US" sz="1400" dirty="0"/>
          </a:p>
        </p:txBody>
      </p:sp>
      <p:sp>
        <p:nvSpPr>
          <p:cNvPr id="8" name="Text 6"/>
          <p:cNvSpPr/>
          <p:nvPr/>
        </p:nvSpPr>
        <p:spPr>
          <a:xfrm>
            <a:off x="8001000" y="2880360"/>
            <a:ext cx="3383280" cy="1051560"/>
          </a:xfrm>
          <a:prstGeom prst="rect">
            <a:avLst/>
          </a:prstGeom>
          <a:noFill/>
          <a:ln/>
        </p:spPr>
        <p:txBody>
          <a:bodyPr wrap="square" lIns="0" tIns="0" rIns="0" bIns="0" rtlCol="0" anchor="t"/>
          <a:lstStyle/>
          <a:p>
            <a:pPr marL="0" indent="0">
              <a:buNone/>
            </a:pPr>
            <a:r>
              <a:rPr lang="en-US" sz="6600" b="1" dirty="0">
                <a:solidFill>
                  <a:srgbClr val="E39400"/>
                </a:solidFill>
                <a:latin typeface="Arial" pitchFamily="34" charset="0"/>
                <a:ea typeface="Arial" pitchFamily="34" charset="-122"/>
                <a:cs typeface="Arial" pitchFamily="34" charset="-120"/>
              </a:rPr>
              <a:t>5,000+</a:t>
            </a:r>
            <a:endParaRPr lang="en-US" sz="6600" dirty="0"/>
          </a:p>
        </p:txBody>
      </p:sp>
      <p:sp>
        <p:nvSpPr>
          <p:cNvPr id="9" name="Text 7"/>
          <p:cNvSpPr/>
          <p:nvPr/>
        </p:nvSpPr>
        <p:spPr>
          <a:xfrm>
            <a:off x="8001000" y="4023360"/>
            <a:ext cx="3200400" cy="914400"/>
          </a:xfrm>
          <a:prstGeom prst="rect">
            <a:avLst/>
          </a:prstGeom>
          <a:noFill/>
          <a:ln/>
        </p:spPr>
        <p:txBody>
          <a:bodyPr wrap="square" lIns="0" tIns="0" rIns="0" bIns="0" rtlCol="0" anchor="t"/>
          <a:lstStyle/>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fibre cuts recorded in the first</a:t>
            </a:r>
            <a:endParaRPr lang="en-US" sz="1400" dirty="0"/>
          </a:p>
          <a:p>
            <a:pPr marL="0" indent="0">
              <a:lnSpc>
                <a:spcPts val="2100"/>
              </a:lnSpc>
              <a:buNone/>
            </a:pPr>
            <a:r>
              <a:rPr lang="en-US" sz="1400" dirty="0">
                <a:solidFill>
                  <a:srgbClr val="A6B0B9"/>
                </a:solidFill>
                <a:latin typeface="Calibri" pitchFamily="34" charset="0"/>
                <a:ea typeface="Calibri" pitchFamily="34" charset="-122"/>
                <a:cs typeface="Calibri" pitchFamily="34" charset="-120"/>
              </a:rPr>
              <a:t>six months of 2026</a:t>
            </a:r>
            <a:endParaRPr lang="en-US" sz="1400" dirty="0"/>
          </a:p>
        </p:txBody>
      </p:sp>
      <p:sp>
        <p:nvSpPr>
          <p:cNvPr id="10" name="Text 8"/>
          <p:cNvSpPr/>
          <p:nvPr/>
        </p:nvSpPr>
        <p:spPr>
          <a:xfrm>
            <a:off x="685800" y="5257800"/>
            <a:ext cx="10515600" cy="457200"/>
          </a:xfrm>
          <a:prstGeom prst="rect">
            <a:avLst/>
          </a:prstGeom>
          <a:noFill/>
          <a:ln/>
        </p:spPr>
        <p:txBody>
          <a:bodyPr wrap="square" lIns="0" tIns="0" rIns="0" bIns="0" rtlCol="0" anchor="t"/>
          <a:lstStyle/>
          <a:p>
            <a:pPr marL="0" indent="0">
              <a:buNone/>
            </a:pPr>
            <a:r>
              <a:rPr lang="en-US" sz="2100" b="1" i="1" dirty="0">
                <a:solidFill>
                  <a:srgbClr val="FFFFFF"/>
                </a:solidFill>
                <a:latin typeface="Calibri" pitchFamily="34" charset="0"/>
                <a:ea typeface="Calibri" pitchFamily="34" charset="-122"/>
                <a:cs typeface="Calibri" pitchFamily="34" charset="-120"/>
              </a:rPr>
              <a:t>It is a national security problem.</a:t>
            </a:r>
            <a:endParaRPr lang="en-US" sz="2100" dirty="0"/>
          </a:p>
        </p:txBody>
      </p:sp>
      <p:sp>
        <p:nvSpPr>
          <p:cNvPr id="11" name="Text 9"/>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586470"/>
                </a:solidFill>
                <a:latin typeface="Calibri" pitchFamily="34" charset="0"/>
                <a:ea typeface="Calibri" pitchFamily="34" charset="-122"/>
                <a:cs typeface="Calibri" pitchFamily="34" charset="-120"/>
              </a:rPr>
              <a:t>Securing the Future  ·  NSE Ibadan 2026</a:t>
            </a:r>
            <a:endParaRPr lang="en-US" sz="900" dirty="0"/>
          </a:p>
        </p:txBody>
      </p:sp>
      <p:sp>
        <p:nvSpPr>
          <p:cNvPr id="12" name="Text 10"/>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5864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READING THE THEME AS ENGINEERS</a:t>
            </a:r>
            <a:endParaRPr lang="en-US" sz="1200" dirty="0"/>
          </a:p>
        </p:txBody>
      </p:sp>
      <p:sp>
        <p:nvSpPr>
          <p:cNvPr id="3" name="Text 1"/>
          <p:cNvSpPr/>
          <p:nvPr/>
        </p:nvSpPr>
        <p:spPr>
          <a:xfrm>
            <a:off x="685800" y="914400"/>
            <a:ext cx="10515600" cy="1280160"/>
          </a:xfrm>
          <a:prstGeom prst="rect">
            <a:avLst/>
          </a:prstGeom>
          <a:noFill/>
          <a:ln/>
        </p:spPr>
        <p:txBody>
          <a:bodyPr wrap="square" lIns="0" tIns="0" rIns="0" bIns="0" rtlCol="0" anchor="t"/>
          <a:lstStyle/>
          <a:p>
            <a:pPr marL="0" indent="0">
              <a:lnSpc>
                <a:spcPts val="5000"/>
              </a:lnSpc>
              <a:buNone/>
            </a:pPr>
            <a:r>
              <a:rPr lang="en-US" sz="4200" b="1" dirty="0">
                <a:solidFill>
                  <a:srgbClr val="0F1419"/>
                </a:solidFill>
                <a:latin typeface="Arial" pitchFamily="34" charset="0"/>
                <a:ea typeface="Arial" pitchFamily="34" charset="-122"/>
                <a:cs typeface="Arial" pitchFamily="34" charset="-120"/>
              </a:rPr>
              <a:t>Three words carry</a:t>
            </a:r>
            <a:endParaRPr lang="en-US" sz="4200" dirty="0"/>
          </a:p>
          <a:p>
            <a:pPr marL="0" indent="0">
              <a:lnSpc>
                <a:spcPts val="5000"/>
              </a:lnSpc>
              <a:buNone/>
            </a:pPr>
            <a:r>
              <a:rPr lang="en-US" sz="4200" b="1" dirty="0">
                <a:solidFill>
                  <a:srgbClr val="0F1419"/>
                </a:solidFill>
                <a:latin typeface="Arial" pitchFamily="34" charset="0"/>
                <a:ea typeface="Arial" pitchFamily="34" charset="-122"/>
                <a:cs typeface="Arial" pitchFamily="34" charset="-120"/>
              </a:rPr>
              <a:t>the whole brief.</a:t>
            </a:r>
            <a:endParaRPr lang="en-US" sz="4200" dirty="0"/>
          </a:p>
        </p:txBody>
      </p:sp>
      <p:sp>
        <p:nvSpPr>
          <p:cNvPr id="4" name="Shape 2"/>
          <p:cNvSpPr/>
          <p:nvPr/>
        </p:nvSpPr>
        <p:spPr>
          <a:xfrm>
            <a:off x="685800" y="2788920"/>
            <a:ext cx="3291840" cy="2286000"/>
          </a:xfrm>
          <a:prstGeom prst="rect">
            <a:avLst/>
          </a:prstGeom>
          <a:solidFill>
            <a:srgbClr val="F1F2F3"/>
          </a:solidFill>
          <a:ln/>
        </p:spPr>
      </p:sp>
      <p:sp>
        <p:nvSpPr>
          <p:cNvPr id="5" name="Text 3"/>
          <p:cNvSpPr/>
          <p:nvPr/>
        </p:nvSpPr>
        <p:spPr>
          <a:xfrm>
            <a:off x="978408" y="2971800"/>
            <a:ext cx="914400" cy="36576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01</a:t>
            </a:r>
            <a:endParaRPr lang="en-US" sz="1500" dirty="0"/>
          </a:p>
        </p:txBody>
      </p:sp>
      <p:sp>
        <p:nvSpPr>
          <p:cNvPr id="6" name="Text 4"/>
          <p:cNvSpPr/>
          <p:nvPr/>
        </p:nvSpPr>
        <p:spPr>
          <a:xfrm>
            <a:off x="978408" y="3383280"/>
            <a:ext cx="2743200" cy="502920"/>
          </a:xfrm>
          <a:prstGeom prst="rect">
            <a:avLst/>
          </a:prstGeom>
          <a:noFill/>
          <a:ln/>
        </p:spPr>
        <p:txBody>
          <a:bodyPr wrap="square" lIns="0" tIns="0" rIns="0" bIns="0" rtlCol="0" anchor="t"/>
          <a:lstStyle/>
          <a:p>
            <a:pPr marL="0" indent="0">
              <a:buNone/>
            </a:pPr>
            <a:r>
              <a:rPr lang="en-US" sz="2500" b="1" dirty="0">
                <a:solidFill>
                  <a:srgbClr val="0F1419"/>
                </a:solidFill>
                <a:latin typeface="Arial" pitchFamily="34" charset="0"/>
                <a:ea typeface="Arial" pitchFamily="34" charset="-122"/>
                <a:cs typeface="Arial" pitchFamily="34" charset="-120"/>
              </a:rPr>
              <a:t>SCALE</a:t>
            </a:r>
            <a:endParaRPr lang="en-US" sz="2500" dirty="0"/>
          </a:p>
        </p:txBody>
      </p:sp>
      <p:sp>
        <p:nvSpPr>
          <p:cNvPr id="7" name="Text 5"/>
          <p:cNvSpPr/>
          <p:nvPr/>
        </p:nvSpPr>
        <p:spPr>
          <a:xfrm>
            <a:off x="978408" y="3950208"/>
            <a:ext cx="2724912" cy="9601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A solution that is never deployed beyond the laboratory has not solved anything.</a:t>
            </a:r>
            <a:endParaRPr lang="en-US" sz="1300" dirty="0"/>
          </a:p>
        </p:txBody>
      </p:sp>
      <p:sp>
        <p:nvSpPr>
          <p:cNvPr id="8" name="Shape 6"/>
          <p:cNvSpPr/>
          <p:nvPr/>
        </p:nvSpPr>
        <p:spPr>
          <a:xfrm>
            <a:off x="4343400" y="2788920"/>
            <a:ext cx="3291840" cy="2286000"/>
          </a:xfrm>
          <a:prstGeom prst="rect">
            <a:avLst/>
          </a:prstGeom>
          <a:solidFill>
            <a:srgbClr val="F1F2F3"/>
          </a:solidFill>
          <a:ln/>
        </p:spPr>
      </p:sp>
      <p:sp>
        <p:nvSpPr>
          <p:cNvPr id="9" name="Text 7"/>
          <p:cNvSpPr/>
          <p:nvPr/>
        </p:nvSpPr>
        <p:spPr>
          <a:xfrm>
            <a:off x="4636008" y="2971800"/>
            <a:ext cx="914400" cy="36576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02</a:t>
            </a:r>
            <a:endParaRPr lang="en-US" sz="1500" dirty="0"/>
          </a:p>
        </p:txBody>
      </p:sp>
      <p:sp>
        <p:nvSpPr>
          <p:cNvPr id="10" name="Text 8"/>
          <p:cNvSpPr/>
          <p:nvPr/>
        </p:nvSpPr>
        <p:spPr>
          <a:xfrm>
            <a:off x="4636008" y="3383280"/>
            <a:ext cx="2743200" cy="502920"/>
          </a:xfrm>
          <a:prstGeom prst="rect">
            <a:avLst/>
          </a:prstGeom>
          <a:noFill/>
          <a:ln/>
        </p:spPr>
        <p:txBody>
          <a:bodyPr wrap="square" lIns="0" tIns="0" rIns="0" bIns="0" rtlCol="0" anchor="t"/>
          <a:lstStyle/>
          <a:p>
            <a:pPr marL="0" indent="0">
              <a:buNone/>
            </a:pPr>
            <a:r>
              <a:rPr lang="en-US" sz="2500" b="1" dirty="0">
                <a:solidFill>
                  <a:srgbClr val="0F1419"/>
                </a:solidFill>
                <a:latin typeface="Arial" pitchFamily="34" charset="0"/>
                <a:ea typeface="Arial" pitchFamily="34" charset="-122"/>
                <a:cs typeface="Arial" pitchFamily="34" charset="-120"/>
              </a:rPr>
              <a:t>RESILIENCE</a:t>
            </a:r>
            <a:endParaRPr lang="en-US" sz="2500" dirty="0"/>
          </a:p>
        </p:txBody>
      </p:sp>
      <p:sp>
        <p:nvSpPr>
          <p:cNvPr id="11" name="Text 9"/>
          <p:cNvSpPr/>
          <p:nvPr/>
        </p:nvSpPr>
        <p:spPr>
          <a:xfrm>
            <a:off x="4636008" y="3950208"/>
            <a:ext cx="2724912" cy="9601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Designed to survive vandalism, outage, dust, heat and neglect — not just to work on day one.</a:t>
            </a:r>
            <a:endParaRPr lang="en-US" sz="1300" dirty="0"/>
          </a:p>
        </p:txBody>
      </p:sp>
      <p:sp>
        <p:nvSpPr>
          <p:cNvPr id="12" name="Shape 10"/>
          <p:cNvSpPr/>
          <p:nvPr/>
        </p:nvSpPr>
        <p:spPr>
          <a:xfrm>
            <a:off x="8001000" y="2788920"/>
            <a:ext cx="3291840" cy="2286000"/>
          </a:xfrm>
          <a:prstGeom prst="rect">
            <a:avLst/>
          </a:prstGeom>
          <a:solidFill>
            <a:srgbClr val="F1F2F3"/>
          </a:solidFill>
          <a:ln/>
        </p:spPr>
      </p:sp>
      <p:sp>
        <p:nvSpPr>
          <p:cNvPr id="13" name="Text 11"/>
          <p:cNvSpPr/>
          <p:nvPr/>
        </p:nvSpPr>
        <p:spPr>
          <a:xfrm>
            <a:off x="8293608" y="2971800"/>
            <a:ext cx="914400" cy="36576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03</a:t>
            </a:r>
            <a:endParaRPr lang="en-US" sz="1500" dirty="0"/>
          </a:p>
        </p:txBody>
      </p:sp>
      <p:sp>
        <p:nvSpPr>
          <p:cNvPr id="14" name="Text 12"/>
          <p:cNvSpPr/>
          <p:nvPr/>
        </p:nvSpPr>
        <p:spPr>
          <a:xfrm>
            <a:off x="8293608" y="3383280"/>
            <a:ext cx="2743200" cy="502920"/>
          </a:xfrm>
          <a:prstGeom prst="rect">
            <a:avLst/>
          </a:prstGeom>
          <a:noFill/>
          <a:ln/>
        </p:spPr>
        <p:txBody>
          <a:bodyPr wrap="square" lIns="0" tIns="0" rIns="0" bIns="0" rtlCol="0" anchor="t"/>
          <a:lstStyle/>
          <a:p>
            <a:pPr marL="0" indent="0">
              <a:buNone/>
            </a:pPr>
            <a:r>
              <a:rPr lang="en-US" sz="2500" b="1" dirty="0">
                <a:solidFill>
                  <a:srgbClr val="0F1419"/>
                </a:solidFill>
                <a:latin typeface="Arial" pitchFamily="34" charset="0"/>
                <a:ea typeface="Arial" pitchFamily="34" charset="-122"/>
                <a:cs typeface="Arial" pitchFamily="34" charset="-120"/>
              </a:rPr>
              <a:t>SOVEREIGNTY</a:t>
            </a:r>
            <a:endParaRPr lang="en-US" sz="2500" dirty="0"/>
          </a:p>
        </p:txBody>
      </p:sp>
      <p:sp>
        <p:nvSpPr>
          <p:cNvPr id="15" name="Text 13"/>
          <p:cNvSpPr/>
          <p:nvPr/>
        </p:nvSpPr>
        <p:spPr>
          <a:xfrm>
            <a:off x="8293608" y="3950208"/>
            <a:ext cx="2724912" cy="9601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If we cannot build it, we import the threat and the cost along with the solution.</a:t>
            </a:r>
            <a:endParaRPr lang="en-US" sz="13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1371600"/>
            <a:ext cx="3657600" cy="2377440"/>
          </a:xfrm>
          <a:prstGeom prst="rect">
            <a:avLst/>
          </a:prstGeom>
          <a:noFill/>
          <a:ln/>
        </p:spPr>
        <p:txBody>
          <a:bodyPr wrap="square" lIns="0" tIns="0" rIns="0" bIns="0" rtlCol="0" anchor="t"/>
          <a:lstStyle/>
          <a:p>
            <a:pPr marL="0" indent="0">
              <a:buNone/>
            </a:pPr>
            <a:r>
              <a:rPr lang="en-US" sz="15000" b="1" dirty="0">
                <a:solidFill>
                  <a:srgbClr val="1B2229"/>
                </a:solidFill>
                <a:latin typeface="Arial" pitchFamily="34" charset="0"/>
                <a:ea typeface="Arial" pitchFamily="34" charset="-122"/>
                <a:cs typeface="Arial" pitchFamily="34" charset="-120"/>
              </a:rPr>
              <a:t>01</a:t>
            </a:r>
            <a:endParaRPr lang="en-US" sz="15000" dirty="0"/>
          </a:p>
        </p:txBody>
      </p:sp>
      <p:sp>
        <p:nvSpPr>
          <p:cNvPr id="3" name="Shape 1"/>
          <p:cNvSpPr/>
          <p:nvPr/>
        </p:nvSpPr>
        <p:spPr>
          <a:xfrm>
            <a:off x="685800" y="3886200"/>
            <a:ext cx="1097280" cy="82296"/>
          </a:xfrm>
          <a:prstGeom prst="rect">
            <a:avLst/>
          </a:prstGeom>
          <a:solidFill>
            <a:srgbClr val="E39400"/>
          </a:solidFill>
          <a:ln/>
        </p:spPr>
      </p:sp>
      <p:sp>
        <p:nvSpPr>
          <p:cNvPr id="4" name="Text 2"/>
          <p:cNvSpPr/>
          <p:nvPr/>
        </p:nvSpPr>
        <p:spPr>
          <a:xfrm>
            <a:off x="685800" y="4206240"/>
            <a:ext cx="10515600" cy="9144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DIAGNOSIS</a:t>
            </a:r>
            <a:endParaRPr lang="en-US" sz="4600" dirty="0"/>
          </a:p>
        </p:txBody>
      </p:sp>
      <p:sp>
        <p:nvSpPr>
          <p:cNvPr id="5" name="Text 3"/>
          <p:cNvSpPr/>
          <p:nvPr/>
        </p:nvSpPr>
        <p:spPr>
          <a:xfrm>
            <a:off x="685800" y="5212080"/>
            <a:ext cx="9601200" cy="548640"/>
          </a:xfrm>
          <a:prstGeom prst="rect">
            <a:avLst/>
          </a:prstGeom>
          <a:noFill/>
          <a:ln/>
        </p:spPr>
        <p:txBody>
          <a:bodyPr wrap="square" lIns="0" tIns="0" rIns="0" bIns="0" rtlCol="0" anchor="t"/>
          <a:lstStyle/>
          <a:p>
            <a:pPr marL="0" indent="0">
              <a:buNone/>
            </a:pPr>
            <a:r>
              <a:rPr lang="en-US" sz="1700" dirty="0">
                <a:solidFill>
                  <a:srgbClr val="A6B0B9"/>
                </a:solidFill>
                <a:latin typeface="Calibri" pitchFamily="34" charset="0"/>
                <a:ea typeface="Calibri" pitchFamily="34" charset="-122"/>
                <a:cs typeface="Calibri" pitchFamily="34" charset="-120"/>
              </a:rPr>
              <a:t>We are not short of talent. We are short of connection.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DIAGNOSIS</a:t>
            </a:r>
            <a:endParaRPr lang="en-US" sz="1200" dirty="0"/>
          </a:p>
        </p:txBody>
      </p:sp>
      <p:sp>
        <p:nvSpPr>
          <p:cNvPr id="3" name="Text 1"/>
          <p:cNvSpPr/>
          <p:nvPr/>
        </p:nvSpPr>
        <p:spPr>
          <a:xfrm>
            <a:off x="685800" y="914400"/>
            <a:ext cx="10515600" cy="1280160"/>
          </a:xfrm>
          <a:prstGeom prst="rect">
            <a:avLst/>
          </a:prstGeom>
          <a:noFill/>
          <a:ln/>
        </p:spPr>
        <p:txBody>
          <a:bodyPr wrap="square" lIns="0" tIns="0" rIns="0" bIns="0" rtlCol="0" anchor="t"/>
          <a:lstStyle/>
          <a:p>
            <a:pPr marL="0" indent="0">
              <a:lnSpc>
                <a:spcPts val="5000"/>
              </a:lnSpc>
              <a:buNone/>
            </a:pPr>
            <a:r>
              <a:rPr lang="en-US" sz="4200" b="1" dirty="0">
                <a:solidFill>
                  <a:srgbClr val="0F1419"/>
                </a:solidFill>
                <a:latin typeface="Arial" pitchFamily="34" charset="0"/>
                <a:ea typeface="Arial" pitchFamily="34" charset="-122"/>
                <a:cs typeface="Arial" pitchFamily="34" charset="-120"/>
              </a:rPr>
              <a:t>Everybody is working</a:t>
            </a:r>
            <a:endParaRPr lang="en-US" sz="4200" dirty="0"/>
          </a:p>
          <a:p>
            <a:pPr marL="0" indent="0">
              <a:lnSpc>
                <a:spcPts val="5000"/>
              </a:lnSpc>
              <a:buNone/>
            </a:pPr>
            <a:r>
              <a:rPr lang="en-US" sz="4200" b="1" dirty="0">
                <a:solidFill>
                  <a:srgbClr val="0F1419"/>
                </a:solidFill>
                <a:latin typeface="Arial" pitchFamily="34" charset="0"/>
                <a:ea typeface="Arial" pitchFamily="34" charset="-122"/>
                <a:cs typeface="Arial" pitchFamily="34" charset="-120"/>
              </a:rPr>
              <a:t>in a silo.</a:t>
            </a:r>
            <a:endParaRPr lang="en-US" sz="4200" dirty="0"/>
          </a:p>
        </p:txBody>
      </p:sp>
      <p:sp>
        <p:nvSpPr>
          <p:cNvPr id="4" name="Shape 2"/>
          <p:cNvSpPr/>
          <p:nvPr/>
        </p:nvSpPr>
        <p:spPr>
          <a:xfrm>
            <a:off x="685800" y="2606040"/>
            <a:ext cx="5257800" cy="1463040"/>
          </a:xfrm>
          <a:prstGeom prst="rect">
            <a:avLst/>
          </a:prstGeom>
          <a:solidFill>
            <a:srgbClr val="F1F2F3"/>
          </a:solidFill>
          <a:ln/>
        </p:spPr>
      </p:sp>
      <p:sp>
        <p:nvSpPr>
          <p:cNvPr id="5" name="Text 3"/>
          <p:cNvSpPr/>
          <p:nvPr/>
        </p:nvSpPr>
        <p:spPr>
          <a:xfrm>
            <a:off x="960120" y="2807208"/>
            <a:ext cx="47548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AGENCY TO AGENCY</a:t>
            </a:r>
            <a:endParaRPr lang="en-US" sz="1400" dirty="0"/>
          </a:p>
        </p:txBody>
      </p:sp>
      <p:sp>
        <p:nvSpPr>
          <p:cNvPr id="6" name="Text 4"/>
          <p:cNvSpPr/>
          <p:nvPr/>
        </p:nvSpPr>
        <p:spPr>
          <a:xfrm>
            <a:off x="960120" y="3182112"/>
            <a:ext cx="4754880" cy="73152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Data is hoarded. Problems are hidden, because sharing a problem looks like admitting weakness.</a:t>
            </a:r>
            <a:endParaRPr lang="en-US" sz="1400" dirty="0"/>
          </a:p>
        </p:txBody>
      </p:sp>
      <p:sp>
        <p:nvSpPr>
          <p:cNvPr id="7" name="Shape 5"/>
          <p:cNvSpPr/>
          <p:nvPr/>
        </p:nvSpPr>
        <p:spPr>
          <a:xfrm>
            <a:off x="6217920" y="2606040"/>
            <a:ext cx="5257800" cy="1463040"/>
          </a:xfrm>
          <a:prstGeom prst="rect">
            <a:avLst/>
          </a:prstGeom>
          <a:solidFill>
            <a:srgbClr val="F1F2F3"/>
          </a:solidFill>
          <a:ln/>
        </p:spPr>
      </p:sp>
      <p:sp>
        <p:nvSpPr>
          <p:cNvPr id="8" name="Text 6"/>
          <p:cNvSpPr/>
          <p:nvPr/>
        </p:nvSpPr>
        <p:spPr>
          <a:xfrm>
            <a:off x="6492240" y="2807208"/>
            <a:ext cx="47548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TIER TO TIER</a:t>
            </a:r>
            <a:endParaRPr lang="en-US" sz="1400" dirty="0"/>
          </a:p>
        </p:txBody>
      </p:sp>
      <p:sp>
        <p:nvSpPr>
          <p:cNvPr id="9" name="Text 7"/>
          <p:cNvSpPr/>
          <p:nvPr/>
        </p:nvSpPr>
        <p:spPr>
          <a:xfrm>
            <a:off x="6492240" y="3182112"/>
            <a:ext cx="4754880" cy="73152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Federal, state and local plan the same asset three times and maintain it none.</a:t>
            </a:r>
            <a:endParaRPr lang="en-US" sz="1400" dirty="0"/>
          </a:p>
        </p:txBody>
      </p:sp>
      <p:sp>
        <p:nvSpPr>
          <p:cNvPr id="10" name="Shape 8"/>
          <p:cNvSpPr/>
          <p:nvPr/>
        </p:nvSpPr>
        <p:spPr>
          <a:xfrm>
            <a:off x="685800" y="4297680"/>
            <a:ext cx="5257800" cy="1463040"/>
          </a:xfrm>
          <a:prstGeom prst="rect">
            <a:avLst/>
          </a:prstGeom>
          <a:solidFill>
            <a:srgbClr val="F1F2F3"/>
          </a:solidFill>
          <a:ln/>
        </p:spPr>
      </p:sp>
      <p:sp>
        <p:nvSpPr>
          <p:cNvPr id="11" name="Text 9"/>
          <p:cNvSpPr/>
          <p:nvPr/>
        </p:nvSpPr>
        <p:spPr>
          <a:xfrm>
            <a:off x="960120" y="4498848"/>
            <a:ext cx="47548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GOWN TO TOWN</a:t>
            </a:r>
            <a:endParaRPr lang="en-US" sz="1400" dirty="0"/>
          </a:p>
        </p:txBody>
      </p:sp>
      <p:sp>
        <p:nvSpPr>
          <p:cNvPr id="12" name="Text 10"/>
          <p:cNvSpPr/>
          <p:nvPr/>
        </p:nvSpPr>
        <p:spPr>
          <a:xfrm>
            <a:off x="960120" y="4873752"/>
            <a:ext cx="4754880" cy="73152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The laboratory proves it. The industry never hears about it.</a:t>
            </a:r>
            <a:endParaRPr lang="en-US" sz="1400" dirty="0"/>
          </a:p>
        </p:txBody>
      </p:sp>
      <p:sp>
        <p:nvSpPr>
          <p:cNvPr id="13" name="Shape 11"/>
          <p:cNvSpPr/>
          <p:nvPr/>
        </p:nvSpPr>
        <p:spPr>
          <a:xfrm>
            <a:off x="6217920" y="4297680"/>
            <a:ext cx="5257800" cy="1463040"/>
          </a:xfrm>
          <a:prstGeom prst="rect">
            <a:avLst/>
          </a:prstGeom>
          <a:solidFill>
            <a:srgbClr val="F1F2F3"/>
          </a:solidFill>
          <a:ln/>
        </p:spPr>
      </p:sp>
      <p:sp>
        <p:nvSpPr>
          <p:cNvPr id="14" name="Text 12"/>
          <p:cNvSpPr/>
          <p:nvPr/>
        </p:nvSpPr>
        <p:spPr>
          <a:xfrm>
            <a:off x="6492240" y="4498848"/>
            <a:ext cx="47548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CAPITAL TO ENGINEER</a:t>
            </a:r>
            <a:endParaRPr lang="en-US" sz="1400" dirty="0"/>
          </a:p>
        </p:txBody>
      </p:sp>
      <p:sp>
        <p:nvSpPr>
          <p:cNvPr id="15" name="Text 13"/>
          <p:cNvSpPr/>
          <p:nvPr/>
        </p:nvSpPr>
        <p:spPr>
          <a:xfrm>
            <a:off x="6492240" y="4873752"/>
            <a:ext cx="4754880" cy="73152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Banks fund traders, not builders. Investors wait for foreign validation first.</a:t>
            </a:r>
            <a:endParaRPr lang="en-US" sz="14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PUBLISHING TRAP</a:t>
            </a:r>
            <a:endParaRPr lang="en-US" sz="1200" dirty="0"/>
          </a:p>
        </p:txBody>
      </p:sp>
      <p:sp>
        <p:nvSpPr>
          <p:cNvPr id="3" name="Text 1"/>
          <p:cNvSpPr/>
          <p:nvPr/>
        </p:nvSpPr>
        <p:spPr>
          <a:xfrm>
            <a:off x="685800" y="1600200"/>
            <a:ext cx="10607040" cy="2743200"/>
          </a:xfrm>
          <a:prstGeom prst="rect">
            <a:avLst/>
          </a:prstGeom>
          <a:noFill/>
          <a:ln/>
        </p:spPr>
        <p:txBody>
          <a:bodyPr wrap="square" lIns="0" tIns="0" rIns="0" bIns="0" rtlCol="0" anchor="t"/>
          <a:lstStyle/>
          <a:p>
            <a:pPr marL="0" indent="0">
              <a:lnSpc>
                <a:spcPts val="5800"/>
              </a:lnSpc>
              <a:buNone/>
            </a:pPr>
            <a:r>
              <a:rPr lang="en-US" sz="4400" b="1" dirty="0">
                <a:solidFill>
                  <a:srgbClr val="0F1419"/>
                </a:solidFill>
                <a:latin typeface="Arial" pitchFamily="34" charset="0"/>
                <a:ea typeface="Arial" pitchFamily="34" charset="-122"/>
                <a:cs typeface="Arial" pitchFamily="34" charset="-120"/>
              </a:rPr>
              <a:t>Our best research sits</a:t>
            </a:r>
            <a:endParaRPr lang="en-US" sz="4400" dirty="0"/>
          </a:p>
          <a:p>
            <a:pPr marL="0" indent="0">
              <a:lnSpc>
                <a:spcPts val="5800"/>
              </a:lnSpc>
              <a:buNone/>
            </a:pPr>
            <a:r>
              <a:rPr lang="en-US" sz="4400" b="1" dirty="0">
                <a:solidFill>
                  <a:srgbClr val="0F1419"/>
                </a:solidFill>
                <a:latin typeface="Arial" pitchFamily="34" charset="0"/>
                <a:ea typeface="Arial" pitchFamily="34" charset="-122"/>
                <a:cs typeface="Arial" pitchFamily="34" charset="-120"/>
              </a:rPr>
              <a:t>behind a paywall our own</a:t>
            </a:r>
            <a:endParaRPr lang="en-US" sz="4400" dirty="0"/>
          </a:p>
          <a:p>
            <a:pPr marL="0" indent="0">
              <a:lnSpc>
                <a:spcPts val="5800"/>
              </a:lnSpc>
              <a:buNone/>
            </a:pPr>
            <a:r>
              <a:rPr lang="en-US" sz="4400" b="1" dirty="0">
                <a:solidFill>
                  <a:srgbClr val="0F1419"/>
                </a:solidFill>
                <a:latin typeface="Arial" pitchFamily="34" charset="0"/>
                <a:ea typeface="Arial" pitchFamily="34" charset="-122"/>
                <a:cs typeface="Arial" pitchFamily="34" charset="-120"/>
              </a:rPr>
              <a:t>citizens cannot cross.</a:t>
            </a:r>
            <a:endParaRPr lang="en-US" sz="4400" dirty="0"/>
          </a:p>
        </p:txBody>
      </p:sp>
      <p:sp>
        <p:nvSpPr>
          <p:cNvPr id="4" name="Shape 2"/>
          <p:cNvSpPr/>
          <p:nvPr/>
        </p:nvSpPr>
        <p:spPr>
          <a:xfrm>
            <a:off x="685800" y="4617720"/>
            <a:ext cx="1097280" cy="82296"/>
          </a:xfrm>
          <a:prstGeom prst="rect">
            <a:avLst/>
          </a:prstGeom>
          <a:solidFill>
            <a:srgbClr val="E39400"/>
          </a:solidFill>
          <a:ln/>
        </p:spPr>
      </p:sp>
      <p:sp>
        <p:nvSpPr>
          <p:cNvPr id="5" name="Text 3"/>
          <p:cNvSpPr/>
          <p:nvPr/>
        </p:nvSpPr>
        <p:spPr>
          <a:xfrm>
            <a:off x="685800" y="4937760"/>
            <a:ext cx="9692640" cy="822960"/>
          </a:xfrm>
          <a:prstGeom prst="rect">
            <a:avLst/>
          </a:prstGeom>
          <a:noFill/>
          <a:ln/>
        </p:spPr>
        <p:txBody>
          <a:bodyPr wrap="square" lIns="0" tIns="0" rIns="0" bIns="0" rtlCol="0" anchor="t"/>
          <a:lstStyle/>
          <a:p>
            <a:pPr marL="0" indent="0">
              <a:lnSpc>
                <a:spcPts val="2400"/>
              </a:lnSpc>
              <a:buNone/>
            </a:pPr>
            <a:r>
              <a:rPr lang="en-US" sz="1600" dirty="0">
                <a:solidFill>
                  <a:srgbClr val="5D6773"/>
                </a:solidFill>
                <a:latin typeface="Calibri" pitchFamily="34" charset="0"/>
                <a:ea typeface="Calibri" pitchFamily="34" charset="-122"/>
                <a:cs typeface="Calibri" pitchFamily="34" charset="-120"/>
              </a:rPr>
              <a:t>Foreigners are sponsored to read it, and they build on it. At home we rebuild the same thing, over and over, because we never knew it had already been done.</a:t>
            </a:r>
            <a:endParaRPr lang="en-US" sz="1600" dirty="0"/>
          </a:p>
        </p:txBody>
      </p:sp>
      <p:sp>
        <p:nvSpPr>
          <p:cNvPr id="6" name="Text 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7" name="Text 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1371600"/>
            <a:ext cx="3657600" cy="2377440"/>
          </a:xfrm>
          <a:prstGeom prst="rect">
            <a:avLst/>
          </a:prstGeom>
          <a:noFill/>
          <a:ln/>
        </p:spPr>
        <p:txBody>
          <a:bodyPr wrap="square" lIns="0" tIns="0" rIns="0" bIns="0" rtlCol="0" anchor="t"/>
          <a:lstStyle/>
          <a:p>
            <a:pPr marL="0" indent="0">
              <a:buNone/>
            </a:pPr>
            <a:r>
              <a:rPr lang="en-US" sz="15000" b="1" dirty="0">
                <a:solidFill>
                  <a:srgbClr val="1B2229"/>
                </a:solidFill>
                <a:latin typeface="Arial" pitchFamily="34" charset="0"/>
                <a:ea typeface="Arial" pitchFamily="34" charset="-122"/>
                <a:cs typeface="Arial" pitchFamily="34" charset="-120"/>
              </a:rPr>
              <a:t>02</a:t>
            </a:r>
            <a:endParaRPr lang="en-US" sz="15000" dirty="0"/>
          </a:p>
        </p:txBody>
      </p:sp>
      <p:sp>
        <p:nvSpPr>
          <p:cNvPr id="3" name="Shape 1"/>
          <p:cNvSpPr/>
          <p:nvPr/>
        </p:nvSpPr>
        <p:spPr>
          <a:xfrm>
            <a:off x="685800" y="3886200"/>
            <a:ext cx="1097280" cy="82296"/>
          </a:xfrm>
          <a:prstGeom prst="rect">
            <a:avLst/>
          </a:prstGeom>
          <a:solidFill>
            <a:srgbClr val="E39400"/>
          </a:solidFill>
          <a:ln/>
        </p:spPr>
      </p:sp>
      <p:sp>
        <p:nvSpPr>
          <p:cNvPr id="4" name="Text 2"/>
          <p:cNvSpPr/>
          <p:nvPr/>
        </p:nvSpPr>
        <p:spPr>
          <a:xfrm>
            <a:off x="685800" y="4206240"/>
            <a:ext cx="10515600" cy="9144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AN HONEST SWOT</a:t>
            </a:r>
            <a:endParaRPr lang="en-US" sz="4600" dirty="0"/>
          </a:p>
        </p:txBody>
      </p:sp>
      <p:sp>
        <p:nvSpPr>
          <p:cNvPr id="5" name="Text 3"/>
          <p:cNvSpPr/>
          <p:nvPr/>
        </p:nvSpPr>
        <p:spPr>
          <a:xfrm>
            <a:off x="685800" y="5212080"/>
            <a:ext cx="9601200" cy="548640"/>
          </a:xfrm>
          <a:prstGeom prst="rect">
            <a:avLst/>
          </a:prstGeom>
          <a:noFill/>
          <a:ln/>
        </p:spPr>
        <p:txBody>
          <a:bodyPr wrap="square" lIns="0" tIns="0" rIns="0" bIns="0" rtlCol="0" anchor="t"/>
          <a:lstStyle/>
          <a:p>
            <a:pPr marL="0" indent="0">
              <a:buNone/>
            </a:pPr>
            <a:r>
              <a:rPr lang="en-US" sz="1700" dirty="0">
                <a:solidFill>
                  <a:srgbClr val="A6B0B9"/>
                </a:solidFill>
                <a:latin typeface="Calibri" pitchFamily="34" charset="0"/>
                <a:ea typeface="Calibri" pitchFamily="34" charset="-122"/>
                <a:cs typeface="Calibri" pitchFamily="34" charset="-120"/>
              </a:rPr>
              <a:t>Engineers are trained to be honest about load, stress and failure. Let us be honest about ourselves.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046A38"/>
                </a:solidFill>
                <a:latin typeface="Calibri" pitchFamily="34" charset="0"/>
                <a:ea typeface="Calibri" pitchFamily="34" charset="-122"/>
                <a:cs typeface="Calibri" pitchFamily="34" charset="-120"/>
              </a:rPr>
              <a:t>STRENGTHS</a:t>
            </a:r>
            <a:endParaRPr lang="en-US" sz="1200" dirty="0"/>
          </a:p>
        </p:txBody>
      </p:sp>
      <p:sp>
        <p:nvSpPr>
          <p:cNvPr id="3" name="Text 1"/>
          <p:cNvSpPr/>
          <p:nvPr/>
        </p:nvSpPr>
        <p:spPr>
          <a:xfrm>
            <a:off x="685800" y="868680"/>
            <a:ext cx="10515600" cy="822960"/>
          </a:xfrm>
          <a:prstGeom prst="rect">
            <a:avLst/>
          </a:prstGeom>
          <a:noFill/>
          <a:ln/>
        </p:spPr>
        <p:txBody>
          <a:bodyPr wrap="square" lIns="0" tIns="0" rIns="0" bIns="0" rtlCol="0" anchor="t"/>
          <a:lstStyle/>
          <a:p>
            <a:pPr marL="0" indent="0">
              <a:buNone/>
            </a:pPr>
            <a:r>
              <a:rPr lang="en-US" sz="4200" b="1" dirty="0">
                <a:solidFill>
                  <a:srgbClr val="0F1419"/>
                </a:solidFill>
                <a:latin typeface="Arial" pitchFamily="34" charset="0"/>
                <a:ea typeface="Arial" pitchFamily="34" charset="-122"/>
                <a:cs typeface="Arial" pitchFamily="34" charset="-120"/>
              </a:rPr>
              <a:t>What we already have</a:t>
            </a:r>
            <a:endParaRPr lang="en-US" sz="4200" dirty="0"/>
          </a:p>
        </p:txBody>
      </p:sp>
      <p:sp>
        <p:nvSpPr>
          <p:cNvPr id="4" name="Text 2"/>
          <p:cNvSpPr/>
          <p:nvPr/>
        </p:nvSpPr>
        <p:spPr>
          <a:xfrm>
            <a:off x="685800" y="2103120"/>
            <a:ext cx="548640" cy="320040"/>
          </a:xfrm>
          <a:prstGeom prst="rect">
            <a:avLst/>
          </a:prstGeom>
          <a:noFill/>
          <a:ln/>
        </p:spPr>
        <p:txBody>
          <a:bodyPr wrap="square" lIns="0" tIns="0" rIns="0" bIns="0" rtlCol="0" anchor="t"/>
          <a:lstStyle/>
          <a:p>
            <a:pPr marL="0" indent="0">
              <a:buNone/>
            </a:pPr>
            <a:r>
              <a:rPr lang="en-US" sz="1400" b="1" dirty="0">
                <a:solidFill>
                  <a:srgbClr val="046A38"/>
                </a:solidFill>
                <a:latin typeface="Arial" pitchFamily="34" charset="0"/>
                <a:ea typeface="Arial" pitchFamily="34" charset="-122"/>
                <a:cs typeface="Arial" pitchFamily="34" charset="-120"/>
              </a:rPr>
              <a:t>01</a:t>
            </a:r>
            <a:endParaRPr lang="en-US" sz="1400" dirty="0"/>
          </a:p>
        </p:txBody>
      </p:sp>
      <p:sp>
        <p:nvSpPr>
          <p:cNvPr id="5" name="Text 3"/>
          <p:cNvSpPr/>
          <p:nvPr/>
        </p:nvSpPr>
        <p:spPr>
          <a:xfrm>
            <a:off x="125272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A young workforce</a:t>
            </a:r>
            <a:endParaRPr lang="en-US" sz="1700" dirty="0"/>
          </a:p>
        </p:txBody>
      </p:sp>
      <p:sp>
        <p:nvSpPr>
          <p:cNvPr id="6" name="Text 4"/>
          <p:cNvSpPr/>
          <p:nvPr/>
        </p:nvSpPr>
        <p:spPr>
          <a:xfrm>
            <a:off x="125272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The largest pool of willing, trainable engineering labour on the continent.</a:t>
            </a:r>
            <a:endParaRPr lang="en-US" sz="1300" dirty="0"/>
          </a:p>
        </p:txBody>
      </p:sp>
      <p:sp>
        <p:nvSpPr>
          <p:cNvPr id="7" name="Text 5"/>
          <p:cNvSpPr/>
          <p:nvPr/>
        </p:nvSpPr>
        <p:spPr>
          <a:xfrm>
            <a:off x="6217920" y="2103120"/>
            <a:ext cx="548640" cy="320040"/>
          </a:xfrm>
          <a:prstGeom prst="rect">
            <a:avLst/>
          </a:prstGeom>
          <a:noFill/>
          <a:ln/>
        </p:spPr>
        <p:txBody>
          <a:bodyPr wrap="square" lIns="0" tIns="0" rIns="0" bIns="0" rtlCol="0" anchor="t"/>
          <a:lstStyle/>
          <a:p>
            <a:pPr marL="0" indent="0">
              <a:buNone/>
            </a:pPr>
            <a:r>
              <a:rPr lang="en-US" sz="1400" b="1" dirty="0">
                <a:solidFill>
                  <a:srgbClr val="046A38"/>
                </a:solidFill>
                <a:latin typeface="Arial" pitchFamily="34" charset="0"/>
                <a:ea typeface="Arial" pitchFamily="34" charset="-122"/>
                <a:cs typeface="Arial" pitchFamily="34" charset="-120"/>
              </a:rPr>
              <a:t>02</a:t>
            </a:r>
            <a:endParaRPr lang="en-US" sz="1400" dirty="0"/>
          </a:p>
        </p:txBody>
      </p:sp>
      <p:sp>
        <p:nvSpPr>
          <p:cNvPr id="8" name="Text 6"/>
          <p:cNvSpPr/>
          <p:nvPr/>
        </p:nvSpPr>
        <p:spPr>
          <a:xfrm>
            <a:off x="678484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Resources and scale</a:t>
            </a:r>
            <a:endParaRPr lang="en-US" sz="1700" dirty="0"/>
          </a:p>
        </p:txBody>
      </p:sp>
      <p:sp>
        <p:nvSpPr>
          <p:cNvPr id="9" name="Text 7"/>
          <p:cNvSpPr/>
          <p:nvPr/>
        </p:nvSpPr>
        <p:spPr>
          <a:xfrm>
            <a:off x="678484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Raw materials, a domestic market of 200 million, and an infrastructure deficit that is itself demand.</a:t>
            </a:r>
            <a:endParaRPr lang="en-US" sz="1300" dirty="0"/>
          </a:p>
        </p:txBody>
      </p:sp>
      <p:sp>
        <p:nvSpPr>
          <p:cNvPr id="10" name="Text 8"/>
          <p:cNvSpPr/>
          <p:nvPr/>
        </p:nvSpPr>
        <p:spPr>
          <a:xfrm>
            <a:off x="685800" y="3310128"/>
            <a:ext cx="548640" cy="320040"/>
          </a:xfrm>
          <a:prstGeom prst="rect">
            <a:avLst/>
          </a:prstGeom>
          <a:noFill/>
          <a:ln/>
        </p:spPr>
        <p:txBody>
          <a:bodyPr wrap="square" lIns="0" tIns="0" rIns="0" bIns="0" rtlCol="0" anchor="t"/>
          <a:lstStyle/>
          <a:p>
            <a:pPr marL="0" indent="0">
              <a:buNone/>
            </a:pPr>
            <a:r>
              <a:rPr lang="en-US" sz="1400" b="1" dirty="0">
                <a:solidFill>
                  <a:srgbClr val="046A38"/>
                </a:solidFill>
                <a:latin typeface="Arial" pitchFamily="34" charset="0"/>
                <a:ea typeface="Arial" pitchFamily="34" charset="-122"/>
                <a:cs typeface="Arial" pitchFamily="34" charset="-120"/>
              </a:rPr>
              <a:t>03</a:t>
            </a:r>
            <a:endParaRPr lang="en-US" sz="1400" dirty="0"/>
          </a:p>
        </p:txBody>
      </p:sp>
      <p:sp>
        <p:nvSpPr>
          <p:cNvPr id="11" name="Text 9"/>
          <p:cNvSpPr/>
          <p:nvPr/>
        </p:nvSpPr>
        <p:spPr>
          <a:xfrm>
            <a:off x="125272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Proven brilliance</a:t>
            </a:r>
            <a:endParaRPr lang="en-US" sz="1700" dirty="0"/>
          </a:p>
        </p:txBody>
      </p:sp>
      <p:sp>
        <p:nvSpPr>
          <p:cNvPr id="12" name="Text 10"/>
          <p:cNvSpPr/>
          <p:nvPr/>
        </p:nvSpPr>
        <p:spPr>
          <a:xfrm>
            <a:off x="125272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Nigerian engineers run departments and projects at the top of institutions worldwide.</a:t>
            </a:r>
            <a:endParaRPr lang="en-US" sz="1300" dirty="0"/>
          </a:p>
        </p:txBody>
      </p:sp>
      <p:sp>
        <p:nvSpPr>
          <p:cNvPr id="13" name="Text 11"/>
          <p:cNvSpPr/>
          <p:nvPr/>
        </p:nvSpPr>
        <p:spPr>
          <a:xfrm>
            <a:off x="6217920" y="3310128"/>
            <a:ext cx="548640" cy="320040"/>
          </a:xfrm>
          <a:prstGeom prst="rect">
            <a:avLst/>
          </a:prstGeom>
          <a:noFill/>
          <a:ln/>
        </p:spPr>
        <p:txBody>
          <a:bodyPr wrap="square" lIns="0" tIns="0" rIns="0" bIns="0" rtlCol="0" anchor="t"/>
          <a:lstStyle/>
          <a:p>
            <a:pPr marL="0" indent="0">
              <a:buNone/>
            </a:pPr>
            <a:r>
              <a:rPr lang="en-US" sz="1400" b="1" dirty="0">
                <a:solidFill>
                  <a:srgbClr val="046A38"/>
                </a:solidFill>
                <a:latin typeface="Arial" pitchFamily="34" charset="0"/>
                <a:ea typeface="Arial" pitchFamily="34" charset="-122"/>
                <a:cs typeface="Arial" pitchFamily="34" charset="-120"/>
              </a:rPr>
              <a:t>04</a:t>
            </a:r>
            <a:endParaRPr lang="en-US" sz="1400" dirty="0"/>
          </a:p>
        </p:txBody>
      </p:sp>
      <p:sp>
        <p:nvSpPr>
          <p:cNvPr id="14" name="Text 12"/>
          <p:cNvSpPr/>
          <p:nvPr/>
        </p:nvSpPr>
        <p:spPr>
          <a:xfrm>
            <a:off x="678484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Low barriers to entry</a:t>
            </a:r>
            <a:endParaRPr lang="en-US" sz="1700" dirty="0"/>
          </a:p>
        </p:txBody>
      </p:sp>
      <p:sp>
        <p:nvSpPr>
          <p:cNvPr id="15" name="Text 13"/>
          <p:cNvSpPr/>
          <p:nvPr/>
        </p:nvSpPr>
        <p:spPr>
          <a:xfrm>
            <a:off x="678484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Fewer regulatory obstacles to launching and iterating than in most mature markets.</a:t>
            </a:r>
            <a:endParaRPr lang="en-US" sz="1300" dirty="0"/>
          </a:p>
        </p:txBody>
      </p:sp>
      <p:sp>
        <p:nvSpPr>
          <p:cNvPr id="16" name="Shape 14"/>
          <p:cNvSpPr/>
          <p:nvPr/>
        </p:nvSpPr>
        <p:spPr>
          <a:xfrm>
            <a:off x="685800" y="5257800"/>
            <a:ext cx="10820095" cy="868680"/>
          </a:xfrm>
          <a:prstGeom prst="rect">
            <a:avLst/>
          </a:prstGeom>
          <a:solidFill>
            <a:srgbClr val="F1F2F3"/>
          </a:solidFill>
          <a:ln/>
        </p:spPr>
      </p:sp>
      <p:sp>
        <p:nvSpPr>
          <p:cNvPr id="17" name="Text 15"/>
          <p:cNvSpPr/>
          <p:nvPr/>
        </p:nvSpPr>
        <p:spPr>
          <a:xfrm>
            <a:off x="960120" y="5413248"/>
            <a:ext cx="10271455" cy="566928"/>
          </a:xfrm>
          <a:prstGeom prst="rect">
            <a:avLst/>
          </a:prstGeom>
          <a:noFill/>
          <a:ln/>
        </p:spPr>
        <p:txBody>
          <a:bodyPr wrap="square" lIns="0" tIns="0" rIns="0" bIns="0" rtlCol="0" anchor="t"/>
          <a:lstStyle/>
          <a:p>
            <a:pPr marL="0" indent="0">
              <a:buNone/>
            </a:pPr>
            <a:r>
              <a:rPr lang="en-US" sz="1400" b="1" i="1" dirty="0">
                <a:solidFill>
                  <a:srgbClr val="0F1419"/>
                </a:solidFill>
                <a:latin typeface="Calibri" pitchFamily="34" charset="0"/>
                <a:ea typeface="Calibri" pitchFamily="34" charset="-122"/>
                <a:cs typeface="Calibri" pitchFamily="34" charset="-120"/>
              </a:rPr>
              <a:t>Proof it can be legislated: Nigerian content in oil and gas moved from under 5% before 2010 to over 61% today.</a:t>
            </a:r>
            <a:endParaRPr lang="en-US" sz="1400" dirty="0"/>
          </a:p>
        </p:txBody>
      </p:sp>
      <p:sp>
        <p:nvSpPr>
          <p:cNvPr id="18" name="Text 16"/>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9" name="Text 17"/>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B3392B"/>
                </a:solidFill>
                <a:latin typeface="Calibri" pitchFamily="34" charset="0"/>
                <a:ea typeface="Calibri" pitchFamily="34" charset="-122"/>
                <a:cs typeface="Calibri" pitchFamily="34" charset="-120"/>
              </a:rPr>
              <a:t>WEAKNESSES</a:t>
            </a:r>
            <a:endParaRPr lang="en-US" sz="1200" dirty="0"/>
          </a:p>
        </p:txBody>
      </p:sp>
      <p:sp>
        <p:nvSpPr>
          <p:cNvPr id="3" name="Text 1"/>
          <p:cNvSpPr/>
          <p:nvPr/>
        </p:nvSpPr>
        <p:spPr>
          <a:xfrm>
            <a:off x="685800" y="868680"/>
            <a:ext cx="10515600" cy="822960"/>
          </a:xfrm>
          <a:prstGeom prst="rect">
            <a:avLst/>
          </a:prstGeom>
          <a:noFill/>
          <a:ln/>
        </p:spPr>
        <p:txBody>
          <a:bodyPr wrap="square" lIns="0" tIns="0" rIns="0" bIns="0" rtlCol="0" anchor="t"/>
          <a:lstStyle/>
          <a:p>
            <a:pPr marL="0" indent="0">
              <a:buNone/>
            </a:pPr>
            <a:r>
              <a:rPr lang="en-US" sz="4200" b="1" dirty="0">
                <a:solidFill>
                  <a:srgbClr val="0F1419"/>
                </a:solidFill>
                <a:latin typeface="Arial" pitchFamily="34" charset="0"/>
                <a:ea typeface="Arial" pitchFamily="34" charset="-122"/>
                <a:cs typeface="Arial" pitchFamily="34" charset="-120"/>
              </a:rPr>
              <a:t>What is holding us down</a:t>
            </a:r>
            <a:endParaRPr lang="en-US" sz="4200" dirty="0"/>
          </a:p>
        </p:txBody>
      </p:sp>
      <p:sp>
        <p:nvSpPr>
          <p:cNvPr id="4" name="Text 2"/>
          <p:cNvSpPr/>
          <p:nvPr/>
        </p:nvSpPr>
        <p:spPr>
          <a:xfrm>
            <a:off x="685800" y="2103120"/>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01</a:t>
            </a:r>
            <a:endParaRPr lang="en-US" sz="1400" dirty="0"/>
          </a:p>
        </p:txBody>
      </p:sp>
      <p:sp>
        <p:nvSpPr>
          <p:cNvPr id="5" name="Text 3"/>
          <p:cNvSpPr/>
          <p:nvPr/>
        </p:nvSpPr>
        <p:spPr>
          <a:xfrm>
            <a:off x="125272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Corruption at scale</a:t>
            </a:r>
            <a:endParaRPr lang="en-US" sz="1700" dirty="0"/>
          </a:p>
        </p:txBody>
      </p:sp>
      <p:sp>
        <p:nvSpPr>
          <p:cNvPr id="6" name="Text 4"/>
          <p:cNvSpPr/>
          <p:nvPr/>
        </p:nvSpPr>
        <p:spPr>
          <a:xfrm>
            <a:off x="125272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The breathalyser that works is rejected — because discretion on the roadside is worth more than the data.</a:t>
            </a:r>
            <a:endParaRPr lang="en-US" sz="1300" dirty="0"/>
          </a:p>
        </p:txBody>
      </p:sp>
      <p:sp>
        <p:nvSpPr>
          <p:cNvPr id="7" name="Text 5"/>
          <p:cNvSpPr/>
          <p:nvPr/>
        </p:nvSpPr>
        <p:spPr>
          <a:xfrm>
            <a:off x="6217920" y="2103120"/>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02</a:t>
            </a:r>
            <a:endParaRPr lang="en-US" sz="1400" dirty="0"/>
          </a:p>
        </p:txBody>
      </p:sp>
      <p:sp>
        <p:nvSpPr>
          <p:cNvPr id="8" name="Text 6"/>
          <p:cNvSpPr/>
          <p:nvPr/>
        </p:nvSpPr>
        <p:spPr>
          <a:xfrm>
            <a:off x="678484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Weak purchasing power</a:t>
            </a:r>
            <a:endParaRPr lang="en-US" sz="1700" dirty="0"/>
          </a:p>
        </p:txBody>
      </p:sp>
      <p:sp>
        <p:nvSpPr>
          <p:cNvPr id="9" name="Text 7"/>
          <p:cNvSpPr/>
          <p:nvPr/>
        </p:nvSpPr>
        <p:spPr>
          <a:xfrm>
            <a:off x="678484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Your solution is excellent. It is also unaffordable to the population it was designed for.</a:t>
            </a:r>
            <a:endParaRPr lang="en-US" sz="1300" dirty="0"/>
          </a:p>
        </p:txBody>
      </p:sp>
      <p:sp>
        <p:nvSpPr>
          <p:cNvPr id="10" name="Text 8"/>
          <p:cNvSpPr/>
          <p:nvPr/>
        </p:nvSpPr>
        <p:spPr>
          <a:xfrm>
            <a:off x="685800" y="3310128"/>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03</a:t>
            </a:r>
            <a:endParaRPr lang="en-US" sz="1400" dirty="0"/>
          </a:p>
        </p:txBody>
      </p:sp>
      <p:sp>
        <p:nvSpPr>
          <p:cNvPr id="11" name="Text 9"/>
          <p:cNvSpPr/>
          <p:nvPr/>
        </p:nvSpPr>
        <p:spPr>
          <a:xfrm>
            <a:off x="125272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No maintenance culture</a:t>
            </a:r>
            <a:endParaRPr lang="en-US" sz="1700" dirty="0"/>
          </a:p>
        </p:txBody>
      </p:sp>
      <p:sp>
        <p:nvSpPr>
          <p:cNvPr id="12" name="Text 10"/>
          <p:cNvSpPr/>
          <p:nvPr/>
        </p:nvSpPr>
        <p:spPr>
          <a:xfrm>
            <a:off x="125272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We commission and we abandon. Deferred maintenance returns as roughly four times the cost in reconstruction.</a:t>
            </a:r>
            <a:endParaRPr lang="en-US" sz="1300" dirty="0"/>
          </a:p>
        </p:txBody>
      </p:sp>
      <p:sp>
        <p:nvSpPr>
          <p:cNvPr id="13" name="Text 11"/>
          <p:cNvSpPr/>
          <p:nvPr/>
        </p:nvSpPr>
        <p:spPr>
          <a:xfrm>
            <a:off x="6217920" y="3310128"/>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04</a:t>
            </a:r>
            <a:endParaRPr lang="en-US" sz="1400" dirty="0"/>
          </a:p>
        </p:txBody>
      </p:sp>
      <p:sp>
        <p:nvSpPr>
          <p:cNvPr id="14" name="Text 12"/>
          <p:cNvSpPr/>
          <p:nvPr/>
        </p:nvSpPr>
        <p:spPr>
          <a:xfrm>
            <a:off x="678484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No hands-on capacity</a:t>
            </a:r>
            <a:endParaRPr lang="en-US" sz="1700" dirty="0"/>
          </a:p>
        </p:txBody>
      </p:sp>
      <p:sp>
        <p:nvSpPr>
          <p:cNvPr id="15" name="Text 13"/>
          <p:cNvSpPr/>
          <p:nvPr/>
        </p:nvSpPr>
        <p:spPr>
          <a:xfrm>
            <a:off x="678484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We teach the theory. We own none of the equipment on which the theory becomes a skill.</a:t>
            </a:r>
            <a:endParaRPr lang="en-US" sz="13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OPPORTUNITIES</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800"/>
              </a:lnSpc>
              <a:buNone/>
            </a:pPr>
            <a:r>
              <a:rPr lang="en-US" sz="4000" b="1" dirty="0">
                <a:solidFill>
                  <a:srgbClr val="0F1419"/>
                </a:solidFill>
                <a:latin typeface="Arial" pitchFamily="34" charset="0"/>
                <a:ea typeface="Arial" pitchFamily="34" charset="-122"/>
                <a:cs typeface="Arial" pitchFamily="34" charset="-120"/>
              </a:rPr>
              <a:t>Every complaint is</a:t>
            </a:r>
            <a:endParaRPr lang="en-US" sz="4000" dirty="0"/>
          </a:p>
          <a:p>
            <a:pPr marL="0" indent="0">
              <a:lnSpc>
                <a:spcPts val="4800"/>
              </a:lnSpc>
              <a:buNone/>
            </a:pPr>
            <a:r>
              <a:rPr lang="en-US" sz="4000" b="1" dirty="0">
                <a:solidFill>
                  <a:srgbClr val="0F1419"/>
                </a:solidFill>
                <a:latin typeface="Arial" pitchFamily="34" charset="0"/>
                <a:ea typeface="Arial" pitchFamily="34" charset="-122"/>
                <a:cs typeface="Arial" pitchFamily="34" charset="-120"/>
              </a:rPr>
              <a:t>a product specification.</a:t>
            </a:r>
            <a:endParaRPr lang="en-US" sz="4000" dirty="0"/>
          </a:p>
        </p:txBody>
      </p:sp>
      <p:sp>
        <p:nvSpPr>
          <p:cNvPr id="4" name="Shape 2"/>
          <p:cNvSpPr/>
          <p:nvPr/>
        </p:nvSpPr>
        <p:spPr>
          <a:xfrm>
            <a:off x="685800" y="2468880"/>
            <a:ext cx="3383280" cy="1572768"/>
          </a:xfrm>
          <a:prstGeom prst="rect">
            <a:avLst/>
          </a:prstGeom>
          <a:solidFill>
            <a:srgbClr val="F1F2F3"/>
          </a:solidFill>
          <a:ln/>
        </p:spPr>
      </p:sp>
      <p:sp>
        <p:nvSpPr>
          <p:cNvPr id="5" name="Text 3"/>
          <p:cNvSpPr/>
          <p:nvPr/>
        </p:nvSpPr>
        <p:spPr>
          <a:xfrm>
            <a:off x="941832" y="26700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ENERGY</a:t>
            </a:r>
            <a:endParaRPr lang="en-US" sz="1400" dirty="0"/>
          </a:p>
        </p:txBody>
      </p:sp>
      <p:sp>
        <p:nvSpPr>
          <p:cNvPr id="6" name="Text 4"/>
          <p:cNvSpPr/>
          <p:nvPr/>
        </p:nvSpPr>
        <p:spPr>
          <a:xfrm>
            <a:off x="941832" y="30358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Load prediction, demand forecasting and storage sized for intermittent supply.</a:t>
            </a:r>
            <a:endParaRPr lang="en-US" sz="1300" dirty="0"/>
          </a:p>
        </p:txBody>
      </p:sp>
      <p:sp>
        <p:nvSpPr>
          <p:cNvPr id="7" name="Shape 5"/>
          <p:cNvSpPr/>
          <p:nvPr/>
        </p:nvSpPr>
        <p:spPr>
          <a:xfrm>
            <a:off x="4343400" y="2468880"/>
            <a:ext cx="3383280" cy="1572768"/>
          </a:xfrm>
          <a:prstGeom prst="rect">
            <a:avLst/>
          </a:prstGeom>
          <a:solidFill>
            <a:srgbClr val="F1F2F3"/>
          </a:solidFill>
          <a:ln/>
        </p:spPr>
      </p:sp>
      <p:sp>
        <p:nvSpPr>
          <p:cNvPr id="8" name="Text 6"/>
          <p:cNvSpPr/>
          <p:nvPr/>
        </p:nvSpPr>
        <p:spPr>
          <a:xfrm>
            <a:off x="4599432" y="26700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GRID FAULTS</a:t>
            </a:r>
            <a:endParaRPr lang="en-US" sz="1400" dirty="0"/>
          </a:p>
        </p:txBody>
      </p:sp>
      <p:sp>
        <p:nvSpPr>
          <p:cNvPr id="9" name="Text 7"/>
          <p:cNvSpPr/>
          <p:nvPr/>
        </p:nvSpPr>
        <p:spPr>
          <a:xfrm>
            <a:off x="4599432" y="30358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Automated fault location, surge protection and line monitoring.</a:t>
            </a:r>
            <a:endParaRPr lang="en-US" sz="1300" dirty="0"/>
          </a:p>
        </p:txBody>
      </p:sp>
      <p:sp>
        <p:nvSpPr>
          <p:cNvPr id="10" name="Shape 8"/>
          <p:cNvSpPr/>
          <p:nvPr/>
        </p:nvSpPr>
        <p:spPr>
          <a:xfrm>
            <a:off x="8001000" y="2468880"/>
            <a:ext cx="3383280" cy="1572768"/>
          </a:xfrm>
          <a:prstGeom prst="rect">
            <a:avLst/>
          </a:prstGeom>
          <a:solidFill>
            <a:srgbClr val="F1F2F3"/>
          </a:solidFill>
          <a:ln/>
        </p:spPr>
      </p:sp>
      <p:sp>
        <p:nvSpPr>
          <p:cNvPr id="11" name="Text 9"/>
          <p:cNvSpPr/>
          <p:nvPr/>
        </p:nvSpPr>
        <p:spPr>
          <a:xfrm>
            <a:off x="8257032" y="26700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FACTORIES</a:t>
            </a:r>
            <a:endParaRPr lang="en-US" sz="1400" dirty="0"/>
          </a:p>
        </p:txBody>
      </p:sp>
      <p:sp>
        <p:nvSpPr>
          <p:cNvPr id="12" name="Text 10"/>
          <p:cNvSpPr/>
          <p:nvPr/>
        </p:nvSpPr>
        <p:spPr>
          <a:xfrm>
            <a:off x="8257032" y="30358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Predictive maintenance so downtime is scheduled, not suffered.</a:t>
            </a:r>
            <a:endParaRPr lang="en-US" sz="1300" dirty="0"/>
          </a:p>
        </p:txBody>
      </p:sp>
      <p:sp>
        <p:nvSpPr>
          <p:cNvPr id="13" name="Shape 11"/>
          <p:cNvSpPr/>
          <p:nvPr/>
        </p:nvSpPr>
        <p:spPr>
          <a:xfrm>
            <a:off x="685800" y="4297680"/>
            <a:ext cx="3383280" cy="1572768"/>
          </a:xfrm>
          <a:prstGeom prst="rect">
            <a:avLst/>
          </a:prstGeom>
          <a:solidFill>
            <a:srgbClr val="F1F2F3"/>
          </a:solidFill>
          <a:ln/>
        </p:spPr>
      </p:sp>
      <p:sp>
        <p:nvSpPr>
          <p:cNvPr id="14" name="Text 12"/>
          <p:cNvSpPr/>
          <p:nvPr/>
        </p:nvSpPr>
        <p:spPr>
          <a:xfrm>
            <a:off x="941832" y="44988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ROADS</a:t>
            </a:r>
            <a:endParaRPr lang="en-US" sz="1400" dirty="0"/>
          </a:p>
        </p:txBody>
      </p:sp>
      <p:sp>
        <p:nvSpPr>
          <p:cNvPr id="15" name="Text 13"/>
          <p:cNvSpPr/>
          <p:nvPr/>
        </p:nvSpPr>
        <p:spPr>
          <a:xfrm>
            <a:off x="941832" y="48646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A gyroscope in every commercial vehicle mapping potholes against traffic weight.</a:t>
            </a:r>
            <a:endParaRPr lang="en-US" sz="1300" dirty="0"/>
          </a:p>
        </p:txBody>
      </p:sp>
      <p:sp>
        <p:nvSpPr>
          <p:cNvPr id="16" name="Shape 14"/>
          <p:cNvSpPr/>
          <p:nvPr/>
        </p:nvSpPr>
        <p:spPr>
          <a:xfrm>
            <a:off x="4343400" y="4297680"/>
            <a:ext cx="3383280" cy="1572768"/>
          </a:xfrm>
          <a:prstGeom prst="rect">
            <a:avLst/>
          </a:prstGeom>
          <a:solidFill>
            <a:srgbClr val="F1F2F3"/>
          </a:solidFill>
          <a:ln/>
        </p:spPr>
      </p:sp>
      <p:sp>
        <p:nvSpPr>
          <p:cNvPr id="17" name="Text 15"/>
          <p:cNvSpPr/>
          <p:nvPr/>
        </p:nvSpPr>
        <p:spPr>
          <a:xfrm>
            <a:off x="4599432" y="44988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TRADE</a:t>
            </a:r>
            <a:endParaRPr lang="en-US" sz="1400" dirty="0"/>
          </a:p>
        </p:txBody>
      </p:sp>
      <p:sp>
        <p:nvSpPr>
          <p:cNvPr id="18" name="Text 16"/>
          <p:cNvSpPr/>
          <p:nvPr/>
        </p:nvSpPr>
        <p:spPr>
          <a:xfrm>
            <a:off x="4599432" y="48646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Logistics and payment rails for intra-national and intra-African commerce, under our law.</a:t>
            </a:r>
            <a:endParaRPr lang="en-US" sz="1300" dirty="0"/>
          </a:p>
        </p:txBody>
      </p:sp>
      <p:sp>
        <p:nvSpPr>
          <p:cNvPr id="19" name="Shape 17"/>
          <p:cNvSpPr/>
          <p:nvPr/>
        </p:nvSpPr>
        <p:spPr>
          <a:xfrm>
            <a:off x="8001000" y="4297680"/>
            <a:ext cx="3383280" cy="1572768"/>
          </a:xfrm>
          <a:prstGeom prst="rect">
            <a:avLst/>
          </a:prstGeom>
          <a:solidFill>
            <a:srgbClr val="F1F2F3"/>
          </a:solidFill>
          <a:ln/>
        </p:spPr>
      </p:sp>
      <p:sp>
        <p:nvSpPr>
          <p:cNvPr id="20" name="Text 18"/>
          <p:cNvSpPr/>
          <p:nvPr/>
        </p:nvSpPr>
        <p:spPr>
          <a:xfrm>
            <a:off x="8257032" y="4498848"/>
            <a:ext cx="292608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SECURITY</a:t>
            </a:r>
            <a:endParaRPr lang="en-US" sz="1400" dirty="0"/>
          </a:p>
        </p:txBody>
      </p:sp>
      <p:sp>
        <p:nvSpPr>
          <p:cNvPr id="21" name="Text 19"/>
          <p:cNvSpPr/>
          <p:nvPr/>
        </p:nvSpPr>
        <p:spPr>
          <a:xfrm>
            <a:off x="8257032" y="4864608"/>
            <a:ext cx="2926080" cy="8686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Perimeter, pipeline and tower monitoring that sees a breach before it is reported.</a:t>
            </a:r>
            <a:endParaRPr lang="en-US" sz="1300" dirty="0"/>
          </a:p>
        </p:txBody>
      </p:sp>
      <p:sp>
        <p:nvSpPr>
          <p:cNvPr id="22" name="Text 20"/>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23" name="Text 21"/>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B3392B"/>
                </a:solidFill>
                <a:latin typeface="Calibri" pitchFamily="34" charset="0"/>
                <a:ea typeface="Calibri" pitchFamily="34" charset="-122"/>
                <a:cs typeface="Calibri" pitchFamily="34" charset="-120"/>
              </a:rPr>
              <a:t>THREATS</a:t>
            </a:r>
            <a:endParaRPr lang="en-US" sz="1200" dirty="0"/>
          </a:p>
        </p:txBody>
      </p:sp>
      <p:sp>
        <p:nvSpPr>
          <p:cNvPr id="3" name="Text 1"/>
          <p:cNvSpPr/>
          <p:nvPr/>
        </p:nvSpPr>
        <p:spPr>
          <a:xfrm>
            <a:off x="685800" y="868680"/>
            <a:ext cx="10515600" cy="822960"/>
          </a:xfrm>
          <a:prstGeom prst="rect">
            <a:avLst/>
          </a:prstGeom>
          <a:noFill/>
          <a:ln/>
        </p:spPr>
        <p:txBody>
          <a:bodyPr wrap="square" lIns="0" tIns="0" rIns="0" bIns="0" rtlCol="0" anchor="t"/>
          <a:lstStyle/>
          <a:p>
            <a:pPr marL="0" indent="0">
              <a:buNone/>
            </a:pPr>
            <a:r>
              <a:rPr lang="en-US" sz="4200" b="1" dirty="0">
                <a:solidFill>
                  <a:srgbClr val="0F1419"/>
                </a:solidFill>
                <a:latin typeface="Arial" pitchFamily="34" charset="0"/>
                <a:ea typeface="Arial" pitchFamily="34" charset="-122"/>
                <a:cs typeface="Arial" pitchFamily="34" charset="-120"/>
              </a:rPr>
              <a:t>What is coming for us</a:t>
            </a:r>
            <a:endParaRPr lang="en-US" sz="4200" dirty="0"/>
          </a:p>
        </p:txBody>
      </p:sp>
      <p:sp>
        <p:nvSpPr>
          <p:cNvPr id="4" name="Text 2"/>
          <p:cNvSpPr/>
          <p:nvPr/>
        </p:nvSpPr>
        <p:spPr>
          <a:xfrm>
            <a:off x="685800" y="2103120"/>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01</a:t>
            </a:r>
            <a:endParaRPr lang="en-US" sz="1400" dirty="0"/>
          </a:p>
        </p:txBody>
      </p:sp>
      <p:sp>
        <p:nvSpPr>
          <p:cNvPr id="5" name="Text 3"/>
          <p:cNvSpPr/>
          <p:nvPr/>
        </p:nvSpPr>
        <p:spPr>
          <a:xfrm>
            <a:off x="125272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Cheaper abroad</a:t>
            </a:r>
            <a:endParaRPr lang="en-US" sz="1700" dirty="0"/>
          </a:p>
        </p:txBody>
      </p:sp>
      <p:sp>
        <p:nvSpPr>
          <p:cNvPr id="6" name="Text 4"/>
          <p:cNvSpPr/>
          <p:nvPr/>
        </p:nvSpPr>
        <p:spPr>
          <a:xfrm>
            <a:off x="125272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Someone in another country will always quote lower — and be believed sooner.</a:t>
            </a:r>
            <a:endParaRPr lang="en-US" sz="1300" dirty="0"/>
          </a:p>
        </p:txBody>
      </p:sp>
      <p:sp>
        <p:nvSpPr>
          <p:cNvPr id="7" name="Text 5"/>
          <p:cNvSpPr/>
          <p:nvPr/>
        </p:nvSpPr>
        <p:spPr>
          <a:xfrm>
            <a:off x="6217920" y="2103120"/>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02</a:t>
            </a:r>
            <a:endParaRPr lang="en-US" sz="1400" dirty="0"/>
          </a:p>
        </p:txBody>
      </p:sp>
      <p:sp>
        <p:nvSpPr>
          <p:cNvPr id="8" name="Text 6"/>
          <p:cNvSpPr/>
          <p:nvPr/>
        </p:nvSpPr>
        <p:spPr>
          <a:xfrm>
            <a:off x="6784848" y="2057400"/>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Presumed incompetence</a:t>
            </a:r>
            <a:endParaRPr lang="en-US" sz="1700" dirty="0"/>
          </a:p>
        </p:txBody>
      </p:sp>
      <p:sp>
        <p:nvSpPr>
          <p:cNvPr id="9" name="Text 7"/>
          <p:cNvSpPr/>
          <p:nvPr/>
        </p:nvSpPr>
        <p:spPr>
          <a:xfrm>
            <a:off x="6784848" y="2423160"/>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The expatriate is assumed capable. The local engineer is assumed to be a risk.</a:t>
            </a:r>
            <a:endParaRPr lang="en-US" sz="1300" dirty="0"/>
          </a:p>
        </p:txBody>
      </p:sp>
      <p:sp>
        <p:nvSpPr>
          <p:cNvPr id="10" name="Text 8"/>
          <p:cNvSpPr/>
          <p:nvPr/>
        </p:nvSpPr>
        <p:spPr>
          <a:xfrm>
            <a:off x="685800" y="3310128"/>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03</a:t>
            </a:r>
            <a:endParaRPr lang="en-US" sz="1400" dirty="0"/>
          </a:p>
        </p:txBody>
      </p:sp>
      <p:sp>
        <p:nvSpPr>
          <p:cNvPr id="11" name="Text 9"/>
          <p:cNvSpPr/>
          <p:nvPr/>
        </p:nvSpPr>
        <p:spPr>
          <a:xfrm>
            <a:off x="125272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Brain drain</a:t>
            </a:r>
            <a:endParaRPr lang="en-US" sz="1700" dirty="0"/>
          </a:p>
        </p:txBody>
      </p:sp>
      <p:sp>
        <p:nvSpPr>
          <p:cNvPr id="12" name="Text 10"/>
          <p:cNvSpPr/>
          <p:nvPr/>
        </p:nvSpPr>
        <p:spPr>
          <a:xfrm>
            <a:off x="125272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We cannot pay enough, so we train talent for other economies.</a:t>
            </a:r>
            <a:endParaRPr lang="en-US" sz="1300" dirty="0"/>
          </a:p>
        </p:txBody>
      </p:sp>
      <p:sp>
        <p:nvSpPr>
          <p:cNvPr id="13" name="Text 11"/>
          <p:cNvSpPr/>
          <p:nvPr/>
        </p:nvSpPr>
        <p:spPr>
          <a:xfrm>
            <a:off x="6217920" y="3310128"/>
            <a:ext cx="548640" cy="320040"/>
          </a:xfrm>
          <a:prstGeom prst="rect">
            <a:avLst/>
          </a:prstGeom>
          <a:noFill/>
          <a:ln/>
        </p:spPr>
        <p:txBody>
          <a:bodyPr wrap="square" lIns="0" tIns="0" rIns="0" bIns="0" rtlCol="0" anchor="t"/>
          <a:lstStyle/>
          <a:p>
            <a:pPr marL="0" indent="0">
              <a:buNone/>
            </a:pPr>
            <a:r>
              <a:rPr lang="en-US" sz="1400" b="1" dirty="0">
                <a:solidFill>
                  <a:srgbClr val="B3392B"/>
                </a:solidFill>
                <a:latin typeface="Arial" pitchFamily="34" charset="0"/>
                <a:ea typeface="Arial" pitchFamily="34" charset="-122"/>
                <a:cs typeface="Arial" pitchFamily="34" charset="-120"/>
              </a:rPr>
              <a:t>04</a:t>
            </a:r>
            <a:endParaRPr lang="en-US" sz="1400" dirty="0"/>
          </a:p>
        </p:txBody>
      </p:sp>
      <p:sp>
        <p:nvSpPr>
          <p:cNvPr id="14" name="Text 12"/>
          <p:cNvSpPr/>
          <p:nvPr/>
        </p:nvSpPr>
        <p:spPr>
          <a:xfrm>
            <a:off x="6784848" y="3264408"/>
            <a:ext cx="4663440" cy="32004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Data leaving free</a:t>
            </a:r>
            <a:endParaRPr lang="en-US" sz="1700" dirty="0"/>
          </a:p>
        </p:txBody>
      </p:sp>
      <p:sp>
        <p:nvSpPr>
          <p:cNvPr id="15" name="Text 13"/>
          <p:cNvSpPr/>
          <p:nvPr/>
        </p:nvSpPr>
        <p:spPr>
          <a:xfrm>
            <a:off x="6784848" y="3630168"/>
            <a:ext cx="466344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Foreign applications harvest our data while local applications starve for it.</a:t>
            </a:r>
            <a:endParaRPr lang="en-US" sz="13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19"/>
        </a:solidFill>
        <a:effectLst/>
      </p:bgPr>
    </p:bg>
    <p:spTree>
      <p:nvGrpSpPr>
        <p:cNvPr id="1" name=""/>
        <p:cNvGrpSpPr/>
        <p:nvPr/>
      </p:nvGrpSpPr>
      <p:grpSpPr>
        <a:xfrm>
          <a:off x="0" y="0"/>
          <a:ext cx="0" cy="0"/>
          <a:chOff x="0" y="0"/>
          <a:chExt cx="0" cy="0"/>
        </a:xfrm>
      </p:grpSpPr>
      <p:sp>
        <p:nvSpPr>
          <p:cNvPr id="3" name="Text 1"/>
          <p:cNvSpPr/>
          <p:nvPr/>
        </p:nvSpPr>
        <p:spPr>
          <a:xfrm>
            <a:off x="685800" y="1325880"/>
            <a:ext cx="10515600" cy="1371600"/>
          </a:xfrm>
          <a:prstGeom prst="rect">
            <a:avLst/>
          </a:prstGeom>
          <a:noFill/>
          <a:ln/>
        </p:spPr>
        <p:txBody>
          <a:bodyPr wrap="square" lIns="0" tIns="0" rIns="0" bIns="0" rtlCol="0" anchor="t"/>
          <a:lstStyle/>
          <a:p>
            <a:pPr marL="0" indent="0">
              <a:buNone/>
            </a:pPr>
            <a:r>
              <a:rPr lang="en-US" sz="8200" b="1" dirty="0" smtClean="0">
                <a:solidFill>
                  <a:srgbClr val="E39400"/>
                </a:solidFill>
                <a:latin typeface="Arial" pitchFamily="34" charset="0"/>
                <a:ea typeface="Arial" pitchFamily="34" charset="-122"/>
                <a:cs typeface="Arial" pitchFamily="34" charset="-120"/>
              </a:rPr>
              <a:t>₦ Millions</a:t>
            </a:r>
            <a:endParaRPr lang="en-US" sz="8200" dirty="0"/>
          </a:p>
        </p:txBody>
      </p:sp>
      <p:sp>
        <p:nvSpPr>
          <p:cNvPr id="4" name="Text 2"/>
          <p:cNvSpPr/>
          <p:nvPr/>
        </p:nvSpPr>
        <p:spPr>
          <a:xfrm>
            <a:off x="685800" y="2926080"/>
            <a:ext cx="9509760" cy="1371600"/>
          </a:xfrm>
          <a:prstGeom prst="rect">
            <a:avLst/>
          </a:prstGeom>
          <a:noFill/>
          <a:ln/>
        </p:spPr>
        <p:txBody>
          <a:bodyPr wrap="square" lIns="0" tIns="0" rIns="0" bIns="0" rtlCol="0" anchor="t"/>
          <a:lstStyle/>
          <a:p>
            <a:pPr marL="0" indent="0">
              <a:lnSpc>
                <a:spcPts val="3000"/>
              </a:lnSpc>
              <a:buNone/>
            </a:pPr>
            <a:r>
              <a:rPr lang="en-US" sz="1900" dirty="0">
                <a:solidFill>
                  <a:srgbClr val="FFFFFF"/>
                </a:solidFill>
                <a:latin typeface="Calibri" pitchFamily="34" charset="0"/>
                <a:ea typeface="Calibri" pitchFamily="34" charset="-122"/>
                <a:cs typeface="Calibri" pitchFamily="34" charset="-120"/>
              </a:rPr>
              <a:t>An industrial robot arm was brought home to Nigeria. No one could be found to operate it. Even we hesitated — </a:t>
            </a:r>
            <a:r>
              <a:rPr lang="en-US" sz="1900" dirty="0" smtClean="0">
                <a:solidFill>
                  <a:srgbClr val="FFFFFF"/>
                </a:solidFill>
                <a:latin typeface="Calibri" pitchFamily="34" charset="0"/>
                <a:ea typeface="Calibri" pitchFamily="34" charset="-122"/>
                <a:cs typeface="Calibri" pitchFamily="34" charset="-120"/>
              </a:rPr>
              <a:t>because if </a:t>
            </a:r>
            <a:r>
              <a:rPr lang="en-US" sz="1900" dirty="0">
                <a:solidFill>
                  <a:srgbClr val="FFFFFF"/>
                </a:solidFill>
                <a:latin typeface="Calibri" pitchFamily="34" charset="0"/>
                <a:ea typeface="Calibri" pitchFamily="34" charset="-122"/>
                <a:cs typeface="Calibri" pitchFamily="34" charset="-120"/>
              </a:rPr>
              <a:t>a trainee breaks it while learning, nobody pays.</a:t>
            </a:r>
            <a:endParaRPr lang="en-US" sz="1900" dirty="0"/>
          </a:p>
        </p:txBody>
      </p:sp>
      <p:sp>
        <p:nvSpPr>
          <p:cNvPr id="5" name="Shape 3"/>
          <p:cNvSpPr/>
          <p:nvPr/>
        </p:nvSpPr>
        <p:spPr>
          <a:xfrm>
            <a:off x="685800" y="4572000"/>
            <a:ext cx="1097280" cy="82296"/>
          </a:xfrm>
          <a:prstGeom prst="rect">
            <a:avLst/>
          </a:prstGeom>
          <a:solidFill>
            <a:srgbClr val="E39400"/>
          </a:solidFill>
          <a:ln/>
        </p:spPr>
      </p:sp>
      <p:sp>
        <p:nvSpPr>
          <p:cNvPr id="6" name="Text 4"/>
          <p:cNvSpPr/>
          <p:nvPr/>
        </p:nvSpPr>
        <p:spPr>
          <a:xfrm>
            <a:off x="685800" y="4892040"/>
            <a:ext cx="10058400" cy="914400"/>
          </a:xfrm>
          <a:prstGeom prst="rect">
            <a:avLst/>
          </a:prstGeom>
          <a:noFill/>
          <a:ln/>
        </p:spPr>
        <p:txBody>
          <a:bodyPr wrap="square" lIns="0" tIns="0" rIns="0" bIns="0" rtlCol="0" anchor="t"/>
          <a:lstStyle/>
          <a:p>
            <a:pPr marL="0" indent="0">
              <a:lnSpc>
                <a:spcPts val="3200"/>
              </a:lnSpc>
              <a:buNone/>
            </a:pPr>
            <a:r>
              <a:rPr lang="en-US" sz="2200" b="1" dirty="0">
                <a:solidFill>
                  <a:srgbClr val="FFFFFF"/>
                </a:solidFill>
                <a:latin typeface="Arial" pitchFamily="34" charset="0"/>
                <a:ea typeface="Arial" pitchFamily="34" charset="-122"/>
                <a:cs typeface="Arial" pitchFamily="34" charset="-120"/>
              </a:rPr>
              <a:t>We had the engineer. We had the machine.</a:t>
            </a:r>
            <a:endParaRPr lang="en-US" sz="2200" dirty="0"/>
          </a:p>
          <a:p>
            <a:pPr marL="0" indent="0">
              <a:lnSpc>
                <a:spcPts val="3200"/>
              </a:lnSpc>
              <a:buNone/>
            </a:pPr>
            <a:r>
              <a:rPr lang="en-US" sz="2200" b="1" dirty="0">
                <a:solidFill>
                  <a:srgbClr val="FFFFFF"/>
                </a:solidFill>
                <a:latin typeface="Arial" pitchFamily="34" charset="0"/>
                <a:ea typeface="Arial" pitchFamily="34" charset="-122"/>
                <a:cs typeface="Arial" pitchFamily="34" charset="-120"/>
              </a:rPr>
              <a:t>What we did not have was permission to fail.</a:t>
            </a:r>
            <a:endParaRPr lang="en-US" sz="2200" dirty="0"/>
          </a:p>
        </p:txBody>
      </p:sp>
      <p:sp>
        <p:nvSpPr>
          <p:cNvPr id="7" name="Text 5"/>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586470"/>
                </a:solidFill>
                <a:latin typeface="Calibri" pitchFamily="34" charset="0"/>
                <a:ea typeface="Calibri" pitchFamily="34" charset="-122"/>
                <a:cs typeface="Calibri" pitchFamily="34" charset="-120"/>
              </a:rPr>
              <a:t>Securing the Future  ·  NSE Ibadan 2026</a:t>
            </a:r>
            <a:endParaRPr lang="en-US" sz="900" dirty="0"/>
          </a:p>
        </p:txBody>
      </p:sp>
      <p:sp>
        <p:nvSpPr>
          <p:cNvPr id="8" name="Text 6"/>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5864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1371600"/>
            <a:ext cx="3657600" cy="2377440"/>
          </a:xfrm>
          <a:prstGeom prst="rect">
            <a:avLst/>
          </a:prstGeom>
          <a:noFill/>
          <a:ln/>
        </p:spPr>
        <p:txBody>
          <a:bodyPr wrap="square" lIns="0" tIns="0" rIns="0" bIns="0" rtlCol="0" anchor="t"/>
          <a:lstStyle/>
          <a:p>
            <a:pPr marL="0" indent="0">
              <a:buNone/>
            </a:pPr>
            <a:r>
              <a:rPr lang="en-US" sz="15000" b="1" dirty="0">
                <a:solidFill>
                  <a:srgbClr val="1B2229"/>
                </a:solidFill>
                <a:latin typeface="Arial" pitchFamily="34" charset="0"/>
                <a:ea typeface="Arial" pitchFamily="34" charset="-122"/>
                <a:cs typeface="Arial" pitchFamily="34" charset="-120"/>
              </a:rPr>
              <a:t>03</a:t>
            </a:r>
            <a:endParaRPr lang="en-US" sz="15000" dirty="0"/>
          </a:p>
        </p:txBody>
      </p:sp>
      <p:sp>
        <p:nvSpPr>
          <p:cNvPr id="3" name="Shape 1"/>
          <p:cNvSpPr/>
          <p:nvPr/>
        </p:nvSpPr>
        <p:spPr>
          <a:xfrm>
            <a:off x="685800" y="3886200"/>
            <a:ext cx="1097280" cy="82296"/>
          </a:xfrm>
          <a:prstGeom prst="rect">
            <a:avLst/>
          </a:prstGeom>
          <a:solidFill>
            <a:srgbClr val="E39400"/>
          </a:solidFill>
          <a:ln/>
        </p:spPr>
      </p:sp>
      <p:sp>
        <p:nvSpPr>
          <p:cNvPr id="4" name="Text 2"/>
          <p:cNvSpPr/>
          <p:nvPr/>
        </p:nvSpPr>
        <p:spPr>
          <a:xfrm>
            <a:off x="685800" y="4206240"/>
            <a:ext cx="10515600" cy="9144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WHO IS DOING WHAT?</a:t>
            </a:r>
            <a:endParaRPr lang="en-US" sz="4600" dirty="0"/>
          </a:p>
        </p:txBody>
      </p:sp>
      <p:sp>
        <p:nvSpPr>
          <p:cNvPr id="5" name="Text 3"/>
          <p:cNvSpPr/>
          <p:nvPr/>
        </p:nvSpPr>
        <p:spPr>
          <a:xfrm>
            <a:off x="685800" y="5212080"/>
            <a:ext cx="9601200" cy="548640"/>
          </a:xfrm>
          <a:prstGeom prst="rect">
            <a:avLst/>
          </a:prstGeom>
          <a:noFill/>
          <a:ln/>
        </p:spPr>
        <p:txBody>
          <a:bodyPr wrap="square" lIns="0" tIns="0" rIns="0" bIns="0" rtlCol="0" anchor="t"/>
          <a:lstStyle/>
          <a:p>
            <a:pPr marL="0" indent="0">
              <a:buNone/>
            </a:pPr>
            <a:r>
              <a:rPr lang="en-US" sz="1700" dirty="0">
                <a:solidFill>
                  <a:srgbClr val="A6B0B9"/>
                </a:solidFill>
                <a:latin typeface="Calibri" pitchFamily="34" charset="0"/>
                <a:ea typeface="Calibri" pitchFamily="34" charset="-122"/>
                <a:cs typeface="Calibri" pitchFamily="34" charset="-120"/>
              </a:rPr>
              <a:t>Everyone is trying. The question is: at what scale?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THREE GROUPS, ONE CEILING</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800"/>
              </a:lnSpc>
              <a:buNone/>
            </a:pPr>
            <a:r>
              <a:rPr lang="en-US" sz="4000" b="1" dirty="0">
                <a:solidFill>
                  <a:srgbClr val="0F1419"/>
                </a:solidFill>
                <a:latin typeface="Arial" pitchFamily="34" charset="0"/>
                <a:ea typeface="Arial" pitchFamily="34" charset="-122"/>
                <a:cs typeface="Arial" pitchFamily="34" charset="-120"/>
              </a:rPr>
              <a:t>They are all trying.</a:t>
            </a:r>
            <a:endParaRPr lang="en-US" sz="4000" dirty="0"/>
          </a:p>
          <a:p>
            <a:pPr marL="0" indent="0">
              <a:lnSpc>
                <a:spcPts val="4800"/>
              </a:lnSpc>
              <a:buNone/>
            </a:pPr>
            <a:r>
              <a:rPr lang="en-US" sz="4000" b="1" dirty="0">
                <a:solidFill>
                  <a:srgbClr val="0F1419"/>
                </a:solidFill>
                <a:latin typeface="Arial" pitchFamily="34" charset="0"/>
                <a:ea typeface="Arial" pitchFamily="34" charset="-122"/>
                <a:cs typeface="Arial" pitchFamily="34" charset="-120"/>
              </a:rPr>
              <a:t>None of them can scale.</a:t>
            </a:r>
            <a:endParaRPr lang="en-US" sz="4000" dirty="0"/>
          </a:p>
        </p:txBody>
      </p:sp>
      <p:sp>
        <p:nvSpPr>
          <p:cNvPr id="4" name="Shape 2"/>
          <p:cNvSpPr/>
          <p:nvPr/>
        </p:nvSpPr>
        <p:spPr>
          <a:xfrm>
            <a:off x="685800" y="2377440"/>
            <a:ext cx="3383280" cy="54864"/>
          </a:xfrm>
          <a:prstGeom prst="rect">
            <a:avLst/>
          </a:prstGeom>
          <a:solidFill>
            <a:srgbClr val="E39400"/>
          </a:solidFill>
          <a:ln/>
        </p:spPr>
      </p:sp>
      <p:sp>
        <p:nvSpPr>
          <p:cNvPr id="5" name="Text 3"/>
          <p:cNvSpPr/>
          <p:nvPr/>
        </p:nvSpPr>
        <p:spPr>
          <a:xfrm>
            <a:off x="685800" y="2578608"/>
            <a:ext cx="329184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THE RESEARCHERS</a:t>
            </a:r>
            <a:endParaRPr lang="en-US" sz="1700" dirty="0"/>
          </a:p>
        </p:txBody>
      </p:sp>
      <p:sp>
        <p:nvSpPr>
          <p:cNvPr id="6" name="Text 4"/>
          <p:cNvSpPr/>
          <p:nvPr/>
        </p:nvSpPr>
        <p:spPr>
          <a:xfrm>
            <a:off x="685800" y="3035808"/>
            <a:ext cx="3246120" cy="86868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Decades of work, real mentorship, global exposure.</a:t>
            </a:r>
            <a:endParaRPr lang="en-US" sz="1400" dirty="0"/>
          </a:p>
        </p:txBody>
      </p:sp>
      <p:sp>
        <p:nvSpPr>
          <p:cNvPr id="7" name="Text 5"/>
          <p:cNvSpPr/>
          <p:nvPr/>
        </p:nvSpPr>
        <p:spPr>
          <a:xfrm>
            <a:off x="685800" y="4041648"/>
            <a:ext cx="3246120" cy="1371600"/>
          </a:xfrm>
          <a:prstGeom prst="rect">
            <a:avLst/>
          </a:prstGeom>
          <a:noFill/>
          <a:ln/>
        </p:spPr>
        <p:txBody>
          <a:bodyPr wrap="square" lIns="0" tIns="0" rIns="0" bIns="0" rtlCol="0" anchor="t"/>
          <a:lstStyle/>
          <a:p>
            <a:pPr marL="0" indent="0">
              <a:lnSpc>
                <a:spcPts val="2000"/>
              </a:lnSpc>
              <a:buNone/>
            </a:pPr>
            <a:r>
              <a:rPr lang="en-US" sz="1400" i="1" dirty="0">
                <a:solidFill>
                  <a:srgbClr val="5D6773"/>
                </a:solidFill>
                <a:latin typeface="Calibri" pitchFamily="34" charset="0"/>
                <a:ea typeface="Calibri" pitchFamily="34" charset="-122"/>
                <a:cs typeface="Calibri" pitchFamily="34" charset="-120"/>
              </a:rPr>
              <a:t>But the laboratory has no equipment, so students are told how — never taught how.</a:t>
            </a:r>
            <a:endParaRPr lang="en-US" sz="1400" dirty="0"/>
          </a:p>
        </p:txBody>
      </p:sp>
      <p:sp>
        <p:nvSpPr>
          <p:cNvPr id="8" name="Shape 6"/>
          <p:cNvSpPr/>
          <p:nvPr/>
        </p:nvSpPr>
        <p:spPr>
          <a:xfrm>
            <a:off x="4343400" y="2377440"/>
            <a:ext cx="3383280" cy="54864"/>
          </a:xfrm>
          <a:prstGeom prst="rect">
            <a:avLst/>
          </a:prstGeom>
          <a:solidFill>
            <a:srgbClr val="E39400"/>
          </a:solidFill>
          <a:ln/>
        </p:spPr>
      </p:sp>
      <p:sp>
        <p:nvSpPr>
          <p:cNvPr id="9" name="Text 7"/>
          <p:cNvSpPr/>
          <p:nvPr/>
        </p:nvSpPr>
        <p:spPr>
          <a:xfrm>
            <a:off x="4343400" y="2578608"/>
            <a:ext cx="329184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THE YOUTH</a:t>
            </a:r>
            <a:endParaRPr lang="en-US" sz="1700" dirty="0"/>
          </a:p>
        </p:txBody>
      </p:sp>
      <p:sp>
        <p:nvSpPr>
          <p:cNvPr id="10" name="Text 8"/>
          <p:cNvSpPr/>
          <p:nvPr/>
        </p:nvSpPr>
        <p:spPr>
          <a:xfrm>
            <a:off x="4343400" y="3035808"/>
            <a:ext cx="3246120" cy="86868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Drones, electric buses, language apps — funded by their own parents.</a:t>
            </a:r>
            <a:endParaRPr lang="en-US" sz="1400" dirty="0"/>
          </a:p>
        </p:txBody>
      </p:sp>
      <p:sp>
        <p:nvSpPr>
          <p:cNvPr id="11" name="Text 9"/>
          <p:cNvSpPr/>
          <p:nvPr/>
        </p:nvSpPr>
        <p:spPr>
          <a:xfrm>
            <a:off x="4343400" y="4041648"/>
            <a:ext cx="3246120" cy="1371600"/>
          </a:xfrm>
          <a:prstGeom prst="rect">
            <a:avLst/>
          </a:prstGeom>
          <a:noFill/>
          <a:ln/>
        </p:spPr>
        <p:txBody>
          <a:bodyPr wrap="square" lIns="0" tIns="0" rIns="0" bIns="0" rtlCol="0" anchor="t"/>
          <a:lstStyle/>
          <a:p>
            <a:pPr marL="0" indent="0">
              <a:lnSpc>
                <a:spcPts val="2000"/>
              </a:lnSpc>
              <a:buNone/>
            </a:pPr>
            <a:r>
              <a:rPr lang="en-US" sz="1400" i="1" dirty="0">
                <a:solidFill>
                  <a:srgbClr val="5D6773"/>
                </a:solidFill>
                <a:latin typeface="Calibri" pitchFamily="34" charset="0"/>
                <a:ea typeface="Calibri" pitchFamily="34" charset="-122"/>
                <a:cs typeface="Calibri" pitchFamily="34" charset="-120"/>
              </a:rPr>
              <a:t>But after the headline and the handshake, the pipeline ends. Sometimes the talent is simply exported.</a:t>
            </a:r>
            <a:endParaRPr lang="en-US" sz="1400" dirty="0"/>
          </a:p>
        </p:txBody>
      </p:sp>
      <p:sp>
        <p:nvSpPr>
          <p:cNvPr id="12" name="Shape 10"/>
          <p:cNvSpPr/>
          <p:nvPr/>
        </p:nvSpPr>
        <p:spPr>
          <a:xfrm>
            <a:off x="8001000" y="2377440"/>
            <a:ext cx="3383280" cy="54864"/>
          </a:xfrm>
          <a:prstGeom prst="rect">
            <a:avLst/>
          </a:prstGeom>
          <a:solidFill>
            <a:srgbClr val="E39400"/>
          </a:solidFill>
          <a:ln/>
        </p:spPr>
      </p:sp>
      <p:sp>
        <p:nvSpPr>
          <p:cNvPr id="13" name="Text 11"/>
          <p:cNvSpPr/>
          <p:nvPr/>
        </p:nvSpPr>
        <p:spPr>
          <a:xfrm>
            <a:off x="8001000" y="2578608"/>
            <a:ext cx="329184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THE BUSINESSES</a:t>
            </a:r>
            <a:endParaRPr lang="en-US" sz="1700" dirty="0"/>
          </a:p>
        </p:txBody>
      </p:sp>
      <p:sp>
        <p:nvSpPr>
          <p:cNvPr id="14" name="Text 12"/>
          <p:cNvSpPr/>
          <p:nvPr/>
        </p:nvSpPr>
        <p:spPr>
          <a:xfrm>
            <a:off x="8001000" y="3035808"/>
            <a:ext cx="3246120" cy="868680"/>
          </a:xfrm>
          <a:prstGeom prst="rect">
            <a:avLst/>
          </a:prstGeom>
          <a:noFill/>
          <a:ln/>
        </p:spPr>
        <p:txBody>
          <a:bodyPr wrap="square" lIns="0" tIns="0" rIns="0" bIns="0" rtlCol="0" anchor="t"/>
          <a:lstStyle/>
          <a:p>
            <a:pPr marL="0" indent="0">
              <a:lnSpc>
                <a:spcPts val="2000"/>
              </a:lnSpc>
              <a:buNone/>
            </a:pPr>
            <a:r>
              <a:rPr lang="en-US" sz="1400" dirty="0">
                <a:solidFill>
                  <a:srgbClr val="0F1419"/>
                </a:solidFill>
                <a:latin typeface="Calibri" pitchFamily="34" charset="0"/>
                <a:ea typeface="Calibri" pitchFamily="34" charset="-122"/>
                <a:cs typeface="Calibri" pitchFamily="34" charset="-120"/>
              </a:rPr>
              <a:t>They see the problem daily and know exactly what is needed.</a:t>
            </a:r>
            <a:endParaRPr lang="en-US" sz="1400" dirty="0"/>
          </a:p>
        </p:txBody>
      </p:sp>
      <p:sp>
        <p:nvSpPr>
          <p:cNvPr id="15" name="Text 13"/>
          <p:cNvSpPr/>
          <p:nvPr/>
        </p:nvSpPr>
        <p:spPr>
          <a:xfrm>
            <a:off x="8001000" y="4041648"/>
            <a:ext cx="3246120" cy="1371600"/>
          </a:xfrm>
          <a:prstGeom prst="rect">
            <a:avLst/>
          </a:prstGeom>
          <a:noFill/>
          <a:ln/>
        </p:spPr>
        <p:txBody>
          <a:bodyPr wrap="square" lIns="0" tIns="0" rIns="0" bIns="0" rtlCol="0" anchor="t"/>
          <a:lstStyle/>
          <a:p>
            <a:pPr marL="0" indent="0">
              <a:lnSpc>
                <a:spcPts val="2000"/>
              </a:lnSpc>
              <a:buNone/>
            </a:pPr>
            <a:r>
              <a:rPr lang="en-US" sz="1400" i="1" dirty="0">
                <a:solidFill>
                  <a:srgbClr val="5D6773"/>
                </a:solidFill>
                <a:latin typeface="Calibri" pitchFamily="34" charset="0"/>
                <a:ea typeface="Calibri" pitchFamily="34" charset="-122"/>
                <a:cs typeface="Calibri" pitchFamily="34" charset="-120"/>
              </a:rPr>
              <a:t>But they can only buy, never build — and they cannot afford a solution that fails on first use.</a:t>
            </a:r>
            <a:endParaRPr lang="en-US" sz="14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DISCONNECT</a:t>
            </a:r>
            <a:endParaRPr lang="en-US" sz="1200" dirty="0"/>
          </a:p>
        </p:txBody>
      </p:sp>
      <p:sp>
        <p:nvSpPr>
          <p:cNvPr id="3" name="Text 1"/>
          <p:cNvSpPr/>
          <p:nvPr/>
        </p:nvSpPr>
        <p:spPr>
          <a:xfrm>
            <a:off x="685800" y="1371600"/>
            <a:ext cx="10607040" cy="1554480"/>
          </a:xfrm>
          <a:prstGeom prst="rect">
            <a:avLst/>
          </a:prstGeom>
          <a:noFill/>
          <a:ln/>
        </p:spPr>
        <p:txBody>
          <a:bodyPr wrap="square" lIns="0" tIns="0" rIns="0" bIns="0" rtlCol="0" anchor="t"/>
          <a:lstStyle/>
          <a:p>
            <a:pPr marL="0" indent="0">
              <a:lnSpc>
                <a:spcPts val="6200"/>
              </a:lnSpc>
              <a:buNone/>
            </a:pPr>
            <a:r>
              <a:rPr lang="en-US" sz="5000" b="1" dirty="0">
                <a:solidFill>
                  <a:srgbClr val="B8BFC5"/>
                </a:solidFill>
                <a:latin typeface="Arial" pitchFamily="34" charset="0"/>
                <a:ea typeface="Arial" pitchFamily="34" charset="-122"/>
                <a:cs typeface="Arial" pitchFamily="34" charset="-120"/>
              </a:rPr>
              <a:t>They told you</a:t>
            </a:r>
            <a:endParaRPr lang="en-US" sz="5000" dirty="0"/>
          </a:p>
          <a:p>
            <a:pPr marL="0" indent="0">
              <a:lnSpc>
                <a:spcPts val="6200"/>
              </a:lnSpc>
              <a:buNone/>
            </a:pPr>
            <a:r>
              <a:rPr lang="en-US" sz="5000" b="1" dirty="0">
                <a:solidFill>
                  <a:srgbClr val="B8BFC5"/>
                </a:solidFill>
                <a:latin typeface="Arial" pitchFamily="34" charset="0"/>
                <a:ea typeface="Arial" pitchFamily="34" charset="-122"/>
                <a:cs typeface="Arial" pitchFamily="34" charset="-120"/>
              </a:rPr>
              <a:t>how to do it.</a:t>
            </a:r>
            <a:endParaRPr lang="en-US" sz="5000" dirty="0"/>
          </a:p>
        </p:txBody>
      </p:sp>
      <p:sp>
        <p:nvSpPr>
          <p:cNvPr id="4" name="Text 2"/>
          <p:cNvSpPr/>
          <p:nvPr/>
        </p:nvSpPr>
        <p:spPr>
          <a:xfrm>
            <a:off x="685800" y="3017520"/>
            <a:ext cx="10607040" cy="1554480"/>
          </a:xfrm>
          <a:prstGeom prst="rect">
            <a:avLst/>
          </a:prstGeom>
          <a:noFill/>
          <a:ln/>
        </p:spPr>
        <p:txBody>
          <a:bodyPr wrap="square" lIns="0" tIns="0" rIns="0" bIns="0" rtlCol="0" anchor="t"/>
          <a:lstStyle/>
          <a:p>
            <a:pPr marL="0" indent="0">
              <a:lnSpc>
                <a:spcPts val="6200"/>
              </a:lnSpc>
              <a:buNone/>
            </a:pPr>
            <a:r>
              <a:rPr lang="en-US" sz="5000" b="1" dirty="0">
                <a:solidFill>
                  <a:srgbClr val="0F1419"/>
                </a:solidFill>
                <a:latin typeface="Arial" pitchFamily="34" charset="0"/>
                <a:ea typeface="Arial" pitchFamily="34" charset="-122"/>
                <a:cs typeface="Arial" pitchFamily="34" charset="-120"/>
              </a:rPr>
              <a:t>They did not</a:t>
            </a:r>
            <a:endParaRPr lang="en-US" sz="5000" dirty="0"/>
          </a:p>
          <a:p>
            <a:pPr marL="0" indent="0">
              <a:lnSpc>
                <a:spcPts val="6200"/>
              </a:lnSpc>
              <a:buNone/>
            </a:pPr>
            <a:r>
              <a:rPr lang="en-US" sz="5000" b="1" dirty="0">
                <a:solidFill>
                  <a:srgbClr val="0F1419"/>
                </a:solidFill>
                <a:latin typeface="Arial" pitchFamily="34" charset="0"/>
                <a:ea typeface="Arial" pitchFamily="34" charset="-122"/>
                <a:cs typeface="Arial" pitchFamily="34" charset="-120"/>
              </a:rPr>
              <a:t>teach you how.</a:t>
            </a:r>
            <a:endParaRPr lang="en-US" sz="5000" dirty="0"/>
          </a:p>
        </p:txBody>
      </p:sp>
      <p:sp>
        <p:nvSpPr>
          <p:cNvPr id="5" name="Shape 3"/>
          <p:cNvSpPr/>
          <p:nvPr/>
        </p:nvSpPr>
        <p:spPr>
          <a:xfrm>
            <a:off x="685800" y="4846320"/>
            <a:ext cx="1097280" cy="82296"/>
          </a:xfrm>
          <a:prstGeom prst="rect">
            <a:avLst/>
          </a:prstGeom>
          <a:solidFill>
            <a:srgbClr val="E39400"/>
          </a:solidFill>
          <a:ln/>
        </p:spPr>
      </p:sp>
      <p:sp>
        <p:nvSpPr>
          <p:cNvPr id="6" name="Text 4"/>
          <p:cNvSpPr/>
          <p:nvPr/>
        </p:nvSpPr>
        <p:spPr>
          <a:xfrm>
            <a:off x="685800" y="5166360"/>
            <a:ext cx="9875520" cy="548640"/>
          </a:xfrm>
          <a:prstGeom prst="rect">
            <a:avLst/>
          </a:prstGeom>
          <a:noFill/>
          <a:ln/>
        </p:spPr>
        <p:txBody>
          <a:bodyPr wrap="square" lIns="0" tIns="0" rIns="0" bIns="0" rtlCol="0" anchor="t"/>
          <a:lstStyle/>
          <a:p>
            <a:pPr marL="0" indent="0">
              <a:buNone/>
            </a:pPr>
            <a:r>
              <a:rPr lang="en-US" sz="1600" dirty="0">
                <a:solidFill>
                  <a:srgbClr val="5D6773"/>
                </a:solidFill>
                <a:latin typeface="Calibri" pitchFamily="34" charset="0"/>
                <a:ea typeface="Calibri" pitchFamily="34" charset="-122"/>
                <a:cs typeface="Calibri" pitchFamily="34" charset="-120"/>
              </a:rPr>
              <a:t>Which means they never did it with you. Equip the laboratories, or accept the expatriate.</a:t>
            </a:r>
            <a:endParaRPr lang="en-US" sz="1600" dirty="0"/>
          </a:p>
        </p:txBody>
      </p:sp>
      <p:sp>
        <p:nvSpPr>
          <p:cNvPr id="7" name="Text 5"/>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8" name="Text 6"/>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TO THE YOUNG ENGINEERS IN THIS ROOM</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600"/>
              </a:lnSpc>
              <a:buNone/>
            </a:pPr>
            <a:r>
              <a:rPr lang="en-US" sz="3800" b="1" dirty="0">
                <a:solidFill>
                  <a:srgbClr val="0F1419"/>
                </a:solidFill>
                <a:latin typeface="Arial" pitchFamily="34" charset="0"/>
                <a:ea typeface="Arial" pitchFamily="34" charset="-122"/>
                <a:cs typeface="Arial" pitchFamily="34" charset="-120"/>
              </a:rPr>
              <a:t>You have about thirty years.</a:t>
            </a:r>
            <a:endParaRPr lang="en-US" sz="3800" dirty="0"/>
          </a:p>
          <a:p>
            <a:pPr marL="0" indent="0">
              <a:lnSpc>
                <a:spcPts val="4600"/>
              </a:lnSpc>
              <a:buNone/>
            </a:pPr>
            <a:r>
              <a:rPr lang="en-US" sz="3800" b="1" dirty="0">
                <a:solidFill>
                  <a:srgbClr val="0F1419"/>
                </a:solidFill>
                <a:latin typeface="Arial" pitchFamily="34" charset="0"/>
                <a:ea typeface="Arial" pitchFamily="34" charset="-122"/>
                <a:cs typeface="Arial" pitchFamily="34" charset="-120"/>
              </a:rPr>
              <a:t>That is the whole budget.</a:t>
            </a:r>
            <a:endParaRPr lang="en-US" sz="3800" dirty="0"/>
          </a:p>
        </p:txBody>
      </p:sp>
      <p:sp>
        <p:nvSpPr>
          <p:cNvPr id="4" name="Shape 2"/>
          <p:cNvSpPr/>
          <p:nvPr/>
        </p:nvSpPr>
        <p:spPr>
          <a:xfrm>
            <a:off x="685800" y="2514600"/>
            <a:ext cx="3383280" cy="2606040"/>
          </a:xfrm>
          <a:prstGeom prst="rect">
            <a:avLst/>
          </a:prstGeom>
          <a:solidFill>
            <a:srgbClr val="F1F2F3"/>
          </a:solidFill>
          <a:ln/>
        </p:spPr>
      </p:sp>
      <p:sp>
        <p:nvSpPr>
          <p:cNvPr id="5" name="Text 3"/>
          <p:cNvSpPr/>
          <p:nvPr/>
        </p:nvSpPr>
        <p:spPr>
          <a:xfrm>
            <a:off x="960120" y="2724912"/>
            <a:ext cx="2834640" cy="274320"/>
          </a:xfrm>
          <a:prstGeom prst="rect">
            <a:avLst/>
          </a:prstGeom>
          <a:noFill/>
          <a:ln/>
        </p:spPr>
        <p:txBody>
          <a:bodyPr wrap="square" lIns="0" tIns="0" rIns="0" bIns="0" rtlCol="0" anchor="t"/>
          <a:lstStyle/>
          <a:p>
            <a:pPr marL="0" indent="0">
              <a:buNone/>
            </a:pPr>
            <a:r>
              <a:rPr lang="en-US" sz="1200" b="1" kern="0" spc="200" dirty="0">
                <a:solidFill>
                  <a:srgbClr val="E39400"/>
                </a:solidFill>
                <a:latin typeface="Arial" pitchFamily="34" charset="0"/>
                <a:ea typeface="Arial" pitchFamily="34" charset="-122"/>
                <a:cs typeface="Arial" pitchFamily="34" charset="-120"/>
              </a:rPr>
              <a:t>DECADE 1</a:t>
            </a:r>
            <a:endParaRPr lang="en-US" sz="1200" dirty="0"/>
          </a:p>
        </p:txBody>
      </p:sp>
      <p:sp>
        <p:nvSpPr>
          <p:cNvPr id="6" name="Text 4"/>
          <p:cNvSpPr/>
          <p:nvPr/>
        </p:nvSpPr>
        <p:spPr>
          <a:xfrm>
            <a:off x="960120" y="3054096"/>
            <a:ext cx="2834640" cy="548640"/>
          </a:xfrm>
          <a:prstGeom prst="rect">
            <a:avLst/>
          </a:prstGeom>
          <a:noFill/>
          <a:ln/>
        </p:spPr>
        <p:txBody>
          <a:bodyPr wrap="square" lIns="0" tIns="0" rIns="0" bIns="0" rtlCol="0" anchor="t"/>
          <a:lstStyle/>
          <a:p>
            <a:pPr marL="0" indent="0">
              <a:buNone/>
            </a:pPr>
            <a:r>
              <a:rPr lang="en-US" sz="3000" b="1" dirty="0">
                <a:solidFill>
                  <a:srgbClr val="0F1419"/>
                </a:solidFill>
                <a:latin typeface="Arial" pitchFamily="34" charset="0"/>
                <a:ea typeface="Arial" pitchFamily="34" charset="-122"/>
                <a:cs typeface="Arial" pitchFamily="34" charset="-120"/>
              </a:rPr>
              <a:t>26 – 36</a:t>
            </a:r>
            <a:endParaRPr lang="en-US" sz="3000" dirty="0"/>
          </a:p>
        </p:txBody>
      </p:sp>
      <p:sp>
        <p:nvSpPr>
          <p:cNvPr id="7" name="Text 5"/>
          <p:cNvSpPr/>
          <p:nvPr/>
        </p:nvSpPr>
        <p:spPr>
          <a:xfrm>
            <a:off x="960120" y="3703320"/>
            <a:ext cx="2834640" cy="365760"/>
          </a:xfrm>
          <a:prstGeom prst="rect">
            <a:avLst/>
          </a:prstGeom>
          <a:noFill/>
          <a:ln/>
        </p:spPr>
        <p:txBody>
          <a:bodyPr wrap="square" lIns="0" tIns="0" rIns="0" bIns="0" rtlCol="0" anchor="t"/>
          <a:lstStyle/>
          <a:p>
            <a:pPr marL="0" indent="0">
              <a:buNone/>
            </a:pPr>
            <a:r>
              <a:rPr lang="en-US" sz="1800" b="1" dirty="0">
                <a:solidFill>
                  <a:srgbClr val="5D6773"/>
                </a:solidFill>
                <a:latin typeface="Arial" pitchFamily="34" charset="0"/>
                <a:ea typeface="Arial" pitchFamily="34" charset="-122"/>
                <a:cs typeface="Arial" pitchFamily="34" charset="-120"/>
              </a:rPr>
              <a:t>LEARN</a:t>
            </a:r>
            <a:endParaRPr lang="en-US" sz="1800" dirty="0"/>
          </a:p>
        </p:txBody>
      </p:sp>
      <p:sp>
        <p:nvSpPr>
          <p:cNvPr id="8" name="Text 6"/>
          <p:cNvSpPr/>
          <p:nvPr/>
        </p:nvSpPr>
        <p:spPr>
          <a:xfrm>
            <a:off x="960120" y="4160520"/>
            <a:ext cx="28346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How to do it — and just as importantly, how not to.</a:t>
            </a:r>
            <a:endParaRPr lang="en-US" sz="1300" dirty="0"/>
          </a:p>
        </p:txBody>
      </p:sp>
      <p:sp>
        <p:nvSpPr>
          <p:cNvPr id="9" name="Shape 7"/>
          <p:cNvSpPr/>
          <p:nvPr/>
        </p:nvSpPr>
        <p:spPr>
          <a:xfrm>
            <a:off x="4343400" y="2514600"/>
            <a:ext cx="3383280" cy="2606040"/>
          </a:xfrm>
          <a:prstGeom prst="rect">
            <a:avLst/>
          </a:prstGeom>
          <a:solidFill>
            <a:srgbClr val="0F1419"/>
          </a:solidFill>
          <a:ln/>
        </p:spPr>
      </p:sp>
      <p:sp>
        <p:nvSpPr>
          <p:cNvPr id="10" name="Text 8"/>
          <p:cNvSpPr/>
          <p:nvPr/>
        </p:nvSpPr>
        <p:spPr>
          <a:xfrm>
            <a:off x="4617720" y="2724912"/>
            <a:ext cx="2834640" cy="274320"/>
          </a:xfrm>
          <a:prstGeom prst="rect">
            <a:avLst/>
          </a:prstGeom>
          <a:noFill/>
          <a:ln/>
        </p:spPr>
        <p:txBody>
          <a:bodyPr wrap="square" lIns="0" tIns="0" rIns="0" bIns="0" rtlCol="0" anchor="t"/>
          <a:lstStyle/>
          <a:p>
            <a:pPr marL="0" indent="0">
              <a:buNone/>
            </a:pPr>
            <a:r>
              <a:rPr lang="en-US" sz="1200" b="1" kern="0" spc="200" dirty="0">
                <a:solidFill>
                  <a:srgbClr val="E39400"/>
                </a:solidFill>
                <a:latin typeface="Arial" pitchFamily="34" charset="0"/>
                <a:ea typeface="Arial" pitchFamily="34" charset="-122"/>
                <a:cs typeface="Arial" pitchFamily="34" charset="-120"/>
              </a:rPr>
              <a:t>DECADE 2</a:t>
            </a:r>
            <a:endParaRPr lang="en-US" sz="1200" dirty="0"/>
          </a:p>
        </p:txBody>
      </p:sp>
      <p:sp>
        <p:nvSpPr>
          <p:cNvPr id="11" name="Text 9"/>
          <p:cNvSpPr/>
          <p:nvPr/>
        </p:nvSpPr>
        <p:spPr>
          <a:xfrm>
            <a:off x="4617720" y="3054096"/>
            <a:ext cx="2834640" cy="548640"/>
          </a:xfrm>
          <a:prstGeom prst="rect">
            <a:avLst/>
          </a:prstGeom>
          <a:noFill/>
          <a:ln/>
        </p:spPr>
        <p:txBody>
          <a:bodyPr wrap="square" lIns="0" tIns="0" rIns="0" bIns="0" rtlCol="0" anchor="t"/>
          <a:lstStyle/>
          <a:p>
            <a:pPr marL="0" indent="0">
              <a:buNone/>
            </a:pPr>
            <a:r>
              <a:rPr lang="en-US" sz="3000" b="1" dirty="0">
                <a:solidFill>
                  <a:srgbClr val="FFFFFF"/>
                </a:solidFill>
                <a:latin typeface="Arial" pitchFamily="34" charset="0"/>
                <a:ea typeface="Arial" pitchFamily="34" charset="-122"/>
                <a:cs typeface="Arial" pitchFamily="34" charset="-120"/>
              </a:rPr>
              <a:t>36 – 46</a:t>
            </a:r>
            <a:endParaRPr lang="en-US" sz="3000" dirty="0"/>
          </a:p>
        </p:txBody>
      </p:sp>
      <p:sp>
        <p:nvSpPr>
          <p:cNvPr id="12" name="Text 10"/>
          <p:cNvSpPr/>
          <p:nvPr/>
        </p:nvSpPr>
        <p:spPr>
          <a:xfrm>
            <a:off x="4617720" y="3703320"/>
            <a:ext cx="2834640" cy="365760"/>
          </a:xfrm>
          <a:prstGeom prst="rect">
            <a:avLst/>
          </a:prstGeom>
          <a:noFill/>
          <a:ln/>
        </p:spPr>
        <p:txBody>
          <a:bodyPr wrap="square" lIns="0" tIns="0" rIns="0" bIns="0" rtlCol="0" anchor="t"/>
          <a:lstStyle/>
          <a:p>
            <a:pPr marL="0" indent="0">
              <a:buNone/>
            </a:pPr>
            <a:r>
              <a:rPr lang="en-US" sz="1800" b="1" dirty="0">
                <a:solidFill>
                  <a:srgbClr val="E39400"/>
                </a:solidFill>
                <a:latin typeface="Arial" pitchFamily="34" charset="0"/>
                <a:ea typeface="Arial" pitchFamily="34" charset="-122"/>
                <a:cs typeface="Arial" pitchFamily="34" charset="-120"/>
              </a:rPr>
              <a:t>BUILD</a:t>
            </a:r>
            <a:endParaRPr lang="en-US" sz="1800" dirty="0"/>
          </a:p>
        </p:txBody>
      </p:sp>
      <p:sp>
        <p:nvSpPr>
          <p:cNvPr id="13" name="Text 11"/>
          <p:cNvSpPr/>
          <p:nvPr/>
        </p:nvSpPr>
        <p:spPr>
          <a:xfrm>
            <a:off x="4617720" y="4160520"/>
            <a:ext cx="2834640" cy="822960"/>
          </a:xfrm>
          <a:prstGeom prst="rect">
            <a:avLst/>
          </a:prstGeom>
          <a:noFill/>
          <a:ln/>
        </p:spPr>
        <p:txBody>
          <a:bodyPr wrap="square" lIns="0" tIns="0" rIns="0" bIns="0" rtlCol="0" anchor="t"/>
          <a:lstStyle/>
          <a:p>
            <a:pPr marL="0" indent="0">
              <a:lnSpc>
                <a:spcPts val="1900"/>
              </a:lnSpc>
              <a:buNone/>
            </a:pPr>
            <a:r>
              <a:rPr lang="en-US" sz="1300" dirty="0">
                <a:solidFill>
                  <a:srgbClr val="A6B0B9"/>
                </a:solidFill>
                <a:latin typeface="Calibri" pitchFamily="34" charset="0"/>
                <a:ea typeface="Calibri" pitchFamily="34" charset="-122"/>
                <a:cs typeface="Calibri" pitchFamily="34" charset="-120"/>
              </a:rPr>
              <a:t>Chart the path. Solve the problem. This is the decade of actual impact.</a:t>
            </a:r>
            <a:endParaRPr lang="en-US" sz="1300" dirty="0"/>
          </a:p>
        </p:txBody>
      </p:sp>
      <p:sp>
        <p:nvSpPr>
          <p:cNvPr id="14" name="Shape 12"/>
          <p:cNvSpPr/>
          <p:nvPr/>
        </p:nvSpPr>
        <p:spPr>
          <a:xfrm>
            <a:off x="8001000" y="2514600"/>
            <a:ext cx="3383280" cy="2606040"/>
          </a:xfrm>
          <a:prstGeom prst="rect">
            <a:avLst/>
          </a:prstGeom>
          <a:solidFill>
            <a:srgbClr val="F1F2F3"/>
          </a:solidFill>
          <a:ln/>
        </p:spPr>
      </p:sp>
      <p:sp>
        <p:nvSpPr>
          <p:cNvPr id="15" name="Text 13"/>
          <p:cNvSpPr/>
          <p:nvPr/>
        </p:nvSpPr>
        <p:spPr>
          <a:xfrm>
            <a:off x="8275320" y="2724912"/>
            <a:ext cx="2834640" cy="274320"/>
          </a:xfrm>
          <a:prstGeom prst="rect">
            <a:avLst/>
          </a:prstGeom>
          <a:noFill/>
          <a:ln/>
        </p:spPr>
        <p:txBody>
          <a:bodyPr wrap="square" lIns="0" tIns="0" rIns="0" bIns="0" rtlCol="0" anchor="t"/>
          <a:lstStyle/>
          <a:p>
            <a:pPr marL="0" indent="0">
              <a:buNone/>
            </a:pPr>
            <a:r>
              <a:rPr lang="en-US" sz="1200" b="1" kern="0" spc="200" dirty="0">
                <a:solidFill>
                  <a:srgbClr val="E39400"/>
                </a:solidFill>
                <a:latin typeface="Arial" pitchFamily="34" charset="0"/>
                <a:ea typeface="Arial" pitchFamily="34" charset="-122"/>
                <a:cs typeface="Arial" pitchFamily="34" charset="-120"/>
              </a:rPr>
              <a:t>DECADE 3</a:t>
            </a:r>
            <a:endParaRPr lang="en-US" sz="1200" dirty="0"/>
          </a:p>
        </p:txBody>
      </p:sp>
      <p:sp>
        <p:nvSpPr>
          <p:cNvPr id="16" name="Text 14"/>
          <p:cNvSpPr/>
          <p:nvPr/>
        </p:nvSpPr>
        <p:spPr>
          <a:xfrm>
            <a:off x="8275320" y="3054096"/>
            <a:ext cx="2834640" cy="548640"/>
          </a:xfrm>
          <a:prstGeom prst="rect">
            <a:avLst/>
          </a:prstGeom>
          <a:noFill/>
          <a:ln/>
        </p:spPr>
        <p:txBody>
          <a:bodyPr wrap="square" lIns="0" tIns="0" rIns="0" bIns="0" rtlCol="0" anchor="t"/>
          <a:lstStyle/>
          <a:p>
            <a:pPr marL="0" indent="0">
              <a:buNone/>
            </a:pPr>
            <a:r>
              <a:rPr lang="en-US" sz="3000" b="1" dirty="0">
                <a:solidFill>
                  <a:srgbClr val="0F1419"/>
                </a:solidFill>
                <a:latin typeface="Arial" pitchFamily="34" charset="0"/>
                <a:ea typeface="Arial" pitchFamily="34" charset="-122"/>
                <a:cs typeface="Arial" pitchFamily="34" charset="-120"/>
              </a:rPr>
              <a:t>46 – 56</a:t>
            </a:r>
            <a:endParaRPr lang="en-US" sz="3000" dirty="0"/>
          </a:p>
        </p:txBody>
      </p:sp>
      <p:sp>
        <p:nvSpPr>
          <p:cNvPr id="17" name="Text 15"/>
          <p:cNvSpPr/>
          <p:nvPr/>
        </p:nvSpPr>
        <p:spPr>
          <a:xfrm>
            <a:off x="8275320" y="3703320"/>
            <a:ext cx="2834640" cy="365760"/>
          </a:xfrm>
          <a:prstGeom prst="rect">
            <a:avLst/>
          </a:prstGeom>
          <a:noFill/>
          <a:ln/>
        </p:spPr>
        <p:txBody>
          <a:bodyPr wrap="square" lIns="0" tIns="0" rIns="0" bIns="0" rtlCol="0" anchor="t"/>
          <a:lstStyle/>
          <a:p>
            <a:pPr marL="0" indent="0">
              <a:buNone/>
            </a:pPr>
            <a:r>
              <a:rPr lang="en-US" sz="1800" b="1" dirty="0">
                <a:solidFill>
                  <a:srgbClr val="5D6773"/>
                </a:solidFill>
                <a:latin typeface="Arial" pitchFamily="34" charset="0"/>
                <a:ea typeface="Arial" pitchFamily="34" charset="-122"/>
                <a:cs typeface="Arial" pitchFamily="34" charset="-120"/>
              </a:rPr>
              <a:t>HAND OVER</a:t>
            </a:r>
            <a:endParaRPr lang="en-US" sz="1800" dirty="0"/>
          </a:p>
        </p:txBody>
      </p:sp>
      <p:sp>
        <p:nvSpPr>
          <p:cNvPr id="18" name="Text 16"/>
          <p:cNvSpPr/>
          <p:nvPr/>
        </p:nvSpPr>
        <p:spPr>
          <a:xfrm>
            <a:off x="8275320" y="4160520"/>
            <a:ext cx="28346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A team that continues and a system that outlives you.</a:t>
            </a:r>
            <a:endParaRPr lang="en-US" sz="1300" dirty="0"/>
          </a:p>
        </p:txBody>
      </p:sp>
      <p:sp>
        <p:nvSpPr>
          <p:cNvPr id="19" name="Text 17"/>
          <p:cNvSpPr/>
          <p:nvPr/>
        </p:nvSpPr>
        <p:spPr>
          <a:xfrm>
            <a:off x="685800" y="5349240"/>
            <a:ext cx="10515600" cy="411480"/>
          </a:xfrm>
          <a:prstGeom prst="rect">
            <a:avLst/>
          </a:prstGeom>
          <a:noFill/>
          <a:ln/>
        </p:spPr>
        <p:txBody>
          <a:bodyPr wrap="square" lIns="0" tIns="0" rIns="0" bIns="0" rtlCol="0" anchor="t"/>
          <a:lstStyle/>
          <a:p>
            <a:pPr marL="0" indent="0">
              <a:buNone/>
            </a:pPr>
            <a:r>
              <a:rPr lang="en-US" sz="1600" b="1" i="1" dirty="0">
                <a:solidFill>
                  <a:srgbClr val="0F1419"/>
                </a:solidFill>
                <a:latin typeface="Calibri" pitchFamily="34" charset="0"/>
                <a:ea typeface="Calibri" pitchFamily="34" charset="-122"/>
                <a:cs typeface="Calibri" pitchFamily="34" charset="-120"/>
              </a:rPr>
              <a:t>Whatever you intend to do — there is no time. Please do not waste it.</a:t>
            </a:r>
            <a:endParaRPr lang="en-US" sz="1600" dirty="0"/>
          </a:p>
        </p:txBody>
      </p:sp>
      <p:sp>
        <p:nvSpPr>
          <p:cNvPr id="20" name="Text 18"/>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21" name="Text 19"/>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1371600"/>
            <a:ext cx="3657600" cy="2377440"/>
          </a:xfrm>
          <a:prstGeom prst="rect">
            <a:avLst/>
          </a:prstGeom>
          <a:noFill/>
          <a:ln/>
        </p:spPr>
        <p:txBody>
          <a:bodyPr wrap="square" lIns="0" tIns="0" rIns="0" bIns="0" rtlCol="0" anchor="t"/>
          <a:lstStyle/>
          <a:p>
            <a:pPr marL="0" indent="0">
              <a:buNone/>
            </a:pPr>
            <a:r>
              <a:rPr lang="en-US" sz="15000" b="1" dirty="0">
                <a:solidFill>
                  <a:srgbClr val="1B2229"/>
                </a:solidFill>
                <a:latin typeface="Arial" pitchFamily="34" charset="0"/>
                <a:ea typeface="Arial" pitchFamily="34" charset="-122"/>
                <a:cs typeface="Arial" pitchFamily="34" charset="-120"/>
              </a:rPr>
              <a:t>04</a:t>
            </a:r>
            <a:endParaRPr lang="en-US" sz="15000" dirty="0"/>
          </a:p>
        </p:txBody>
      </p:sp>
      <p:sp>
        <p:nvSpPr>
          <p:cNvPr id="3" name="Shape 1"/>
          <p:cNvSpPr/>
          <p:nvPr/>
        </p:nvSpPr>
        <p:spPr>
          <a:xfrm>
            <a:off x="685800" y="3886200"/>
            <a:ext cx="1097280" cy="82296"/>
          </a:xfrm>
          <a:prstGeom prst="rect">
            <a:avLst/>
          </a:prstGeom>
          <a:solidFill>
            <a:srgbClr val="E39400"/>
          </a:solidFill>
          <a:ln/>
        </p:spPr>
      </p:sp>
      <p:sp>
        <p:nvSpPr>
          <p:cNvPr id="4" name="Text 2"/>
          <p:cNvSpPr/>
          <p:nvPr/>
        </p:nvSpPr>
        <p:spPr>
          <a:xfrm>
            <a:off x="685800" y="4206240"/>
            <a:ext cx="10515600" cy="9144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MISSING LINK</a:t>
            </a:r>
            <a:endParaRPr lang="en-US" sz="4600" dirty="0"/>
          </a:p>
        </p:txBody>
      </p:sp>
      <p:sp>
        <p:nvSpPr>
          <p:cNvPr id="5" name="Text 3"/>
          <p:cNvSpPr/>
          <p:nvPr/>
        </p:nvSpPr>
        <p:spPr>
          <a:xfrm>
            <a:off x="685800" y="5212080"/>
            <a:ext cx="9601200" cy="548640"/>
          </a:xfrm>
          <a:prstGeom prst="rect">
            <a:avLst/>
          </a:prstGeom>
          <a:noFill/>
          <a:ln/>
        </p:spPr>
        <p:txBody>
          <a:bodyPr wrap="square" lIns="0" tIns="0" rIns="0" bIns="0" rtlCol="0" anchor="t"/>
          <a:lstStyle/>
          <a:p>
            <a:pPr marL="0" indent="0">
              <a:buNone/>
            </a:pPr>
            <a:r>
              <a:rPr lang="en-US" sz="1700" dirty="0">
                <a:solidFill>
                  <a:srgbClr val="A6B0B9"/>
                </a:solidFill>
                <a:latin typeface="Calibri" pitchFamily="34" charset="0"/>
                <a:ea typeface="Calibri" pitchFamily="34" charset="-122"/>
                <a:cs typeface="Calibri" pitchFamily="34" charset="-120"/>
              </a:rPr>
              <a:t>The reason we cannot compete is not talent. It is that there is nowhere to test.</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TECHNOLOGY READINESS LEVELS</a:t>
            </a:r>
            <a:endParaRPr lang="en-US" sz="1200" dirty="0"/>
          </a:p>
        </p:txBody>
      </p:sp>
      <p:sp>
        <p:nvSpPr>
          <p:cNvPr id="3" name="Text 1"/>
          <p:cNvSpPr/>
          <p:nvPr/>
        </p:nvSpPr>
        <p:spPr>
          <a:xfrm>
            <a:off x="685800" y="868680"/>
            <a:ext cx="10515600" cy="1737360"/>
          </a:xfrm>
          <a:prstGeom prst="rect">
            <a:avLst/>
          </a:prstGeom>
          <a:noFill/>
          <a:ln/>
        </p:spPr>
        <p:txBody>
          <a:bodyPr wrap="square" lIns="0" tIns="0" rIns="0" bIns="0" rtlCol="0" anchor="t"/>
          <a:lstStyle/>
          <a:p>
            <a:pPr marL="0" indent="0">
              <a:lnSpc>
                <a:spcPts val="4600"/>
              </a:lnSpc>
              <a:buNone/>
            </a:pPr>
            <a:r>
              <a:rPr lang="en-US" sz="3800" b="1" dirty="0">
                <a:solidFill>
                  <a:srgbClr val="0F1419"/>
                </a:solidFill>
                <a:latin typeface="Arial" pitchFamily="34" charset="0"/>
                <a:ea typeface="Arial" pitchFamily="34" charset="-122"/>
                <a:cs typeface="Arial" pitchFamily="34" charset="-120"/>
              </a:rPr>
              <a:t>We fund the beginning.</a:t>
            </a:r>
            <a:endParaRPr lang="en-US" sz="3800" dirty="0"/>
          </a:p>
          <a:p>
            <a:pPr marL="0" indent="0">
              <a:lnSpc>
                <a:spcPts val="4600"/>
              </a:lnSpc>
              <a:buNone/>
            </a:pPr>
            <a:r>
              <a:rPr lang="en-US" sz="3800" b="1" dirty="0">
                <a:solidFill>
                  <a:srgbClr val="0F1419"/>
                </a:solidFill>
                <a:latin typeface="Arial" pitchFamily="34" charset="0"/>
                <a:ea typeface="Arial" pitchFamily="34" charset="-122"/>
                <a:cs typeface="Arial" pitchFamily="34" charset="-120"/>
              </a:rPr>
              <a:t>We buy the end.</a:t>
            </a:r>
            <a:endParaRPr lang="en-US" sz="3800" dirty="0"/>
          </a:p>
          <a:p>
            <a:pPr marL="0" indent="0">
              <a:lnSpc>
                <a:spcPts val="4600"/>
              </a:lnSpc>
              <a:buNone/>
            </a:pPr>
            <a:r>
              <a:rPr lang="en-US" sz="3800" b="1" dirty="0">
                <a:solidFill>
                  <a:srgbClr val="0F1419"/>
                </a:solidFill>
                <a:latin typeface="Arial" pitchFamily="34" charset="0"/>
                <a:ea typeface="Arial" pitchFamily="34" charset="-122"/>
                <a:cs typeface="Arial" pitchFamily="34" charset="-120"/>
              </a:rPr>
              <a:t>We own no middle.</a:t>
            </a:r>
            <a:endParaRPr lang="en-US" sz="3800" dirty="0"/>
          </a:p>
        </p:txBody>
      </p:sp>
      <p:sp>
        <p:nvSpPr>
          <p:cNvPr id="4" name="Shape 2"/>
          <p:cNvSpPr/>
          <p:nvPr/>
        </p:nvSpPr>
        <p:spPr>
          <a:xfrm>
            <a:off x="685800" y="2926080"/>
            <a:ext cx="3383280" cy="2514600"/>
          </a:xfrm>
          <a:prstGeom prst="rect">
            <a:avLst/>
          </a:prstGeom>
          <a:solidFill>
            <a:srgbClr val="F1F2F3"/>
          </a:solidFill>
          <a:ln/>
        </p:spPr>
      </p:sp>
      <p:sp>
        <p:nvSpPr>
          <p:cNvPr id="5" name="Text 3"/>
          <p:cNvSpPr/>
          <p:nvPr/>
        </p:nvSpPr>
        <p:spPr>
          <a:xfrm>
            <a:off x="960120" y="3127248"/>
            <a:ext cx="2834640" cy="320040"/>
          </a:xfrm>
          <a:prstGeom prst="rect">
            <a:avLst/>
          </a:prstGeom>
          <a:noFill/>
          <a:ln/>
        </p:spPr>
        <p:txBody>
          <a:bodyPr wrap="square" lIns="0" tIns="0" rIns="0" bIns="0" rtlCol="0" anchor="t"/>
          <a:lstStyle/>
          <a:p>
            <a:pPr marL="0" indent="0">
              <a:buNone/>
            </a:pPr>
            <a:r>
              <a:rPr lang="en-US" sz="1300" b="1" kern="0" spc="200" dirty="0">
                <a:solidFill>
                  <a:srgbClr val="046A38"/>
                </a:solidFill>
                <a:latin typeface="Arial" pitchFamily="34" charset="0"/>
                <a:ea typeface="Arial" pitchFamily="34" charset="-122"/>
                <a:cs typeface="Arial" pitchFamily="34" charset="-120"/>
              </a:rPr>
              <a:t>TRL 1 – 3</a:t>
            </a:r>
            <a:endParaRPr lang="en-US" sz="1300" dirty="0"/>
          </a:p>
        </p:txBody>
      </p:sp>
      <p:sp>
        <p:nvSpPr>
          <p:cNvPr id="6" name="Text 4"/>
          <p:cNvSpPr/>
          <p:nvPr/>
        </p:nvSpPr>
        <p:spPr>
          <a:xfrm>
            <a:off x="960120" y="3502152"/>
            <a:ext cx="2834640" cy="685800"/>
          </a:xfrm>
          <a:prstGeom prst="rect">
            <a:avLst/>
          </a:prstGeom>
          <a:noFill/>
          <a:ln/>
        </p:spPr>
        <p:txBody>
          <a:bodyPr wrap="square" lIns="0" tIns="0" rIns="0" bIns="0" rtlCol="0" anchor="t"/>
          <a:lstStyle/>
          <a:p>
            <a:pPr marL="0" indent="0">
              <a:lnSpc>
                <a:spcPts val="2400"/>
              </a:lnSpc>
              <a:buNone/>
            </a:pPr>
            <a:r>
              <a:rPr lang="en-US" sz="1900" b="1" dirty="0">
                <a:solidFill>
                  <a:srgbClr val="0F1419"/>
                </a:solidFill>
                <a:latin typeface="Arial" pitchFamily="34" charset="0"/>
                <a:ea typeface="Arial" pitchFamily="34" charset="-122"/>
                <a:cs typeface="Arial" pitchFamily="34" charset="-120"/>
              </a:rPr>
              <a:t>BASIC RESEARCH</a:t>
            </a:r>
            <a:endParaRPr lang="en-US" sz="1900" dirty="0"/>
          </a:p>
        </p:txBody>
      </p:sp>
      <p:sp>
        <p:nvSpPr>
          <p:cNvPr id="7" name="Text 5"/>
          <p:cNvSpPr/>
          <p:nvPr/>
        </p:nvSpPr>
        <p:spPr>
          <a:xfrm>
            <a:off x="960120" y="4279392"/>
            <a:ext cx="2834640" cy="100584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Concept and proof of principle. The university does this well.</a:t>
            </a:r>
            <a:endParaRPr lang="en-US" sz="1300" dirty="0"/>
          </a:p>
        </p:txBody>
      </p:sp>
      <p:sp>
        <p:nvSpPr>
          <p:cNvPr id="8" name="Shape 6"/>
          <p:cNvSpPr/>
          <p:nvPr/>
        </p:nvSpPr>
        <p:spPr>
          <a:xfrm>
            <a:off x="4343400" y="2926080"/>
            <a:ext cx="3383280" cy="2514600"/>
          </a:xfrm>
          <a:prstGeom prst="rect">
            <a:avLst/>
          </a:prstGeom>
          <a:solidFill>
            <a:srgbClr val="0F1419"/>
          </a:solidFill>
          <a:ln/>
        </p:spPr>
      </p:sp>
      <p:sp>
        <p:nvSpPr>
          <p:cNvPr id="9" name="Text 7"/>
          <p:cNvSpPr/>
          <p:nvPr/>
        </p:nvSpPr>
        <p:spPr>
          <a:xfrm>
            <a:off x="4617720" y="3127248"/>
            <a:ext cx="2834640" cy="320040"/>
          </a:xfrm>
          <a:prstGeom prst="rect">
            <a:avLst/>
          </a:prstGeom>
          <a:noFill/>
          <a:ln/>
        </p:spPr>
        <p:txBody>
          <a:bodyPr wrap="square" lIns="0" tIns="0" rIns="0" bIns="0" rtlCol="0" anchor="t"/>
          <a:lstStyle/>
          <a:p>
            <a:pPr marL="0" indent="0">
              <a:buNone/>
            </a:pPr>
            <a:r>
              <a:rPr lang="en-US" sz="1300" b="1" kern="0" spc="200" dirty="0">
                <a:solidFill>
                  <a:srgbClr val="E39400"/>
                </a:solidFill>
                <a:latin typeface="Arial" pitchFamily="34" charset="0"/>
                <a:ea typeface="Arial" pitchFamily="34" charset="-122"/>
                <a:cs typeface="Arial" pitchFamily="34" charset="-120"/>
              </a:rPr>
              <a:t>TRL 4 – 7</a:t>
            </a:r>
            <a:endParaRPr lang="en-US" sz="1300" dirty="0"/>
          </a:p>
        </p:txBody>
      </p:sp>
      <p:sp>
        <p:nvSpPr>
          <p:cNvPr id="10" name="Text 8"/>
          <p:cNvSpPr/>
          <p:nvPr/>
        </p:nvSpPr>
        <p:spPr>
          <a:xfrm>
            <a:off x="4617720" y="3502152"/>
            <a:ext cx="2834640" cy="685800"/>
          </a:xfrm>
          <a:prstGeom prst="rect">
            <a:avLst/>
          </a:prstGeom>
          <a:noFill/>
          <a:ln/>
        </p:spPr>
        <p:txBody>
          <a:bodyPr wrap="square" lIns="0" tIns="0" rIns="0" bIns="0" rtlCol="0" anchor="t"/>
          <a:lstStyle/>
          <a:p>
            <a:pPr marL="0" indent="0">
              <a:lnSpc>
                <a:spcPts val="2400"/>
              </a:lnSpc>
              <a:buNone/>
            </a:pPr>
            <a:r>
              <a:rPr lang="en-US" sz="1900" b="1" dirty="0">
                <a:solidFill>
                  <a:srgbClr val="FFFFFF"/>
                </a:solidFill>
                <a:latin typeface="Arial" pitchFamily="34" charset="0"/>
                <a:ea typeface="Arial" pitchFamily="34" charset="-122"/>
                <a:cs typeface="Arial" pitchFamily="34" charset="-120"/>
              </a:rPr>
              <a:t>THE VALLEY OF DEATH</a:t>
            </a:r>
            <a:endParaRPr lang="en-US" sz="1900" dirty="0"/>
          </a:p>
        </p:txBody>
      </p:sp>
      <p:sp>
        <p:nvSpPr>
          <p:cNvPr id="11" name="Text 9"/>
          <p:cNvSpPr/>
          <p:nvPr/>
        </p:nvSpPr>
        <p:spPr>
          <a:xfrm>
            <a:off x="4617720" y="4279392"/>
            <a:ext cx="2834640" cy="1005840"/>
          </a:xfrm>
          <a:prstGeom prst="rect">
            <a:avLst/>
          </a:prstGeom>
          <a:noFill/>
          <a:ln/>
        </p:spPr>
        <p:txBody>
          <a:bodyPr wrap="square" lIns="0" tIns="0" rIns="0" bIns="0" rtlCol="0" anchor="t"/>
          <a:lstStyle/>
          <a:p>
            <a:pPr marL="0" indent="0">
              <a:lnSpc>
                <a:spcPts val="1900"/>
              </a:lnSpc>
              <a:buNone/>
            </a:pPr>
            <a:r>
              <a:rPr lang="en-US" sz="1300" dirty="0">
                <a:solidFill>
                  <a:srgbClr val="A6B0B9"/>
                </a:solidFill>
                <a:latin typeface="Calibri" pitchFamily="34" charset="0"/>
                <a:ea typeface="Calibri" pitchFamily="34" charset="-122"/>
                <a:cs typeface="Calibri" pitchFamily="34" charset="-120"/>
              </a:rPr>
              <a:t>Validated in a relevant environment. Demonstrated under real operating conditions. Nigeria has almost nothing here.</a:t>
            </a:r>
            <a:endParaRPr lang="en-US" sz="1300" dirty="0"/>
          </a:p>
        </p:txBody>
      </p:sp>
      <p:sp>
        <p:nvSpPr>
          <p:cNvPr id="12" name="Shape 10"/>
          <p:cNvSpPr/>
          <p:nvPr/>
        </p:nvSpPr>
        <p:spPr>
          <a:xfrm>
            <a:off x="8001000" y="2926080"/>
            <a:ext cx="3383280" cy="2514600"/>
          </a:xfrm>
          <a:prstGeom prst="rect">
            <a:avLst/>
          </a:prstGeom>
          <a:solidFill>
            <a:srgbClr val="F1F2F3"/>
          </a:solidFill>
          <a:ln/>
        </p:spPr>
      </p:sp>
      <p:sp>
        <p:nvSpPr>
          <p:cNvPr id="13" name="Text 11"/>
          <p:cNvSpPr/>
          <p:nvPr/>
        </p:nvSpPr>
        <p:spPr>
          <a:xfrm>
            <a:off x="8275320" y="3127248"/>
            <a:ext cx="2834640" cy="320040"/>
          </a:xfrm>
          <a:prstGeom prst="rect">
            <a:avLst/>
          </a:prstGeom>
          <a:noFill/>
          <a:ln/>
        </p:spPr>
        <p:txBody>
          <a:bodyPr wrap="square" lIns="0" tIns="0" rIns="0" bIns="0" rtlCol="0" anchor="t"/>
          <a:lstStyle/>
          <a:p>
            <a:pPr marL="0" indent="0">
              <a:buNone/>
            </a:pPr>
            <a:r>
              <a:rPr lang="en-US" sz="1300" b="1" kern="0" spc="200" dirty="0">
                <a:solidFill>
                  <a:srgbClr val="046A38"/>
                </a:solidFill>
                <a:latin typeface="Arial" pitchFamily="34" charset="0"/>
                <a:ea typeface="Arial" pitchFamily="34" charset="-122"/>
                <a:cs typeface="Arial" pitchFamily="34" charset="-120"/>
              </a:rPr>
              <a:t>TRL 8 – 9</a:t>
            </a:r>
            <a:endParaRPr lang="en-US" sz="1300" dirty="0"/>
          </a:p>
        </p:txBody>
      </p:sp>
      <p:sp>
        <p:nvSpPr>
          <p:cNvPr id="14" name="Text 12"/>
          <p:cNvSpPr/>
          <p:nvPr/>
        </p:nvSpPr>
        <p:spPr>
          <a:xfrm>
            <a:off x="8275320" y="3502152"/>
            <a:ext cx="2834640" cy="685800"/>
          </a:xfrm>
          <a:prstGeom prst="rect">
            <a:avLst/>
          </a:prstGeom>
          <a:noFill/>
          <a:ln/>
        </p:spPr>
        <p:txBody>
          <a:bodyPr wrap="square" lIns="0" tIns="0" rIns="0" bIns="0" rtlCol="0" anchor="t"/>
          <a:lstStyle/>
          <a:p>
            <a:pPr marL="0" indent="0">
              <a:lnSpc>
                <a:spcPts val="2400"/>
              </a:lnSpc>
              <a:buNone/>
            </a:pPr>
            <a:r>
              <a:rPr lang="en-US" sz="1900" b="1" dirty="0">
                <a:solidFill>
                  <a:srgbClr val="0F1419"/>
                </a:solidFill>
                <a:latin typeface="Arial" pitchFamily="34" charset="0"/>
                <a:ea typeface="Arial" pitchFamily="34" charset="-122"/>
                <a:cs typeface="Arial" pitchFamily="34" charset="-120"/>
              </a:rPr>
              <a:t>PROVEN SYSTEM</a:t>
            </a:r>
            <a:endParaRPr lang="en-US" sz="1900" dirty="0"/>
          </a:p>
        </p:txBody>
      </p:sp>
      <p:sp>
        <p:nvSpPr>
          <p:cNvPr id="15" name="Text 13"/>
          <p:cNvSpPr/>
          <p:nvPr/>
        </p:nvSpPr>
        <p:spPr>
          <a:xfrm>
            <a:off x="8275320" y="4279392"/>
            <a:ext cx="2834640" cy="100584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Qualified and operating in the real world. This is what we import.</a:t>
            </a:r>
            <a:endParaRPr lang="en-US" sz="1300" dirty="0"/>
          </a:p>
        </p:txBody>
      </p:sp>
      <p:sp>
        <p:nvSpPr>
          <p:cNvPr id="16" name="Text 14"/>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7" name="Text 15"/>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PROPOSAL</a:t>
            </a:r>
            <a:endParaRPr lang="en-US" sz="1200" dirty="0"/>
          </a:p>
        </p:txBody>
      </p:sp>
      <p:sp>
        <p:nvSpPr>
          <p:cNvPr id="3" name="Text 1"/>
          <p:cNvSpPr/>
          <p:nvPr/>
        </p:nvSpPr>
        <p:spPr>
          <a:xfrm>
            <a:off x="685800" y="1005840"/>
            <a:ext cx="10515600" cy="2011680"/>
          </a:xfrm>
          <a:prstGeom prst="rect">
            <a:avLst/>
          </a:prstGeom>
          <a:noFill/>
          <a:ln/>
        </p:spPr>
        <p:txBody>
          <a:bodyPr wrap="square" lIns="0" tIns="0" rIns="0" bIns="0" rtlCol="0" anchor="t"/>
          <a:lstStyle/>
          <a:p>
            <a:pPr marL="0" indent="0">
              <a:lnSpc>
                <a:spcPts val="7000"/>
              </a:lnSpc>
              <a:buNone/>
            </a:pPr>
            <a:r>
              <a:rPr lang="en-US" sz="6600" b="1" dirty="0">
                <a:solidFill>
                  <a:srgbClr val="FFFFFF"/>
                </a:solidFill>
                <a:latin typeface="Arial" pitchFamily="34" charset="0"/>
                <a:ea typeface="Arial" pitchFamily="34" charset="-122"/>
                <a:cs typeface="Arial" pitchFamily="34" charset="-120"/>
              </a:rPr>
              <a:t>BUILD</a:t>
            </a:r>
            <a:endParaRPr lang="en-US" sz="6600" dirty="0"/>
          </a:p>
          <a:p>
            <a:pPr marL="0" indent="0">
              <a:lnSpc>
                <a:spcPts val="7000"/>
              </a:lnSpc>
              <a:buNone/>
            </a:pPr>
            <a:r>
              <a:rPr lang="en-US" sz="6600" b="1" dirty="0">
                <a:solidFill>
                  <a:srgbClr val="FFFFFF"/>
                </a:solidFill>
                <a:latin typeface="Arial" pitchFamily="34" charset="0"/>
                <a:ea typeface="Arial" pitchFamily="34" charset="-122"/>
                <a:cs typeface="Arial" pitchFamily="34" charset="-120"/>
              </a:rPr>
              <a:t>THE SANDBOX</a:t>
            </a:r>
            <a:endParaRPr lang="en-US" sz="6600" dirty="0"/>
          </a:p>
        </p:txBody>
      </p:sp>
      <p:sp>
        <p:nvSpPr>
          <p:cNvPr id="4" name="Shape 2"/>
          <p:cNvSpPr/>
          <p:nvPr/>
        </p:nvSpPr>
        <p:spPr>
          <a:xfrm>
            <a:off x="685800" y="3291840"/>
            <a:ext cx="1097280" cy="82296"/>
          </a:xfrm>
          <a:prstGeom prst="rect">
            <a:avLst/>
          </a:prstGeom>
          <a:solidFill>
            <a:srgbClr val="E39400"/>
          </a:solidFill>
          <a:ln/>
        </p:spPr>
      </p:sp>
      <p:sp>
        <p:nvSpPr>
          <p:cNvPr id="5" name="Text 3"/>
          <p:cNvSpPr/>
          <p:nvPr/>
        </p:nvSpPr>
        <p:spPr>
          <a:xfrm>
            <a:off x="685800" y="3639312"/>
            <a:ext cx="10241280" cy="1463040"/>
          </a:xfrm>
          <a:prstGeom prst="rect">
            <a:avLst/>
          </a:prstGeom>
          <a:noFill/>
          <a:ln/>
        </p:spPr>
        <p:txBody>
          <a:bodyPr wrap="square" lIns="0" tIns="0" rIns="0" bIns="0" rtlCol="0" anchor="t"/>
          <a:lstStyle/>
          <a:p>
            <a:pPr marL="0" indent="0">
              <a:lnSpc>
                <a:spcPts val="3800"/>
              </a:lnSpc>
              <a:buNone/>
            </a:pPr>
            <a:r>
              <a:rPr lang="en-US" sz="2600" b="1" dirty="0">
                <a:solidFill>
                  <a:srgbClr val="E39400"/>
                </a:solidFill>
                <a:latin typeface="Arial" pitchFamily="34" charset="0"/>
                <a:ea typeface="Arial" pitchFamily="34" charset="-122"/>
                <a:cs typeface="Arial" pitchFamily="34" charset="-120"/>
              </a:rPr>
              <a:t>A faithful similitude of the real operating environment, in which anything can be attempted under real conditions — but without real consequences in the real world.</a:t>
            </a:r>
            <a:endParaRPr lang="en-US" sz="2600" dirty="0"/>
          </a:p>
        </p:txBody>
      </p:sp>
      <p:sp>
        <p:nvSpPr>
          <p:cNvPr id="6" name="Text 4"/>
          <p:cNvSpPr/>
          <p:nvPr/>
        </p:nvSpPr>
        <p:spPr>
          <a:xfrm>
            <a:off x="685800" y="5376672"/>
            <a:ext cx="10241280" cy="777240"/>
          </a:xfrm>
          <a:prstGeom prst="rect">
            <a:avLst/>
          </a:prstGeom>
          <a:noFill/>
          <a:ln/>
        </p:spPr>
        <p:txBody>
          <a:bodyPr wrap="square" lIns="0" tIns="0" rIns="0" bIns="0" rtlCol="0" anchor="t"/>
          <a:lstStyle/>
          <a:p>
            <a:pPr marL="0" indent="0">
              <a:lnSpc>
                <a:spcPts val="2300"/>
              </a:lnSpc>
              <a:buNone/>
            </a:pPr>
            <a:r>
              <a:rPr lang="en-US" sz="1500" dirty="0">
                <a:solidFill>
                  <a:srgbClr val="A6B0B9"/>
                </a:solidFill>
                <a:latin typeface="Calibri" pitchFamily="34" charset="0"/>
                <a:ea typeface="Calibri" pitchFamily="34" charset="-122"/>
                <a:cs typeface="Calibri" pitchFamily="34" charset="-120"/>
              </a:rPr>
              <a:t>The formal engineering name is shadow deployment, or parallel running. The candidate system processes live data alongside the incumbent — and its outputs are measured, but never acted upon.</a:t>
            </a:r>
            <a:endParaRPr lang="en-US" sz="1500" dirty="0"/>
          </a:p>
        </p:txBody>
      </p:sp>
      <p:sp>
        <p:nvSpPr>
          <p:cNvPr id="7" name="Text 5"/>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586470"/>
                </a:solidFill>
                <a:latin typeface="Calibri" pitchFamily="34" charset="0"/>
                <a:ea typeface="Calibri" pitchFamily="34" charset="-122"/>
                <a:cs typeface="Calibri" pitchFamily="34" charset="-120"/>
              </a:rPr>
              <a:t>Securing the Future  ·  NSE Ibadan 2026</a:t>
            </a:r>
            <a:endParaRPr lang="en-US" sz="900" dirty="0"/>
          </a:p>
        </p:txBody>
      </p:sp>
      <p:sp>
        <p:nvSpPr>
          <p:cNvPr id="8" name="Text 6"/>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5864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THIS IS NOT A NEW IDEA</a:t>
            </a:r>
            <a:endParaRPr lang="en-US" sz="1200" dirty="0"/>
          </a:p>
        </p:txBody>
      </p:sp>
      <p:sp>
        <p:nvSpPr>
          <p:cNvPr id="3" name="Text 1"/>
          <p:cNvSpPr/>
          <p:nvPr/>
        </p:nvSpPr>
        <p:spPr>
          <a:xfrm>
            <a:off x="685800" y="868680"/>
            <a:ext cx="10515600" cy="1737360"/>
          </a:xfrm>
          <a:prstGeom prst="rect">
            <a:avLst/>
          </a:prstGeom>
          <a:noFill/>
          <a:ln/>
        </p:spPr>
        <p:txBody>
          <a:bodyPr wrap="square" lIns="0" tIns="0" rIns="0" bIns="0" rtlCol="0" anchor="t"/>
          <a:lstStyle/>
          <a:p>
            <a:pPr marL="0" indent="0">
              <a:lnSpc>
                <a:spcPts val="4400"/>
              </a:lnSpc>
              <a:buNone/>
            </a:pPr>
            <a:r>
              <a:rPr lang="en-US" sz="3600" b="1" dirty="0">
                <a:solidFill>
                  <a:srgbClr val="0F1419"/>
                </a:solidFill>
                <a:latin typeface="Arial" pitchFamily="34" charset="0"/>
                <a:ea typeface="Arial" pitchFamily="34" charset="-122"/>
                <a:cs typeface="Arial" pitchFamily="34" charset="-120"/>
              </a:rPr>
              <a:t>Nigeria already runs a sandbox.</a:t>
            </a:r>
            <a:endParaRPr lang="en-US" sz="3600" dirty="0"/>
          </a:p>
          <a:p>
            <a:pPr marL="0" indent="0">
              <a:lnSpc>
                <a:spcPts val="4400"/>
              </a:lnSpc>
              <a:buNone/>
            </a:pPr>
            <a:r>
              <a:rPr lang="en-US" sz="3600" b="1" dirty="0">
                <a:solidFill>
                  <a:srgbClr val="0F1419"/>
                </a:solidFill>
                <a:latin typeface="Arial" pitchFamily="34" charset="0"/>
                <a:ea typeface="Arial" pitchFamily="34" charset="-122"/>
                <a:cs typeface="Arial" pitchFamily="34" charset="-120"/>
              </a:rPr>
              <a:t>We just built it for money,</a:t>
            </a:r>
            <a:endParaRPr lang="en-US" sz="3600" dirty="0"/>
          </a:p>
          <a:p>
            <a:pPr marL="0" indent="0">
              <a:lnSpc>
                <a:spcPts val="4400"/>
              </a:lnSpc>
              <a:buNone/>
            </a:pPr>
            <a:r>
              <a:rPr lang="en-US" sz="3600" b="1" dirty="0">
                <a:solidFill>
                  <a:srgbClr val="0F1419"/>
                </a:solidFill>
                <a:latin typeface="Arial" pitchFamily="34" charset="0"/>
                <a:ea typeface="Arial" pitchFamily="34" charset="-122"/>
                <a:cs typeface="Arial" pitchFamily="34" charset="-120"/>
              </a:rPr>
              <a:t>not for machines.</a:t>
            </a:r>
            <a:endParaRPr lang="en-US" sz="3600" dirty="0"/>
          </a:p>
        </p:txBody>
      </p:sp>
      <p:sp>
        <p:nvSpPr>
          <p:cNvPr id="4" name="Text 2"/>
          <p:cNvSpPr/>
          <p:nvPr/>
        </p:nvSpPr>
        <p:spPr>
          <a:xfrm>
            <a:off x="685800" y="2926080"/>
            <a:ext cx="2468880" cy="685800"/>
          </a:xfrm>
          <a:prstGeom prst="rect">
            <a:avLst/>
          </a:prstGeom>
          <a:noFill/>
          <a:ln/>
        </p:spPr>
        <p:txBody>
          <a:bodyPr wrap="square" lIns="0" tIns="0" rIns="0" bIns="0" rtlCol="0" anchor="t"/>
          <a:lstStyle/>
          <a:p>
            <a:pPr marL="0" indent="0">
              <a:buNone/>
            </a:pPr>
            <a:r>
              <a:rPr lang="en-US" sz="3800" b="1" dirty="0">
                <a:solidFill>
                  <a:srgbClr val="E39400"/>
                </a:solidFill>
                <a:latin typeface="Arial" pitchFamily="34" charset="0"/>
                <a:ea typeface="Arial" pitchFamily="34" charset="-122"/>
                <a:cs typeface="Arial" pitchFamily="34" charset="-120"/>
              </a:rPr>
              <a:t>2016</a:t>
            </a:r>
            <a:endParaRPr lang="en-US" sz="3800" dirty="0"/>
          </a:p>
        </p:txBody>
      </p:sp>
      <p:sp>
        <p:nvSpPr>
          <p:cNvPr id="5" name="Text 3"/>
          <p:cNvSpPr/>
          <p:nvPr/>
        </p:nvSpPr>
        <p:spPr>
          <a:xfrm>
            <a:off x="685800" y="3675888"/>
            <a:ext cx="2468880" cy="11887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UK Financial Conduct Authority creates the first regulatory sandbox.</a:t>
            </a:r>
            <a:endParaRPr lang="en-US" sz="1300" dirty="0"/>
          </a:p>
        </p:txBody>
      </p:sp>
      <p:sp>
        <p:nvSpPr>
          <p:cNvPr id="6" name="Text 4"/>
          <p:cNvSpPr/>
          <p:nvPr/>
        </p:nvSpPr>
        <p:spPr>
          <a:xfrm>
            <a:off x="3429000" y="2926080"/>
            <a:ext cx="2468880" cy="685800"/>
          </a:xfrm>
          <a:prstGeom prst="rect">
            <a:avLst/>
          </a:prstGeom>
          <a:noFill/>
          <a:ln/>
        </p:spPr>
        <p:txBody>
          <a:bodyPr wrap="square" lIns="0" tIns="0" rIns="0" bIns="0" rtlCol="0" anchor="t"/>
          <a:lstStyle/>
          <a:p>
            <a:pPr marL="0" indent="0">
              <a:buNone/>
            </a:pPr>
            <a:r>
              <a:rPr lang="en-US" sz="3800" b="1" dirty="0">
                <a:solidFill>
                  <a:srgbClr val="E39400"/>
                </a:solidFill>
                <a:latin typeface="Arial" pitchFamily="34" charset="0"/>
                <a:ea typeface="Arial" pitchFamily="34" charset="-122"/>
                <a:cs typeface="Arial" pitchFamily="34" charset="-120"/>
              </a:rPr>
              <a:t>60+</a:t>
            </a:r>
            <a:endParaRPr lang="en-US" sz="3800" dirty="0"/>
          </a:p>
        </p:txBody>
      </p:sp>
      <p:sp>
        <p:nvSpPr>
          <p:cNvPr id="7" name="Text 5"/>
          <p:cNvSpPr/>
          <p:nvPr/>
        </p:nvSpPr>
        <p:spPr>
          <a:xfrm>
            <a:off x="3429000" y="3675888"/>
            <a:ext cx="2468880" cy="11887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countries have since adopted the model; Africa now hosts one of the largest clusters.</a:t>
            </a:r>
            <a:endParaRPr lang="en-US" sz="1300" dirty="0"/>
          </a:p>
        </p:txBody>
      </p:sp>
      <p:sp>
        <p:nvSpPr>
          <p:cNvPr id="8" name="Text 6"/>
          <p:cNvSpPr/>
          <p:nvPr/>
        </p:nvSpPr>
        <p:spPr>
          <a:xfrm>
            <a:off x="6172200" y="2926080"/>
            <a:ext cx="2468880" cy="685800"/>
          </a:xfrm>
          <a:prstGeom prst="rect">
            <a:avLst/>
          </a:prstGeom>
          <a:noFill/>
          <a:ln/>
        </p:spPr>
        <p:txBody>
          <a:bodyPr wrap="square" lIns="0" tIns="0" rIns="0" bIns="0" rtlCol="0" anchor="t"/>
          <a:lstStyle/>
          <a:p>
            <a:pPr marL="0" indent="0">
              <a:buNone/>
            </a:pPr>
            <a:r>
              <a:rPr lang="en-US" sz="3800" b="1" dirty="0">
                <a:solidFill>
                  <a:srgbClr val="E39400"/>
                </a:solidFill>
                <a:latin typeface="Arial" pitchFamily="34" charset="0"/>
                <a:ea typeface="Arial" pitchFamily="34" charset="-122"/>
                <a:cs typeface="Arial" pitchFamily="34" charset="-120"/>
              </a:rPr>
              <a:t>2021</a:t>
            </a:r>
            <a:endParaRPr lang="en-US" sz="3800" dirty="0"/>
          </a:p>
        </p:txBody>
      </p:sp>
      <p:sp>
        <p:nvSpPr>
          <p:cNvPr id="9" name="Text 7"/>
          <p:cNvSpPr/>
          <p:nvPr/>
        </p:nvSpPr>
        <p:spPr>
          <a:xfrm>
            <a:off x="6172200" y="3675888"/>
            <a:ext cx="2468880" cy="11887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The Central Bank of Nigeria issues its Framework for Regulatory Sandbox Operations.</a:t>
            </a:r>
            <a:endParaRPr lang="en-US" sz="1300" dirty="0"/>
          </a:p>
        </p:txBody>
      </p:sp>
      <p:sp>
        <p:nvSpPr>
          <p:cNvPr id="10" name="Text 8"/>
          <p:cNvSpPr/>
          <p:nvPr/>
        </p:nvSpPr>
        <p:spPr>
          <a:xfrm>
            <a:off x="8915400" y="2926080"/>
            <a:ext cx="2468880" cy="685800"/>
          </a:xfrm>
          <a:prstGeom prst="rect">
            <a:avLst/>
          </a:prstGeom>
          <a:noFill/>
          <a:ln/>
        </p:spPr>
        <p:txBody>
          <a:bodyPr wrap="square" lIns="0" tIns="0" rIns="0" bIns="0" rtlCol="0" anchor="t"/>
          <a:lstStyle/>
          <a:p>
            <a:pPr marL="0" indent="0">
              <a:buNone/>
            </a:pPr>
            <a:r>
              <a:rPr lang="en-US" sz="3800" b="1" dirty="0">
                <a:solidFill>
                  <a:srgbClr val="E39400"/>
                </a:solidFill>
                <a:latin typeface="Arial" pitchFamily="34" charset="0"/>
                <a:ea typeface="Arial" pitchFamily="34" charset="-122"/>
                <a:cs typeface="Arial" pitchFamily="34" charset="-120"/>
              </a:rPr>
              <a:t>ARIP</a:t>
            </a:r>
            <a:endParaRPr lang="en-US" sz="3800" dirty="0"/>
          </a:p>
        </p:txBody>
      </p:sp>
      <p:sp>
        <p:nvSpPr>
          <p:cNvPr id="11" name="Text 9"/>
          <p:cNvSpPr/>
          <p:nvPr/>
        </p:nvSpPr>
        <p:spPr>
          <a:xfrm>
            <a:off x="8915400" y="3675888"/>
            <a:ext cx="2468880" cy="118872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The SEC runs a parallel Accelerated Regulatory Incubation Programme.</a:t>
            </a:r>
            <a:endParaRPr lang="en-US" sz="1300" dirty="0"/>
          </a:p>
        </p:txBody>
      </p:sp>
      <p:sp>
        <p:nvSpPr>
          <p:cNvPr id="12" name="Shape 10"/>
          <p:cNvSpPr/>
          <p:nvPr/>
        </p:nvSpPr>
        <p:spPr>
          <a:xfrm>
            <a:off x="685800" y="5029200"/>
            <a:ext cx="10820095" cy="1051560"/>
          </a:xfrm>
          <a:prstGeom prst="rect">
            <a:avLst/>
          </a:prstGeom>
          <a:solidFill>
            <a:srgbClr val="0F1419"/>
          </a:solidFill>
          <a:ln/>
        </p:spPr>
      </p:sp>
      <p:sp>
        <p:nvSpPr>
          <p:cNvPr id="13" name="Text 11"/>
          <p:cNvSpPr/>
          <p:nvPr/>
        </p:nvSpPr>
        <p:spPr>
          <a:xfrm>
            <a:off x="978408" y="5193792"/>
            <a:ext cx="10234879" cy="731520"/>
          </a:xfrm>
          <a:prstGeom prst="rect">
            <a:avLst/>
          </a:prstGeom>
          <a:noFill/>
          <a:ln/>
        </p:spPr>
        <p:txBody>
          <a:bodyPr wrap="square" lIns="0" tIns="0" rIns="0" bIns="0" rtlCol="0" anchor="t"/>
          <a:lstStyle/>
          <a:p>
            <a:pPr marL="0" indent="0">
              <a:lnSpc>
                <a:spcPts val="2100"/>
              </a:lnSpc>
              <a:buNone/>
            </a:pPr>
            <a:r>
              <a:rPr lang="en-US" sz="1400" b="1" dirty="0">
                <a:solidFill>
                  <a:srgbClr val="FFFFFF"/>
                </a:solidFill>
                <a:latin typeface="Calibri" pitchFamily="34" charset="0"/>
                <a:ea typeface="Calibri" pitchFamily="34" charset="-122"/>
                <a:cs typeface="Calibri" pitchFamily="34" charset="-120"/>
              </a:rPr>
              <a:t>As I speak, CBN Sandbox Cohort 2 is open — 12 to 31 August 2026. A Nigerian fintech may legally test an unlicensed product on live money. A Nigerian engineer may not legally test a sensor on a live transformer.</a:t>
            </a:r>
            <a:endParaRPr lang="en-US" sz="1400" dirty="0"/>
          </a:p>
        </p:txBody>
      </p:sp>
      <p:sp>
        <p:nvSpPr>
          <p:cNvPr id="14" name="Text 12"/>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5" name="Text 13"/>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SIX SANDBOXES NIGERIA NEEDS</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800"/>
              </a:lnSpc>
              <a:buNone/>
            </a:pPr>
            <a:r>
              <a:rPr lang="en-US" sz="4000" b="1" dirty="0">
                <a:solidFill>
                  <a:srgbClr val="0F1419"/>
                </a:solidFill>
                <a:latin typeface="Arial" pitchFamily="34" charset="0"/>
                <a:ea typeface="Arial" pitchFamily="34" charset="-122"/>
                <a:cs typeface="Arial" pitchFamily="34" charset="-120"/>
              </a:rPr>
              <a:t>Where the testbeds</a:t>
            </a:r>
            <a:endParaRPr lang="en-US" sz="4000" dirty="0"/>
          </a:p>
          <a:p>
            <a:pPr marL="0" indent="0">
              <a:lnSpc>
                <a:spcPts val="4800"/>
              </a:lnSpc>
              <a:buNone/>
            </a:pPr>
            <a:r>
              <a:rPr lang="en-US" sz="4000" b="1" dirty="0">
                <a:solidFill>
                  <a:srgbClr val="0F1419"/>
                </a:solidFill>
                <a:latin typeface="Arial" pitchFamily="34" charset="0"/>
                <a:ea typeface="Arial" pitchFamily="34" charset="-122"/>
                <a:cs typeface="Arial" pitchFamily="34" charset="-120"/>
              </a:rPr>
              <a:t>must be built.</a:t>
            </a:r>
            <a:endParaRPr lang="en-US" sz="4000" dirty="0"/>
          </a:p>
        </p:txBody>
      </p:sp>
      <p:sp>
        <p:nvSpPr>
          <p:cNvPr id="4" name="Shape 2"/>
          <p:cNvSpPr/>
          <p:nvPr/>
        </p:nvSpPr>
        <p:spPr>
          <a:xfrm>
            <a:off x="685800" y="2450592"/>
            <a:ext cx="3383280" cy="1600200"/>
          </a:xfrm>
          <a:prstGeom prst="rect">
            <a:avLst/>
          </a:prstGeom>
          <a:solidFill>
            <a:srgbClr val="F1F2F3"/>
          </a:solidFill>
          <a:ln/>
        </p:spPr>
      </p:sp>
      <p:sp>
        <p:nvSpPr>
          <p:cNvPr id="5" name="Text 3"/>
          <p:cNvSpPr/>
          <p:nvPr/>
        </p:nvSpPr>
        <p:spPr>
          <a:xfrm>
            <a:off x="941832" y="26334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DEFENCE</a:t>
            </a:r>
            <a:endParaRPr lang="en-US" sz="1300" dirty="0"/>
          </a:p>
        </p:txBody>
      </p:sp>
      <p:sp>
        <p:nvSpPr>
          <p:cNvPr id="6" name="Text 4"/>
          <p:cNvSpPr/>
          <p:nvPr/>
        </p:nvSpPr>
        <p:spPr>
          <a:xfrm>
            <a:off x="941832" y="29992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A controlled range and simulated threat environment — so a counter-drone system can be qualified without a live terrorist.</a:t>
            </a:r>
            <a:endParaRPr lang="en-US" sz="1200" dirty="0"/>
          </a:p>
        </p:txBody>
      </p:sp>
      <p:sp>
        <p:nvSpPr>
          <p:cNvPr id="7" name="Shape 5"/>
          <p:cNvSpPr/>
          <p:nvPr/>
        </p:nvSpPr>
        <p:spPr>
          <a:xfrm>
            <a:off x="4343400" y="2450592"/>
            <a:ext cx="3383280" cy="1600200"/>
          </a:xfrm>
          <a:prstGeom prst="rect">
            <a:avLst/>
          </a:prstGeom>
          <a:solidFill>
            <a:srgbClr val="F1F2F3"/>
          </a:solidFill>
          <a:ln/>
        </p:spPr>
      </p:sp>
      <p:sp>
        <p:nvSpPr>
          <p:cNvPr id="8" name="Text 6"/>
          <p:cNvSpPr/>
          <p:nvPr/>
        </p:nvSpPr>
        <p:spPr>
          <a:xfrm>
            <a:off x="4599432" y="26334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PAYMENTS</a:t>
            </a:r>
            <a:endParaRPr lang="en-US" sz="1300" dirty="0"/>
          </a:p>
        </p:txBody>
      </p:sp>
      <p:sp>
        <p:nvSpPr>
          <p:cNvPr id="9" name="Text 7"/>
          <p:cNvSpPr/>
          <p:nvPr/>
        </p:nvSpPr>
        <p:spPr>
          <a:xfrm>
            <a:off x="4599432" y="29992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Mirrored transaction streams at production volume for fraud and intrusion detection.</a:t>
            </a:r>
            <a:endParaRPr lang="en-US" sz="1200" dirty="0"/>
          </a:p>
        </p:txBody>
      </p:sp>
      <p:sp>
        <p:nvSpPr>
          <p:cNvPr id="10" name="Shape 8"/>
          <p:cNvSpPr/>
          <p:nvPr/>
        </p:nvSpPr>
        <p:spPr>
          <a:xfrm>
            <a:off x="8001000" y="2450592"/>
            <a:ext cx="3383280" cy="1600200"/>
          </a:xfrm>
          <a:prstGeom prst="rect">
            <a:avLst/>
          </a:prstGeom>
          <a:solidFill>
            <a:srgbClr val="F1F2F3"/>
          </a:solidFill>
          <a:ln/>
        </p:spPr>
      </p:sp>
      <p:sp>
        <p:nvSpPr>
          <p:cNvPr id="11" name="Text 9"/>
          <p:cNvSpPr/>
          <p:nvPr/>
        </p:nvSpPr>
        <p:spPr>
          <a:xfrm>
            <a:off x="8257032" y="26334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POWER</a:t>
            </a:r>
            <a:endParaRPr lang="en-US" sz="1300" dirty="0"/>
          </a:p>
        </p:txBody>
      </p:sp>
      <p:sp>
        <p:nvSpPr>
          <p:cNvPr id="12" name="Text 10"/>
          <p:cNvSpPr/>
          <p:nvPr/>
        </p:nvSpPr>
        <p:spPr>
          <a:xfrm>
            <a:off x="8257032" y="29992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Hardware-in-the-loop: a real relay wired into a simulated grid, free to fail a thousand times.</a:t>
            </a:r>
            <a:endParaRPr lang="en-US" sz="1200" dirty="0"/>
          </a:p>
        </p:txBody>
      </p:sp>
      <p:sp>
        <p:nvSpPr>
          <p:cNvPr id="13" name="Shape 11"/>
          <p:cNvSpPr/>
          <p:nvPr/>
        </p:nvSpPr>
        <p:spPr>
          <a:xfrm>
            <a:off x="685800" y="4279392"/>
            <a:ext cx="3383280" cy="1600200"/>
          </a:xfrm>
          <a:prstGeom prst="rect">
            <a:avLst/>
          </a:prstGeom>
          <a:solidFill>
            <a:srgbClr val="F1F2F3"/>
          </a:solidFill>
          <a:ln/>
        </p:spPr>
      </p:sp>
      <p:sp>
        <p:nvSpPr>
          <p:cNvPr id="14" name="Text 12"/>
          <p:cNvSpPr/>
          <p:nvPr/>
        </p:nvSpPr>
        <p:spPr>
          <a:xfrm>
            <a:off x="941832" y="44622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MANUFACTURING</a:t>
            </a:r>
            <a:endParaRPr lang="en-US" sz="1300" dirty="0"/>
          </a:p>
        </p:txBody>
      </p:sp>
      <p:sp>
        <p:nvSpPr>
          <p:cNvPr id="15" name="Text 13"/>
          <p:cNvSpPr/>
          <p:nvPr/>
        </p:nvSpPr>
        <p:spPr>
          <a:xfrm>
            <a:off x="941832" y="48280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A shared demonstration line where robotics and predictive maintenance run on real machinery.</a:t>
            </a:r>
            <a:endParaRPr lang="en-US" sz="1200" dirty="0"/>
          </a:p>
        </p:txBody>
      </p:sp>
      <p:sp>
        <p:nvSpPr>
          <p:cNvPr id="16" name="Shape 14"/>
          <p:cNvSpPr/>
          <p:nvPr/>
        </p:nvSpPr>
        <p:spPr>
          <a:xfrm>
            <a:off x="4343400" y="4279392"/>
            <a:ext cx="3383280" cy="1600200"/>
          </a:xfrm>
          <a:prstGeom prst="rect">
            <a:avLst/>
          </a:prstGeom>
          <a:solidFill>
            <a:srgbClr val="F1F2F3"/>
          </a:solidFill>
          <a:ln/>
        </p:spPr>
      </p:sp>
      <p:sp>
        <p:nvSpPr>
          <p:cNvPr id="17" name="Text 15"/>
          <p:cNvSpPr/>
          <p:nvPr/>
        </p:nvSpPr>
        <p:spPr>
          <a:xfrm>
            <a:off x="4599432" y="44622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EDUCATION &amp; HEALTH</a:t>
            </a:r>
            <a:endParaRPr lang="en-US" sz="1300" dirty="0"/>
          </a:p>
        </p:txBody>
      </p:sp>
      <p:sp>
        <p:nvSpPr>
          <p:cNvPr id="18" name="Text 16"/>
          <p:cNvSpPr/>
          <p:nvPr/>
        </p:nvSpPr>
        <p:spPr>
          <a:xfrm>
            <a:off x="4599432" y="48280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Shadow-mode evaluation on real data, producing no real decisions.</a:t>
            </a:r>
            <a:endParaRPr lang="en-US" sz="1200" dirty="0"/>
          </a:p>
        </p:txBody>
      </p:sp>
      <p:sp>
        <p:nvSpPr>
          <p:cNvPr id="19" name="Shape 17"/>
          <p:cNvSpPr/>
          <p:nvPr/>
        </p:nvSpPr>
        <p:spPr>
          <a:xfrm>
            <a:off x="8001000" y="4279392"/>
            <a:ext cx="3383280" cy="1600200"/>
          </a:xfrm>
          <a:prstGeom prst="rect">
            <a:avLst/>
          </a:prstGeom>
          <a:solidFill>
            <a:srgbClr val="F1F2F3"/>
          </a:solidFill>
          <a:ln/>
        </p:spPr>
      </p:sp>
      <p:sp>
        <p:nvSpPr>
          <p:cNvPr id="20" name="Text 18"/>
          <p:cNvSpPr/>
          <p:nvPr/>
        </p:nvSpPr>
        <p:spPr>
          <a:xfrm>
            <a:off x="8257032" y="4462272"/>
            <a:ext cx="2926080" cy="320040"/>
          </a:xfrm>
          <a:prstGeom prst="rect">
            <a:avLst/>
          </a:prstGeom>
          <a:noFill/>
          <a:ln/>
        </p:spPr>
        <p:txBody>
          <a:bodyPr wrap="square" lIns="0" tIns="0" rIns="0" bIns="0" rtlCol="0" anchor="t"/>
          <a:lstStyle/>
          <a:p>
            <a:pPr marL="0" indent="0">
              <a:buNone/>
            </a:pPr>
            <a:r>
              <a:rPr lang="en-US" sz="1300" b="1" kern="0" spc="100" dirty="0">
                <a:solidFill>
                  <a:srgbClr val="E39400"/>
                </a:solidFill>
                <a:latin typeface="Arial" pitchFamily="34" charset="0"/>
                <a:ea typeface="Arial" pitchFamily="34" charset="-122"/>
                <a:cs typeface="Arial" pitchFamily="34" charset="-120"/>
              </a:rPr>
              <a:t>ROADS</a:t>
            </a:r>
            <a:endParaRPr lang="en-US" sz="1300" dirty="0"/>
          </a:p>
        </p:txBody>
      </p:sp>
      <p:sp>
        <p:nvSpPr>
          <p:cNvPr id="21" name="Text 19"/>
          <p:cNvSpPr/>
          <p:nvPr/>
        </p:nvSpPr>
        <p:spPr>
          <a:xfrm>
            <a:off x="8257032" y="4828032"/>
            <a:ext cx="2926080" cy="914400"/>
          </a:xfrm>
          <a:prstGeom prst="rect">
            <a:avLst/>
          </a:prstGeom>
          <a:noFill/>
          <a:ln/>
        </p:spPr>
        <p:txBody>
          <a:bodyPr wrap="square" lIns="0" tIns="0" rIns="0" bIns="0" rtlCol="0" anchor="t"/>
          <a:lstStyle/>
          <a:p>
            <a:pPr marL="0" indent="0">
              <a:lnSpc>
                <a:spcPts val="1800"/>
              </a:lnSpc>
              <a:buNone/>
            </a:pPr>
            <a:r>
              <a:rPr lang="en-US" sz="1200" dirty="0">
                <a:solidFill>
                  <a:srgbClr val="0F1419"/>
                </a:solidFill>
                <a:latin typeface="Calibri" pitchFamily="34" charset="0"/>
                <a:ea typeface="Calibri" pitchFamily="34" charset="-122"/>
                <a:cs typeface="Calibri" pitchFamily="34" charset="-120"/>
              </a:rPr>
              <a:t>One instrumented corridor in Oyo State where road sensing is proven at scale.</a:t>
            </a:r>
            <a:endParaRPr lang="en-US" sz="1200" dirty="0"/>
          </a:p>
        </p:txBody>
      </p:sp>
      <p:sp>
        <p:nvSpPr>
          <p:cNvPr id="22" name="Text 20"/>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23" name="Text 21"/>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WHAT THE SANDBOX IS BUILT FROM</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800"/>
              </a:lnSpc>
              <a:buNone/>
            </a:pPr>
            <a:r>
              <a:rPr lang="en-US" sz="4000" b="1" dirty="0">
                <a:solidFill>
                  <a:srgbClr val="0F1419"/>
                </a:solidFill>
                <a:latin typeface="Arial" pitchFamily="34" charset="0"/>
                <a:ea typeface="Arial" pitchFamily="34" charset="-122"/>
                <a:cs typeface="Arial" pitchFamily="34" charset="-120"/>
              </a:rPr>
              <a:t>Five skills. Every one</a:t>
            </a:r>
            <a:endParaRPr lang="en-US" sz="4000" dirty="0"/>
          </a:p>
          <a:p>
            <a:pPr marL="0" indent="0">
              <a:lnSpc>
                <a:spcPts val="4800"/>
              </a:lnSpc>
              <a:buNone/>
            </a:pPr>
            <a:r>
              <a:rPr lang="en-US" sz="4000" b="1" dirty="0">
                <a:solidFill>
                  <a:srgbClr val="0F1419"/>
                </a:solidFill>
                <a:latin typeface="Arial" pitchFamily="34" charset="0"/>
                <a:ea typeface="Arial" pitchFamily="34" charset="-122"/>
                <a:cs typeface="Arial" pitchFamily="34" charset="-120"/>
              </a:rPr>
              <a:t>buildable in Ibadan.</a:t>
            </a:r>
            <a:endParaRPr lang="en-US" sz="4000" dirty="0"/>
          </a:p>
        </p:txBody>
      </p:sp>
      <p:sp>
        <p:nvSpPr>
          <p:cNvPr id="4" name="Text 2"/>
          <p:cNvSpPr/>
          <p:nvPr/>
        </p:nvSpPr>
        <p:spPr>
          <a:xfrm>
            <a:off x="685800" y="2286000"/>
            <a:ext cx="594360" cy="32004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01</a:t>
            </a:r>
            <a:endParaRPr lang="en-US" sz="1500" dirty="0"/>
          </a:p>
        </p:txBody>
      </p:sp>
      <p:sp>
        <p:nvSpPr>
          <p:cNvPr id="5" name="Text 3"/>
          <p:cNvSpPr/>
          <p:nvPr/>
        </p:nvSpPr>
        <p:spPr>
          <a:xfrm>
            <a:off x="1325880" y="2267712"/>
            <a:ext cx="310896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Simulation</a:t>
            </a:r>
            <a:endParaRPr lang="en-US" sz="1700" dirty="0"/>
          </a:p>
        </p:txBody>
      </p:sp>
      <p:sp>
        <p:nvSpPr>
          <p:cNvPr id="6" name="Text 4"/>
          <p:cNvSpPr/>
          <p:nvPr/>
        </p:nvSpPr>
        <p:spPr>
          <a:xfrm>
            <a:off x="4572000" y="2267712"/>
            <a:ext cx="676656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Model the system before it exists — and break it for free.</a:t>
            </a:r>
            <a:endParaRPr lang="en-US" sz="1300" dirty="0"/>
          </a:p>
        </p:txBody>
      </p:sp>
      <p:sp>
        <p:nvSpPr>
          <p:cNvPr id="7" name="Text 5"/>
          <p:cNvSpPr/>
          <p:nvPr/>
        </p:nvSpPr>
        <p:spPr>
          <a:xfrm>
            <a:off x="685800" y="3054096"/>
            <a:ext cx="594360" cy="32004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02</a:t>
            </a:r>
            <a:endParaRPr lang="en-US" sz="1500" dirty="0"/>
          </a:p>
        </p:txBody>
      </p:sp>
      <p:sp>
        <p:nvSpPr>
          <p:cNvPr id="8" name="Text 6"/>
          <p:cNvSpPr/>
          <p:nvPr/>
        </p:nvSpPr>
        <p:spPr>
          <a:xfrm>
            <a:off x="1325880" y="3035808"/>
            <a:ext cx="310896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Digital twins</a:t>
            </a:r>
            <a:endParaRPr lang="en-US" sz="1700" dirty="0"/>
          </a:p>
        </p:txBody>
      </p:sp>
      <p:sp>
        <p:nvSpPr>
          <p:cNvPr id="9" name="Text 7"/>
          <p:cNvSpPr/>
          <p:nvPr/>
        </p:nvSpPr>
        <p:spPr>
          <a:xfrm>
            <a:off x="4572000" y="3035808"/>
            <a:ext cx="676656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A live virtual replica fed by sensor data. Singapore twinned an entire city state; the UK runs a National Digital Twin Programme.</a:t>
            </a:r>
            <a:endParaRPr lang="en-US" sz="1300" dirty="0"/>
          </a:p>
        </p:txBody>
      </p:sp>
      <p:sp>
        <p:nvSpPr>
          <p:cNvPr id="10" name="Text 8"/>
          <p:cNvSpPr/>
          <p:nvPr/>
        </p:nvSpPr>
        <p:spPr>
          <a:xfrm>
            <a:off x="685800" y="3822192"/>
            <a:ext cx="594360" cy="32004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03</a:t>
            </a:r>
            <a:endParaRPr lang="en-US" sz="1500" dirty="0"/>
          </a:p>
        </p:txBody>
      </p:sp>
      <p:sp>
        <p:nvSpPr>
          <p:cNvPr id="11" name="Text 9"/>
          <p:cNvSpPr/>
          <p:nvPr/>
        </p:nvSpPr>
        <p:spPr>
          <a:xfrm>
            <a:off x="1325880" y="3803904"/>
            <a:ext cx="310896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Virtual &amp; augmented reality</a:t>
            </a:r>
            <a:endParaRPr lang="en-US" sz="1700" dirty="0"/>
          </a:p>
        </p:txBody>
      </p:sp>
      <p:sp>
        <p:nvSpPr>
          <p:cNvPr id="12" name="Text 10"/>
          <p:cNvSpPr/>
          <p:nvPr/>
        </p:nvSpPr>
        <p:spPr>
          <a:xfrm>
            <a:off x="4572000" y="3803904"/>
            <a:ext cx="676656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Train an operator on a ₦300 million machine without risking it.</a:t>
            </a:r>
            <a:endParaRPr lang="en-US" sz="1300" dirty="0"/>
          </a:p>
        </p:txBody>
      </p:sp>
      <p:sp>
        <p:nvSpPr>
          <p:cNvPr id="13" name="Text 11"/>
          <p:cNvSpPr/>
          <p:nvPr/>
        </p:nvSpPr>
        <p:spPr>
          <a:xfrm>
            <a:off x="685800" y="4590288"/>
            <a:ext cx="594360" cy="32004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04</a:t>
            </a:r>
            <a:endParaRPr lang="en-US" sz="1500" dirty="0"/>
          </a:p>
        </p:txBody>
      </p:sp>
      <p:sp>
        <p:nvSpPr>
          <p:cNvPr id="14" name="Text 12"/>
          <p:cNvSpPr/>
          <p:nvPr/>
        </p:nvSpPr>
        <p:spPr>
          <a:xfrm>
            <a:off x="1325880" y="4572000"/>
            <a:ext cx="310896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Hardware-in-the-loop</a:t>
            </a:r>
            <a:endParaRPr lang="en-US" sz="1700" dirty="0"/>
          </a:p>
        </p:txBody>
      </p:sp>
      <p:sp>
        <p:nvSpPr>
          <p:cNvPr id="15" name="Text 13"/>
          <p:cNvSpPr/>
          <p:nvPr/>
        </p:nvSpPr>
        <p:spPr>
          <a:xfrm>
            <a:off x="4572000" y="4572000"/>
            <a:ext cx="676656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Real controller, simulated plant. The only honest way to qualify grid hardware.</a:t>
            </a:r>
            <a:endParaRPr lang="en-US" sz="1300" dirty="0"/>
          </a:p>
        </p:txBody>
      </p:sp>
      <p:sp>
        <p:nvSpPr>
          <p:cNvPr id="16" name="Text 14"/>
          <p:cNvSpPr/>
          <p:nvPr/>
        </p:nvSpPr>
        <p:spPr>
          <a:xfrm>
            <a:off x="685800" y="5358384"/>
            <a:ext cx="594360" cy="320040"/>
          </a:xfrm>
          <a:prstGeom prst="rect">
            <a:avLst/>
          </a:prstGeom>
          <a:noFill/>
          <a:ln/>
        </p:spPr>
        <p:txBody>
          <a:bodyPr wrap="square" lIns="0" tIns="0" rIns="0" bIns="0" rtlCol="0" anchor="t"/>
          <a:lstStyle/>
          <a:p>
            <a:pPr marL="0" indent="0">
              <a:buNone/>
            </a:pPr>
            <a:r>
              <a:rPr lang="en-US" sz="1500" b="1" dirty="0">
                <a:solidFill>
                  <a:srgbClr val="E39400"/>
                </a:solidFill>
                <a:latin typeface="Arial" pitchFamily="34" charset="0"/>
                <a:ea typeface="Arial" pitchFamily="34" charset="-122"/>
                <a:cs typeface="Arial" pitchFamily="34" charset="-120"/>
              </a:rPr>
              <a:t>05</a:t>
            </a:r>
            <a:endParaRPr lang="en-US" sz="1500" dirty="0"/>
          </a:p>
        </p:txBody>
      </p:sp>
      <p:sp>
        <p:nvSpPr>
          <p:cNvPr id="17" name="Text 15"/>
          <p:cNvSpPr/>
          <p:nvPr/>
        </p:nvSpPr>
        <p:spPr>
          <a:xfrm>
            <a:off x="1325880" y="5340096"/>
            <a:ext cx="3108960" cy="365760"/>
          </a:xfrm>
          <a:prstGeom prst="rect">
            <a:avLst/>
          </a:prstGeom>
          <a:noFill/>
          <a:ln/>
        </p:spPr>
        <p:txBody>
          <a:bodyPr wrap="square" lIns="0" tIns="0" rIns="0" bIns="0" rtlCol="0" anchor="t"/>
          <a:lstStyle/>
          <a:p>
            <a:pPr marL="0" indent="0">
              <a:buNone/>
            </a:pPr>
            <a:r>
              <a:rPr lang="en-US" sz="1700" b="1" dirty="0">
                <a:solidFill>
                  <a:srgbClr val="0F1419"/>
                </a:solidFill>
                <a:latin typeface="Arial" pitchFamily="34" charset="0"/>
                <a:ea typeface="Arial" pitchFamily="34" charset="-122"/>
                <a:cs typeface="Arial" pitchFamily="34" charset="-120"/>
              </a:rPr>
              <a:t>Game engines</a:t>
            </a:r>
            <a:endParaRPr lang="en-US" sz="1700" dirty="0"/>
          </a:p>
        </p:txBody>
      </p:sp>
      <p:sp>
        <p:nvSpPr>
          <p:cNvPr id="18" name="Text 16"/>
          <p:cNvSpPr/>
          <p:nvPr/>
        </p:nvSpPr>
        <p:spPr>
          <a:xfrm>
            <a:off x="4572000" y="5340096"/>
            <a:ext cx="6766560" cy="658368"/>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Not a triviality — the same physics and rendering now drive robotics, surgical training and drug discovery.</a:t>
            </a:r>
            <a:endParaRPr lang="en-US" sz="1300" dirty="0"/>
          </a:p>
        </p:txBody>
      </p:sp>
      <p:sp>
        <p:nvSpPr>
          <p:cNvPr id="19" name="Text 17"/>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20" name="Text 18"/>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IT HAS ALREADY BEEN DONE HERE</a:t>
            </a:r>
            <a:endParaRPr lang="en-US" sz="1200" dirty="0"/>
          </a:p>
        </p:txBody>
      </p:sp>
      <p:sp>
        <p:nvSpPr>
          <p:cNvPr id="3" name="Text 1"/>
          <p:cNvSpPr/>
          <p:nvPr/>
        </p:nvSpPr>
        <p:spPr>
          <a:xfrm>
            <a:off x="685800" y="1188720"/>
            <a:ext cx="5029200" cy="1188720"/>
          </a:xfrm>
          <a:prstGeom prst="rect">
            <a:avLst/>
          </a:prstGeom>
          <a:noFill/>
          <a:ln/>
        </p:spPr>
        <p:txBody>
          <a:bodyPr wrap="square" lIns="0" tIns="0" rIns="0" bIns="0" rtlCol="0" anchor="t"/>
          <a:lstStyle/>
          <a:p>
            <a:pPr marL="0" indent="0">
              <a:buNone/>
            </a:pPr>
            <a:r>
              <a:rPr lang="en-US" sz="6200" b="1" dirty="0">
                <a:solidFill>
                  <a:srgbClr val="5A6570"/>
                </a:solidFill>
                <a:latin typeface="Arial" pitchFamily="34" charset="0"/>
                <a:ea typeface="Arial" pitchFamily="34" charset="-122"/>
                <a:cs typeface="Arial" pitchFamily="34" charset="-120"/>
              </a:rPr>
              <a:t>Under 5%</a:t>
            </a:r>
            <a:endParaRPr lang="en-US" sz="6200" dirty="0"/>
          </a:p>
        </p:txBody>
      </p:sp>
      <p:sp>
        <p:nvSpPr>
          <p:cNvPr id="4" name="Text 2"/>
          <p:cNvSpPr/>
          <p:nvPr/>
        </p:nvSpPr>
        <p:spPr>
          <a:xfrm>
            <a:off x="685800" y="2331720"/>
            <a:ext cx="5029200" cy="1188720"/>
          </a:xfrm>
          <a:prstGeom prst="rect">
            <a:avLst/>
          </a:prstGeom>
          <a:noFill/>
          <a:ln/>
        </p:spPr>
        <p:txBody>
          <a:bodyPr wrap="square" lIns="0" tIns="0" rIns="0" bIns="0" rtlCol="0" anchor="t"/>
          <a:lstStyle/>
          <a:p>
            <a:pPr marL="0" indent="0">
              <a:buNone/>
            </a:pPr>
            <a:r>
              <a:rPr lang="en-US" sz="7800" b="1" dirty="0">
                <a:solidFill>
                  <a:srgbClr val="E39400"/>
                </a:solidFill>
                <a:latin typeface="Arial" pitchFamily="34" charset="0"/>
                <a:ea typeface="Arial" pitchFamily="34" charset="-122"/>
                <a:cs typeface="Arial" pitchFamily="34" charset="-120"/>
              </a:rPr>
              <a:t>to 61%</a:t>
            </a:r>
            <a:endParaRPr lang="en-US" sz="7800" dirty="0"/>
          </a:p>
        </p:txBody>
      </p:sp>
      <p:sp>
        <p:nvSpPr>
          <p:cNvPr id="5" name="Text 3"/>
          <p:cNvSpPr/>
          <p:nvPr/>
        </p:nvSpPr>
        <p:spPr>
          <a:xfrm>
            <a:off x="6309360" y="1417320"/>
            <a:ext cx="5212080" cy="1371600"/>
          </a:xfrm>
          <a:prstGeom prst="rect">
            <a:avLst/>
          </a:prstGeom>
          <a:noFill/>
          <a:ln/>
        </p:spPr>
        <p:txBody>
          <a:bodyPr wrap="square" lIns="0" tIns="0" rIns="0" bIns="0" rtlCol="0" anchor="t"/>
          <a:lstStyle/>
          <a:p>
            <a:pPr marL="0" indent="0">
              <a:lnSpc>
                <a:spcPts val="2700"/>
              </a:lnSpc>
              <a:buNone/>
            </a:pPr>
            <a:r>
              <a:rPr lang="en-US" sz="1700" dirty="0">
                <a:solidFill>
                  <a:srgbClr val="FFFFFF"/>
                </a:solidFill>
                <a:latin typeface="Calibri" pitchFamily="34" charset="0"/>
                <a:ea typeface="Calibri" pitchFamily="34" charset="-122"/>
                <a:cs typeface="Calibri" pitchFamily="34" charset="-120"/>
              </a:rPr>
              <a:t>Nigerian content in our own oil and gas industry, before and after the Nigerian Oil and Gas Industry Content Development Act of 2010.</a:t>
            </a:r>
            <a:endParaRPr lang="en-US" sz="1700" dirty="0"/>
          </a:p>
        </p:txBody>
      </p:sp>
      <p:sp>
        <p:nvSpPr>
          <p:cNvPr id="6" name="Text 4"/>
          <p:cNvSpPr/>
          <p:nvPr/>
        </p:nvSpPr>
        <p:spPr>
          <a:xfrm>
            <a:off x="6309360" y="2926080"/>
            <a:ext cx="5212080" cy="1828800"/>
          </a:xfrm>
          <a:prstGeom prst="rect">
            <a:avLst/>
          </a:prstGeom>
          <a:noFill/>
          <a:ln/>
        </p:spPr>
        <p:txBody>
          <a:bodyPr wrap="square" lIns="0" tIns="0" rIns="0" bIns="0" rtlCol="0" anchor="t"/>
          <a:lstStyle/>
          <a:p>
            <a:pPr marL="0" indent="0">
              <a:lnSpc>
                <a:spcPts val="2200"/>
              </a:lnSpc>
              <a:buNone/>
            </a:pPr>
            <a:r>
              <a:rPr lang="en-US" sz="1400" dirty="0">
                <a:solidFill>
                  <a:srgbClr val="A6B0B9"/>
                </a:solidFill>
                <a:latin typeface="Calibri" pitchFamily="34" charset="0"/>
                <a:ea typeface="Calibri" pitchFamily="34" charset="-122"/>
                <a:cs typeface="Calibri" pitchFamily="34" charset="-120"/>
              </a:rPr>
              <a:t>Roughly US$8 billion a year now stays in the country. Earlier this year TotalEnergies reported 95% Nigerian content on a single project — and said plainly that it proves local expertise can deliver complex work to international standards.</a:t>
            </a:r>
            <a:endParaRPr lang="en-US" sz="1400" dirty="0"/>
          </a:p>
        </p:txBody>
      </p:sp>
      <p:sp>
        <p:nvSpPr>
          <p:cNvPr id="7" name="Shape 5"/>
          <p:cNvSpPr/>
          <p:nvPr/>
        </p:nvSpPr>
        <p:spPr>
          <a:xfrm>
            <a:off x="685800" y="4206240"/>
            <a:ext cx="1097280" cy="82296"/>
          </a:xfrm>
          <a:prstGeom prst="rect">
            <a:avLst/>
          </a:prstGeom>
          <a:solidFill>
            <a:srgbClr val="E39400"/>
          </a:solidFill>
          <a:ln/>
        </p:spPr>
      </p:sp>
      <p:sp>
        <p:nvSpPr>
          <p:cNvPr id="8" name="Text 6"/>
          <p:cNvSpPr/>
          <p:nvPr/>
        </p:nvSpPr>
        <p:spPr>
          <a:xfrm>
            <a:off x="685800" y="4526280"/>
            <a:ext cx="5212080" cy="1005840"/>
          </a:xfrm>
          <a:prstGeom prst="rect">
            <a:avLst/>
          </a:prstGeom>
          <a:noFill/>
          <a:ln/>
        </p:spPr>
        <p:txBody>
          <a:bodyPr wrap="square" lIns="0" tIns="0" rIns="0" bIns="0" rtlCol="0" anchor="t"/>
          <a:lstStyle/>
          <a:p>
            <a:pPr marL="0" indent="0">
              <a:lnSpc>
                <a:spcPts val="3000"/>
              </a:lnSpc>
              <a:buNone/>
            </a:pPr>
            <a:r>
              <a:rPr lang="en-US" sz="2000" b="1" dirty="0">
                <a:solidFill>
                  <a:srgbClr val="FFFFFF"/>
                </a:solidFill>
                <a:latin typeface="Arial" pitchFamily="34" charset="0"/>
                <a:ea typeface="Arial" pitchFamily="34" charset="-122"/>
                <a:cs typeface="Arial" pitchFamily="34" charset="-120"/>
              </a:rPr>
              <a:t>Not by prayer. By law, by enforcement,</a:t>
            </a:r>
            <a:endParaRPr lang="en-US" sz="2000" dirty="0"/>
          </a:p>
          <a:p>
            <a:pPr marL="0" indent="0">
              <a:lnSpc>
                <a:spcPts val="3000"/>
              </a:lnSpc>
              <a:buNone/>
            </a:pPr>
            <a:r>
              <a:rPr lang="en-US" sz="2000" b="1" dirty="0">
                <a:solidFill>
                  <a:srgbClr val="FFFFFF"/>
                </a:solidFill>
                <a:latin typeface="Arial" pitchFamily="34" charset="0"/>
                <a:ea typeface="Arial" pitchFamily="34" charset="-122"/>
                <a:cs typeface="Arial" pitchFamily="34" charset="-120"/>
              </a:rPr>
              <a:t>and by deliberate capacity building.</a:t>
            </a:r>
            <a:endParaRPr lang="en-US" sz="2000" dirty="0"/>
          </a:p>
        </p:txBody>
      </p:sp>
      <p:sp>
        <p:nvSpPr>
          <p:cNvPr id="9" name="Text 7"/>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586470"/>
                </a:solidFill>
                <a:latin typeface="Calibri" pitchFamily="34" charset="0"/>
                <a:ea typeface="Calibri" pitchFamily="34" charset="-122"/>
                <a:cs typeface="Calibri" pitchFamily="34" charset="-120"/>
              </a:rPr>
              <a:t>Securing the Future  ·  NSE Ibadan 2026</a:t>
            </a:r>
            <a:endParaRPr lang="en-US" sz="900" dirty="0"/>
          </a:p>
        </p:txBody>
      </p:sp>
      <p:sp>
        <p:nvSpPr>
          <p:cNvPr id="10" name="Text 8"/>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5864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TWO INSTRUMENTS ALREADY IN FORCE</a:t>
            </a:r>
            <a:endParaRPr lang="en-US" sz="1200" dirty="0"/>
          </a:p>
        </p:txBody>
      </p:sp>
      <p:sp>
        <p:nvSpPr>
          <p:cNvPr id="3" name="Text 1"/>
          <p:cNvSpPr/>
          <p:nvPr/>
        </p:nvSpPr>
        <p:spPr>
          <a:xfrm>
            <a:off x="685800" y="868680"/>
            <a:ext cx="10515600" cy="1737360"/>
          </a:xfrm>
          <a:prstGeom prst="rect">
            <a:avLst/>
          </a:prstGeom>
          <a:noFill/>
          <a:ln/>
        </p:spPr>
        <p:txBody>
          <a:bodyPr wrap="square" lIns="0" tIns="0" rIns="0" bIns="0" rtlCol="0" anchor="t"/>
          <a:lstStyle/>
          <a:p>
            <a:pPr marL="0" indent="0">
              <a:lnSpc>
                <a:spcPts val="4400"/>
              </a:lnSpc>
              <a:buNone/>
            </a:pPr>
            <a:r>
              <a:rPr lang="en-US" sz="3600" b="1" dirty="0">
                <a:solidFill>
                  <a:srgbClr val="0F1419"/>
                </a:solidFill>
                <a:latin typeface="Arial" pitchFamily="34" charset="0"/>
                <a:ea typeface="Arial" pitchFamily="34" charset="-122"/>
                <a:cs typeface="Arial" pitchFamily="34" charset="-120"/>
              </a:rPr>
              <a:t>We are not waiting on</a:t>
            </a:r>
            <a:endParaRPr lang="en-US" sz="3600" dirty="0"/>
          </a:p>
          <a:p>
            <a:pPr marL="0" indent="0">
              <a:lnSpc>
                <a:spcPts val="4400"/>
              </a:lnSpc>
              <a:buNone/>
            </a:pPr>
            <a:r>
              <a:rPr lang="en-US" sz="3600" b="1" dirty="0">
                <a:solidFill>
                  <a:srgbClr val="0F1419"/>
                </a:solidFill>
                <a:latin typeface="Arial" pitchFamily="34" charset="0"/>
                <a:ea typeface="Arial" pitchFamily="34" charset="-122"/>
                <a:cs typeface="Arial" pitchFamily="34" charset="-120"/>
              </a:rPr>
              <a:t>legislation. We are waiting</a:t>
            </a:r>
            <a:endParaRPr lang="en-US" sz="3600" dirty="0"/>
          </a:p>
          <a:p>
            <a:pPr marL="0" indent="0">
              <a:lnSpc>
                <a:spcPts val="4400"/>
              </a:lnSpc>
              <a:buNone/>
            </a:pPr>
            <a:r>
              <a:rPr lang="en-US" sz="3600" b="1" dirty="0">
                <a:solidFill>
                  <a:srgbClr val="0F1419"/>
                </a:solidFill>
                <a:latin typeface="Arial" pitchFamily="34" charset="0"/>
                <a:ea typeface="Arial" pitchFamily="34" charset="-122"/>
                <a:cs typeface="Arial" pitchFamily="34" charset="-120"/>
              </a:rPr>
              <a:t>on enforcement.</a:t>
            </a:r>
            <a:endParaRPr lang="en-US" sz="3600" dirty="0"/>
          </a:p>
        </p:txBody>
      </p:sp>
      <p:sp>
        <p:nvSpPr>
          <p:cNvPr id="4" name="Shape 2"/>
          <p:cNvSpPr/>
          <p:nvPr/>
        </p:nvSpPr>
        <p:spPr>
          <a:xfrm>
            <a:off x="685800" y="2880360"/>
            <a:ext cx="5257800" cy="2834640"/>
          </a:xfrm>
          <a:prstGeom prst="rect">
            <a:avLst/>
          </a:prstGeom>
          <a:solidFill>
            <a:srgbClr val="F1F2F3"/>
          </a:solidFill>
          <a:ln/>
        </p:spPr>
      </p:sp>
      <p:sp>
        <p:nvSpPr>
          <p:cNvPr id="5" name="Text 3"/>
          <p:cNvSpPr/>
          <p:nvPr/>
        </p:nvSpPr>
        <p:spPr>
          <a:xfrm>
            <a:off x="978408" y="3090672"/>
            <a:ext cx="466344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EXECUTIVE ORDER 5 — 2018</a:t>
            </a:r>
            <a:endParaRPr lang="en-US" sz="1400" dirty="0"/>
          </a:p>
        </p:txBody>
      </p:sp>
      <p:sp>
        <p:nvSpPr>
          <p:cNvPr id="6" name="Text 4"/>
          <p:cNvSpPr/>
          <p:nvPr/>
        </p:nvSpPr>
        <p:spPr>
          <a:xfrm>
            <a:off x="978408" y="3474720"/>
            <a:ext cx="4663440" cy="15544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Directs every Ministry, Department and Agency to engage indigenous professionals in the planning, design and execution of national security projects. A foreign professional may be considered only where it is certified that the expertise is unavailable in Nigeria. NOTAP is mandated to keep the register of experts.</a:t>
            </a:r>
            <a:endParaRPr lang="en-US" sz="1300" dirty="0"/>
          </a:p>
        </p:txBody>
      </p:sp>
      <p:sp>
        <p:nvSpPr>
          <p:cNvPr id="7" name="Text 5"/>
          <p:cNvSpPr/>
          <p:nvPr/>
        </p:nvSpPr>
        <p:spPr>
          <a:xfrm>
            <a:off x="978408" y="5029200"/>
            <a:ext cx="4663440" cy="548640"/>
          </a:xfrm>
          <a:prstGeom prst="rect">
            <a:avLst/>
          </a:prstGeom>
          <a:noFill/>
          <a:ln/>
        </p:spPr>
        <p:txBody>
          <a:bodyPr wrap="square" lIns="0" tIns="0" rIns="0" bIns="0" rtlCol="0" anchor="t"/>
          <a:lstStyle/>
          <a:p>
            <a:pPr marL="0" indent="0">
              <a:lnSpc>
                <a:spcPts val="1900"/>
              </a:lnSpc>
              <a:buNone/>
            </a:pPr>
            <a:r>
              <a:rPr lang="en-US" sz="1300" b="1" i="1" dirty="0">
                <a:solidFill>
                  <a:srgbClr val="B3392B"/>
                </a:solidFill>
                <a:latin typeface="Calibri" pitchFamily="34" charset="0"/>
                <a:ea typeface="Calibri" pitchFamily="34" charset="-122"/>
                <a:cs typeface="Calibri" pitchFamily="34" charset="-120"/>
              </a:rPr>
              <a:t>Eight years old. Most engineers in this room have never heard of it.</a:t>
            </a:r>
            <a:endParaRPr lang="en-US" sz="1300" dirty="0"/>
          </a:p>
        </p:txBody>
      </p:sp>
      <p:sp>
        <p:nvSpPr>
          <p:cNvPr id="8" name="Shape 6"/>
          <p:cNvSpPr/>
          <p:nvPr/>
        </p:nvSpPr>
        <p:spPr>
          <a:xfrm>
            <a:off x="6217920" y="2880360"/>
            <a:ext cx="5257800" cy="2834640"/>
          </a:xfrm>
          <a:prstGeom prst="rect">
            <a:avLst/>
          </a:prstGeom>
          <a:solidFill>
            <a:srgbClr val="F1F2F3"/>
          </a:solidFill>
          <a:ln/>
        </p:spPr>
      </p:sp>
      <p:sp>
        <p:nvSpPr>
          <p:cNvPr id="9" name="Text 7"/>
          <p:cNvSpPr/>
          <p:nvPr/>
        </p:nvSpPr>
        <p:spPr>
          <a:xfrm>
            <a:off x="6510528" y="3090672"/>
            <a:ext cx="4663440" cy="320040"/>
          </a:xfrm>
          <a:prstGeom prst="rect">
            <a:avLst/>
          </a:prstGeom>
          <a:noFill/>
          <a:ln/>
        </p:spPr>
        <p:txBody>
          <a:bodyPr wrap="square" lIns="0" tIns="0" rIns="0" bIns="0" rtlCol="0" anchor="t"/>
          <a:lstStyle/>
          <a:p>
            <a:pPr marL="0" indent="0">
              <a:buNone/>
            </a:pPr>
            <a:r>
              <a:rPr lang="en-US" sz="1400" b="1" kern="0" spc="100" dirty="0">
                <a:solidFill>
                  <a:srgbClr val="E39400"/>
                </a:solidFill>
                <a:latin typeface="Arial" pitchFamily="34" charset="0"/>
                <a:ea typeface="Arial" pitchFamily="34" charset="-122"/>
                <a:cs typeface="Arial" pitchFamily="34" charset="-120"/>
              </a:rPr>
              <a:t>CNII ORDER — 2024</a:t>
            </a:r>
            <a:endParaRPr lang="en-US" sz="1400" dirty="0"/>
          </a:p>
        </p:txBody>
      </p:sp>
      <p:sp>
        <p:nvSpPr>
          <p:cNvPr id="10" name="Text 8"/>
          <p:cNvSpPr/>
          <p:nvPr/>
        </p:nvSpPr>
        <p:spPr>
          <a:xfrm>
            <a:off x="6510528" y="3474720"/>
            <a:ext cx="4663440" cy="155448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Designates telecommunications assets as Critical National Information Infrastructure, with penalties of up to ten years' imprisonment for wilful damage.</a:t>
            </a:r>
            <a:endParaRPr lang="en-US" sz="1300" dirty="0"/>
          </a:p>
        </p:txBody>
      </p:sp>
      <p:sp>
        <p:nvSpPr>
          <p:cNvPr id="11" name="Text 9"/>
          <p:cNvSpPr/>
          <p:nvPr/>
        </p:nvSpPr>
        <p:spPr>
          <a:xfrm>
            <a:off x="6510528" y="5029200"/>
            <a:ext cx="4663440" cy="548640"/>
          </a:xfrm>
          <a:prstGeom prst="rect">
            <a:avLst/>
          </a:prstGeom>
          <a:noFill/>
          <a:ln/>
        </p:spPr>
        <p:txBody>
          <a:bodyPr wrap="square" lIns="0" tIns="0" rIns="0" bIns="0" rtlCol="0" anchor="t"/>
          <a:lstStyle/>
          <a:p>
            <a:pPr marL="0" indent="0">
              <a:lnSpc>
                <a:spcPts val="1900"/>
              </a:lnSpc>
              <a:buNone/>
            </a:pPr>
            <a:r>
              <a:rPr lang="en-US" sz="1300" b="1" i="1" dirty="0">
                <a:solidFill>
                  <a:srgbClr val="B3392B"/>
                </a:solidFill>
                <a:latin typeface="Calibri" pitchFamily="34" charset="0"/>
                <a:ea typeface="Calibri" pitchFamily="34" charset="-122"/>
                <a:cs typeface="Calibri" pitchFamily="34" charset="-120"/>
              </a:rPr>
              <a:t>Yet the NCC recorded over 5,000 fibre cuts in the first half of 2026. A law without sensing is paper.</a:t>
            </a:r>
            <a:endParaRPr lang="en-US" sz="1300" dirty="0"/>
          </a:p>
        </p:txBody>
      </p:sp>
      <p:sp>
        <p:nvSpPr>
          <p:cNvPr id="12" name="Text 10"/>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13" name="Text 11"/>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1371600"/>
            <a:ext cx="3657600" cy="2377440"/>
          </a:xfrm>
          <a:prstGeom prst="rect">
            <a:avLst/>
          </a:prstGeom>
          <a:noFill/>
          <a:ln/>
        </p:spPr>
        <p:txBody>
          <a:bodyPr wrap="square" lIns="0" tIns="0" rIns="0" bIns="0" rtlCol="0" anchor="t"/>
          <a:lstStyle/>
          <a:p>
            <a:pPr marL="0" indent="0">
              <a:buNone/>
            </a:pPr>
            <a:r>
              <a:rPr lang="en-US" sz="15000" b="1" dirty="0">
                <a:solidFill>
                  <a:srgbClr val="1B2229"/>
                </a:solidFill>
                <a:latin typeface="Arial" pitchFamily="34" charset="0"/>
                <a:ea typeface="Arial" pitchFamily="34" charset="-122"/>
                <a:cs typeface="Arial" pitchFamily="34" charset="-120"/>
              </a:rPr>
              <a:t>05</a:t>
            </a:r>
            <a:endParaRPr lang="en-US" sz="15000" dirty="0"/>
          </a:p>
        </p:txBody>
      </p:sp>
      <p:sp>
        <p:nvSpPr>
          <p:cNvPr id="3" name="Shape 1"/>
          <p:cNvSpPr/>
          <p:nvPr/>
        </p:nvSpPr>
        <p:spPr>
          <a:xfrm>
            <a:off x="685800" y="3886200"/>
            <a:ext cx="1097280" cy="82296"/>
          </a:xfrm>
          <a:prstGeom prst="rect">
            <a:avLst/>
          </a:prstGeom>
          <a:solidFill>
            <a:srgbClr val="E39400"/>
          </a:solidFill>
          <a:ln/>
        </p:spPr>
      </p:sp>
      <p:sp>
        <p:nvSpPr>
          <p:cNvPr id="4" name="Text 2"/>
          <p:cNvSpPr/>
          <p:nvPr/>
        </p:nvSpPr>
        <p:spPr>
          <a:xfrm>
            <a:off x="685800" y="4206240"/>
            <a:ext cx="10515600" cy="9144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ADAPT, DO NOT IMPORT</a:t>
            </a:r>
            <a:endParaRPr lang="en-US" sz="4600" dirty="0"/>
          </a:p>
        </p:txBody>
      </p:sp>
      <p:sp>
        <p:nvSpPr>
          <p:cNvPr id="5" name="Text 3"/>
          <p:cNvSpPr/>
          <p:nvPr/>
        </p:nvSpPr>
        <p:spPr>
          <a:xfrm>
            <a:off x="685800" y="5212080"/>
            <a:ext cx="9601200" cy="548640"/>
          </a:xfrm>
          <a:prstGeom prst="rect">
            <a:avLst/>
          </a:prstGeom>
          <a:noFill/>
          <a:ln/>
        </p:spPr>
        <p:txBody>
          <a:bodyPr wrap="square" lIns="0" tIns="0" rIns="0" bIns="0" rtlCol="0" anchor="t"/>
          <a:lstStyle/>
          <a:p>
            <a:pPr marL="0" indent="0">
              <a:buNone/>
            </a:pPr>
            <a:r>
              <a:rPr lang="en-US" sz="1700" dirty="0">
                <a:solidFill>
                  <a:srgbClr val="A6B0B9"/>
                </a:solidFill>
                <a:latin typeface="Calibri" pitchFamily="34" charset="0"/>
                <a:ea typeface="Calibri" pitchFamily="34" charset="-122"/>
                <a:cs typeface="Calibri" pitchFamily="34" charset="-120"/>
              </a:rPr>
              <a:t>Every objection to a local solution is an engineering requirement in disguise.</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DESIGNING FOR NIGERIAN REALITY</a:t>
            </a:r>
            <a:endParaRPr lang="en-US" sz="1200" dirty="0"/>
          </a:p>
        </p:txBody>
      </p:sp>
      <p:sp>
        <p:nvSpPr>
          <p:cNvPr id="3" name="Text 1"/>
          <p:cNvSpPr/>
          <p:nvPr/>
        </p:nvSpPr>
        <p:spPr>
          <a:xfrm>
            <a:off x="685800" y="868680"/>
            <a:ext cx="10515600" cy="1234440"/>
          </a:xfrm>
          <a:prstGeom prst="rect">
            <a:avLst/>
          </a:prstGeom>
          <a:noFill/>
          <a:ln/>
        </p:spPr>
        <p:txBody>
          <a:bodyPr wrap="square" lIns="0" tIns="0" rIns="0" bIns="0" rtlCol="0" anchor="t"/>
          <a:lstStyle/>
          <a:p>
            <a:pPr marL="0" indent="0">
              <a:lnSpc>
                <a:spcPts val="4800"/>
              </a:lnSpc>
              <a:buNone/>
            </a:pPr>
            <a:r>
              <a:rPr lang="en-US" sz="4000" b="1" dirty="0">
                <a:solidFill>
                  <a:srgbClr val="0F1419"/>
                </a:solidFill>
                <a:latin typeface="Arial" pitchFamily="34" charset="0"/>
                <a:ea typeface="Arial" pitchFamily="34" charset="-122"/>
                <a:cs typeface="Arial" pitchFamily="34" charset="-120"/>
              </a:rPr>
              <a:t>Four excuses.</a:t>
            </a:r>
            <a:endParaRPr lang="en-US" sz="4000" dirty="0"/>
          </a:p>
          <a:p>
            <a:pPr marL="0" indent="0">
              <a:lnSpc>
                <a:spcPts val="4800"/>
              </a:lnSpc>
              <a:buNone/>
            </a:pPr>
            <a:r>
              <a:rPr lang="en-US" sz="4000" b="1" dirty="0">
                <a:solidFill>
                  <a:srgbClr val="0F1419"/>
                </a:solidFill>
                <a:latin typeface="Arial" pitchFamily="34" charset="0"/>
                <a:ea typeface="Arial" pitchFamily="34" charset="-122"/>
                <a:cs typeface="Arial" pitchFamily="34" charset="-120"/>
              </a:rPr>
              <a:t>Four specifications.</a:t>
            </a:r>
            <a:endParaRPr lang="en-US" sz="4000" dirty="0"/>
          </a:p>
        </p:txBody>
      </p:sp>
      <p:sp>
        <p:nvSpPr>
          <p:cNvPr id="4" name="Text 2"/>
          <p:cNvSpPr/>
          <p:nvPr/>
        </p:nvSpPr>
        <p:spPr>
          <a:xfrm>
            <a:off x="685800" y="2377440"/>
            <a:ext cx="4206240" cy="274320"/>
          </a:xfrm>
          <a:prstGeom prst="rect">
            <a:avLst/>
          </a:prstGeom>
          <a:noFill/>
          <a:ln/>
        </p:spPr>
        <p:txBody>
          <a:bodyPr wrap="square" lIns="0" tIns="0" rIns="0" bIns="0" rtlCol="0" anchor="t"/>
          <a:lstStyle/>
          <a:p>
            <a:pPr marL="0" indent="0">
              <a:buNone/>
            </a:pPr>
            <a:r>
              <a:rPr lang="en-US" sz="1200" b="1" kern="0" spc="200" dirty="0">
                <a:solidFill>
                  <a:srgbClr val="5D6773"/>
                </a:solidFill>
                <a:latin typeface="Arial" pitchFamily="34" charset="0"/>
                <a:ea typeface="Arial" pitchFamily="34" charset="-122"/>
                <a:cs typeface="Arial" pitchFamily="34" charset="-120"/>
              </a:rPr>
              <a:t>THE OBJECTION</a:t>
            </a:r>
            <a:endParaRPr lang="en-US" sz="1200" dirty="0"/>
          </a:p>
        </p:txBody>
      </p:sp>
      <p:sp>
        <p:nvSpPr>
          <p:cNvPr id="5" name="Text 3"/>
          <p:cNvSpPr/>
          <p:nvPr/>
        </p:nvSpPr>
        <p:spPr>
          <a:xfrm>
            <a:off x="5440680" y="2377440"/>
            <a:ext cx="5943600" cy="274320"/>
          </a:xfrm>
          <a:prstGeom prst="rect">
            <a:avLst/>
          </a:prstGeom>
          <a:noFill/>
          <a:ln/>
        </p:spPr>
        <p:txBody>
          <a:bodyPr wrap="square" lIns="0" tIns="0" rIns="0" bIns="0" rtlCol="0" anchor="t"/>
          <a:lstStyle/>
          <a:p>
            <a:pPr marL="0" indent="0">
              <a:buNone/>
            </a:pPr>
            <a:r>
              <a:rPr lang="en-US" sz="1200" b="1" kern="0" spc="200" dirty="0">
                <a:solidFill>
                  <a:srgbClr val="E39400"/>
                </a:solidFill>
                <a:latin typeface="Arial" pitchFamily="34" charset="0"/>
                <a:ea typeface="Arial" pitchFamily="34" charset="-122"/>
                <a:cs typeface="Arial" pitchFamily="34" charset="-120"/>
              </a:rPr>
              <a:t>THE DESIGN ANSWER</a:t>
            </a:r>
            <a:endParaRPr lang="en-US" sz="1200" dirty="0"/>
          </a:p>
        </p:txBody>
      </p:sp>
      <p:sp>
        <p:nvSpPr>
          <p:cNvPr id="6" name="Shape 4"/>
          <p:cNvSpPr/>
          <p:nvPr/>
        </p:nvSpPr>
        <p:spPr>
          <a:xfrm>
            <a:off x="685800" y="2788920"/>
            <a:ext cx="10820095" cy="694944"/>
          </a:xfrm>
          <a:prstGeom prst="rect">
            <a:avLst/>
          </a:prstGeom>
          <a:solidFill>
            <a:srgbClr val="F1F2F3"/>
          </a:solidFill>
          <a:ln/>
        </p:spPr>
      </p:sp>
      <p:sp>
        <p:nvSpPr>
          <p:cNvPr id="7" name="Text 5"/>
          <p:cNvSpPr/>
          <p:nvPr/>
        </p:nvSpPr>
        <p:spPr>
          <a:xfrm>
            <a:off x="941832" y="2935224"/>
            <a:ext cx="4023360" cy="411480"/>
          </a:xfrm>
          <a:prstGeom prst="rect">
            <a:avLst/>
          </a:prstGeom>
          <a:noFill/>
          <a:ln/>
        </p:spPr>
        <p:txBody>
          <a:bodyPr wrap="square" lIns="0" tIns="0" rIns="0" bIns="0" rtlCol="0" anchor="t"/>
          <a:lstStyle/>
          <a:p>
            <a:pPr marL="0" indent="0">
              <a:buNone/>
            </a:pPr>
            <a:r>
              <a:rPr lang="en-US" sz="1400" b="1" dirty="0">
                <a:solidFill>
                  <a:srgbClr val="5D6773"/>
                </a:solidFill>
                <a:latin typeface="Calibri" pitchFamily="34" charset="0"/>
                <a:ea typeface="Calibri" pitchFamily="34" charset="-122"/>
                <a:cs typeface="Calibri" pitchFamily="34" charset="-120"/>
              </a:rPr>
              <a:t>No internet in rural areas</a:t>
            </a:r>
            <a:endParaRPr lang="en-US" sz="1400" dirty="0"/>
          </a:p>
        </p:txBody>
      </p:sp>
      <p:sp>
        <p:nvSpPr>
          <p:cNvPr id="8" name="Text 6"/>
          <p:cNvSpPr/>
          <p:nvPr/>
        </p:nvSpPr>
        <p:spPr>
          <a:xfrm>
            <a:off x="5440680" y="2871216"/>
            <a:ext cx="5852160" cy="54864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Fall back to GSM. No GSM either? Store and forward — buffer locally, sync to any passing hotspot.</a:t>
            </a:r>
            <a:endParaRPr lang="en-US" sz="1300" dirty="0"/>
          </a:p>
        </p:txBody>
      </p:sp>
      <p:sp>
        <p:nvSpPr>
          <p:cNvPr id="9" name="Shape 7"/>
          <p:cNvSpPr/>
          <p:nvPr/>
        </p:nvSpPr>
        <p:spPr>
          <a:xfrm>
            <a:off x="685800" y="3575304"/>
            <a:ext cx="10820095" cy="694944"/>
          </a:xfrm>
          <a:prstGeom prst="rect">
            <a:avLst/>
          </a:prstGeom>
          <a:solidFill>
            <a:srgbClr val="FFFFFF"/>
          </a:solidFill>
          <a:ln/>
        </p:spPr>
      </p:sp>
      <p:sp>
        <p:nvSpPr>
          <p:cNvPr id="10" name="Text 8"/>
          <p:cNvSpPr/>
          <p:nvPr/>
        </p:nvSpPr>
        <p:spPr>
          <a:xfrm>
            <a:off x="941832" y="3721608"/>
            <a:ext cx="4023360" cy="411480"/>
          </a:xfrm>
          <a:prstGeom prst="rect">
            <a:avLst/>
          </a:prstGeom>
          <a:noFill/>
          <a:ln/>
        </p:spPr>
        <p:txBody>
          <a:bodyPr wrap="square" lIns="0" tIns="0" rIns="0" bIns="0" rtlCol="0" anchor="t"/>
          <a:lstStyle/>
          <a:p>
            <a:pPr marL="0" indent="0">
              <a:buNone/>
            </a:pPr>
            <a:r>
              <a:rPr lang="en-US" sz="1400" b="1" dirty="0">
                <a:solidFill>
                  <a:srgbClr val="5D6773"/>
                </a:solidFill>
                <a:latin typeface="Calibri" pitchFamily="34" charset="0"/>
                <a:ea typeface="Calibri" pitchFamily="34" charset="-122"/>
                <a:cs typeface="Calibri" pitchFamily="34" charset="-120"/>
              </a:rPr>
              <a:t>Everything gets vandalised</a:t>
            </a:r>
            <a:endParaRPr lang="en-US" sz="1400" dirty="0"/>
          </a:p>
        </p:txBody>
      </p:sp>
      <p:sp>
        <p:nvSpPr>
          <p:cNvPr id="11" name="Text 9"/>
          <p:cNvSpPr/>
          <p:nvPr/>
        </p:nvSpPr>
        <p:spPr>
          <a:xfrm>
            <a:off x="5440680" y="3657600"/>
            <a:ext cx="5852160" cy="54864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Tamper detection, low resale value components, potted enclosures, mesh redundancy.</a:t>
            </a:r>
            <a:endParaRPr lang="en-US" sz="1300" dirty="0"/>
          </a:p>
        </p:txBody>
      </p:sp>
      <p:sp>
        <p:nvSpPr>
          <p:cNvPr id="12" name="Shape 10"/>
          <p:cNvSpPr/>
          <p:nvPr/>
        </p:nvSpPr>
        <p:spPr>
          <a:xfrm>
            <a:off x="685800" y="4361688"/>
            <a:ext cx="10820095" cy="694944"/>
          </a:xfrm>
          <a:prstGeom prst="rect">
            <a:avLst/>
          </a:prstGeom>
          <a:solidFill>
            <a:srgbClr val="F1F2F3"/>
          </a:solidFill>
          <a:ln/>
        </p:spPr>
      </p:sp>
      <p:sp>
        <p:nvSpPr>
          <p:cNvPr id="13" name="Text 11"/>
          <p:cNvSpPr/>
          <p:nvPr/>
        </p:nvSpPr>
        <p:spPr>
          <a:xfrm>
            <a:off x="941832" y="4507992"/>
            <a:ext cx="4023360" cy="411480"/>
          </a:xfrm>
          <a:prstGeom prst="rect">
            <a:avLst/>
          </a:prstGeom>
          <a:noFill/>
          <a:ln/>
        </p:spPr>
        <p:txBody>
          <a:bodyPr wrap="square" lIns="0" tIns="0" rIns="0" bIns="0" rtlCol="0" anchor="t"/>
          <a:lstStyle/>
          <a:p>
            <a:pPr marL="0" indent="0">
              <a:buNone/>
            </a:pPr>
            <a:r>
              <a:rPr lang="en-US" sz="1400" b="1" dirty="0">
                <a:solidFill>
                  <a:srgbClr val="5D6773"/>
                </a:solidFill>
                <a:latin typeface="Calibri" pitchFamily="34" charset="0"/>
                <a:ea typeface="Calibri" pitchFamily="34" charset="-122"/>
                <a:cs typeface="Calibri" pitchFamily="34" charset="-120"/>
              </a:rPr>
              <a:t>No power to run the monitor</a:t>
            </a:r>
            <a:endParaRPr lang="en-US" sz="1400" dirty="0"/>
          </a:p>
        </p:txBody>
      </p:sp>
      <p:sp>
        <p:nvSpPr>
          <p:cNvPr id="14" name="Text 12"/>
          <p:cNvSpPr/>
          <p:nvPr/>
        </p:nvSpPr>
        <p:spPr>
          <a:xfrm>
            <a:off x="5440680" y="4443984"/>
            <a:ext cx="5852160" cy="54864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Microwatt duty cycling and solar harvesting. Trade sampling rate for survival.</a:t>
            </a:r>
            <a:endParaRPr lang="en-US" sz="1300" dirty="0"/>
          </a:p>
        </p:txBody>
      </p:sp>
      <p:sp>
        <p:nvSpPr>
          <p:cNvPr id="15" name="Shape 13"/>
          <p:cNvSpPr/>
          <p:nvPr/>
        </p:nvSpPr>
        <p:spPr>
          <a:xfrm>
            <a:off x="685800" y="5148072"/>
            <a:ext cx="10820095" cy="694944"/>
          </a:xfrm>
          <a:prstGeom prst="rect">
            <a:avLst/>
          </a:prstGeom>
          <a:solidFill>
            <a:srgbClr val="FFFFFF"/>
          </a:solidFill>
          <a:ln/>
        </p:spPr>
      </p:sp>
      <p:sp>
        <p:nvSpPr>
          <p:cNvPr id="16" name="Text 14"/>
          <p:cNvSpPr/>
          <p:nvPr/>
        </p:nvSpPr>
        <p:spPr>
          <a:xfrm>
            <a:off x="941832" y="5294376"/>
            <a:ext cx="4023360" cy="411480"/>
          </a:xfrm>
          <a:prstGeom prst="rect">
            <a:avLst/>
          </a:prstGeom>
          <a:noFill/>
          <a:ln/>
        </p:spPr>
        <p:txBody>
          <a:bodyPr wrap="square" lIns="0" tIns="0" rIns="0" bIns="0" rtlCol="0" anchor="t"/>
          <a:lstStyle/>
          <a:p>
            <a:pPr marL="0" indent="0">
              <a:buNone/>
            </a:pPr>
            <a:r>
              <a:rPr lang="en-US" sz="1400" b="1" dirty="0">
                <a:solidFill>
                  <a:srgbClr val="5D6773"/>
                </a:solidFill>
                <a:latin typeface="Calibri" pitchFamily="34" charset="0"/>
                <a:ea typeface="Calibri" pitchFamily="34" charset="-122"/>
                <a:cs typeface="Calibri" pitchFamily="34" charset="-120"/>
              </a:rPr>
              <a:t>The community will destroy it</a:t>
            </a:r>
            <a:endParaRPr lang="en-US" sz="1400" dirty="0"/>
          </a:p>
        </p:txBody>
      </p:sp>
      <p:sp>
        <p:nvSpPr>
          <p:cNvPr id="17" name="Text 15"/>
          <p:cNvSpPr/>
          <p:nvPr/>
        </p:nvSpPr>
        <p:spPr>
          <a:xfrm>
            <a:off x="5440680" y="5230368"/>
            <a:ext cx="5852160" cy="548640"/>
          </a:xfrm>
          <a:prstGeom prst="rect">
            <a:avLst/>
          </a:prstGeom>
          <a:noFill/>
          <a:ln/>
        </p:spPr>
        <p:txBody>
          <a:bodyPr wrap="square" lIns="0" tIns="0" rIns="0" bIns="0" rtlCol="0" anchor="t"/>
          <a:lstStyle/>
          <a:p>
            <a:pPr marL="0" indent="0">
              <a:lnSpc>
                <a:spcPts val="1900"/>
              </a:lnSpc>
              <a:buNone/>
            </a:pPr>
            <a:r>
              <a:rPr lang="en-US" sz="1300" dirty="0">
                <a:solidFill>
                  <a:srgbClr val="0F1419"/>
                </a:solidFill>
                <a:latin typeface="Calibri" pitchFamily="34" charset="0"/>
                <a:ea typeface="Calibri" pitchFamily="34" charset="-122"/>
                <a:cs typeface="Calibri" pitchFamily="34" charset="-120"/>
              </a:rPr>
              <a:t>Engineer the community in. The node also tells them when their power is coming back.</a:t>
            </a:r>
            <a:endParaRPr lang="en-US" sz="1300" dirty="0"/>
          </a:p>
        </p:txBody>
      </p:sp>
      <p:sp>
        <p:nvSpPr>
          <p:cNvPr id="18" name="Text 16"/>
          <p:cNvSpPr/>
          <p:nvPr/>
        </p:nvSpPr>
        <p:spPr>
          <a:xfrm>
            <a:off x="685800" y="5989320"/>
            <a:ext cx="10607040" cy="457200"/>
          </a:xfrm>
          <a:prstGeom prst="rect">
            <a:avLst/>
          </a:prstGeom>
          <a:noFill/>
          <a:ln/>
        </p:spPr>
        <p:txBody>
          <a:bodyPr wrap="square" lIns="0" tIns="0" rIns="0" bIns="0" rtlCol="0" anchor="t"/>
          <a:lstStyle/>
          <a:p>
            <a:pPr marL="0" indent="0">
              <a:buNone/>
            </a:pPr>
            <a:r>
              <a:rPr lang="en-US" sz="1300" i="1" dirty="0">
                <a:solidFill>
                  <a:srgbClr val="5D6773"/>
                </a:solidFill>
                <a:latin typeface="Calibri" pitchFamily="34" charset="0"/>
                <a:ea typeface="Calibri" pitchFamily="34" charset="-122"/>
                <a:cs typeface="Calibri" pitchFamily="34" charset="-120"/>
              </a:rPr>
              <a:t>The British put a button on the pedestrian crossing so cars are not stopped for people who are not there. That is not new technology. It is adaptation to reality. That is all engineering is.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THE THING ENGINEERS ARE WORST AT</a:t>
            </a:r>
            <a:endParaRPr lang="en-US" sz="1200" dirty="0"/>
          </a:p>
        </p:txBody>
      </p:sp>
      <p:sp>
        <p:nvSpPr>
          <p:cNvPr id="3" name="Text 1"/>
          <p:cNvSpPr/>
          <p:nvPr/>
        </p:nvSpPr>
        <p:spPr>
          <a:xfrm>
            <a:off x="685800" y="1280160"/>
            <a:ext cx="10607040" cy="1737360"/>
          </a:xfrm>
          <a:prstGeom prst="rect">
            <a:avLst/>
          </a:prstGeom>
          <a:noFill/>
          <a:ln/>
        </p:spPr>
        <p:txBody>
          <a:bodyPr wrap="square" lIns="0" tIns="0" rIns="0" bIns="0" rtlCol="0" anchor="t"/>
          <a:lstStyle/>
          <a:p>
            <a:pPr marL="0" indent="0">
              <a:lnSpc>
                <a:spcPts val="6200"/>
              </a:lnSpc>
              <a:buNone/>
            </a:pPr>
            <a:r>
              <a:rPr lang="en-US" sz="5000" b="1" dirty="0">
                <a:solidFill>
                  <a:srgbClr val="0F1419"/>
                </a:solidFill>
                <a:latin typeface="Arial" pitchFamily="34" charset="0"/>
                <a:ea typeface="Arial" pitchFamily="34" charset="-122"/>
                <a:cs typeface="Arial" pitchFamily="34" charset="-120"/>
              </a:rPr>
              <a:t>Nobody is going to</a:t>
            </a:r>
            <a:endParaRPr lang="en-US" sz="5000" dirty="0"/>
          </a:p>
          <a:p>
            <a:pPr marL="0" indent="0">
              <a:lnSpc>
                <a:spcPts val="6200"/>
              </a:lnSpc>
              <a:buNone/>
            </a:pPr>
            <a:r>
              <a:rPr lang="en-US" sz="5000" b="1" dirty="0">
                <a:solidFill>
                  <a:srgbClr val="0F1419"/>
                </a:solidFill>
                <a:latin typeface="Arial" pitchFamily="34" charset="0"/>
                <a:ea typeface="Arial" pitchFamily="34" charset="-122"/>
                <a:cs typeface="Arial" pitchFamily="34" charset="-120"/>
              </a:rPr>
              <a:t>market it for you.</a:t>
            </a:r>
            <a:endParaRPr lang="en-US" sz="5000" dirty="0"/>
          </a:p>
        </p:txBody>
      </p:sp>
      <p:sp>
        <p:nvSpPr>
          <p:cNvPr id="4" name="Text 2"/>
          <p:cNvSpPr/>
          <p:nvPr/>
        </p:nvSpPr>
        <p:spPr>
          <a:xfrm>
            <a:off x="685800" y="3246120"/>
            <a:ext cx="9875520" cy="1188720"/>
          </a:xfrm>
          <a:prstGeom prst="rect">
            <a:avLst/>
          </a:prstGeom>
          <a:noFill/>
          <a:ln/>
        </p:spPr>
        <p:txBody>
          <a:bodyPr wrap="square" lIns="0" tIns="0" rIns="0" bIns="0" rtlCol="0" anchor="t"/>
          <a:lstStyle/>
          <a:p>
            <a:pPr marL="0" indent="0">
              <a:lnSpc>
                <a:spcPts val="2800"/>
              </a:lnSpc>
              <a:buNone/>
            </a:pPr>
            <a:r>
              <a:rPr lang="en-US" sz="1800" dirty="0">
                <a:solidFill>
                  <a:srgbClr val="5D6773"/>
                </a:solidFill>
                <a:latin typeface="Calibri" pitchFamily="34" charset="0"/>
                <a:ea typeface="Calibri" pitchFamily="34" charset="-122"/>
                <a:cs typeface="Calibri" pitchFamily="34" charset="-120"/>
              </a:rPr>
              <a:t>Every car on that road was advertised. Every machine in that factory was advertised. Every phone in this hall was advertised. Even the platforms that already dominate the world still advertise.</a:t>
            </a:r>
            <a:endParaRPr lang="en-US" sz="1800" dirty="0"/>
          </a:p>
        </p:txBody>
      </p:sp>
      <p:sp>
        <p:nvSpPr>
          <p:cNvPr id="5" name="Shape 3"/>
          <p:cNvSpPr/>
          <p:nvPr/>
        </p:nvSpPr>
        <p:spPr>
          <a:xfrm>
            <a:off x="685800" y="4572000"/>
            <a:ext cx="1097280" cy="82296"/>
          </a:xfrm>
          <a:prstGeom prst="rect">
            <a:avLst/>
          </a:prstGeom>
          <a:solidFill>
            <a:srgbClr val="E39400"/>
          </a:solidFill>
          <a:ln/>
        </p:spPr>
      </p:sp>
      <p:sp>
        <p:nvSpPr>
          <p:cNvPr id="6" name="Text 4"/>
          <p:cNvSpPr/>
          <p:nvPr/>
        </p:nvSpPr>
        <p:spPr>
          <a:xfrm>
            <a:off x="685800" y="4892040"/>
            <a:ext cx="10058400" cy="914400"/>
          </a:xfrm>
          <a:prstGeom prst="rect">
            <a:avLst/>
          </a:prstGeom>
          <a:noFill/>
          <a:ln/>
        </p:spPr>
        <p:txBody>
          <a:bodyPr wrap="square" lIns="0" tIns="0" rIns="0" bIns="0" rtlCol="0" anchor="t"/>
          <a:lstStyle/>
          <a:p>
            <a:pPr marL="0" indent="0">
              <a:lnSpc>
                <a:spcPts val="3200"/>
              </a:lnSpc>
              <a:buNone/>
            </a:pPr>
            <a:r>
              <a:rPr lang="en-US" sz="2200" b="1" dirty="0">
                <a:solidFill>
                  <a:srgbClr val="0F1419"/>
                </a:solidFill>
                <a:latin typeface="Arial" pitchFamily="34" charset="0"/>
                <a:ea typeface="Arial" pitchFamily="34" charset="-122"/>
                <a:cs typeface="Arial" pitchFamily="34" charset="-120"/>
              </a:rPr>
              <a:t>So how much are we investing in advertising?</a:t>
            </a:r>
            <a:endParaRPr lang="en-US" sz="2200" dirty="0"/>
          </a:p>
          <a:p>
            <a:pPr marL="0" indent="0">
              <a:lnSpc>
                <a:spcPts val="3200"/>
              </a:lnSpc>
              <a:buNone/>
            </a:pPr>
            <a:r>
              <a:rPr lang="en-US" sz="2200" b="1" dirty="0">
                <a:solidFill>
                  <a:srgbClr val="0F1419"/>
                </a:solidFill>
                <a:latin typeface="Arial" pitchFamily="34" charset="0"/>
                <a:ea typeface="Arial" pitchFamily="34" charset="-122"/>
                <a:cs typeface="Arial" pitchFamily="34" charset="-120"/>
              </a:rPr>
              <a:t>How much training do we have in technical marketing?</a:t>
            </a:r>
            <a:endParaRPr lang="en-US" sz="2200" dirty="0"/>
          </a:p>
        </p:txBody>
      </p:sp>
      <p:sp>
        <p:nvSpPr>
          <p:cNvPr id="7" name="Text 5"/>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8" name="Text 6"/>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85800" y="457200"/>
            <a:ext cx="10820095" cy="274320"/>
          </a:xfrm>
          <a:prstGeom prst="rect">
            <a:avLst/>
          </a:prstGeom>
          <a:noFill/>
          <a:ln/>
        </p:spPr>
        <p:txBody>
          <a:bodyPr wrap="square" lIns="0" tIns="0" rIns="0" bIns="0" rtlCol="0" anchor="t"/>
          <a:lstStyle/>
          <a:p>
            <a:pPr marL="0" indent="0" algn="l">
              <a:buNone/>
            </a:pPr>
            <a:r>
              <a:rPr lang="en-US" sz="1200" b="1" kern="0" spc="300" dirty="0">
                <a:solidFill>
                  <a:srgbClr val="E39400"/>
                </a:solidFill>
                <a:latin typeface="Calibri" pitchFamily="34" charset="0"/>
                <a:ea typeface="Calibri" pitchFamily="34" charset="-122"/>
                <a:cs typeface="Calibri" pitchFamily="34" charset="-120"/>
              </a:rPr>
              <a:t>WHAT THIS CONFERENCE SHOULD LEAVE BEHIND</a:t>
            </a:r>
            <a:endParaRPr lang="en-US" sz="1200" dirty="0"/>
          </a:p>
        </p:txBody>
      </p:sp>
      <p:sp>
        <p:nvSpPr>
          <p:cNvPr id="3" name="Text 1"/>
          <p:cNvSpPr/>
          <p:nvPr/>
        </p:nvSpPr>
        <p:spPr>
          <a:xfrm>
            <a:off x="685800" y="822960"/>
            <a:ext cx="10515600" cy="822960"/>
          </a:xfrm>
          <a:prstGeom prst="rect">
            <a:avLst/>
          </a:prstGeom>
          <a:noFill/>
          <a:ln/>
        </p:spPr>
        <p:txBody>
          <a:bodyPr wrap="square" lIns="0" tIns="0" rIns="0" bIns="0" rtlCol="0" anchor="t"/>
          <a:lstStyle/>
          <a:p>
            <a:pPr marL="0" indent="0">
              <a:buNone/>
            </a:pPr>
            <a:r>
              <a:rPr lang="en-US" sz="4400" b="1" dirty="0">
                <a:solidFill>
                  <a:srgbClr val="0F1419"/>
                </a:solidFill>
                <a:latin typeface="Arial" pitchFamily="34" charset="0"/>
                <a:ea typeface="Arial" pitchFamily="34" charset="-122"/>
                <a:cs typeface="Arial" pitchFamily="34" charset="-120"/>
              </a:rPr>
              <a:t>Six asks.</a:t>
            </a:r>
            <a:endParaRPr lang="en-US" sz="4400" dirty="0"/>
          </a:p>
        </p:txBody>
      </p:sp>
      <p:sp>
        <p:nvSpPr>
          <p:cNvPr id="4" name="Text 2"/>
          <p:cNvSpPr/>
          <p:nvPr/>
        </p:nvSpPr>
        <p:spPr>
          <a:xfrm>
            <a:off x="685800" y="193852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01</a:t>
            </a:r>
            <a:endParaRPr lang="en-US" sz="1600" dirty="0"/>
          </a:p>
        </p:txBody>
      </p:sp>
      <p:sp>
        <p:nvSpPr>
          <p:cNvPr id="5" name="Text 3"/>
          <p:cNvSpPr/>
          <p:nvPr/>
        </p:nvSpPr>
        <p:spPr>
          <a:xfrm>
            <a:off x="1289304" y="192024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A National Engineering Sandbox Framework</a:t>
            </a:r>
            <a:endParaRPr lang="en-US" sz="1600" dirty="0"/>
          </a:p>
        </p:txBody>
      </p:sp>
      <p:sp>
        <p:nvSpPr>
          <p:cNvPr id="6" name="Text 4"/>
          <p:cNvSpPr/>
          <p:nvPr/>
        </p:nvSpPr>
        <p:spPr>
          <a:xfrm>
            <a:off x="1289304" y="232257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Drafted by NSE, modelled on the CBN framework of 2021, tabled to NERC, NCC, ONSA, SON and COREN.</a:t>
            </a:r>
            <a:endParaRPr lang="en-US" sz="1300" dirty="0"/>
          </a:p>
        </p:txBody>
      </p:sp>
      <p:sp>
        <p:nvSpPr>
          <p:cNvPr id="7" name="Text 5"/>
          <p:cNvSpPr/>
          <p:nvPr/>
        </p:nvSpPr>
        <p:spPr>
          <a:xfrm>
            <a:off x="6217920" y="193852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02</a:t>
            </a:r>
            <a:endParaRPr lang="en-US" sz="1600" dirty="0"/>
          </a:p>
        </p:txBody>
      </p:sp>
      <p:sp>
        <p:nvSpPr>
          <p:cNvPr id="8" name="Text 6"/>
          <p:cNvSpPr/>
          <p:nvPr/>
        </p:nvSpPr>
        <p:spPr>
          <a:xfrm>
            <a:off x="6821424" y="192024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Enforce Executive Order 5</a:t>
            </a:r>
            <a:endParaRPr lang="en-US" sz="1600" dirty="0"/>
          </a:p>
        </p:txBody>
      </p:sp>
      <p:sp>
        <p:nvSpPr>
          <p:cNvPr id="9" name="Text 7"/>
          <p:cNvSpPr/>
          <p:nvPr/>
        </p:nvSpPr>
        <p:spPr>
          <a:xfrm>
            <a:off x="6821424" y="232257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Audit federal and state engineering contracts in Oyo State against it — and publish what you find.</a:t>
            </a:r>
            <a:endParaRPr lang="en-US" sz="1300" dirty="0"/>
          </a:p>
        </p:txBody>
      </p:sp>
      <p:sp>
        <p:nvSpPr>
          <p:cNvPr id="10" name="Text 8"/>
          <p:cNvSpPr/>
          <p:nvPr/>
        </p:nvSpPr>
        <p:spPr>
          <a:xfrm>
            <a:off x="685800" y="335584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03</a:t>
            </a:r>
            <a:endParaRPr lang="en-US" sz="1600" dirty="0"/>
          </a:p>
        </p:txBody>
      </p:sp>
      <p:sp>
        <p:nvSpPr>
          <p:cNvPr id="11" name="Text 9"/>
          <p:cNvSpPr/>
          <p:nvPr/>
        </p:nvSpPr>
        <p:spPr>
          <a:xfrm>
            <a:off x="1289304" y="333756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A live register of capability</a:t>
            </a:r>
            <a:endParaRPr lang="en-US" sz="1600" dirty="0"/>
          </a:p>
        </p:txBody>
      </p:sp>
      <p:sp>
        <p:nvSpPr>
          <p:cNvPr id="12" name="Text 10"/>
          <p:cNvSpPr/>
          <p:nvPr/>
        </p:nvSpPr>
        <p:spPr>
          <a:xfrm>
            <a:off x="1289304" y="373989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Make the NOTAP experts' database real and searchable, so no procuring officer can plead ignorance.</a:t>
            </a:r>
            <a:endParaRPr lang="en-US" sz="1300" dirty="0"/>
          </a:p>
        </p:txBody>
      </p:sp>
      <p:sp>
        <p:nvSpPr>
          <p:cNvPr id="13" name="Text 11"/>
          <p:cNvSpPr/>
          <p:nvPr/>
        </p:nvSpPr>
        <p:spPr>
          <a:xfrm>
            <a:off x="6217920" y="335584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04</a:t>
            </a:r>
            <a:endParaRPr lang="en-US" sz="1600" dirty="0"/>
          </a:p>
        </p:txBody>
      </p:sp>
      <p:sp>
        <p:nvSpPr>
          <p:cNvPr id="14" name="Text 12"/>
          <p:cNvSpPr/>
          <p:nvPr/>
        </p:nvSpPr>
        <p:spPr>
          <a:xfrm>
            <a:off x="6821424" y="333756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Ring-fence maintenance</a:t>
            </a:r>
            <a:endParaRPr lang="en-US" sz="1600" dirty="0"/>
          </a:p>
        </p:txBody>
      </p:sp>
      <p:sp>
        <p:nvSpPr>
          <p:cNvPr id="15" name="Text 13"/>
          <p:cNvSpPr/>
          <p:nvPr/>
        </p:nvSpPr>
        <p:spPr>
          <a:xfrm>
            <a:off x="6821424" y="373989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Roughly 5% of every project cost committed to a ten-year monitoring obligation, instrumented from day one.</a:t>
            </a:r>
            <a:endParaRPr lang="en-US" sz="1300" dirty="0"/>
          </a:p>
        </p:txBody>
      </p:sp>
      <p:sp>
        <p:nvSpPr>
          <p:cNvPr id="16" name="Text 14"/>
          <p:cNvSpPr/>
          <p:nvPr/>
        </p:nvSpPr>
        <p:spPr>
          <a:xfrm>
            <a:off x="685800" y="477316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05</a:t>
            </a:r>
            <a:endParaRPr lang="en-US" sz="1600" dirty="0"/>
          </a:p>
        </p:txBody>
      </p:sp>
      <p:sp>
        <p:nvSpPr>
          <p:cNvPr id="17" name="Text 15"/>
          <p:cNvSpPr/>
          <p:nvPr/>
        </p:nvSpPr>
        <p:spPr>
          <a:xfrm>
            <a:off x="1289304" y="475488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Open the labs — and insure them</a:t>
            </a:r>
            <a:endParaRPr lang="en-US" sz="1600" dirty="0"/>
          </a:p>
        </p:txBody>
      </p:sp>
      <p:sp>
        <p:nvSpPr>
          <p:cNvPr id="18" name="Text 16"/>
          <p:cNvSpPr/>
          <p:nvPr/>
        </p:nvSpPr>
        <p:spPr>
          <a:xfrm>
            <a:off x="1289304" y="515721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A shared instrumentation and insurance pool across UI, LAUTECH, Poly Ibadan and RAIN.</a:t>
            </a:r>
            <a:endParaRPr lang="en-US" sz="1300" dirty="0"/>
          </a:p>
        </p:txBody>
      </p:sp>
      <p:sp>
        <p:nvSpPr>
          <p:cNvPr id="19" name="Text 17"/>
          <p:cNvSpPr/>
          <p:nvPr/>
        </p:nvSpPr>
        <p:spPr>
          <a:xfrm>
            <a:off x="6217920" y="4773168"/>
            <a:ext cx="566928" cy="320040"/>
          </a:xfrm>
          <a:prstGeom prst="rect">
            <a:avLst/>
          </a:prstGeom>
          <a:noFill/>
          <a:ln/>
        </p:spPr>
        <p:txBody>
          <a:bodyPr wrap="square" lIns="0" tIns="0" rIns="0" bIns="0" rtlCol="0" anchor="t"/>
          <a:lstStyle/>
          <a:p>
            <a:pPr marL="0" indent="0">
              <a:buNone/>
            </a:pPr>
            <a:r>
              <a:rPr lang="en-US" sz="1600" b="1" dirty="0">
                <a:solidFill>
                  <a:srgbClr val="E39400"/>
                </a:solidFill>
                <a:latin typeface="Arial" pitchFamily="34" charset="0"/>
                <a:ea typeface="Arial" pitchFamily="34" charset="-122"/>
                <a:cs typeface="Arial" pitchFamily="34" charset="-120"/>
              </a:rPr>
              <a:t>06</a:t>
            </a:r>
            <a:endParaRPr lang="en-US" sz="1600" dirty="0"/>
          </a:p>
        </p:txBody>
      </p:sp>
      <p:sp>
        <p:nvSpPr>
          <p:cNvPr id="20" name="Text 18"/>
          <p:cNvSpPr/>
          <p:nvPr/>
        </p:nvSpPr>
        <p:spPr>
          <a:xfrm>
            <a:off x="6821424" y="4754880"/>
            <a:ext cx="4663440" cy="365760"/>
          </a:xfrm>
          <a:prstGeom prst="rect">
            <a:avLst/>
          </a:prstGeom>
          <a:noFill/>
          <a:ln/>
        </p:spPr>
        <p:txBody>
          <a:bodyPr wrap="square" lIns="0" tIns="0" rIns="0" bIns="0" rtlCol="0" anchor="t"/>
          <a:lstStyle/>
          <a:p>
            <a:pPr marL="0" indent="0">
              <a:buNone/>
            </a:pPr>
            <a:r>
              <a:rPr lang="en-US" sz="1600" b="1" dirty="0">
                <a:solidFill>
                  <a:srgbClr val="0F1419"/>
                </a:solidFill>
                <a:latin typeface="Arial" pitchFamily="34" charset="0"/>
                <a:ea typeface="Arial" pitchFamily="34" charset="-122"/>
                <a:cs typeface="Arial" pitchFamily="34" charset="-120"/>
              </a:rPr>
              <a:t>Publish abroad. Deposit at home.</a:t>
            </a:r>
            <a:endParaRPr lang="en-US" sz="1600" dirty="0"/>
          </a:p>
        </p:txBody>
      </p:sp>
      <p:sp>
        <p:nvSpPr>
          <p:cNvPr id="21" name="Text 19"/>
          <p:cNvSpPr/>
          <p:nvPr/>
        </p:nvSpPr>
        <p:spPr>
          <a:xfrm>
            <a:off x="6821424" y="5157216"/>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5D6773"/>
                </a:solidFill>
                <a:latin typeface="Calibri" pitchFamily="34" charset="0"/>
                <a:ea typeface="Calibri" pitchFamily="34" charset="-122"/>
                <a:cs typeface="Calibri" pitchFamily="34" charset="-120"/>
              </a:rPr>
              <a:t>Mirror every Nigerian-funded engineering paper in an open local repository.</a:t>
            </a:r>
            <a:endParaRPr lang="en-US" sz="1300" dirty="0"/>
          </a:p>
        </p:txBody>
      </p:sp>
      <p:sp>
        <p:nvSpPr>
          <p:cNvPr id="22" name="Text 20"/>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AEB6BD"/>
                </a:solidFill>
                <a:latin typeface="Calibri" pitchFamily="34" charset="0"/>
                <a:ea typeface="Calibri" pitchFamily="34" charset="-122"/>
                <a:cs typeface="Calibri" pitchFamily="34" charset="-120"/>
              </a:rPr>
              <a:t>Securing the Future  ·  NSE Ibadan 2026</a:t>
            </a:r>
            <a:endParaRPr lang="en-US" sz="900" dirty="0"/>
          </a:p>
        </p:txBody>
      </p:sp>
      <p:sp>
        <p:nvSpPr>
          <p:cNvPr id="23" name="Text 21"/>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AEB6BD"/>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685800" y="1463040"/>
            <a:ext cx="1371600" cy="82296"/>
          </a:xfrm>
          <a:prstGeom prst="rect">
            <a:avLst/>
          </a:prstGeom>
          <a:solidFill>
            <a:srgbClr val="E39400"/>
          </a:solidFill>
          <a:ln/>
        </p:spPr>
      </p:sp>
      <p:sp>
        <p:nvSpPr>
          <p:cNvPr id="3" name="Text 1"/>
          <p:cNvSpPr/>
          <p:nvPr/>
        </p:nvSpPr>
        <p:spPr>
          <a:xfrm>
            <a:off x="685800" y="1828800"/>
            <a:ext cx="10698480" cy="2743200"/>
          </a:xfrm>
          <a:prstGeom prst="rect">
            <a:avLst/>
          </a:prstGeom>
          <a:noFill/>
          <a:ln/>
        </p:spPr>
        <p:txBody>
          <a:bodyPr wrap="square" lIns="0" tIns="0" rIns="0" bIns="0" rtlCol="0" anchor="t"/>
          <a:lstStyle/>
          <a:p>
            <a:pPr marL="0" indent="0">
              <a:lnSpc>
                <a:spcPts val="5800"/>
              </a:lnSpc>
              <a:buNone/>
            </a:pPr>
            <a:r>
              <a:rPr lang="en-US" sz="4200" b="1" dirty="0">
                <a:solidFill>
                  <a:srgbClr val="FFFFFF"/>
                </a:solidFill>
                <a:latin typeface="Arial" pitchFamily="34" charset="0"/>
                <a:ea typeface="Arial" pitchFamily="34" charset="-122"/>
                <a:cs typeface="Arial" pitchFamily="34" charset="-120"/>
              </a:rPr>
              <a:t>Government must be the</a:t>
            </a:r>
            <a:endParaRPr lang="en-US" sz="4200" dirty="0"/>
          </a:p>
          <a:p>
            <a:pPr marL="0" indent="0">
              <a:lnSpc>
                <a:spcPts val="5800"/>
              </a:lnSpc>
              <a:buNone/>
            </a:pPr>
            <a:r>
              <a:rPr lang="en-US" sz="4200" b="1" dirty="0">
                <a:solidFill>
                  <a:srgbClr val="FFFFFF"/>
                </a:solidFill>
                <a:latin typeface="Arial" pitchFamily="34" charset="0"/>
                <a:ea typeface="Arial" pitchFamily="34" charset="-122"/>
                <a:cs typeface="Arial" pitchFamily="34" charset="-120"/>
              </a:rPr>
              <a:t>chief marketer of local talent —</a:t>
            </a:r>
            <a:endParaRPr lang="en-US" sz="4200" dirty="0"/>
          </a:p>
          <a:p>
            <a:pPr marL="0" indent="0">
              <a:lnSpc>
                <a:spcPts val="5800"/>
              </a:lnSpc>
              <a:buNone/>
            </a:pPr>
            <a:r>
              <a:rPr lang="en-US" sz="4200" b="1" dirty="0">
                <a:solidFill>
                  <a:srgbClr val="FFFFFF"/>
                </a:solidFill>
                <a:latin typeface="Arial" pitchFamily="34" charset="0"/>
                <a:ea typeface="Arial" pitchFamily="34" charset="-122"/>
                <a:cs typeface="Arial" pitchFamily="34" charset="-120"/>
              </a:rPr>
              <a:t>not its competitor.</a:t>
            </a:r>
            <a:endParaRPr lang="en-US" sz="4200" dirty="0"/>
          </a:p>
        </p:txBody>
      </p:sp>
      <p:sp>
        <p:nvSpPr>
          <p:cNvPr id="4" name="Text 2"/>
          <p:cNvSpPr/>
          <p:nvPr/>
        </p:nvSpPr>
        <p:spPr>
          <a:xfrm>
            <a:off x="685800" y="4846320"/>
            <a:ext cx="10241280" cy="731520"/>
          </a:xfrm>
          <a:prstGeom prst="rect">
            <a:avLst/>
          </a:prstGeom>
          <a:noFill/>
          <a:ln/>
        </p:spPr>
        <p:txBody>
          <a:bodyPr wrap="square" lIns="0" tIns="0" rIns="0" bIns="0" rtlCol="0" anchor="t"/>
          <a:lstStyle/>
          <a:p>
            <a:pPr marL="0" indent="0">
              <a:lnSpc>
                <a:spcPts val="2800"/>
              </a:lnSpc>
              <a:buNone/>
            </a:pPr>
            <a:r>
              <a:rPr lang="en-US" sz="1900" i="1" dirty="0">
                <a:solidFill>
                  <a:srgbClr val="E39400"/>
                </a:solidFill>
                <a:latin typeface="Calibri" pitchFamily="34" charset="0"/>
                <a:ea typeface="Calibri" pitchFamily="34" charset="-122"/>
                <a:cs typeface="Calibri" pitchFamily="34" charset="-120"/>
              </a:rPr>
              <a:t>Nigeria cannot secure what it cannot see, and cannot scale what it is never allowed to test.</a:t>
            </a:r>
            <a:endParaRPr lang="en-US" sz="1900" dirty="0"/>
          </a:p>
        </p:txBody>
      </p:sp>
      <p:sp>
        <p:nvSpPr>
          <p:cNvPr id="5" name="Text 3"/>
          <p:cNvSpPr/>
          <p:nvPr/>
        </p:nvSpPr>
        <p:spPr>
          <a:xfrm>
            <a:off x="685800" y="6327648"/>
            <a:ext cx="5486400" cy="256032"/>
          </a:xfrm>
          <a:prstGeom prst="rect">
            <a:avLst/>
          </a:prstGeom>
          <a:noFill/>
          <a:ln/>
        </p:spPr>
        <p:txBody>
          <a:bodyPr wrap="square" lIns="0" tIns="0" rIns="0" bIns="0" rtlCol="0" anchor="t"/>
          <a:lstStyle/>
          <a:p>
            <a:pPr marL="0" indent="0" algn="l">
              <a:buNone/>
            </a:pPr>
            <a:r>
              <a:rPr lang="en-US" sz="900" dirty="0">
                <a:solidFill>
                  <a:srgbClr val="586470"/>
                </a:solidFill>
                <a:latin typeface="Calibri" pitchFamily="34" charset="0"/>
                <a:ea typeface="Calibri" pitchFamily="34" charset="-122"/>
                <a:cs typeface="Calibri" pitchFamily="34" charset="-120"/>
              </a:rPr>
              <a:t>Securing the Future  ·  NSE Ibadan 2026</a:t>
            </a:r>
            <a:endParaRPr lang="en-US" sz="900" dirty="0"/>
          </a:p>
        </p:txBody>
      </p:sp>
      <p:sp>
        <p:nvSpPr>
          <p:cNvPr id="6" name="Text 4"/>
          <p:cNvSpPr/>
          <p:nvPr/>
        </p:nvSpPr>
        <p:spPr>
          <a:xfrm>
            <a:off x="10591495" y="6327648"/>
            <a:ext cx="914400" cy="256032"/>
          </a:xfrm>
          <a:prstGeom prst="rect">
            <a:avLst/>
          </a:prstGeom>
          <a:noFill/>
          <a:ln/>
        </p:spPr>
        <p:txBody>
          <a:bodyPr wrap="square" lIns="0" tIns="0" rIns="0" bIns="0" rtlCol="0" anchor="t"/>
          <a:lstStyle/>
          <a:p>
            <a:pPr marL="0" indent="0" algn="r">
              <a:buNone/>
            </a:pPr>
            <a:r>
              <a:rPr lang="en-US" sz="900" dirty="0">
                <a:solidFill>
                  <a:srgbClr val="58647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85800" y="2148840"/>
            <a:ext cx="10515600" cy="1371600"/>
          </a:xfrm>
          <a:prstGeom prst="rect">
            <a:avLst/>
          </a:prstGeom>
          <a:noFill/>
          <a:ln/>
        </p:spPr>
        <p:txBody>
          <a:bodyPr wrap="square" lIns="0" tIns="0" rIns="0" bIns="0" rtlCol="0" anchor="t"/>
          <a:lstStyle/>
          <a:p>
            <a:pPr marL="0" indent="0">
              <a:buNone/>
            </a:pPr>
            <a:r>
              <a:rPr lang="en-US" sz="6400" b="1" dirty="0">
                <a:solidFill>
                  <a:srgbClr val="FFFFFF"/>
                </a:solidFill>
                <a:latin typeface="Arial" pitchFamily="34" charset="0"/>
                <a:ea typeface="Arial" pitchFamily="34" charset="-122"/>
                <a:cs typeface="Arial" pitchFamily="34" charset="-120"/>
              </a:rPr>
              <a:t>THANK YOU</a:t>
            </a:r>
            <a:endParaRPr lang="en-US" sz="6400" dirty="0"/>
          </a:p>
        </p:txBody>
      </p:sp>
      <p:sp>
        <p:nvSpPr>
          <p:cNvPr id="3" name="Shape 1"/>
          <p:cNvSpPr/>
          <p:nvPr/>
        </p:nvSpPr>
        <p:spPr>
          <a:xfrm>
            <a:off x="685800" y="3657600"/>
            <a:ext cx="1097280" cy="82296"/>
          </a:xfrm>
          <a:prstGeom prst="rect">
            <a:avLst/>
          </a:prstGeom>
          <a:solidFill>
            <a:srgbClr val="E39400"/>
          </a:solidFill>
          <a:ln/>
        </p:spPr>
      </p:sp>
      <p:sp>
        <p:nvSpPr>
          <p:cNvPr id="6" name="Text 4"/>
          <p:cNvSpPr/>
          <p:nvPr/>
        </p:nvSpPr>
        <p:spPr>
          <a:xfrm>
            <a:off x="685800" y="5440680"/>
            <a:ext cx="10058400" cy="411480"/>
          </a:xfrm>
          <a:prstGeom prst="rect">
            <a:avLst/>
          </a:prstGeom>
          <a:noFill/>
          <a:ln/>
        </p:spPr>
        <p:txBody>
          <a:bodyPr wrap="square" lIns="0" tIns="0" rIns="0" bIns="0" rtlCol="0" anchor="t"/>
          <a:lstStyle/>
          <a:p>
            <a:pPr marL="0" indent="0">
              <a:buNone/>
            </a:pPr>
            <a:r>
              <a:rPr lang="en-US" sz="1600" i="1" dirty="0">
                <a:solidFill>
                  <a:srgbClr val="E39400"/>
                </a:solidFill>
                <a:latin typeface="Calibri" pitchFamily="34" charset="0"/>
                <a:ea typeface="Calibri" pitchFamily="34" charset="-122"/>
                <a:cs typeface="Calibri" pitchFamily="34" charset="-120"/>
              </a:rPr>
              <a:t>There is light at the end of the tunnel.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2514</Words>
  <Application>Microsoft Office PowerPoint</Application>
  <PresentationFormat>Custom</PresentationFormat>
  <Paragraphs>363</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the Future — NSE Ibadan 2026</dc:title>
  <dc:subject>PptxGenJS Presentation</dc:subject>
  <dc:creator>Engr. Dr. Saheed Olusola Ayoola, MNSE</dc:creator>
  <cp:lastModifiedBy>Hp</cp:lastModifiedBy>
  <cp:revision>3</cp:revision>
  <dcterms:created xsi:type="dcterms:W3CDTF">2026-08-19T00:52:51Z</dcterms:created>
  <dcterms:modified xsi:type="dcterms:W3CDTF">2026-08-19T01:26:12Z</dcterms:modified>
</cp:coreProperties>
</file>