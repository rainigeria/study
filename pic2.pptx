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146304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0" y="4673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LUMINATE</a:t>
            </a:r>
            <a:endParaRPr lang="en-US" sz="2000" dirty="0">
              <a:solidFill>
                <a:srgbClr val="1A0B2E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PIC</a:t>
            </a:r>
            <a:endParaRPr lang="en-US" sz="2000" dirty="0">
              <a:solidFill>
                <a:srgbClr val="1A0B2E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  <a:p>
            <a:pPr marL="0" indent="0" algn="ctr">
              <a:buNone/>
            </a:pPr>
            <a:r>
              <a:rPr lang="en-US" sz="2000" dirty="0"/>
              <a:t>AIEGF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229100"/>
            <a:ext cx="3657600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70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OLUSOLA AYOOLA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 &amp; CEO  ·  RAIN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MAY 2026  ·  90 MIN  ·  VIRTUAL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59436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</a:t>
            </a:r>
            <a:endParaRPr lang="en-US" sz="15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Fundamentals.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943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Foundations. The 2026 Frontier. The African Builders. The Governance Questions That Cannot Wait.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FRAME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You cannot govern what you do not understand.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And you cannot understand AI by treating it as magic.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374904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6:30 PM today: you will read any AI claim and tell marketing from mathematics from policy risk.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·  37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Ninety minutes. Five movements.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80136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AI is, how it learns, the family tree.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9514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21B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554480" y="234086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2026 Frontier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240487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LLMs, multimodal, reasoning, AI agents.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9864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294436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Where AI Works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300837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Sectors. Stakes. Numbers that matter.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02152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21B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554480" y="35478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Africa is Building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RAIN. DSN. Awarri. Lelapa. Indaba.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05656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54480" y="415137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Governance &amp; Q&amp;A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421538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hard questions. The open floor.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54296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·  37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A09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word.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does 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i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“AI”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291840" y="288036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mean to you?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one word in the chat → we return to it at 6:30.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9659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Foundations.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937760" y="292608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AI is. How it learns. Why it sometimes works — and why it sometimes lies.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·  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 what is AI, really?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029200" cy="27432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is software that does something we used to think only a brain could do — by learning patterns from data.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5669280" y="1691640"/>
            <a:ext cx="73152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6916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Not a robot.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52160" y="207568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AI has no body. It's code.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651760"/>
            <a:ext cx="73152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651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Not certain.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03580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answer is a probability.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3611880"/>
            <a:ext cx="73152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36118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Not new — just bigger.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852160" y="399592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math is decades old. The scale is not.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·  37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FAMILY TREE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AI, ML, Deep Learning, Data Science.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use these words as synonyms. They aren't.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29200" cy="2743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4480560" cy="1920240"/>
          </a:xfrm>
          <a:prstGeom prst="rect">
            <a:avLst/>
          </a:prstGeom>
          <a:solidFill>
            <a:srgbClr val="3D1E6D"/>
          </a:solidFill>
          <a:ln w="12700">
            <a:solidFill>
              <a:srgbClr val="3D1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14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3931920" cy="91440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0632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3429000"/>
            <a:ext cx="3383280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520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GEN AI · LLMs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874520"/>
            <a:ext cx="228600" cy="2286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system that simulates intelligence.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514600"/>
            <a:ext cx="228600" cy="228600"/>
          </a:xfrm>
          <a:prstGeom prst="rect">
            <a:avLst/>
          </a:prstGeom>
          <a:solidFill>
            <a:srgbClr val="3D1E6D"/>
          </a:solidFill>
          <a:ln w="12700">
            <a:solidFill>
              <a:srgbClr val="3D1E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468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7432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that learns patterns from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154680"/>
            <a:ext cx="228600" cy="22860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1089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using neural networks with many layers.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794760"/>
            <a:ext cx="228600" cy="228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0233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that produces new content.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·  37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Two kinds of intelligence.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246888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Understands.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Meaning. Intent. Context.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from few examples.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held accountable.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23360" cy="2468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Predicts.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92040" y="3017520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Patterns. Weights. Probabilities.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millions of examples.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no accountability of its own.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governance gap lives in the space between these two cards.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·  37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TAXONOMY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Three rungs on the ladder.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97480" cy="246888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Narrow AI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0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Excels at one thing. Spam filters, facial recognition.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260" y="1965960"/>
            <a:ext cx="2697480" cy="24688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1860" y="21945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51860" y="25603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General AI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51860" y="347472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Reasons across any task a human can. Gradually being developed.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965960"/>
            <a:ext cx="2697480" cy="246888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9456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SPECULATIVE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Super AI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3474720"/>
            <a:ext cx="22402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Surpasses human cognition. Currently theoretical.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·  37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PARADIGM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writing rules to learning them.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single change is what separates AI from every other piece of software.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00" cy="2011680"/>
          </a:xfrm>
          <a:prstGeom prst="rect">
            <a:avLst/>
          </a:prstGeom>
          <a:solidFill>
            <a:srgbClr val="FAFAFA"/>
          </a:solidFill>
          <a:ln w="25400">
            <a:solidFill>
              <a:srgbClr val="1A0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0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human writes the rules.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293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“If the email contains ‘you have won’, mark as spam.”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743200"/>
            <a:ext cx="64008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0" y="1920240"/>
            <a:ext cx="3657600" cy="201168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2148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57800" y="24688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machine learns them.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257800" y="320040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09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Show it 10 million emails. It works out the rules itself, faster and better.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Governance implication: the rules are now hidden inside the model. We cannot simply audit the code.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 ·  37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AI LEARNS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Three ways a machine learns.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9144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88920"/>
            <a:ext cx="2651760" cy="1874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24028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Learning with answers.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it inputs paired with correct outputs. It learns the mapping.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343400"/>
            <a:ext cx="1828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 </a:t>
            </a:r>
            <a:r>
              <a:rPr lang="en-US" sz="11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Loan default scoring.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874520"/>
            <a:ext cx="2651760" cy="9144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788920"/>
            <a:ext cx="2651760" cy="1874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1031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224028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UNSUPERVISED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20440" y="2971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Learning by clustering.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520440" y="347472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it data without labels. It finds hidden groupings on its own.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20440" y="4343400"/>
            <a:ext cx="1828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4434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 </a:t>
            </a:r>
            <a:r>
              <a:rPr lang="en-US" sz="11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Customer segmentation.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35040" y="1874520"/>
            <a:ext cx="2651760" cy="9144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35040" y="2788920"/>
            <a:ext cx="2651760" cy="1874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49440" y="224028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09360" y="2971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Learning by reward.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309360" y="347472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it act. Reward good outcomes. Penalise bad ones. It finds the strategy.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09360" y="4343400"/>
            <a:ext cx="1828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09360" y="4434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 </a:t>
            </a:r>
            <a:r>
              <a:rPr lang="en-US" sz="11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Robotics, game-playing.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 ·  37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Layers all the way down.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Neural networks are stacks of simple math units that pass numbers between each other, adjusting their weights until they get good at a task.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“Deep” simply means many layers.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416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today for vision, speech, language — everything generative.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96596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938528"/>
            <a:ext cx="502920" cy="16459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103120"/>
            <a:ext cx="502920" cy="32918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2103120"/>
            <a:ext cx="502920" cy="82296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103120"/>
            <a:ext cx="502920" cy="131673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103120"/>
            <a:ext cx="502920" cy="181051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278892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1938528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432304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926080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2926080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926080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361188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938528"/>
            <a:ext cx="502920" cy="181051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2432304"/>
            <a:ext cx="502920" cy="131673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2926080"/>
            <a:ext cx="502920" cy="82296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3419856"/>
            <a:ext cx="502920" cy="32918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3749040"/>
            <a:ext cx="502920" cy="16459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801368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1938528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938528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938528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1938528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1938528"/>
            <a:ext cx="502920" cy="197510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2295144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1938528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2432304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2432304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2432304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2432304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2788920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1938528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2432304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926080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2926080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2926080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3282696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1938528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5080" y="2432304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2926080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419856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3419856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3776472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5080" y="1938528"/>
            <a:ext cx="502920" cy="197510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5080" y="2432304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2926080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3419856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3913632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1801368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32320" y="1938528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32320" y="1938528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32320" y="1938528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32320" y="1938528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0" y="1938528"/>
            <a:ext cx="502920" cy="197510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0" y="2295144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32320" y="1938528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32320" y="2432304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32320" y="2432304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32320" y="2432304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32320" y="2432304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2788920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32320" y="1938528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32320" y="2432304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32320" y="2926080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32320" y="2926080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32320" y="2926080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58000" y="3282696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32320" y="1938528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32320" y="2432304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32320" y="2926080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2320" y="3419856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2320" y="3419856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58000" y="3776472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132320" y="1938528"/>
            <a:ext cx="502920" cy="197510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32320" y="2432304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32320" y="2926080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132320" y="3419856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32320" y="3913632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35240" y="1801368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09560" y="1938528"/>
            <a:ext cx="502920" cy="37033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909560" y="1938528"/>
            <a:ext cx="502920" cy="160477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635240" y="2295144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09560" y="2308860"/>
            <a:ext cx="502920" cy="12344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909560" y="2432304"/>
            <a:ext cx="502920" cy="111099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35240" y="2788920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308860"/>
            <a:ext cx="502920" cy="61722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909560" y="2926080"/>
            <a:ext cx="502920" cy="61722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635240" y="3282696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909560" y="2308860"/>
            <a:ext cx="502920" cy="111099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09560" y="3419856"/>
            <a:ext cx="502920" cy="12344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5240" y="3776472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09560" y="2308860"/>
            <a:ext cx="502920" cy="160477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909560" y="3543300"/>
            <a:ext cx="502920" cy="37033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12480" y="2171700"/>
            <a:ext cx="274320" cy="274320"/>
          </a:xfrm>
          <a:prstGeom prst="ellipse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12480" y="3406140"/>
            <a:ext cx="274320" cy="274320"/>
          </a:xfrm>
          <a:prstGeom prst="ellipse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74920" y="42976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852160" y="42976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6629400" y="42976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406640" y="42976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8183880" y="42976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 ·  37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A0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9659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2026 Frontier.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937760" y="292608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LLMs. Multimodal. Reasoning. And the model that just took your job: AI Agents.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 ·  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1A0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AI LOOKS LIKE IN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Five families to know by name.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 of these existed in their current form five years ago.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688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200400"/>
            <a:ext cx="14081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LLMs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3657600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in. Text out. ChatGPT, Claude, Gemini, Llama.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21408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58568" y="2103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246888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12848" y="3200400"/>
            <a:ext cx="14081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Generative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258568" y="3657600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Pictures, video, voice, music, code — from a prompt.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85616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922776" y="2103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246888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77056" y="3200400"/>
            <a:ext cx="14081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Multimodal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922776" y="3657600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See, hear, and read at the same time.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449824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586984" y="2103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246888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41264" y="3200400"/>
            <a:ext cx="14081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586984" y="3657600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that “think” before they answer.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114032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251192" y="21031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2468880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05472" y="3200400"/>
            <a:ext cx="1408176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Agents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251192" y="3657600"/>
            <a:ext cx="13167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that acts. Books flights. Writes code. Runs companies.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 ·  37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01  ·  LLMs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ChatGPT, Claude and Gemini really are.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Next-word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machines.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13632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 hundreds of billions of words. They predict the most likely next word, again and again, until the sentence is done.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554480"/>
            <a:ext cx="3017520" cy="29718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737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PLAYERS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205740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ChatGPT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 ·  USA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Claude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Anthropic  ·  USA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Gemini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DeepMind  ·  USA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Llama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  ·  open weights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 ·  37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02  ·  GENERATIVE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is no longer just text.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now produces photo-real images, full videos, cloned voices, original music, and working software.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93392" cy="2560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2860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15468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IMAGE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Midjourney, DALL·E, Stable Diffusion. Photo-real from a sentence.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23744" y="1920240"/>
            <a:ext cx="1993392" cy="2560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60904" y="315468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VIDEO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2706624" y="3611880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Sora, Veo, Runway. Minutes of cinema from a paragraph.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90288" y="1920240"/>
            <a:ext cx="1993392" cy="2560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22860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27448" y="315468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VOICE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4773168" y="3611880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ElevenLabs, Tortoise. Clone any voice from 30 seconds of audio.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656832" y="1920240"/>
            <a:ext cx="1993392" cy="2560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228600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93992" y="315468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CODE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6839712" y="3611880"/>
            <a:ext cx="16276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Cursor, Copilot, Claude Code. Working software from a description.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Governance impact: deepfakes, voice fraud, copyright collapse, election integrity — all live concerns in Nigeria today.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 ·  37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03  ·  REASONING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that thinks before it speaks.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00" cy="288036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4114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new generation pauses, plans, checks its own work — then answers.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3794760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“Chain of thought” is the technical term. Useful for maths, law, medicine, anything that needs steps.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03520" y="1691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0" y="20574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806440" y="205740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OpenAI o-series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06440" y="237744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mass-market reasoning model. Released late 2024.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03520" y="283464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06440" y="283464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Claude thinking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06440" y="315468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Anthropic's reasoning mode. Shows its working.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03520" y="36118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806440" y="361188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DeepSeek R1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393192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Chinese open model. Reasoning at a fraction of the cost.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 ·  37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04  ·  AI 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that doesn't just talk.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acts.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73152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632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BROWSES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Opens websites. Reads. Compares. Decides. Just like you would.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3260" y="2423160"/>
            <a:ext cx="73152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1860" y="30632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EXECUTES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51860" y="342900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Writes code, runs it, fixes the errors, ships the result.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2423160"/>
            <a:ext cx="73152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14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30632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DELEGATES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217920" y="342900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Spawns sub-agents. Coordinates them. Manages an entire workflow.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accountability question changes completely when AI is not answering questions — it is taking actions on your behalf.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 ·  37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05  ·  MULTIMODAL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Sees. Hears. Reads. All at once.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23360" y="2560320"/>
            <a:ext cx="1097280" cy="10972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2971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463040"/>
            <a:ext cx="2286000" cy="7315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5087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057400" y="178308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Photos. Diagrams. CCTV. Documents.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0" y="1828800"/>
            <a:ext cx="365760" cy="128016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2651760"/>
            <a:ext cx="2286000" cy="7315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788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57400" y="269748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SPEECH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057400" y="297180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Calls. Audio. Voice notes. Music.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0" y="3017520"/>
            <a:ext cx="365760" cy="9144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371600" y="3840480"/>
            <a:ext cx="2286000" cy="7315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9776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388620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TEXT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057400" y="416052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Documents. Code. Conversation.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657600" y="3108960"/>
            <a:ext cx="365760" cy="109728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120640" y="3108960"/>
            <a:ext cx="2377440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0" y="2743200"/>
            <a:ext cx="1463040" cy="73152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98080" y="283464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498080" y="30632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ANSWER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why your phone can describe a photo, transcribe a call, summarise a meeting — in one model.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 ·  37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FOUNDATIONAL FAILURE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Hallucination.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the model invents facts, confidently, and you cannot tell.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7889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 2023 a New York lawyer filed a court brief citing six cases. None of them existed. ChatGPT had made them up. The lawyer was fined.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E185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This is not a bug. It is a property. Governance frameworks must assume hallucination, not its absence.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  ·  37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21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9659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Where AI Works.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937760" y="2926080"/>
            <a:ext cx="39319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EF3C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Sectors. Stakes. The trillion-dollar question — and Nigeria's share of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 ·  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Where AI is already at work in Nigeria.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56232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240280"/>
            <a:ext cx="1764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Diagnostics, voice-to-EMR (Intron Health), drug discovery.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9544" y="169164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9544" y="169164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86784" y="1856232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Finance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986784" y="2240280"/>
            <a:ext cx="1764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 scoring, fraud detection, AML, claims processing.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61888" y="169164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61888" y="169164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874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9128" y="1856232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Agriculture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739128" y="2240280"/>
            <a:ext cx="1764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disease ID, yield forecasting, soil &amp; weather advisory.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20040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20040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364992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234440" y="3749040"/>
            <a:ext cx="1764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Adaptive tutoring, exam fraud detection, language learning.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9544" y="320040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09544" y="320040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3832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86784" y="3364992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3986784" y="3749040"/>
            <a:ext cx="1764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Biometrics, surveillance, threat detection, content moderation.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961888" y="320040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961888" y="320040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38328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39128" y="3364992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Government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739128" y="3749040"/>
            <a:ext cx="176479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automation, identity verification, tax compliance.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  ·  37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STAKES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money is real.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Africa's share of it is up for grabs.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697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$16T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TO GLOBAL GDP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697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PwC estimate by 2030. Roughly the size of China's economy today.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23260" y="2057400"/>
            <a:ext cx="2697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$2.9T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3223260" y="30175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3260" y="31089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AFRICA'S OPPORTUNITY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23260" y="3429000"/>
            <a:ext cx="2697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we get policy, talent and infrastructure right (UNECA).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057400"/>
            <a:ext cx="2697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&lt; 1%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5989320" y="30175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1089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GLOBAL AI INVESTMENT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3429000"/>
            <a:ext cx="2697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Currently flowing to Africa. The gap is the opportunity.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 ·  37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3716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FOUR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78308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Africa 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937760" y="2560320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building.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937760" y="3520440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are not waiting for permission. We are shipping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  ·  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HEADLINE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09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 the last 24 months Nigerians and Africans have shipped: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Nigeria's first multilingual LLM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Yoruba, Igbo, Hausa, Pidgin, Ibibio — plus accented English.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10973"/>
          </a:xfrm>
          <a:prstGeom prst="rect">
            <a:avLst/>
          </a:prstGeom>
          <a:solidFill>
            <a:srgbClr val="2A0944">
              <a:alpha val="30000"/>
            </a:srgbClr>
          </a:solidFill>
          <a:ln w="12700">
            <a:solidFill>
              <a:srgbClr val="2A0944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Africa's first multilingual LLM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271576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InkubaLM — IsiZulu, Yoruba, Hausa, Swahili, IsiXhosa.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8229600" cy="10973"/>
          </a:xfrm>
          <a:prstGeom prst="rect">
            <a:avLst/>
          </a:prstGeom>
          <a:solidFill>
            <a:srgbClr val="2A0944">
              <a:alpha val="30000"/>
            </a:srgbClr>
          </a:solidFill>
          <a:ln w="12700">
            <a:solidFill>
              <a:srgbClr val="2A0944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500,000+ Nigerians trained in AI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34930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 Data Science Nigeria alone. The talent is 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8229600" cy="10973"/>
          </a:xfrm>
          <a:prstGeom prst="rect">
            <a:avLst/>
          </a:prstGeom>
          <a:solidFill>
            <a:srgbClr val="2A0944">
              <a:alpha val="30000"/>
            </a:srgbClr>
          </a:solidFill>
          <a:ln w="12700">
            <a:solidFill>
              <a:srgbClr val="2A0944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71600" y="3931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Deep Learning Indaba 2026 hosted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71600" y="42702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Africa's biggest AI gathering. Coming home to Nigeria.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 ·  37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Six names every fellow should know.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69748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Robotics and AI Nigeria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NUC-accredited AI degrees. Talent. Hardware. Ibadan-based, pan-Nigerian.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3260" y="1691640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3260" y="1691640"/>
            <a:ext cx="2697480" cy="73152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6140" y="18745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DSN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06140" y="23317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Nigeria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06140" y="26060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500,000+ trained. AI for social good. Africa-leading research output.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691640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691640"/>
            <a:ext cx="269748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745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AWARRI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Lagos-based AI lab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Nigeria's first multilingual LLM with NITDA and NCAIR.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18688"/>
            <a:ext cx="2697480" cy="73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0156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71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LELAPA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38587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Pan-African AI lab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413308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InkubaLM. Africa's first multilingual LLM. Open source.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3260" y="3218688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3260" y="3218688"/>
            <a:ext cx="269748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6140" y="340156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21B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MASAKHANE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06140" y="38587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Grassroots NLP collective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06140" y="413308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Thousands of volunteers building NLP for African languages.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3218688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3218688"/>
            <a:ext cx="2697480" cy="73152"/>
          </a:xfrm>
          <a:prstGeom prst="rect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401568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EF26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EQUALYZAI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385876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Inclusive AI startup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413308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Bayo Adekanmbi's spin-out. Gates Foundation award for financial inclusion.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  ·  37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COMMUNITY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Indaba.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09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“A gathering of the community to discuss what matters.” — isiZulu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97480" cy="18288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47+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African countries running IndabaX every year.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3260" y="2377440"/>
            <a:ext cx="2697480" cy="18288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6140" y="265176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2017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3406140" y="34747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6140" y="356616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Indaba. Now the largest AI meeting on the continent.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377440"/>
            <a:ext cx="2697480" cy="18288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65176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2026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6172200" y="34747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56616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Hosted in Nigeria. For the first time.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A09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Deep Learning Indaba is the continent making sure Africans are not just users of AI — but its builders.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  ·  37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&amp; INSTITUTIONS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state shows up too.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7160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NITDA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69164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National Information Technology Development Agency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196596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AI regulator. Owns the strategy. Coordinates ecosystem.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137160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32304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NCAIR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404872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National Centre for AI and Robotics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679192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arm of NITDA. Public-facing AI hub.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1371600" cy="502920"/>
          </a:xfrm>
          <a:prstGeom prst="rect">
            <a:avLst/>
          </a:prstGeom>
          <a:solidFill>
            <a:srgbClr val="3D1E6D"/>
          </a:solidFill>
          <a:ln w="12700">
            <a:solidFill>
              <a:srgbClr val="3D1E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4553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3MTT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3118104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 Million Technical Talent programme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3392424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Federal training initiative. Tens of thousands now AI-fluent.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137160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5876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NDPC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3831336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Nigeria Data Protection Commission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4105656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Adjacent to AI. Central to it. Where most cases will land.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Minister Bosun Tijani — TIME's 100 Most Influential in AI (2025). Nigeria is, finally, at the table.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  ·  37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QUESTION GOVERNANCE MUST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Whose data trains the model that decides your future?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2697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&lt; 1%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major AI training data is in African languages.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23260" y="3108960"/>
            <a:ext cx="2697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200M+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23260" y="3931920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Nigerians whose data already shapes models built elsewhere.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3108960"/>
            <a:ext cx="2697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Sovereign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989320" y="3931920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word Nigeria is now using. About time.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 ·  37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FIVE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9659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Governance &amp; Q&amp;A.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937760" y="292608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vocabulary. The cases. The open floor.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  ·  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GOVERNANCE 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Four concepts every fellow must own.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6908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91440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288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Training Data &amp; Bias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80160" y="22860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Garbage in, garbage out — at scale, with authority.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17720" y="1645920"/>
            <a:ext cx="406908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645920"/>
            <a:ext cx="91440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8288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Algorithmic Decisions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40680" y="22860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Loans. Jobs. Parole. Benefits. Under what authority?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406908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200400"/>
            <a:ext cx="91440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38328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Automation vs Augmentation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280160" y="384048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the human, or assist them? Different harms.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17720" y="3200400"/>
            <a:ext cx="406908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17720" y="3200400"/>
            <a:ext cx="91440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290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38328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Black Box Problem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5440680" y="384048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 engineers cannot fully explain a deep model's no.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 ·  37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GOVERNANCE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is already deciding. The law is still arriving.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709928"/>
            <a:ext cx="14630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4650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 algorithm denies a loan in Lagos. Who does the customer appeal to?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23160"/>
            <a:ext cx="14630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973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RECRUITMENT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404872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CV-screening AI filters out 40% of female applicants. Who audits the model?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36392"/>
            <a:ext cx="14630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729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118104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 AI agent books, pays for, and cancels a hotel. The hotel sues. Who is the defendant?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9624"/>
            <a:ext cx="14630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DEEPFAKE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831336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cloned voice of a Nigerian senator endorses a candidate. Election eve. Who acts?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79976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Not hypothetical. Happening this week. The fellowship's job starts here.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  ·  37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PROVOCATIONS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Three questions to take with you.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91440" cy="77724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856232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If an AI agent ruins a Nigerian business overnight, who exactly do they sue?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77724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91440" cy="77724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2770632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Can Nigeria train its own foundation models — or are we permanently consumers of someone else's?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91440" cy="77724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5760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91640" y="3685032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Is AI ethics a luxury conversation for wealthy nations, or the most urgent conversation for ours?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  ·  37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F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ONE THING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A094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If you remember nothing else.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0B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is not nature.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C489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is a sequence of human decisions, frozen into mathematics and shipped at scale.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means it can be governed. Which means that is your job.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  ·  37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2A09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Q&amp;A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FLOOR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Your domains. Your hardest cases. Bring them.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50208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78B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Twenty-five minutes. Use them.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  ·  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 OF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D4FF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you.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Keep asking the hard questions. The continent needs that more than it needs the answers.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640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FACILITATOR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960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Dr. Olusola Ayoola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0" y="1417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 &amp; CEO  ·  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FF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rainigeria.com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240280"/>
            <a:ext cx="1097280" cy="36576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377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THE 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269748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Nigeria  ·  datasciencenigeria.org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Awarri  ·  langeasy.ai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Lelapa AI  ·  lelapa.ai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Masakhane NLP  ·  masakhane.io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Indaba 2026  ·  deeplearningindaba.com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IndabaX Nigeria  ·  indabaxng.github.io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  ·  37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13385</Words>
  <Application>WPS Presentation</Application>
  <PresentationFormat>On-screen Show (16:9)</PresentationFormat>
  <Paragraphs>865</Paragraphs>
  <Slides>36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 — AI Ethics &amp; Governance Fellowship</dc:title>
  <dc:creator>Dr. Olusola Ayoola</dc:creator>
  <dc:subject>PptxGenJS Presentation</dc:subject>
  <cp:lastModifiedBy>hp</cp:lastModifiedBy>
  <cp:revision>2</cp:revision>
  <dcterms:created xsi:type="dcterms:W3CDTF">2026-05-19T07:30:00Z</dcterms:created>
  <dcterms:modified xsi:type="dcterms:W3CDTF">2026-05-20T17:45:11Z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74B1682C65A6414997403E25D60D2ADD_13</vt:lpwstr>
  </property>
  <property fmtid="{D5CDD505-2E9C-101B-9397-08002B2CF9AE}" pid="3" name="KSOProductBuildVer">
    <vt:lpwstr>1033-12.1.0.26372</vt:lpwstr>
  </property>
</Properties>
</file>