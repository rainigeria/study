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Deliver protocols and the ivory tower framing from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definition aloud, slowly. Then the challenge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questions. Pause after each. Land hard on the last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the invitation letter's charge, then deliver the three-fold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points in the research lifecycle. Emphasise 'even before you commence'.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tension. Say plainly that the betting example can be replaced if the room needs a softer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 solar story. Land on solar-powered cold storage for farmers.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 Dubai story with energy — 'swept me off my feet'. Then the turn: this was translation, not invention.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all seven at pace. Depth comes on the next two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umbrella line is the hook. Deliver it, pause, then the UK fire regulation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here. This is the robotics and AI heart of the address.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NDPR explicitly. Call on government and private practitioners.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section the invitation letter explicitly asked for. Address industry directly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 story. Keep it brief and concrete — then make the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NOTAP. Connect brain drain back to the town-and-gown forum proposal.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AI as the answer to the funding and testing gap, not as a buzzword.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Slow, deliberate delivery. Do not rush the structures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rallying line, then thank the house.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737360"/>
            <a:ext cx="6035040" cy="6035040"/>
          </a:xfrm>
          <a:prstGeom prst="ellipse">
            <a:avLst/>
          </a:prstGeom>
          <a:solidFill>
            <a:srgbClr val="C9A227">
              <a:alpha val="10000"/>
            </a:srgbClr>
          </a:solidFill>
          <a:ln w="12700">
            <a:solidFill>
              <a:srgbClr val="C9A227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548640"/>
            <a:ext cx="3657600" cy="3657600"/>
          </a:xfrm>
          <a:prstGeom prst="ellipse">
            <a:avLst/>
          </a:prstGeom>
          <a:solidFill>
            <a:srgbClr val="C9A227">
              <a:alpha val="6000"/>
            </a:srgbClr>
          </a:solidFill>
          <a:ln w="12700">
            <a:solidFill>
              <a:srgbClr val="C9A227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KEYNOTE ADDRESS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595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Gate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C8C6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Translating Research into Societal Impact and Commercialization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Olusola Ayoola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Robotics and Artificial Intelligence Nigeria (RAIN)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5715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Ibadan  ·  5 August 2026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54512" y="61996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3035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BEGIN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7F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ivory tower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/ˌʌɪv(ə)ri ˈtaʊə/   ·   noun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6949440" cy="2286000"/>
          </a:xfrm>
          <a:prstGeom prst="roundRect">
            <a:avLst>
              <a:gd name="adj" fmla="val 2400"/>
            </a:avLst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69748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i="1" dirty="0">
                <a:solidFill>
                  <a:srgbClr val="F7F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state of privileged seclusion or separation from the facts and practicalities of the real world.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0" y="242316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Coined in the 19th century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9B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describe intellectual pursuit disconnected from the practical concerns of everyday life.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9B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it is used almost exclusively to describe one thing: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1206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Privileged. Secluded. Separated. — Is that what we built? Is that what we intend to remain?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954512" y="61996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3035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QUESTION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tower is only as strong above the ground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it is deep below it.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606040"/>
            <a:ext cx="384048" cy="384048"/>
          </a:xfrm>
          <a:prstGeom prst="ellipse">
            <a:avLst/>
          </a:prstGeom>
          <a:solidFill>
            <a:srgbClr val="C9A227">
              <a:alpha val="12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6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08760" y="25786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deeply are we connected to the ground we stand on?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319272"/>
            <a:ext cx="384048" cy="384048"/>
          </a:xfrm>
          <a:prstGeom prst="ellipse">
            <a:avLst/>
          </a:prstGeom>
          <a:solidFill>
            <a:srgbClr val="C9A227">
              <a:alpha val="12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6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08760" y="3291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we rooted in the challenges of our own society — or in challenges imported from abroad?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4032504"/>
            <a:ext cx="384048" cy="384048"/>
          </a:xfrm>
          <a:prstGeom prst="ellipse">
            <a:avLst/>
          </a:prstGeom>
          <a:solidFill>
            <a:srgbClr val="C9A227">
              <a:alpha val="12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6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08760" y="400507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we in touch with the realities of our localities?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4745736"/>
            <a:ext cx="384048" cy="384048"/>
          </a:xfrm>
          <a:prstGeom prst="ellipse">
            <a:avLst/>
          </a:prstGeom>
          <a:solidFill>
            <a:srgbClr val="C9A227">
              <a:alpha val="12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745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6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08760" y="47183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we aware of the problems we were built to solve?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57150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answer is no — or not very certain — then we must revisit our foundation.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954512" y="61996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3035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is not an abstraction.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346704" cy="2514600"/>
          </a:xfrm>
          <a:prstGeom prst="roundRect">
            <a:avLst>
              <a:gd name="adj" fmla="val 1818"/>
            </a:avLst>
          </a:prstGeom>
          <a:solidFill>
            <a:srgbClr val="F7F6F3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2487168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7008" y="3127248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Hunger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07008" y="3584448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security research sits in our laboratories while harvests rot before they reach a market.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26864" y="2148840"/>
            <a:ext cx="3346704" cy="2514600"/>
          </a:xfrm>
          <a:prstGeom prst="roundRect">
            <a:avLst>
              <a:gd name="adj" fmla="val 1818"/>
            </a:avLst>
          </a:prstGeom>
          <a:solidFill>
            <a:srgbClr val="F7F6F3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10912" y="2487168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10912" y="3127248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Insecurity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010912" y="3584448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Robotics, surveillance and monitoring solutions could be deployed tomorrow — if given the chance.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30768" y="2148840"/>
            <a:ext cx="3346704" cy="2514600"/>
          </a:xfrm>
          <a:prstGeom prst="roundRect">
            <a:avLst>
              <a:gd name="adj" fmla="val 1818"/>
            </a:avLst>
          </a:prstGeom>
          <a:solidFill>
            <a:srgbClr val="F7F6F3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814816" y="2487168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14816" y="3127248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Unemployment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814816" y="3584448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young graduates, and the industries that our research could have built for them.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0292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population is growing faster than our job creation. Our insecurity is growing faster than our deployed solutions.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548640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“Beyond the Gate” is not a metaphor. It is an emergency.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0954512" y="61996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3035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UNPACKING THE THEME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gate is not what happens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the research is done.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3072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outside the gate helped you decide this was the problem worth solving?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26864" y="233172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26864" y="2697480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626864" y="3291840"/>
            <a:ext cx="3072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do your materials, assumptions and approach match the environment you serve?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30768" y="233172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30768" y="2697480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feedback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430768" y="3291840"/>
            <a:ext cx="3072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the end user's verdict shape what you call a result?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983480"/>
            <a:ext cx="10543032" cy="1005840"/>
          </a:xfrm>
          <a:prstGeom prst="roundRect">
            <a:avLst>
              <a:gd name="adj" fmla="val 4545"/>
            </a:avLst>
          </a:prstGeom>
          <a:solidFill>
            <a:srgbClr val="0E0E0E"/>
          </a:solidFill>
          <a:ln w="12700">
            <a:solidFill>
              <a:srgbClr val="0E0E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4983480"/>
            <a:ext cx="9628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7F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people outside the gate are not recipients of our research. They are stakeholders in it.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10954512" y="61996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3035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Societal impact and commercial viability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not the same thing.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5212080" cy="2743200"/>
          </a:xfrm>
          <a:prstGeom prst="roundRect">
            <a:avLst>
              <a:gd name="adj" fmla="val 1667"/>
            </a:avLst>
          </a:prstGeom>
          <a:solidFill>
            <a:srgbClr val="F7F6F3"/>
          </a:solidFill>
          <a:ln w="12700">
            <a:solidFill>
              <a:srgbClr val="E5E2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26060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WITHOUT VIABILITY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34440" y="2926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34440" y="352044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fears insecurity. Ask them to pay for the solution and they will ask you why — isn't that what government is for?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92240" y="2286000"/>
            <a:ext cx="5212080" cy="2743200"/>
          </a:xfrm>
          <a:prstGeom prst="roundRect">
            <a:avLst>
              <a:gd name="adj" fmla="val 1667"/>
            </a:avLst>
          </a:prstGeom>
          <a:solidFill>
            <a:srgbClr val="0E0E0E"/>
          </a:solidFill>
          <a:ln w="12700">
            <a:solidFill>
              <a:srgbClr val="0E0E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26060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 WITHOUT IMPACT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03720" y="2926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Betting platforms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903720" y="352044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9B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our sharpest local talent. Enormously profitable. But do they build the society we want — or quietly extract from it?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44068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task is the harder one: solutions that are both wanted and worth wanting.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0954512" y="61996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3035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7F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solar panel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did not begin as a product. It began as research.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9B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 of quiet work on the photovoltaic effect, with no guarantee of a market.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8620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43400" y="2514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34340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343400" y="35661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9B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Investment, manufacturing partnerships, policy support, falling costs.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0664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863840" y="2514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86384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863840" y="35661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9B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leapfrogged the grid for millions of Africans — and now powers cold storage that stops a farmer's harvest from rotting.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557784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crossing the gate — deliberately, and all the way through.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954512" y="61996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3035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TWO  ·  GITEX GLOBAL, DUBAI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7F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device that watches the cold chain.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5852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B9B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temperature sensor. A Wi-Fi microcontroller. GPS, if you like. Data streamed to the cloud.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B9B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logs every moment a shipment of vegetables — or medicine, or an organ for transplant — leaves its safe temperature range, and alerts the owner in real time.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spoiled goods can arrive looking perfectly fine.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223760" y="1965960"/>
            <a:ext cx="4160520" cy="3108960"/>
          </a:xfrm>
          <a:prstGeom prst="roundRect">
            <a:avLst>
              <a:gd name="adj" fmla="val 1765"/>
            </a:avLst>
          </a:prstGeom>
          <a:solidFill>
            <a:srgbClr val="1C1C1C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UNCOMFORTABLE TRUTH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35240" y="2697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could have built this.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35240" y="33832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9B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breakthrough was not the technology. It was that a young marketer sold it to me as a finished, working, revenue-generating product already in use.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48640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invent, then stop halfway — already chasing the next idea, never finishing the one in hand.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954512" y="61996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3035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ingredients for crossing the gate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3346704" cy="1097280"/>
          </a:xfrm>
          <a:prstGeom prst="roundRect">
            <a:avLst>
              <a:gd name="adj" fmla="val 4167"/>
            </a:avLst>
          </a:prstGeom>
          <a:solidFill>
            <a:srgbClr val="F7F6F3"/>
          </a:solidFill>
          <a:ln w="12700">
            <a:solidFill>
              <a:srgbClr val="E5E2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1762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2450592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Creative Ideas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3000" y="2752344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Audacity before infrastructure.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26864" y="2057400"/>
            <a:ext cx="3346704" cy="1097280"/>
          </a:xfrm>
          <a:prstGeom prst="roundRect">
            <a:avLst>
              <a:gd name="adj" fmla="val 4167"/>
            </a:avLst>
          </a:prstGeom>
          <a:solidFill>
            <a:srgbClr val="F7F6F3"/>
          </a:solidFill>
          <a:ln w="12700">
            <a:solidFill>
              <a:srgbClr val="E5E2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46904" y="21762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46904" y="2450592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Knowledge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46904" y="2752344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and minds that can build 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30768" y="2057400"/>
            <a:ext cx="3346704" cy="1097280"/>
          </a:xfrm>
          <a:prstGeom prst="roundRect">
            <a:avLst>
              <a:gd name="adj" fmla="val 4167"/>
            </a:avLst>
          </a:prstGeom>
          <a:solidFill>
            <a:srgbClr val="F7F6F3"/>
          </a:solidFill>
          <a:ln w="12700">
            <a:solidFill>
              <a:srgbClr val="E5E2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50808" y="21762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750808" y="2450592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in Local Talent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750808" y="2752344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Believing in what is built inside the gate.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392424"/>
            <a:ext cx="3346704" cy="1097280"/>
          </a:xfrm>
          <a:prstGeom prst="roundRect">
            <a:avLst>
              <a:gd name="adj" fmla="val 4167"/>
            </a:avLst>
          </a:prstGeom>
          <a:solidFill>
            <a:srgbClr val="F7F6F3"/>
          </a:solidFill>
          <a:ln w="12700">
            <a:solidFill>
              <a:srgbClr val="E5E2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35112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785616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43000" y="4087368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will come begging for your solution.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26864" y="3392424"/>
            <a:ext cx="3346704" cy="1097280"/>
          </a:xfrm>
          <a:prstGeom prst="roundRect">
            <a:avLst>
              <a:gd name="adj" fmla="val 4167"/>
            </a:avLst>
          </a:prstGeom>
          <a:solidFill>
            <a:srgbClr val="F7F6F3"/>
          </a:solidFill>
          <a:ln w="12700">
            <a:solidFill>
              <a:srgbClr val="E5E2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46904" y="35112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46904" y="3785616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946904" y="4087368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society demand innovation.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430768" y="3392424"/>
            <a:ext cx="3346704" cy="1097280"/>
          </a:xfrm>
          <a:prstGeom prst="roundRect">
            <a:avLst>
              <a:gd name="adj" fmla="val 4167"/>
            </a:avLst>
          </a:prstGeom>
          <a:solidFill>
            <a:srgbClr val="F7F6F3"/>
          </a:solidFill>
          <a:ln w="12700">
            <a:solidFill>
              <a:srgbClr val="E5E2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50808" y="35112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750808" y="3785616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Partnership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750808" y="4087368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triple helix: government, university, industry.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" y="4727448"/>
            <a:ext cx="10543032" cy="1097280"/>
          </a:xfrm>
          <a:prstGeom prst="roundRect">
            <a:avLst>
              <a:gd name="adj" fmla="val 4167"/>
            </a:avLst>
          </a:prstGeom>
          <a:solidFill>
            <a:srgbClr val="0E0E0E"/>
          </a:solidFill>
          <a:ln w="12700">
            <a:solidFill>
              <a:srgbClr val="0E0E0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4727448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920240" y="4727448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Self-Sustaining Impact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577840" y="4727448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B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that outlives the funder — solutions society itself will refuse to let die.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" y="59893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matters. Ideas come first — regulation makes them inevitable.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0954512" y="61996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3035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FIVE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Regulation is not the enemy of innovation.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often its engine.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nobody forces you to carry an umbrella, you probably will not carry one.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United Kingdom, fire safety regulation is taken seriously — not because people are naturally cautious, but because the law and the insurers compel it.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compulsion creates a market. Suddenly there is demand for detection systems, for faster response, for better materials — and someone must research and build them.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89520" y="2331720"/>
            <a:ext cx="3794760" cy="3108960"/>
          </a:xfrm>
          <a:prstGeom prst="roundRect">
            <a:avLst>
              <a:gd name="adj" fmla="val 1765"/>
            </a:avLst>
          </a:prstGeom>
          <a:solidFill>
            <a:srgbClr val="F7F6F3"/>
          </a:solidFill>
          <a:ln w="12700">
            <a:solidFill>
              <a:srgbClr val="E5E2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01000" y="2651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0100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compels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01000" y="33375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01000" y="3630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creates demand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01000" y="39044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01000" y="41970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funds research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01000" y="44714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01000" y="47640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reaches the market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57607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is not bad. What matters is how it is designed and implemented.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954512" y="61996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3035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AND ARTIFICIAL INTELLIGENCE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7F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intelligent system runs on one fuel.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B9B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 have sat in enough rooms to hear the same lament: there is none. No local, authentic, real-time data to train on, to validate against, to build with.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B9B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reach for foreign datasets — other people's roads, other people's markets, other people's weather — and build “local” solutions on foreign foundations.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06640" y="2148840"/>
            <a:ext cx="3977640" cy="2880360"/>
          </a:xfrm>
          <a:prstGeom prst="roundRect">
            <a:avLst>
              <a:gd name="adj" fmla="val 1905"/>
            </a:avLst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2148840"/>
            <a:ext cx="31546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F7F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robotics system trained on someone else's reality will always be a stranger in ours.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548640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not a technical inconvenience. It is a national vulnerability.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954512" y="61996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3035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BE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not starting from zero.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NDPR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3346704" cy="2286000"/>
          </a:xfrm>
          <a:prstGeom prst="roundRect">
            <a:avLst>
              <a:gd name="adj" fmla="val 2000"/>
            </a:avLst>
          </a:prstGeom>
          <a:solidFill>
            <a:srgbClr val="F7F6F3"/>
          </a:solidFill>
          <a:ln w="12700">
            <a:solidFill>
              <a:srgbClr val="E5E2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926080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Nigeria Data Protection Regulation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3703320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framework already exists. What we lack is the culture of using it.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26864" y="224028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26864" y="2606040"/>
            <a:ext cx="3346704" cy="2286000"/>
          </a:xfrm>
          <a:prstGeom prst="roundRect">
            <a:avLst>
              <a:gd name="adj" fmla="val 2000"/>
            </a:avLst>
          </a:prstGeom>
          <a:solidFill>
            <a:srgbClr val="F7F6F3"/>
          </a:solidFill>
          <a:ln w="12700">
            <a:solidFill>
              <a:srgbClr val="E5E2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92624" y="2926080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exchange platforms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92624" y="3703320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regulated pipelines between industry, government and researchers.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30768" y="224028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430768" y="2606040"/>
            <a:ext cx="3346704" cy="2286000"/>
          </a:xfrm>
          <a:prstGeom prst="roundRect">
            <a:avLst>
              <a:gd name="adj" fmla="val 2000"/>
            </a:avLst>
          </a:prstGeom>
          <a:solidFill>
            <a:srgbClr val="F7F6F3"/>
          </a:solidFill>
          <a:ln w="12700">
            <a:solidFill>
              <a:srgbClr val="E5E2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96528" y="2926080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 local data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796528" y="3703320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our institutions already hold, responsibly shared rather than locked away.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34924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Robotics and AI will not save us on imported intelligence. They will save us on Nigerian data — gathered, governed and shared with integrity.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10954512" y="61996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3035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BRIDGE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sustainable university–industry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partnership must actually look like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487168"/>
            <a:ext cx="420624" cy="42062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54480" y="23774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480560" y="2359152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donation for public relations — infrastructure for industry's own future pipeline. Labs let researchers simulate, test and validate against real conditions.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721608"/>
            <a:ext cx="420624" cy="42062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21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3611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Field-specific forums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480560" y="3593592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general conferences. Accounting researchers with accounting firms. Agricultural researchers with agribusiness. Field by field, so outcomes stay actionable.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956048"/>
            <a:ext cx="420624" cy="42062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54480" y="4846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Sponsored PhDs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480560" y="4828032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doctoral researcher spends years going deep into one unresolved problem. Sponsor that problem, and the university produces not a thesis, but a solution with a customer waiting.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58521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one-off donation. Not a photograph. Structure.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10954512" y="61996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3035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WORKS  ·  UNITED KINGDOM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7F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Transfer Partnership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B9B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saw this work firsthand. A company brings a real, unsolved problem. A researcher is embedded inside that company — jointly funded by government, the firm and the university.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971800"/>
            <a:ext cx="3346704" cy="1965960"/>
          </a:xfrm>
          <a:prstGeom prst="roundRect">
            <a:avLst>
              <a:gd name="adj" fmla="val 2326"/>
            </a:avLst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329184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company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88720" y="3749040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9B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a resident expert and a working solution to a live business challenge.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26864" y="2971800"/>
            <a:ext cx="3346704" cy="1965960"/>
          </a:xfrm>
          <a:prstGeom prst="roundRect">
            <a:avLst>
              <a:gd name="adj" fmla="val 2326"/>
            </a:avLst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92624" y="329184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university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992624" y="3749040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9B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a researcher testing theory against reality, not against assumption.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30768" y="2971800"/>
            <a:ext cx="3346704" cy="1965960"/>
          </a:xfrm>
          <a:prstGeom prst="roundRect">
            <a:avLst>
              <a:gd name="adj" fmla="val 2326"/>
            </a:avLst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96528" y="329184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researcher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796528" y="3749040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9B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work that matters, backed by both institutions.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44068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foreign luxury. A template we can localise — today — between our companies and this university.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10954512" y="61996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3035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STANDS IN THE WAY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challenges we must name honestly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346704" cy="2880360"/>
          </a:xfrm>
          <a:prstGeom prst="roundRect">
            <a:avLst>
              <a:gd name="adj" fmla="val 1587"/>
            </a:avLst>
          </a:prstGeom>
          <a:solidFill>
            <a:srgbClr val="F7F6F3"/>
          </a:solidFill>
          <a:ln w="12700">
            <a:solidFill>
              <a:srgbClr val="E5E2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285292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Protection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88720" y="3310128"/>
            <a:ext cx="2615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leak before they are protected — reproduced, tweaked and repackaged elsewhere, sometimes better than we could have done, because we did not secure what was ours.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26864" y="2148840"/>
            <a:ext cx="3346704" cy="2880360"/>
          </a:xfrm>
          <a:prstGeom prst="roundRect">
            <a:avLst>
              <a:gd name="adj" fmla="val 1587"/>
            </a:avLst>
          </a:prstGeom>
          <a:solidFill>
            <a:srgbClr val="F7F6F3"/>
          </a:solidFill>
          <a:ln w="12700">
            <a:solidFill>
              <a:srgbClr val="E5E2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92624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992624" y="285292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 Drain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992624" y="3310128"/>
            <a:ext cx="2615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only our best minds leaving. Our best minds staying here, working in effect for competitors abroad. It gives a false sense of contribution while robbing us of the talent we need.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30768" y="2148840"/>
            <a:ext cx="3346704" cy="2880360"/>
          </a:xfrm>
          <a:prstGeom prst="roundRect">
            <a:avLst>
              <a:gd name="adj" fmla="val 1587"/>
            </a:avLst>
          </a:prstGeom>
          <a:solidFill>
            <a:srgbClr val="F7F6F3"/>
          </a:solidFill>
          <a:ln w="12700">
            <a:solidFill>
              <a:srgbClr val="E5E2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96528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796528" y="285292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Funding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796528" y="3310128"/>
            <a:ext cx="2615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abroad work with heavily subsidised tools. We do not. So our work cannot be fully tested — and industry rejects it as untested in real conditions.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44068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 like NOTAP already exist to protect our intellectual property and our professionals. What we lack is the culture of using them.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954512" y="61996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3035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7F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artificial intelligence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7F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earns its place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6035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now makes it possible to build simulated environments that replicate real-world deployment conditions.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9B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researchers can test, refine and validate locally — at a fraction of the traditional cost — before their work ever leaves the laboratory.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9B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complaint that our research “does not reflect the realities of deployment” need not survive this decade.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863840" y="2286000"/>
            <a:ext cx="3108960" cy="3108960"/>
          </a:xfrm>
          <a:prstGeom prst="ellipse">
            <a:avLst/>
          </a:prstGeom>
          <a:solidFill>
            <a:srgbClr val="C9A227">
              <a:alpha val="12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22860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</a:t>
            </a:r>
            <a:endParaRPr lang="en-US" sz="2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400" b="1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</a:t>
            </a:r>
            <a:endParaRPr lang="en-US" sz="2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400" b="1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954512" y="61996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3035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E0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capacity is not in question.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researchers, lecturers and professors are outstanding wherever in the world they go. We are gifted. We are wealthy in talent. That was never the problem.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063240"/>
            <a:ext cx="10543032" cy="1371600"/>
          </a:xfrm>
          <a:prstGeom prst="roundRect">
            <a:avLst>
              <a:gd name="adj" fmla="val 3333"/>
            </a:avLst>
          </a:prstGeom>
          <a:solidFill>
            <a:srgbClr val="0E0E0E"/>
          </a:solidFill>
          <a:ln w="12700">
            <a:solidFill>
              <a:srgbClr val="0E0E0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063240"/>
            <a:ext cx="9445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7F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lack are the structures that carry research out of the university and into society.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47548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society does better when it deploys solutions researched and built to fit its own environment. In this, the university must always be a critical player.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71500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us unlearn, learn, and relearn.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954512" y="61996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2926080"/>
            <a:ext cx="6400800" cy="6400800"/>
          </a:xfrm>
          <a:prstGeom prst="ellipse">
            <a:avLst/>
          </a:prstGeom>
          <a:solidFill>
            <a:srgbClr val="C9A227">
              <a:alpha val="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96596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us rally round — to partner,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support, and to carry this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beyond the gate.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617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5440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Olusola Ayoola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Robotics and Artificial Intelligence Nigeria (RAIN)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Ibadan  ·  5 August 2026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54512" y="61996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the Gate</dc:title>
  <dc:subject>PptxGenJS Presentation</dc:subject>
  <dc:creator>Dr. Olusola Ayoola</dc:creator>
  <cp:lastModifiedBy>Dr. Olusola Ayoola</cp:lastModifiedBy>
  <cp:revision>1</cp:revision>
  <dcterms:created xsi:type="dcterms:W3CDTF">2026-08-05T00:09:22Z</dcterms:created>
  <dcterms:modified xsi:type="dcterms:W3CDTF">2026-08-05T00:09:22Z</dcterms:modified>
</cp:coreProperties>
</file>