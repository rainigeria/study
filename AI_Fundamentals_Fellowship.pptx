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01  ·  FELLOWSHIP FACULTY SESSION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Fundamentals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Foundations, the National Ecosystem, and the Questions Governance Must Answer.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3657600" cy="1371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60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OLUSOLA AYOOLA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Robotics and Artificial Intelligence Nigeria (RAIN)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MAY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  ·  VIRTUAL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FACILITATOR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Stage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4864" cy="14630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Olusola Ayoola</a:t>
            </a:r>
            <a:endParaRPr lang="en-US" sz="2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indent="0" marL="0">
              <a:buNone/>
            </a:pPr>
            <a:r>
              <a:rPr lang="en-US" sz="13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and Artificial Intelligence Nigeria (RAIN)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 ·  EDUCATOR  ·  ECOSYSTEM ARCHITECT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0" y="2240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academic and roboticist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AI and robotics talent across West Africa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of NUC-accredited AI degree pathways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Academy collaborator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are not building Africa’s AI future by importing it. We are building it by understanding it first.”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session matters.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31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cannot govern what you do not understand. And you cannot understand AI by treating it as magic.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3749040"/>
            <a:ext cx="1097280" cy="228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6:30 PM today, you will be able to read an AI claim and tell the difference between marketing, mathematics, and policy risk.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29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Ninety minutes, three movements.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AI Concepts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is, how it learns, why it succeeds, and why it fails.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35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47472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Nigeria's Ecosystem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institutions, players, and the continental picture.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 MIN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26364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Floor — Q&amp;A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questions, your domains, and three provocations.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25 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BEGIN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“AI” actually mean to you?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1097280" cy="228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your answer in the chat. We will return to it at the end of the session.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0" dirty="0"/>
          </a:p>
        </p:txBody>
      </p:sp>
      <p:sp>
        <p:nvSpPr>
          <p:cNvPr id="4" name="Shape 2"/>
          <p:cNvSpPr/>
          <p:nvPr/>
        </p:nvSpPr>
        <p:spPr>
          <a:xfrm>
            <a:off x="3657600" y="1828800"/>
            <a:ext cx="13716" cy="18288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0" y="1828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AI Concepts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23360" y="2788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intelligence to inference. The vocabulary every governance professional needs.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AI actually is.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4688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Intelligence is software that makes decisions ordinarily associated with human judgment — by learning patterns from data.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760720" y="1691640"/>
            <a:ext cx="2926080" cy="265176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0" y="2148840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software, not magic.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produces outputs from inputs, like every other system you regulate.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a robot.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you will ever encounter has no body at all.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statistical, not certain.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it gives is a probability dressed as a sentence.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QUESTION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kinds of intelligence.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4023360" cy="5486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INTELLIGENCE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Understands.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meaning, intent, and context.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very few examples.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held accountable.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why before answering.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023360" cy="265176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91640"/>
            <a:ext cx="402336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Predicts.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92040" y="28346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patterns, weights, probabilities.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many thousands of examples.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accountability of its own.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without asking why.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governance gap lives in the space between these two columns.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ACTUALLY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Narrow today. General tomorrow?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system in production today belongs to the first category. The second remains a research goal, not a product.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786384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852928"/>
            <a:ext cx="164592" cy="164592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0" y="2880360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Narrow AI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at one task. Fails outside it.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spam filters, ChatGPT, facial recognition, loan scoring.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AI (AGI)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37033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across any task a human can.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exist today. Timeline is contested.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THE FOG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myths to retire today.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60320"/>
            <a:ext cx="8229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562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8562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" y="2057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thinks like a human.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34840" y="1828800"/>
            <a:ext cx="13716" cy="6400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562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1856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98348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calculates probabilities. It does not think.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3474720"/>
            <a:ext cx="8229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7063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2770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always objective.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434840" y="2743200"/>
            <a:ext cx="13716" cy="6400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77063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83480" y="2770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98348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inherits the bias of the data it is trained on.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57200" y="4389120"/>
            <a:ext cx="8229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850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8680" y="3685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68680" y="3886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will take over the world soon.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4434840" y="3657600"/>
            <a:ext cx="13716" cy="6400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685032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83480" y="3685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498348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AI cannot reliably book a flight without help.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29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PARADIGM SHIFT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writing rules to learning patterns.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change is what separates AI from the software you already know.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Programmer writes rules.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“If the email contains the word ‘lottery,’ mark as spam.”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3017520"/>
            <a:ext cx="640080" cy="457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0" y="2194560"/>
            <a:ext cx="3657600" cy="182880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1208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learns rules.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212080" y="3246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it 10 million spam and non-spam emails. It learns the patterns on its own.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 for governance: the rules are now hidden inside the model. We can no longer simply audit the code.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29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LEARNS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a machine learns.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265176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with answers.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3337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it labeled examples — inputs and the correct outputs — and it learns the mapping.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 default prediction.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46120" y="178308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783080"/>
            <a:ext cx="265176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0574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52044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by clustering.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520440" y="3337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it data without labels and it finds hidden groupings on its own.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2044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segmentation.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035040" y="178308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1783080"/>
            <a:ext cx="265176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5740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30936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by reward.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309360" y="3337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let it act, then reward or penalise outcomes until it discovers a winning strategy.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30936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Game-playing, robotics.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29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brain analogy — useful, and dangerous.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5603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networks are layers of simple mathematical units that pass numbers between each other, adjusting their weights until they get good at a task.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“Deep” simply means many layers.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120640" y="2078736"/>
            <a:ext cx="292608" cy="29260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13248" y="2225040"/>
            <a:ext cx="621792" cy="-15849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13248" y="2225040"/>
            <a:ext cx="621792" cy="316992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13248" y="2225040"/>
            <a:ext cx="621792" cy="7924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13248" y="2225040"/>
            <a:ext cx="621792" cy="126796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13248" y="2225040"/>
            <a:ext cx="621792" cy="174345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20640" y="2871216"/>
            <a:ext cx="292608" cy="29260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13248" y="3017520"/>
            <a:ext cx="621792" cy="-95097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13248" y="3017520"/>
            <a:ext cx="621792" cy="-47548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13248" y="3017520"/>
            <a:ext cx="62179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13248" y="3017520"/>
            <a:ext cx="621792" cy="47548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13248" y="3017520"/>
            <a:ext cx="621792" cy="95097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20640" y="3663696"/>
            <a:ext cx="292608" cy="29260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13248" y="3810000"/>
            <a:ext cx="621792" cy="-174345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13248" y="3810000"/>
            <a:ext cx="621792" cy="-126796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13248" y="3810000"/>
            <a:ext cx="621792" cy="-7924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13248" y="3810000"/>
            <a:ext cx="621792" cy="-316992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13248" y="3810000"/>
            <a:ext cx="621792" cy="15849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1920240"/>
            <a:ext cx="292608" cy="29260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27648" y="2066544"/>
            <a:ext cx="62179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27648" y="2066544"/>
            <a:ext cx="621792" cy="47548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27648" y="2066544"/>
            <a:ext cx="621792" cy="95097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27648" y="2066544"/>
            <a:ext cx="621792" cy="142646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27648" y="2066544"/>
            <a:ext cx="621792" cy="1901952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035040" y="2395728"/>
            <a:ext cx="292608" cy="29260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27648" y="2542032"/>
            <a:ext cx="621792" cy="-47548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327648" y="2542032"/>
            <a:ext cx="62179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27648" y="2542032"/>
            <a:ext cx="621792" cy="47548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27648" y="2542032"/>
            <a:ext cx="621792" cy="95097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27648" y="2542032"/>
            <a:ext cx="621792" cy="142646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035040" y="2871216"/>
            <a:ext cx="292608" cy="29260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327648" y="3017520"/>
            <a:ext cx="621792" cy="-95097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27648" y="3017520"/>
            <a:ext cx="621792" cy="-47548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27648" y="3017520"/>
            <a:ext cx="62179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327648" y="3017520"/>
            <a:ext cx="621792" cy="47548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27648" y="3017520"/>
            <a:ext cx="621792" cy="95097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035040" y="3346704"/>
            <a:ext cx="292608" cy="29260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327648" y="3493008"/>
            <a:ext cx="621792" cy="-142646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327648" y="3493008"/>
            <a:ext cx="621792" cy="-95097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27648" y="3493008"/>
            <a:ext cx="621792" cy="-47548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27648" y="3493008"/>
            <a:ext cx="62179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327648" y="3493008"/>
            <a:ext cx="621792" cy="47548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035040" y="3822192"/>
            <a:ext cx="292608" cy="29260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327648" y="3968496"/>
            <a:ext cx="621792" cy="-1901952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327648" y="3968496"/>
            <a:ext cx="621792" cy="-1426464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27648" y="3968496"/>
            <a:ext cx="621792" cy="-95097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327648" y="3968496"/>
            <a:ext cx="621792" cy="-47548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327648" y="3968496"/>
            <a:ext cx="62179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949440" y="1920240"/>
            <a:ext cx="292608" cy="29260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242048" y="2066544"/>
            <a:ext cx="621792" cy="35661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242048" y="2066544"/>
            <a:ext cx="621792" cy="154533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949440" y="2395728"/>
            <a:ext cx="292608" cy="29260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242048" y="2542032"/>
            <a:ext cx="621792" cy="-118872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242048" y="2542032"/>
            <a:ext cx="621792" cy="106984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949440" y="2871216"/>
            <a:ext cx="292608" cy="29260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242048" y="3017520"/>
            <a:ext cx="621792" cy="-5943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242048" y="3017520"/>
            <a:ext cx="621792" cy="5943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6949440" y="3346704"/>
            <a:ext cx="292608" cy="29260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242048" y="3493008"/>
            <a:ext cx="621792" cy="-1069848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242048" y="3493008"/>
            <a:ext cx="621792" cy="118872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949440" y="3822192"/>
            <a:ext cx="292608" cy="29260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242048" y="3968496"/>
            <a:ext cx="621792" cy="-154533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242048" y="3968496"/>
            <a:ext cx="621792" cy="-356616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863840" y="2276856"/>
            <a:ext cx="292608" cy="29260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863840" y="3465576"/>
            <a:ext cx="292608" cy="29260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937760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5852160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6766560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7680960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29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LLMs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ChatGPT, Claude, and Gemini really are.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Next-word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machines.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1097280" cy="228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06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hundreds of billions of words, they predict the most likely next word, again, and again — until the sentence is done.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783080"/>
            <a:ext cx="3200400" cy="2926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92024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6928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669280" y="27432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are fluent, not knowledgeable.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tricks us into trusting the answer. The model has no concept of truth — only patterns.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29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FAILURE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invents facts — confidently — and you cannot tell.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2023, a New York lawyer filed a court brief citing six cases. None of them existed. ChatGPT had made them up. The lawyer was fined.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3886200"/>
            <a:ext cx="1097280" cy="228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bug. It is a property of how these models work. Governance frameworks must assume hallucination, not the absence of it.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concepts every fellow must own.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Data &amp; Bias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2331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out. A model trained on biased data produces biased decisions — at scale.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69164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691640"/>
            <a:ext cx="73152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Algorithmic Decision-Making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440680" y="2331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about credit, jobs, parole, and benefits, now made by software. The question: under what authority?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29184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291840"/>
            <a:ext cx="73152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204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474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vs Augmentation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234440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AI replace the human or assist them? Different choices produce different harms.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329184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63440" y="3291840"/>
            <a:ext cx="73152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204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474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Black Box Problem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440680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engineers cannot fully explain why a deep model said yes or no. Audit becomes structurally difficult.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29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38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 FROM PART 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not magic.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=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103120" y="24231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Mathematics  +  Data  +  Human Decisions.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1097280" cy="228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of those three is a human choice. Each can be governed.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0" dirty="0"/>
          </a:p>
        </p:txBody>
      </p:sp>
      <p:sp>
        <p:nvSpPr>
          <p:cNvPr id="4" name="Shape 2"/>
          <p:cNvSpPr/>
          <p:nvPr/>
        </p:nvSpPr>
        <p:spPr>
          <a:xfrm>
            <a:off x="3657600" y="1828800"/>
            <a:ext cx="13716" cy="18288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0" y="1828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Nigeria's AI Ecosystem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023360" y="2788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Policy, institutions, players, and the questions only Nigerian governance can answer.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NIGERIAN MOMENT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Nigeria matters to global AI.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220M+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572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largest market and a population larger than most G20 nations.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9184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African tech funding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154680"/>
            <a:ext cx="4572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2918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remains a continental capital for AI startups and venture capital.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12648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age 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154680"/>
            <a:ext cx="4572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2918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generation that will live and work entirely inside the AI era.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National AI Strategy.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has a strategy. The question is what it does, and what it does not yet 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22402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ESTABLISHES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vision for AI development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sectors: agriculture, health, education, security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development as a national imperative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and compute as foundations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103120"/>
            <a:ext cx="4023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LEAVES OPEN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mechanism and timelines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when AI systems cause harm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and cross-border transfer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for high-risk AI in public service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gaps are the work of this fellowship.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holds the pen.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128016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476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8745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Information Technology Development Agency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21488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regulator. Anchors the National AI Strategy and digital policy.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06040"/>
            <a:ext cx="128016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NCAIR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560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Centre for AI and Robotics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2834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capacity building under NITDA. Public-facing AI hub.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91840"/>
            <a:ext cx="128016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192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NDPC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32461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Nigeria Data Protection Commission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3520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 of data protection law. Adjacent to AI but central to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77640"/>
            <a:ext cx="128016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050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39319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Nigerian Communications Commission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20240" y="42062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and connectivity — the rails AI travels 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26280"/>
            <a:ext cx="8229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building, who is selling, who is watching.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141732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Academia &amp; Research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2377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Universities, polytechnics, and labs producing talent and early-stage research — including RAIN-style accredited pathways.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783080"/>
            <a:ext cx="4023360" cy="141732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116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Startups &amp; Industry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40680" y="2377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Fintech, healthtech, agritech firms embedding AI into Nigerian use cases. Largely under-regulated, largely under-funded.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383280"/>
            <a:ext cx="4023360" cy="141732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118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Tech &amp; Foreign Players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34440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Meta, Microsoft and AWS investing in talent, cloud, and language datasets. Influence runs both ways.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3383280"/>
            <a:ext cx="4023360" cy="141732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61188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Civil Society &amp; Ethics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440680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emerging cohort of think tanks, journalists, lawyers, and fellowships — you — holding the others to account.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29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CONTINENTAL 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Nigeria is not alone in this room.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Union AI Continental Strategy (2024)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520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shared blueprint for sovereign, ethical, African-led AI.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PRIORITIES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548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257800" y="2194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57800" y="248716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datasets, and talent grown on the continent, not imported.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548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257800" y="29718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57800" y="32644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states aligning regulation so AI does not arbitrage across borders.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548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257800" y="3749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Defense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257800" y="404164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histories, and values preserved inside the models we build and use.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29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38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GOVERNANCE MUST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Whose data trains the model that decides your future?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major AI training data is in African languages.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46120" y="3794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frontier-scale foundation models trained on the continent.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200M+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035040" y="3794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Nigerians whose data already shapes models built elsewhere.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GAP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already deciding. The law is still arriving.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46304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476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19202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algorithm denies a loan in Lagos. Who does the customer appeal to?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88920"/>
            <a:ext cx="146304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7889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CV-screening AI filters out 40% of female applicants. Who audits the model?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229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57600"/>
            <a:ext cx="146304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85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3657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moderation model flags a journalist's post. Where does she go for redress?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 not hypotheticals. They are happening this week.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0" dirty="0"/>
          </a:p>
        </p:txBody>
      </p:sp>
      <p:sp>
        <p:nvSpPr>
          <p:cNvPr id="4" name="Shape 2"/>
          <p:cNvSpPr/>
          <p:nvPr/>
        </p:nvSpPr>
        <p:spPr>
          <a:xfrm>
            <a:off x="3657600" y="1828800"/>
            <a:ext cx="13716" cy="18288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0" y="1828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Floor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23360" y="2788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questions, your domains, and three provocations to keep us honest.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questions to take with you.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an AI system denies a Nigerian a loan tomorrow, who exactly do they sue?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43200"/>
            <a:ext cx="73152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91640" y="2926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Nigeria train its own foundation models — or are we permanently consumers of someone else's?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03320"/>
            <a:ext cx="73152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40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91640" y="3886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AI ethics a luxury conversation for wealthy nations, or the most urgent conversation for ours?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remember nothing else.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not nature.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 sequence of human decisions, frozen into mathematics and shipped at scale.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097280" cy="228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means it can be governed. Which means that is your job.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28600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38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SESSION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asking the hard questions. The continent needs that more than it needs the answers.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3657600" cy="1371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FACILITATOR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Olusola Ayoola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CEO, RAIN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rainigeria.com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3703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National AI Strategy (NITDA)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Continental AI Strategy (2024)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Justice League — Buolamwini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29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Fundamentals — AI Ethics &amp; Governance Fellowship</dc:title>
  <dc:subject>PptxGenJS Presentation</dc:subject>
  <dc:creator>Dr. Olusola Ayoola</dc:creator>
  <cp:lastModifiedBy>Dr. Olusola Ayoola</cp:lastModifiedBy>
  <cp:revision>1</cp:revision>
  <dcterms:created xsi:type="dcterms:W3CDTF">2026-05-19T02:35:49Z</dcterms:created>
  <dcterms:modified xsi:type="dcterms:W3CDTF">2026-05-19T02:35:49Z</dcterms:modified>
</cp:coreProperties>
</file>