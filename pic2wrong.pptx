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1463040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0" y="320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766560" y="640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'26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0" y="4229100"/>
            <a:ext cx="3657600" cy="9144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370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OLUSOLA AYOOLA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6451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 ·  RAIN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MAY 2026  ·  90 MIN  ·  VIRTUAL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50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Fundamentals.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Foundations. The 2026 Frontier. The African Builders. The Governance Questions That Cannot Wait.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FACILITATOR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stage today.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91440" cy="2011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Olusola Ayoola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 ·  RAIN — ROBOTICS AND ARTIFICIAL INTELLIGENCE NIGERIA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Roboticist and engineering academic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of NUC-accredited AI degree pathways across West Africa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 Academy collaborator and Nigerian AI ecosystem architect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2976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will not import Africa's AI future. We will build it.”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37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cannot govern what you do not understand.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you cannot understand AI by treating it as magic.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3749040"/>
            <a:ext cx="109728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6:30 PM today: you will read any AI claim and tell marketing from mathematics from policy risk.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37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Ninety minutes. Five movements.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54480" y="1737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46320" y="18013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is, how it learns, the family tree.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951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554480" y="234086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2026 Frontier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0" y="2404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multimodal, reasoning, AI agents.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43784"/>
            <a:ext cx="82296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986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554480" y="29443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AI Works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46320" y="30083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Sectors. Stakes. Numbers that matter.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47288"/>
            <a:ext cx="82296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021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554480" y="35478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 is Building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46320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RAIN. DSN. Awarri. Lelapa. Indaba.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050792"/>
            <a:ext cx="82296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056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554480" y="415137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Q&amp;A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46320" y="42153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questions. The open floor.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654296"/>
            <a:ext cx="82296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37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4F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A09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word.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i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“AI”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291840" y="28803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to you?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A0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one word in the chat → we return to it at 6:30.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2A0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93776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37760" y="19659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937760" y="29260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AI is. How it learns. Why it sometimes works — and why it sometimes lies.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37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what is AI, really?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029200" cy="274320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146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software that does something we used to think only a brain could do — by learning patterns from data.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5669280" y="1691640"/>
            <a:ext cx="73152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robot.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852160" y="20756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has no body. It's code.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0" y="2651760"/>
            <a:ext cx="73152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0" y="2651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certain.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852160" y="30358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a probability.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0" y="3611880"/>
            <a:ext cx="73152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216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new — just bigger.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852160" y="39959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is decades old. The scale is not.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37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TREE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AI, ML, Deep Learning, Data Science.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use these words as synonyms. They aren't.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029200" cy="27432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377440"/>
            <a:ext cx="4480560" cy="1920240"/>
          </a:xfrm>
          <a:prstGeom prst="rect">
            <a:avLst/>
          </a:prstGeom>
          <a:solidFill>
            <a:srgbClr val="3D1E6D"/>
          </a:solidFill>
          <a:ln w="12700">
            <a:solidFill>
              <a:srgbClr val="3D1E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514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97280" y="2926080"/>
            <a:ext cx="3931920" cy="91440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0" y="3429000"/>
            <a:ext cx="3383280" cy="5486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 AI · LLMs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1874520"/>
            <a:ext cx="228600" cy="2286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828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103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system that simulates intelligence.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2514600"/>
            <a:ext cx="228600" cy="228600"/>
          </a:xfrm>
          <a:prstGeom prst="rect">
            <a:avLst/>
          </a:prstGeom>
          <a:solidFill>
            <a:srgbClr val="3D1E6D"/>
          </a:solidFill>
          <a:ln w="12700">
            <a:solidFill>
              <a:srgbClr val="3D1E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learns patterns from data.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3154680"/>
            <a:ext cx="228600" cy="22860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108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using neural networks with many layers.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3794760"/>
            <a:ext cx="228600" cy="228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749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4023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that produces new content.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37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kinds of intelligence.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23360" cy="246888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Understands.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Meaning. Intent. Context.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few examples.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held accountable.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4023360" cy="24688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Predicts.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92040" y="30175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Patterns. Weights. Probabilities.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millions of examples.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accountability of its own.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governance gap lives in the space between these two cards.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37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TAXONOMY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rungs on the ladder.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of these exists today. The other two are research and speculation.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697480" cy="2468880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Narrow AI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34747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Excels at one thing. Spam filters, ChatGPT, facial recognition.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3260" y="1965960"/>
            <a:ext cx="2697480" cy="24688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186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51860" y="25603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AI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51860" y="34747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across any task a human can. Does not exist yet.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1965960"/>
            <a:ext cx="2697480" cy="246888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25603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 AI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17920" y="34747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Surpasses human cognition. Currently theoretical.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37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PARADIGM SHIFT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writing rules to learning them.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change is what separates AI from every other piece of software.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657600" cy="2011680"/>
          </a:xfrm>
          <a:prstGeom prst="rect">
            <a:avLst/>
          </a:prstGeom>
          <a:solidFill>
            <a:srgbClr val="FAFAFA"/>
          </a:solidFill>
          <a:ln w="25400">
            <a:solidFill>
              <a:srgbClr val="1A0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human writes the rules.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“If the email contains ‘you have won’, mark as spam.”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2743200"/>
            <a:ext cx="640080" cy="457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0" y="1920240"/>
            <a:ext cx="3657600" cy="2011680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5780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257800" y="2468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machine learns them.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257800" y="3200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09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it 10 million emails. It works out the rules itself, faster and better.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implication: the rules are now hidden inside the model. We cannot simply audit the code.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37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LEARNS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a machine learns.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51760" cy="91440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788920"/>
            <a:ext cx="2651760" cy="18745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031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240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with answers.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3474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 inputs paired with correct outputs. It learns the mapping.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4343400"/>
            <a:ext cx="18288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100" i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Loan default scoring.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46120" y="1874520"/>
            <a:ext cx="2651760" cy="91440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2788920"/>
            <a:ext cx="2651760" cy="18745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1031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60520" y="2240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52044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by clustering.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520440" y="3474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 data without labels. It finds hidden groupings on its own.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520440" y="4343400"/>
            <a:ext cx="18288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2044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100" i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segmentation.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035040" y="1874520"/>
            <a:ext cx="2651760" cy="91440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035040" y="2788920"/>
            <a:ext cx="2651760" cy="18745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0312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949440" y="2240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30936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by reward.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6309360" y="3474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act. Reward good outcomes. Penalise bad ones. It finds the strategy.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309360" y="4343400"/>
            <a:ext cx="18288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30936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pPr indent="0" marL="0">
              <a:buNone/>
            </a:pPr>
            <a:r>
              <a:rPr lang="en-US" sz="1100" i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Robotics, game-playing.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37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Layers all the way down.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networks are stacks of simple math units that pass numbers between each other, adjusting their weights until they get good at a task.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“Deep” simply means many layers.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041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today for vision, speech, language — everything generative.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0" y="1965960"/>
            <a:ext cx="274320" cy="2743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2103120"/>
            <a:ext cx="502920" cy="-16459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0" y="2103120"/>
            <a:ext cx="502920" cy="329184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2103120"/>
            <a:ext cx="502920" cy="82296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2103120"/>
            <a:ext cx="502920" cy="131673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2103120"/>
            <a:ext cx="502920" cy="181051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2788920"/>
            <a:ext cx="274320" cy="2743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2926080"/>
            <a:ext cx="502920" cy="-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0" y="2926080"/>
            <a:ext cx="502920" cy="-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2926080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2926080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2926080"/>
            <a:ext cx="502920" cy="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3611880"/>
            <a:ext cx="274320" cy="2743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3749040"/>
            <a:ext cx="502920" cy="-181051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77840" y="3749040"/>
            <a:ext cx="502920" cy="-131673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3749040"/>
            <a:ext cx="502920" cy="-82296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3749040"/>
            <a:ext cx="502920" cy="-329184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3749040"/>
            <a:ext cx="502920" cy="16459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1801368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1938528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1938528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1938528"/>
            <a:ext cx="502920" cy="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1938528"/>
            <a:ext cx="502920" cy="14813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1938528"/>
            <a:ext cx="502920" cy="1975104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2295144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2432304"/>
            <a:ext cx="502920" cy="-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2432304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2432304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5080" y="2432304"/>
            <a:ext cx="502920" cy="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55080" y="2432304"/>
            <a:ext cx="502920" cy="14813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80760" y="2788920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2926080"/>
            <a:ext cx="502920" cy="-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2926080"/>
            <a:ext cx="502920" cy="-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2926080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5080" y="2926080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55080" y="2926080"/>
            <a:ext cx="502920" cy="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80760" y="3282696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5080" y="3419856"/>
            <a:ext cx="502920" cy="-14813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55080" y="3419856"/>
            <a:ext cx="502920" cy="-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55080" y="3419856"/>
            <a:ext cx="502920" cy="-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5080" y="3419856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5080" y="3419856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80760" y="3776472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55080" y="3913632"/>
            <a:ext cx="502920" cy="-1975104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55080" y="3913632"/>
            <a:ext cx="502920" cy="-14813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55080" y="3913632"/>
            <a:ext cx="502920" cy="-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55080" y="3913632"/>
            <a:ext cx="502920" cy="-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55080" y="3913632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1801368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32320" y="1938528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32320" y="1938528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32320" y="1938528"/>
            <a:ext cx="502920" cy="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132320" y="1938528"/>
            <a:ext cx="502920" cy="14813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32320" y="1938528"/>
            <a:ext cx="502920" cy="1975104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58000" y="2295144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32320" y="2432304"/>
            <a:ext cx="502920" cy="-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32320" y="2432304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32320" y="2432304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32320" y="2432304"/>
            <a:ext cx="502920" cy="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32320" y="2432304"/>
            <a:ext cx="502920" cy="14813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58000" y="2788920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32320" y="2926080"/>
            <a:ext cx="502920" cy="-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132320" y="2926080"/>
            <a:ext cx="502920" cy="-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32320" y="2926080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132320" y="2926080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32320" y="2926080"/>
            <a:ext cx="502920" cy="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858000" y="3282696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132320" y="3419856"/>
            <a:ext cx="502920" cy="-14813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132320" y="3419856"/>
            <a:ext cx="502920" cy="-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132320" y="3419856"/>
            <a:ext cx="502920" cy="-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132320" y="3419856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32320" y="3419856"/>
            <a:ext cx="502920" cy="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858000" y="3776472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132320" y="3913632"/>
            <a:ext cx="502920" cy="-1975104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132320" y="3913632"/>
            <a:ext cx="502920" cy="-1481328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132320" y="3913632"/>
            <a:ext cx="502920" cy="-98755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132320" y="3913632"/>
            <a:ext cx="502920" cy="-49377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32320" y="3913632"/>
            <a:ext cx="502920" cy="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635240" y="1801368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909560" y="1938528"/>
            <a:ext cx="502920" cy="37033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909560" y="1938528"/>
            <a:ext cx="502920" cy="160477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635240" y="2295144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909560" y="2432304"/>
            <a:ext cx="502920" cy="-123444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909560" y="2432304"/>
            <a:ext cx="502920" cy="111099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635240" y="2788920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926080"/>
            <a:ext cx="502920" cy="-61722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909560" y="2926080"/>
            <a:ext cx="502920" cy="617220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635240" y="3282696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909560" y="3419856"/>
            <a:ext cx="502920" cy="-1110996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909560" y="3419856"/>
            <a:ext cx="502920" cy="123444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635240" y="3776472"/>
            <a:ext cx="274320" cy="27432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909560" y="3913632"/>
            <a:ext cx="502920" cy="-160477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909560" y="3913632"/>
            <a:ext cx="502920" cy="-370332"/>
          </a:xfrm>
          <a:prstGeom prst="line">
            <a:avLst/>
          </a:prstGeom>
          <a:noFill/>
          <a:ln w="6350">
            <a:solidFill>
              <a:srgbClr val="A78BF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412480" y="2171700"/>
            <a:ext cx="274320" cy="274320"/>
          </a:xfrm>
          <a:prstGeom prst="ellipse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412480" y="3406140"/>
            <a:ext cx="274320" cy="274320"/>
          </a:xfrm>
          <a:prstGeom prst="ellipse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074920" y="4297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5852160" y="4297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6629400" y="4297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7406640" y="4297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8183880" y="4297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37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C48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93776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37760" y="19659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2026 Frontier.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937760" y="29260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LLMs. Multimodal. Reasoning. And the model that just took your job: AI Agents.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37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LOOKS LIKE IN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families to know by name.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existed in their current form five years ago.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1591056" cy="256032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46888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20040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360" y="365760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in. Text out. ChatGPT, Claude, Gemini, Llama.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121408" y="1965960"/>
            <a:ext cx="1591056" cy="256032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58568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246888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12848" y="320040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258568" y="365760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Pictures, video, voice, music, code — from a prompt.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785616" y="1965960"/>
            <a:ext cx="1591056" cy="256032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922776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2468880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77056" y="320040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3922776" y="365760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See, hear, and read at the same time.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449824" y="1965960"/>
            <a:ext cx="1591056" cy="256032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586984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744" y="2468880"/>
            <a:ext cx="594360" cy="5943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41264" y="320040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586984" y="365760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“think” before they answer.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7114032" y="1965960"/>
            <a:ext cx="1591056" cy="256032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251192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2" y="2468880"/>
            <a:ext cx="594360" cy="5943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205472" y="3200400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7251192" y="365760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acts. Books flights. Writes code. Runs companies.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37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01  ·  LLMs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ChatGPT, Claude and Gemini really are.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Next-word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machines.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109728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91363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hundreds of billions of words. They predict the most likely next word, again and again, until the sentence is done.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1554480"/>
            <a:ext cx="3017520" cy="297180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2160" y="205740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 ·  USA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 ·  USA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 ·  USA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 ·  open weights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·  37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02  ·  GENERATIVE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no longer just text.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now produces photo-real images, full videos, cloned voices, original music, and working software.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993392" cy="25603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2860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1546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Midjourney, DALL·E, Stable Diffusion. Photo-real from a sentence.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23744" y="1920240"/>
            <a:ext cx="1993392" cy="25603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28600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60904" y="31546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2706624" y="361188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Sora, Veo, Runway. Minutes of cinema from a paragraph.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90288" y="1920240"/>
            <a:ext cx="1993392" cy="25603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944" y="228600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27448" y="31546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4773168" y="361188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ElevenLabs, Tortoise. Clone any voice from 30 seconds of audio.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656832" y="1920240"/>
            <a:ext cx="1993392" cy="25603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2286000"/>
            <a:ext cx="640080" cy="6400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93992" y="31546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200" kern="0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6839712" y="361188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Cursor, Copilot, Claude Code. Working software from a description.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impact: deepfakes, voice fraud, copyright collapse, election integrity — all live concerns in Nigeria today.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·  37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03  ·  REASONING MODELS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that thinks before it speaks.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572000" cy="288036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1460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generation pauses, plans, checks its own work — then answers.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85800" y="37947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“Chain of thought” is the technical term. Useful for maths, law, medicine, anything that needs steps.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0352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03520" y="2057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806440" y="2057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 o-series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06440" y="23774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mass-market reasoning model. Released late 2024.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03520" y="28346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806440" y="283464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thinking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806440" y="31546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reasoning mode. Shows its working.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30352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806440" y="3611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DeepSeek R1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806440" y="39319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open model. Reasoning at a fraction of the cost.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·  37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04  ·  AI AGENTS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that doesn't just talk.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acts.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73152" cy="18288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514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063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websites. Reads. Compares. Decides. Just like you would.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23260" y="2423160"/>
            <a:ext cx="73152" cy="18288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2514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1860" y="3063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451860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code, runs it, fixes the errors, ships the result.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89320" y="2423160"/>
            <a:ext cx="73152" cy="18288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5146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3063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DELEGATES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217920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Spawns sub-agents. Coordinates them. Manages an entire workflow.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accountability question changes completely when AI is not answering questions — it is taking actions on your behalf.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·  37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05  ·  MULTIMODAL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Sees. Hears. Reads. All at once.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023360" y="2560320"/>
            <a:ext cx="1097280" cy="109728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0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1463040"/>
            <a:ext cx="2286000" cy="73152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6002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15087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057400" y="1783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Photos. Diagrams. CCTV. Documents.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0" y="1828800"/>
            <a:ext cx="365760" cy="128016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2651760"/>
            <a:ext cx="2286000" cy="73152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7889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57400" y="26974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SPEECH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057400" y="29718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Calls. Audio. Voice notes. Music.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657600" y="3017520"/>
            <a:ext cx="365760" cy="9144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371600" y="3840480"/>
            <a:ext cx="2286000" cy="73152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397764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057400" y="3886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2057400" y="4160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Documents. Code. Conversation.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657600" y="4206240"/>
            <a:ext cx="365760" cy="-109728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120640" y="3108960"/>
            <a:ext cx="2377440" cy="0"/>
          </a:xfrm>
          <a:prstGeom prst="line">
            <a:avLst/>
          </a:prstGeom>
          <a:noFill/>
          <a:ln w="25400">
            <a:solidFill>
              <a:srgbClr val="5B21B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0" y="2743200"/>
            <a:ext cx="1463040" cy="731520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498080" y="2834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7498080" y="3063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your phone can describe a photo, transcribe a call, summarise a meeting — in one model.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·  37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4F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FAILURE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0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invents facts, confidently, and you cannot tell.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788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2023 a New York lawyer filed a court brief citing six cases. None of them existed. ChatGPT had made them up. The lawyer was fined.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4023360"/>
            <a:ext cx="109728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E18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a bug. It is a property. Governance frameworks must assume hallucination, not its absence.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·  37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2A0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5B21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93776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37760" y="19659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AI Works.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937760" y="29260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EF3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Sectors. Stakes. The trillion-dollar question — and Nigeria's share of it.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·  37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AI is already at work in Nigeria.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79192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73152" cy="1371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856232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2240280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Diagnostics, voice-to-EMR (Intron Health), drug discovery.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9544" y="1691640"/>
            <a:ext cx="2679192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9544" y="1691640"/>
            <a:ext cx="73152" cy="1371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18745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86784" y="1856232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986784" y="2240280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scoring, fraud detection, AML, claims processing.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61888" y="1691640"/>
            <a:ext cx="2679192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961888" y="1691640"/>
            <a:ext cx="73152" cy="1371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8745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39128" y="1856232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739128" y="2240280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disease ID, yield forecasting, soil &amp; weather advisory.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3200400"/>
            <a:ext cx="2679192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3200400"/>
            <a:ext cx="73152" cy="1371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8328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3364992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234440" y="3749040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tutoring, exam fraud detection, language learning.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09544" y="3200400"/>
            <a:ext cx="2679192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209544" y="3200400"/>
            <a:ext cx="73152" cy="1371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338328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86784" y="3364992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3986784" y="3749040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Biometrics, surveillance, threat detection, content moderation.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5961888" y="3200400"/>
            <a:ext cx="2679192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961888" y="3200400"/>
            <a:ext cx="73152" cy="1371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3383280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39128" y="3364992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6739128" y="3749040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automation, identity verification, tax compliance.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·  37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STAKES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money is real.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Africa's share of it is up for grabs.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$16T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45720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089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GLOBAL GDP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estimate by 2030. Roughly the size of China's economy today.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23260" y="20574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$2.9T</a:t>
            </a:r>
            <a:endParaRPr lang="en-US" sz="5600" dirty="0"/>
          </a:p>
        </p:txBody>
      </p:sp>
      <p:sp>
        <p:nvSpPr>
          <p:cNvPr id="11" name="Shape 9"/>
          <p:cNvSpPr/>
          <p:nvPr/>
        </p:nvSpPr>
        <p:spPr>
          <a:xfrm>
            <a:off x="3223260" y="3017520"/>
            <a:ext cx="45720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3260" y="31089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OPPORTUNITY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23260" y="34290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get policy, talent and infrastructure right (UNECA).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20574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1%</a:t>
            </a:r>
            <a:endParaRPr lang="en-US" sz="5600" dirty="0"/>
          </a:p>
        </p:txBody>
      </p:sp>
      <p:sp>
        <p:nvSpPr>
          <p:cNvPr id="15" name="Shape 13"/>
          <p:cNvSpPr/>
          <p:nvPr/>
        </p:nvSpPr>
        <p:spPr>
          <a:xfrm>
            <a:off x="5989320" y="3017520"/>
            <a:ext cx="45720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31089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AI INVESTMENT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89320" y="34290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flowing to Africa. The gap is the opportunity.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 ·  37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93776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37760" y="17830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 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937760" y="25603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937760" y="35204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not waiting for permission. We are shipping models.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 ·  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4F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09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last 24 months Nigerians and Africans have shipped: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Nigeria's first multilingual LLM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1938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0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Yoruba, Igbo, Hausa, Pidgin, Ibibio — plus accented English.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8229600" cy="10973"/>
          </a:xfrm>
          <a:prstGeom prst="rect">
            <a:avLst/>
          </a:prstGeom>
          <a:solidFill>
            <a:srgbClr val="2A0944">
              <a:alpha val="30000"/>
            </a:srgbClr>
          </a:solidFill>
          <a:ln w="12700">
            <a:solidFill>
              <a:srgbClr val="2A0944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317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Africa's first multilingual LLM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71600" y="2715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0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InkubaLM — IsiZulu, Yoruba, Hausa, Swahili, IsiXhosa.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44952"/>
            <a:ext cx="8229600" cy="10973"/>
          </a:xfrm>
          <a:prstGeom prst="rect">
            <a:avLst/>
          </a:prstGeom>
          <a:solidFill>
            <a:srgbClr val="2A0944">
              <a:alpha val="30000"/>
            </a:srgbClr>
          </a:solidFill>
          <a:ln w="12700">
            <a:solidFill>
              <a:srgbClr val="2A0944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089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37160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500,000+ Nigerians trained in AI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71600" y="3493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0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Data Science Nigeria alone. The talent is here.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22192"/>
            <a:ext cx="8229600" cy="10973"/>
          </a:xfrm>
          <a:prstGeom prst="rect">
            <a:avLst/>
          </a:prstGeom>
          <a:solidFill>
            <a:srgbClr val="2A0944">
              <a:alpha val="30000"/>
            </a:srgbClr>
          </a:solidFill>
          <a:ln w="12700">
            <a:solidFill>
              <a:srgbClr val="2A0944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86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3716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Indaba 2026 hosted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71600" y="42702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0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biggest AI gathering. Coming home to Nigeria.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 ·  37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2A0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names every fellow should know.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697480" cy="141732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269748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and AI Nigeria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NUC-accredited AI degrees. Talent. Hardware. Ibadan-based, pan-Nigerian.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23260" y="1691640"/>
            <a:ext cx="2697480" cy="141732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3260" y="1691640"/>
            <a:ext cx="2697480" cy="73152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614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DSN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06140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Nigeria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06140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500,000+ trained. AI for social good. Africa-leading research output.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1691640"/>
            <a:ext cx="2697480" cy="141732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1691640"/>
            <a:ext cx="269748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AWARRI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72200" y="2331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Lagos-based AI lab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72200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Nigeria's first multilingual LLM with NITDA and NCAIR.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218688"/>
            <a:ext cx="2697480" cy="141732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18688"/>
            <a:ext cx="2697480" cy="7315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01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LELAPA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0080" y="3858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Pan-African AI lab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41330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InkubaLM. Africa's first multilingual LLM. Open source.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23260" y="3218688"/>
            <a:ext cx="2697480" cy="141732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23260" y="3218688"/>
            <a:ext cx="2697480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6140" y="3401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MASAKHANE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406140" y="3858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Grassroots NLP collective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06140" y="41330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volunteers building NLP for African languages.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3218688"/>
            <a:ext cx="2697480" cy="141732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9320" y="3218688"/>
            <a:ext cx="2697480" cy="73152"/>
          </a:xfrm>
          <a:prstGeom prst="rect">
            <a:avLst/>
          </a:prstGeom>
          <a:solidFill>
            <a:srgbClr val="BEF264"/>
          </a:solidFill>
          <a:ln w="12700">
            <a:solidFill>
              <a:srgbClr val="BEF2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401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EF2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EQUALYZAI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72200" y="3858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AI startup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72200" y="41330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Bayo Adekanmbi's spin-out. Gates Foundation award for financial inclusion.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 ·  37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4F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Indaba.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09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gathering of the community to discuss what matters.” — isiZulu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697480" cy="182880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51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47+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45720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661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countries running IndabaX every year.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3260" y="2377440"/>
            <a:ext cx="2697480" cy="182880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6140" y="2651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3406140" y="3474720"/>
            <a:ext cx="45720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6140" y="35661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Indaba. Now the largest AI meeting on the continent.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2377440"/>
            <a:ext cx="2697480" cy="182880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6517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4400" dirty="0"/>
          </a:p>
        </p:txBody>
      </p:sp>
      <p:sp>
        <p:nvSpPr>
          <p:cNvPr id="16" name="Shape 14"/>
          <p:cNvSpPr/>
          <p:nvPr/>
        </p:nvSpPr>
        <p:spPr>
          <a:xfrm>
            <a:off x="6172200" y="3474720"/>
            <a:ext cx="45720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35661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in Nigeria. For the first time.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A09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Deep Learning Indaba is the continent making sure Africans are not just users of AI — but its builders.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 ·  37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2A0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INSTITUTIONS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state shows up too.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371600" cy="5029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190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65960" y="169164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Information Technology Development Agency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65960" y="196596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AI regulator. Owns the strategy. Coordinates ecosystem.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1371600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323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NCAIR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65960" y="2404872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Centre for AI and Robotics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65960" y="2679192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arm of NITDA. Public-facing AI hub.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18104"/>
            <a:ext cx="1371600" cy="502920"/>
          </a:xfrm>
          <a:prstGeom prst="rect">
            <a:avLst/>
          </a:prstGeom>
          <a:solidFill>
            <a:srgbClr val="3D1E6D"/>
          </a:solidFill>
          <a:ln w="12700">
            <a:solidFill>
              <a:srgbClr val="3D1E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4553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3MTT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65960" y="3118104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Million Technical Talent programme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65960" y="3392424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training initiative. Tens of thousands now AI-fluent.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31336"/>
            <a:ext cx="1371600" cy="5029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587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NDPC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65960" y="3831336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Nigeria Data Protection Commission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65960" y="4105656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to AI. Central to it. Where most cases will land.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Minister Bosun Tijani — TIME's 100 Most Influential in AI (2025). Nigeria is, finally, at the table.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 ·  37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GOVERNANCE MUST 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Whose data trains the model that decides your future?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major AI training data is in African languages.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23260" y="31089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200M+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23260" y="39319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Nigerians whose data already shapes models built elsewhere.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89320" y="31089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989320" y="39319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Nigeria is now using. About time.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 ·  37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93776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37760" y="19659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Q&amp;A.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937760" y="29260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vocabulary. The cases. The open floor.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 ·  37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concepts every fellow must own.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69080" cy="1417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91440" cy="1417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Data &amp; Bias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28016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 — at scale, with authority.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17720" y="1645920"/>
            <a:ext cx="4069080" cy="1417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1645920"/>
            <a:ext cx="91440" cy="1417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8745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Algorithmic Decisions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44068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Loans. Jobs. Parole. Benefits. Under what authority?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3200400"/>
            <a:ext cx="4069080" cy="1417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3200400"/>
            <a:ext cx="91440" cy="1417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290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383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vs Augmentation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2801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human, or assist them? Different harms.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617720" y="3200400"/>
            <a:ext cx="4069080" cy="1417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617720" y="3200400"/>
            <a:ext cx="91440" cy="1417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4290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3383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Black Box Problem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544068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engineers cannot fully explain a deep model's no.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 ·  37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GAP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already deciding. The law is still arriving.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709928"/>
            <a:ext cx="1463040" cy="4114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465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03120" y="16916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algorithm denies a loan in Lagos. Who does the customer appeal to?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23160"/>
            <a:ext cx="1463040" cy="4114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597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24048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CV-screening AI filters out 40% of female applicants. Who audits the model?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53512"/>
            <a:ext cx="82296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36392"/>
            <a:ext cx="1463040" cy="4114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729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311810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agent books, pays for, and cancels a hotel. The hotel sues. Who is the defendant?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666744"/>
            <a:ext cx="82296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49624"/>
            <a:ext cx="1463040" cy="41148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86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383133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cloned voice of a Nigerian senator endorses a candidate. Election eve. Who acts?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379976"/>
            <a:ext cx="822960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hypothetical. Happening this week. The fellowship's job starts here.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 ·  37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questions to take with you.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91440" cy="777240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91640" y="18562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an AI agent ruins a Nigerian business overnight, who exactly do they sue?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77724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06040"/>
            <a:ext cx="91440" cy="777240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43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91640" y="27706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Nigeria train its own foundation models — or are we permanently consumers of someone else's?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8229600" cy="777240"/>
          </a:xfrm>
          <a:prstGeom prst="rect">
            <a:avLst/>
          </a:prstGeom>
          <a:solidFill>
            <a:srgbClr val="2A0944"/>
          </a:solidFill>
          <a:ln w="12700">
            <a:solidFill>
              <a:srgbClr val="2A09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20440"/>
            <a:ext cx="91440" cy="777240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57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91640" y="36850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AI ethics a luxury conversation for wealthy nations, or the most urgent conversation for ours?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 ·  37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4F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9319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A09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remember nothing else.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0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not nature.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a sequence of human decisions, frozen into mathematics and shipped at scale.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109728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2A0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means it can be governed. Which means that is your job.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 ·  37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2A09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Q&amp;A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domains. Your hardest cases. Bring them.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109728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9502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Twenty-five minutes. Use them.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 ·  37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SESSION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i="1" dirty="0">
                <a:solidFill>
                  <a:srgbClr val="D4F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asking the hard questions. The continent needs that more than it needs the answers.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640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FACILITATOR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960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Olusola Ayoola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 ·  RAIN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F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rainigeria.com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2240280"/>
            <a:ext cx="1097280" cy="36576"/>
          </a:xfrm>
          <a:prstGeom prst="rect">
            <a:avLst/>
          </a:prstGeom>
          <a:solidFill>
            <a:srgbClr val="D4FF3F"/>
          </a:solidFill>
          <a:ln w="12700">
            <a:solidFill>
              <a:srgbClr val="D4FF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269748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Nigeria  ·  datasciencenigeria.org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Awarri  ·  langeasy.ai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Lelapa AI  ·  lelapa.ai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Masakhane NLP  ·  masakhane.io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Indaba 2026  ·  deeplearningindaba.com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IndabaX Nigeria  ·  indabaxng.github.io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 ·  37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482803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 ·  AI ETHICS &amp; GOVERNANCE FELLOWSHIP  ·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Fundamentals — AI Ethics &amp; Governance Fellowship</dc:title>
  <dc:subject>PptxGenJS Presentation</dc:subject>
  <dc:creator>Dr. Olusola Ayoola</dc:creator>
  <cp:lastModifiedBy>Dr. Olusola Ayoola</cp:lastModifiedBy>
  <cp:revision>1</cp:revision>
  <dcterms:created xsi:type="dcterms:W3CDTF">2026-05-19T07:30:20Z</dcterms:created>
  <dcterms:modified xsi:type="dcterms:W3CDTF">2026-05-19T07:30:20Z</dcterms:modified>
</cp:coreProperties>
</file>