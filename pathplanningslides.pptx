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23560" y="1005840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7608" y="1005840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91656" y="1005840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75704" y="1005840"/>
            <a:ext cx="384048" cy="384048"/>
          </a:xfrm>
          <a:prstGeom prst="rect">
            <a:avLst/>
          </a:prstGeom>
          <a:solidFill>
            <a:srgbClr val="0A1830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59752" y="1005840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43800" y="1005840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27848" y="1005840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11896" y="1005840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23560" y="1389888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07608" y="1389888"/>
            <a:ext cx="384048" cy="384048"/>
          </a:xfrm>
          <a:prstGeom prst="rect">
            <a:avLst/>
          </a:prstGeom>
          <a:solidFill>
            <a:srgbClr val="0A1830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91656" y="1389888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75704" y="1389888"/>
            <a:ext cx="384048" cy="384048"/>
          </a:xfrm>
          <a:prstGeom prst="rect">
            <a:avLst/>
          </a:prstGeom>
          <a:solidFill>
            <a:srgbClr val="0A1830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9752" y="1389888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43800" y="1389888"/>
            <a:ext cx="384048" cy="384048"/>
          </a:xfrm>
          <a:prstGeom prst="rect">
            <a:avLst/>
          </a:prstGeom>
          <a:solidFill>
            <a:srgbClr val="0A1830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27848" y="1389888"/>
            <a:ext cx="384048" cy="384048"/>
          </a:xfrm>
          <a:prstGeom prst="rect">
            <a:avLst/>
          </a:prstGeom>
          <a:solidFill>
            <a:srgbClr val="0A1830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11896" y="1389888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23560" y="1773936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07608" y="1773936"/>
            <a:ext cx="384048" cy="384048"/>
          </a:xfrm>
          <a:prstGeom prst="rect">
            <a:avLst/>
          </a:prstGeom>
          <a:solidFill>
            <a:srgbClr val="0A1830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1656" y="1773936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75704" y="1773936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59752" y="1773936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43800" y="1773936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27848" y="1773936"/>
            <a:ext cx="384048" cy="384048"/>
          </a:xfrm>
          <a:prstGeom prst="rect">
            <a:avLst/>
          </a:prstGeom>
          <a:solidFill>
            <a:srgbClr val="0A1830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11896" y="1773936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23560" y="2157984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07608" y="2157984"/>
            <a:ext cx="384048" cy="384048"/>
          </a:xfrm>
          <a:prstGeom prst="rect">
            <a:avLst/>
          </a:prstGeom>
          <a:solidFill>
            <a:srgbClr val="0A1830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1656" y="2157984"/>
            <a:ext cx="384048" cy="384048"/>
          </a:xfrm>
          <a:prstGeom prst="rect">
            <a:avLst/>
          </a:prstGeom>
          <a:solidFill>
            <a:srgbClr val="0A1830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75704" y="2157984"/>
            <a:ext cx="384048" cy="384048"/>
          </a:xfrm>
          <a:prstGeom prst="rect">
            <a:avLst/>
          </a:prstGeom>
          <a:solidFill>
            <a:srgbClr val="0A1830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59752" y="2157984"/>
            <a:ext cx="384048" cy="384048"/>
          </a:xfrm>
          <a:prstGeom prst="rect">
            <a:avLst/>
          </a:prstGeom>
          <a:solidFill>
            <a:srgbClr val="0A1830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43800" y="2157984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27848" y="2157984"/>
            <a:ext cx="384048" cy="384048"/>
          </a:xfrm>
          <a:prstGeom prst="rect">
            <a:avLst/>
          </a:prstGeom>
          <a:solidFill>
            <a:srgbClr val="0A1830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11896" y="2157984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23560" y="2542032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07608" y="2542032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91656" y="2542032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75704" y="2542032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59752" y="2542032"/>
            <a:ext cx="384048" cy="384048"/>
          </a:xfrm>
          <a:prstGeom prst="rect">
            <a:avLst/>
          </a:prstGeom>
          <a:solidFill>
            <a:srgbClr val="0A1830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43800" y="2542032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27848" y="2542032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11896" y="2542032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23560" y="2926080"/>
            <a:ext cx="384048" cy="384048"/>
          </a:xfrm>
          <a:prstGeom prst="rect">
            <a:avLst/>
          </a:prstGeom>
          <a:solidFill>
            <a:srgbClr val="0A1830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07608" y="2926080"/>
            <a:ext cx="384048" cy="384048"/>
          </a:xfrm>
          <a:prstGeom prst="rect">
            <a:avLst/>
          </a:prstGeom>
          <a:solidFill>
            <a:srgbClr val="0A1830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91656" y="2926080"/>
            <a:ext cx="384048" cy="384048"/>
          </a:xfrm>
          <a:prstGeom prst="rect">
            <a:avLst/>
          </a:prstGeom>
          <a:solidFill>
            <a:srgbClr val="0A1830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75704" y="2926080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59752" y="2926080"/>
            <a:ext cx="384048" cy="384048"/>
          </a:xfrm>
          <a:prstGeom prst="rect">
            <a:avLst/>
          </a:prstGeom>
          <a:solidFill>
            <a:srgbClr val="0A1830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43800" y="2926080"/>
            <a:ext cx="384048" cy="384048"/>
          </a:xfrm>
          <a:prstGeom prst="rect">
            <a:avLst/>
          </a:prstGeom>
          <a:solidFill>
            <a:srgbClr val="0A1830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27848" y="2926080"/>
            <a:ext cx="384048" cy="384048"/>
          </a:xfrm>
          <a:prstGeom prst="rect">
            <a:avLst/>
          </a:prstGeom>
          <a:solidFill>
            <a:srgbClr val="0A1830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11896" y="2926080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23560" y="3310128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07608" y="3310128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91656" y="3310128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75704" y="3310128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159752" y="3310128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543800" y="3310128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927848" y="3310128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311896" y="3310128"/>
            <a:ext cx="384048" cy="384048"/>
          </a:xfrm>
          <a:prstGeom prst="rect">
            <a:avLst/>
          </a:prstGeom>
          <a:solidFill>
            <a:srgbClr val="16304F"/>
          </a:solidFill>
          <a:ln w="9525">
            <a:solidFill>
              <a:srgbClr val="23406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751576" y="1133856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9" name="Shape 57"/>
          <p:cNvSpPr/>
          <p:nvPr/>
        </p:nvSpPr>
        <p:spPr>
          <a:xfrm>
            <a:off x="6135624" y="1133856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0" name="Shape 58"/>
          <p:cNvSpPr/>
          <p:nvPr/>
        </p:nvSpPr>
        <p:spPr>
          <a:xfrm>
            <a:off x="6519672" y="1133856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1" name="Shape 59"/>
          <p:cNvSpPr/>
          <p:nvPr/>
        </p:nvSpPr>
        <p:spPr>
          <a:xfrm>
            <a:off x="6519672" y="1517904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2" name="Shape 60"/>
          <p:cNvSpPr/>
          <p:nvPr/>
        </p:nvSpPr>
        <p:spPr>
          <a:xfrm>
            <a:off x="6519672" y="1901952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3" name="Shape 61"/>
          <p:cNvSpPr/>
          <p:nvPr/>
        </p:nvSpPr>
        <p:spPr>
          <a:xfrm>
            <a:off x="6903720" y="1901952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4" name="Shape 62"/>
          <p:cNvSpPr/>
          <p:nvPr/>
        </p:nvSpPr>
        <p:spPr>
          <a:xfrm>
            <a:off x="7287768" y="1901952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5" name="Shape 63"/>
          <p:cNvSpPr/>
          <p:nvPr/>
        </p:nvSpPr>
        <p:spPr>
          <a:xfrm>
            <a:off x="7287768" y="1517904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6" name="Shape 64"/>
          <p:cNvSpPr/>
          <p:nvPr/>
        </p:nvSpPr>
        <p:spPr>
          <a:xfrm>
            <a:off x="7287768" y="1133856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7" name="Shape 65"/>
          <p:cNvSpPr/>
          <p:nvPr/>
        </p:nvSpPr>
        <p:spPr>
          <a:xfrm>
            <a:off x="7671816" y="1133856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8" name="Shape 66"/>
          <p:cNvSpPr/>
          <p:nvPr/>
        </p:nvSpPr>
        <p:spPr>
          <a:xfrm>
            <a:off x="8055864" y="1133856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9" name="Shape 67"/>
          <p:cNvSpPr/>
          <p:nvPr/>
        </p:nvSpPr>
        <p:spPr>
          <a:xfrm>
            <a:off x="8439912" y="1133856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0" name="Shape 68"/>
          <p:cNvSpPr/>
          <p:nvPr/>
        </p:nvSpPr>
        <p:spPr>
          <a:xfrm>
            <a:off x="8439912" y="1517904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1" name="Shape 69"/>
          <p:cNvSpPr/>
          <p:nvPr/>
        </p:nvSpPr>
        <p:spPr>
          <a:xfrm>
            <a:off x="8439912" y="1901952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2" name="Shape 70"/>
          <p:cNvSpPr/>
          <p:nvPr/>
        </p:nvSpPr>
        <p:spPr>
          <a:xfrm>
            <a:off x="8439912" y="2286000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3" name="Shape 71"/>
          <p:cNvSpPr/>
          <p:nvPr/>
        </p:nvSpPr>
        <p:spPr>
          <a:xfrm>
            <a:off x="8439912" y="2670048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4" name="Shape 72"/>
          <p:cNvSpPr/>
          <p:nvPr/>
        </p:nvSpPr>
        <p:spPr>
          <a:xfrm>
            <a:off x="8439912" y="3054096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5" name="Shape 73"/>
          <p:cNvSpPr/>
          <p:nvPr/>
        </p:nvSpPr>
        <p:spPr>
          <a:xfrm>
            <a:off x="8439912" y="3438144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6" name="Shape 74"/>
          <p:cNvSpPr/>
          <p:nvPr/>
        </p:nvSpPr>
        <p:spPr>
          <a:xfrm>
            <a:off x="5678424" y="1060704"/>
            <a:ext cx="274320" cy="274320"/>
          </a:xfrm>
          <a:prstGeom prst="ellipse">
            <a:avLst/>
          </a:prstGeom>
          <a:solidFill>
            <a:srgbClr val="22A06B"/>
          </a:solidFill>
          <a:ln/>
        </p:spPr>
      </p:sp>
      <p:sp>
        <p:nvSpPr>
          <p:cNvPr id="77" name="Shape 75"/>
          <p:cNvSpPr/>
          <p:nvPr/>
        </p:nvSpPr>
        <p:spPr>
          <a:xfrm>
            <a:off x="8366760" y="3364992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78" name="Text 76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502920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TRAINEE PROGRAMME · THIS WEEK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57200" y="173736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Pathfinding on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Occupancy Grids</a:t>
            </a:r>
            <a:endParaRPr lang="en-US" sz="4400" dirty="0"/>
          </a:p>
        </p:txBody>
      </p:sp>
      <p:sp>
        <p:nvSpPr>
          <p:cNvPr id="82" name="Text 80"/>
          <p:cNvSpPr/>
          <p:nvPr/>
        </p:nvSpPr>
        <p:spPr>
          <a:xfrm>
            <a:off x="502920" y="35661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floor-plan image to an A* path a real robot can drive — maps, graphs, heuristics, code, and weekend build tasks.</a:t>
            </a:r>
            <a:endParaRPr lang="en-US" sz="1400" dirty="0"/>
          </a:p>
        </p:txBody>
      </p:sp>
      <p:sp>
        <p:nvSpPr>
          <p:cNvPr id="83" name="Text 81"/>
          <p:cNvSpPr/>
          <p:nvPr/>
        </p:nvSpPr>
        <p:spPr>
          <a:xfrm>
            <a:off x="502920" y="4617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pack · Intermediate track · Includes simulation + physical weekend practicals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836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54864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Pathfinding?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156448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4"/>
          <p:cNvSpPr/>
          <p:nvPr/>
        </p:nvSpPr>
        <p:spPr>
          <a:xfrm>
            <a:off x="8284464" y="256032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0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Shape 6"/>
          <p:cNvSpPr/>
          <p:nvPr/>
        </p:nvSpPr>
        <p:spPr>
          <a:xfrm>
            <a:off x="8156448" y="384048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0" name="Shape 7"/>
          <p:cNvSpPr/>
          <p:nvPr/>
        </p:nvSpPr>
        <p:spPr>
          <a:xfrm>
            <a:off x="8284464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0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Shape 9"/>
          <p:cNvSpPr/>
          <p:nvPr/>
        </p:nvSpPr>
        <p:spPr>
          <a:xfrm>
            <a:off x="8156448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0"/>
          <p:cNvSpPr/>
          <p:nvPr/>
        </p:nvSpPr>
        <p:spPr>
          <a:xfrm>
            <a:off x="8284464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0" y="512064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12344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robot has a map of the warehouse. Shelves, walls, one charging dock. The question every mobile robot must answer, every second: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210312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10243E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217627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“Given a map with obstacles, find a collision-free — ideally shortest — route from start to goal.”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457200" y="31089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will meet this problem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34290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 robots — picking routes between shelves</a:t>
            </a:r>
            <a:endParaRPr lang="en-US" sz="12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AI — NPCs chasing or fleeing the player</a:t>
            </a:r>
            <a:endParaRPr lang="en-US" sz="12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Self-driving cars — lane-level route planning</a:t>
            </a:r>
            <a:endParaRPr lang="en-US" sz="12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Evacuation planning — safest exits from buildings</a:t>
            </a:r>
            <a:endParaRPr lang="en-US" sz="12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Drones — obstacle-aware waypoint missions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806440" y="146304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81928" y="146304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757416" y="146304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232904" y="146304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708392" y="146304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183880" y="146304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806440" y="1938528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81928" y="1938528"/>
            <a:ext cx="475488" cy="475488"/>
          </a:xfrm>
          <a:prstGeom prst="rect">
            <a:avLst/>
          </a:prstGeom>
          <a:solidFill>
            <a:srgbClr val="10243E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757416" y="1938528"/>
            <a:ext cx="475488" cy="475488"/>
          </a:xfrm>
          <a:prstGeom prst="rect">
            <a:avLst/>
          </a:prstGeom>
          <a:solidFill>
            <a:srgbClr val="10243E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232904" y="1938528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708392" y="1938528"/>
            <a:ext cx="475488" cy="475488"/>
          </a:xfrm>
          <a:prstGeom prst="rect">
            <a:avLst/>
          </a:prstGeom>
          <a:solidFill>
            <a:srgbClr val="10243E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183880" y="1938528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806440" y="2414016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81928" y="2414016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57416" y="2414016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232904" y="2414016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708392" y="2414016"/>
            <a:ext cx="475488" cy="475488"/>
          </a:xfrm>
          <a:prstGeom prst="rect">
            <a:avLst/>
          </a:prstGeom>
          <a:solidFill>
            <a:srgbClr val="10243E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183880" y="2414016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806440" y="2889504"/>
            <a:ext cx="475488" cy="475488"/>
          </a:xfrm>
          <a:prstGeom prst="rect">
            <a:avLst/>
          </a:prstGeom>
          <a:solidFill>
            <a:srgbClr val="10243E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281928" y="2889504"/>
            <a:ext cx="475488" cy="475488"/>
          </a:xfrm>
          <a:prstGeom prst="rect">
            <a:avLst/>
          </a:prstGeom>
          <a:solidFill>
            <a:srgbClr val="10243E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757416" y="2889504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232904" y="2889504"/>
            <a:ext cx="475488" cy="475488"/>
          </a:xfrm>
          <a:prstGeom prst="rect">
            <a:avLst/>
          </a:prstGeom>
          <a:solidFill>
            <a:srgbClr val="10243E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708392" y="2889504"/>
            <a:ext cx="475488" cy="475488"/>
          </a:xfrm>
          <a:prstGeom prst="rect">
            <a:avLst/>
          </a:prstGeom>
          <a:solidFill>
            <a:srgbClr val="10243E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183880" y="2889504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806440" y="3364992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281928" y="3364992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757416" y="3364992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232904" y="3364992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708392" y="3364992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183880" y="3364992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434084" y="1615196"/>
            <a:ext cx="171176" cy="17117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1" name="Shape 48"/>
          <p:cNvSpPr/>
          <p:nvPr/>
        </p:nvSpPr>
        <p:spPr>
          <a:xfrm>
            <a:off x="6909572" y="1615196"/>
            <a:ext cx="171176" cy="17117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2" name="Shape 49"/>
          <p:cNvSpPr/>
          <p:nvPr/>
        </p:nvSpPr>
        <p:spPr>
          <a:xfrm>
            <a:off x="7385060" y="1615196"/>
            <a:ext cx="171176" cy="17117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3" name="Shape 50"/>
          <p:cNvSpPr/>
          <p:nvPr/>
        </p:nvSpPr>
        <p:spPr>
          <a:xfrm>
            <a:off x="7385060" y="2090684"/>
            <a:ext cx="171176" cy="17117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4" name="Shape 51"/>
          <p:cNvSpPr/>
          <p:nvPr/>
        </p:nvSpPr>
        <p:spPr>
          <a:xfrm>
            <a:off x="7385060" y="2566172"/>
            <a:ext cx="171176" cy="17117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5" name="Shape 52"/>
          <p:cNvSpPr/>
          <p:nvPr/>
        </p:nvSpPr>
        <p:spPr>
          <a:xfrm>
            <a:off x="6909572" y="2566172"/>
            <a:ext cx="171176" cy="17117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6" name="Shape 53"/>
          <p:cNvSpPr/>
          <p:nvPr/>
        </p:nvSpPr>
        <p:spPr>
          <a:xfrm>
            <a:off x="6909572" y="3041660"/>
            <a:ext cx="171176" cy="17117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7" name="Shape 54"/>
          <p:cNvSpPr/>
          <p:nvPr/>
        </p:nvSpPr>
        <p:spPr>
          <a:xfrm>
            <a:off x="6909572" y="3517148"/>
            <a:ext cx="171176" cy="17117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8" name="Shape 55"/>
          <p:cNvSpPr/>
          <p:nvPr/>
        </p:nvSpPr>
        <p:spPr>
          <a:xfrm>
            <a:off x="7385060" y="3517148"/>
            <a:ext cx="171176" cy="17117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9" name="Shape 56"/>
          <p:cNvSpPr/>
          <p:nvPr/>
        </p:nvSpPr>
        <p:spPr>
          <a:xfrm>
            <a:off x="7860548" y="3517148"/>
            <a:ext cx="171176" cy="17117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0" name="Shape 57"/>
          <p:cNvSpPr/>
          <p:nvPr/>
        </p:nvSpPr>
        <p:spPr>
          <a:xfrm>
            <a:off x="5877763" y="1534363"/>
            <a:ext cx="332842" cy="332842"/>
          </a:xfrm>
          <a:prstGeom prst="ellipse">
            <a:avLst/>
          </a:prstGeom>
          <a:solidFill>
            <a:srgbClr val="22A06B"/>
          </a:solidFill>
          <a:ln/>
        </p:spPr>
      </p:sp>
      <p:sp>
        <p:nvSpPr>
          <p:cNvPr id="61" name="Text 58"/>
          <p:cNvSpPr/>
          <p:nvPr/>
        </p:nvSpPr>
        <p:spPr>
          <a:xfrm>
            <a:off x="5806440" y="1463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352" dirty="0"/>
          </a:p>
        </p:txBody>
      </p:sp>
      <p:sp>
        <p:nvSpPr>
          <p:cNvPr id="62" name="Shape 59"/>
          <p:cNvSpPr/>
          <p:nvPr/>
        </p:nvSpPr>
        <p:spPr>
          <a:xfrm>
            <a:off x="8255203" y="3436315"/>
            <a:ext cx="332842" cy="33284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3" name="Text 60"/>
          <p:cNvSpPr/>
          <p:nvPr/>
        </p:nvSpPr>
        <p:spPr>
          <a:xfrm>
            <a:off x="8183880" y="3364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352" dirty="0"/>
          </a:p>
        </p:txBody>
      </p:sp>
      <p:sp>
        <p:nvSpPr>
          <p:cNvPr id="64" name="Text 61"/>
          <p:cNvSpPr/>
          <p:nvPr/>
        </p:nvSpPr>
        <p:spPr>
          <a:xfrm>
            <a:off x="5669280" y="3977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collision-free route on a 6 × 5 occupancy grid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836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54864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Representing the World: Occupancy Grids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156448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4"/>
          <p:cNvSpPr/>
          <p:nvPr/>
        </p:nvSpPr>
        <p:spPr>
          <a:xfrm>
            <a:off x="8284464" y="256032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0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Shape 6"/>
          <p:cNvSpPr/>
          <p:nvPr/>
        </p:nvSpPr>
        <p:spPr>
          <a:xfrm>
            <a:off x="8156448" y="384048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0" name="Shape 7"/>
          <p:cNvSpPr/>
          <p:nvPr/>
        </p:nvSpPr>
        <p:spPr>
          <a:xfrm>
            <a:off x="8284464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0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Shape 9"/>
          <p:cNvSpPr/>
          <p:nvPr/>
        </p:nvSpPr>
        <p:spPr>
          <a:xfrm>
            <a:off x="8156448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0"/>
          <p:cNvSpPr/>
          <p:nvPr/>
        </p:nvSpPr>
        <p:spPr>
          <a:xfrm>
            <a:off x="8284464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0" y="512064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12344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occupancy grid is a 2D matrix laid over the floor plan — graph paper over the world. Every cell holds one of two values: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205740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57200" y="2148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A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457200" y="26700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— the robot may pass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063240" y="205740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10243E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063240" y="2148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3063240" y="26700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OCCUPIED — obstacle, blocked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7200" y="333756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representation wins: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exactly what a NumPy array is. Sensors (LiDAR, cameras) can write into it, and search algorithms can read from it — one data structure connects perception to planning.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715000" y="1325880"/>
            <a:ext cx="2971800" cy="1554480"/>
          </a:xfrm>
          <a:prstGeom prst="roundRect">
            <a:avLst>
              <a:gd name="adj" fmla="val 3529"/>
            </a:avLst>
          </a:prstGeom>
          <a:solidFill>
            <a:srgbClr val="0B1826"/>
          </a:solidFill>
          <a:ln/>
        </p:spPr>
      </p:sp>
      <p:sp>
        <p:nvSpPr>
          <p:cNvPr id="24" name="Text 21"/>
          <p:cNvSpPr/>
          <p:nvPr/>
        </p:nvSpPr>
        <p:spPr>
          <a:xfrm>
            <a:off x="5879592" y="1417320"/>
            <a:ext cx="26426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 = np.array([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[1, 1, 1, 0, 1],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[1, 0, 1, 0, 1],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[1, 0, 1, 1, 1],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[1, 1, 1, 0, 1],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989320" y="3063240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373368" y="3063240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57416" y="3063240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141464" y="3063240"/>
            <a:ext cx="384048" cy="384048"/>
          </a:xfrm>
          <a:prstGeom prst="rect">
            <a:avLst/>
          </a:prstGeom>
          <a:solidFill>
            <a:srgbClr val="10243E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525512" y="3063240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989320" y="3447288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373368" y="3447288"/>
            <a:ext cx="384048" cy="384048"/>
          </a:xfrm>
          <a:prstGeom prst="rect">
            <a:avLst/>
          </a:prstGeom>
          <a:solidFill>
            <a:srgbClr val="10243E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757416" y="3447288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141464" y="3447288"/>
            <a:ext cx="384048" cy="384048"/>
          </a:xfrm>
          <a:prstGeom prst="rect">
            <a:avLst/>
          </a:prstGeom>
          <a:solidFill>
            <a:srgbClr val="10243E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525512" y="3447288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89320" y="3831336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373368" y="3831336"/>
            <a:ext cx="384048" cy="384048"/>
          </a:xfrm>
          <a:prstGeom prst="rect">
            <a:avLst/>
          </a:prstGeom>
          <a:solidFill>
            <a:srgbClr val="10243E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57416" y="3831336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141464" y="3831336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525512" y="3831336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989320" y="4215384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373368" y="4215384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757416" y="4215384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141464" y="4215384"/>
            <a:ext cx="384048" cy="384048"/>
          </a:xfrm>
          <a:prstGeom prst="rect">
            <a:avLst/>
          </a:prstGeom>
          <a:solidFill>
            <a:srgbClr val="10243E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525512" y="4215384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715000" y="46817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data, two views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836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54864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Image to Grid: The Pipeline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156448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4"/>
          <p:cNvSpPr/>
          <p:nvPr/>
        </p:nvSpPr>
        <p:spPr>
          <a:xfrm>
            <a:off x="8284464" y="256032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0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Shape 6"/>
          <p:cNvSpPr/>
          <p:nvPr/>
        </p:nvSpPr>
        <p:spPr>
          <a:xfrm>
            <a:off x="8156448" y="384048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0" name="Shape 7"/>
          <p:cNvSpPr/>
          <p:nvPr/>
        </p:nvSpPr>
        <p:spPr>
          <a:xfrm>
            <a:off x="8284464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0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Shape 9"/>
          <p:cNvSpPr/>
          <p:nvPr/>
        </p:nvSpPr>
        <p:spPr>
          <a:xfrm>
            <a:off x="8156448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0"/>
          <p:cNvSpPr/>
          <p:nvPr/>
        </p:nvSpPr>
        <p:spPr>
          <a:xfrm>
            <a:off x="8284464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0" y="512064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maps arrive as images. Three steps turn pixels into a matrix the planner can search: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1691640"/>
            <a:ext cx="2651760" cy="2286000"/>
          </a:xfrm>
          <a:prstGeom prst="roundRect">
            <a:avLst>
              <a:gd name="adj" fmla="val 36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0080" y="18288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GRAYSCALE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0080" y="217627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the image so each pixel is one number, 0 (black) to 255 (white).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94360" y="315468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0B1826"/>
          </a:solidFill>
          <a:ln/>
        </p:spPr>
      </p:sp>
      <p:sp>
        <p:nvSpPr>
          <p:cNvPr id="20" name="Text 17"/>
          <p:cNvSpPr/>
          <p:nvPr/>
        </p:nvSpPr>
        <p:spPr>
          <a:xfrm>
            <a:off x="758952" y="3246120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cv2.imread(path,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cv2.IMREAD_GRAYSCALE)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072384" y="26060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3319272" y="1691640"/>
            <a:ext cx="2651760" cy="2286000"/>
          </a:xfrm>
          <a:prstGeom prst="roundRect">
            <a:avLst>
              <a:gd name="adj" fmla="val 36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3502152" y="18288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THRESHOLD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502152" y="217627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cutoff. Above it → 255 (free). Below it → 0 (blocked).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456432" y="315468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0B1826"/>
          </a:solidFill>
          <a:ln/>
        </p:spPr>
      </p:sp>
      <p:sp>
        <p:nvSpPr>
          <p:cNvPr id="26" name="Text 23"/>
          <p:cNvSpPr/>
          <p:nvPr/>
        </p:nvSpPr>
        <p:spPr>
          <a:xfrm>
            <a:off x="3621024" y="3246120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cv2.threshold(img, 128,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255, cv2.THRESH_BINARY)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934456" y="26060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8" name="Shape 25"/>
          <p:cNvSpPr/>
          <p:nvPr/>
        </p:nvSpPr>
        <p:spPr>
          <a:xfrm>
            <a:off x="6181344" y="1691640"/>
            <a:ext cx="2651760" cy="2286000"/>
          </a:xfrm>
          <a:prstGeom prst="roundRect">
            <a:avLst>
              <a:gd name="adj" fmla="val 36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6364224" y="18288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NORMALIZE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364224" y="217627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by 255 so every cell is exactly 0 or 1. Done — occupancy grid.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318504" y="315468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0B1826"/>
          </a:solidFill>
          <a:ln/>
        </p:spPr>
      </p:sp>
      <p:sp>
        <p:nvSpPr>
          <p:cNvPr id="32" name="Text 29"/>
          <p:cNvSpPr/>
          <p:nvPr/>
        </p:nvSpPr>
        <p:spPr>
          <a:xfrm>
            <a:off x="6483096" y="3246120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 = thresh // 255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57200" y="420624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7E6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370832"/>
            <a:ext cx="310896" cy="310896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1097280" y="4279392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tuning: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cutoff = more free space (permissive); higher = less free space (conservative). 128 is the midpoint default — tune it per map.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836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54864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Conversion Code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156448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4"/>
          <p:cNvSpPr/>
          <p:nvPr/>
        </p:nvSpPr>
        <p:spPr>
          <a:xfrm>
            <a:off x="8284464" y="256032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0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Shape 6"/>
          <p:cNvSpPr/>
          <p:nvPr/>
        </p:nvSpPr>
        <p:spPr>
          <a:xfrm>
            <a:off x="8156448" y="384048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0" name="Shape 7"/>
          <p:cNvSpPr/>
          <p:nvPr/>
        </p:nvSpPr>
        <p:spPr>
          <a:xfrm>
            <a:off x="8284464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0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Shape 9"/>
          <p:cNvSpPr/>
          <p:nvPr/>
        </p:nvSpPr>
        <p:spPr>
          <a:xfrm>
            <a:off x="8156448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0"/>
          <p:cNvSpPr/>
          <p:nvPr/>
        </p:nvSpPr>
        <p:spPr>
          <a:xfrm>
            <a:off x="8284464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0" y="512064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" y="1234440"/>
            <a:ext cx="5577840" cy="3566160"/>
          </a:xfrm>
          <a:prstGeom prst="roundRect">
            <a:avLst>
              <a:gd name="adj" fmla="val 1538"/>
            </a:avLst>
          </a:prstGeom>
          <a:solidFill>
            <a:srgbClr val="0B1826"/>
          </a:solidFill>
          <a:ln/>
        </p:spPr>
      </p:sp>
      <p:sp>
        <p:nvSpPr>
          <p:cNvPr id="16" name="Text 13"/>
          <p:cNvSpPr/>
          <p:nvPr/>
        </p:nvSpPr>
        <p:spPr>
          <a:xfrm>
            <a:off x="621792" y="1325880"/>
            <a:ext cx="524865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cv2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create_occupancy_grid_from_image(image_path, threshold=128):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6E8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Load as grayscale: each pixel is 0-255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 = cv2.imread(image_path, cv2.IMREAD_GRAYSCALE)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6E8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Threshold: pixels &gt; 128 become 255 (free), rest 0 (blocked)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_, thresholded = cv2.threshold(image, threshold, 255,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cv2.THRESH_BINARY)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6E8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Normalize: 255 -&gt; 1,  0 -&gt; 0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occupancy_grid = thresholded // 255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occupancy_grid, image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263640" y="1280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functions to know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263640" y="1600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0" y="1719072"/>
            <a:ext cx="22128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cv2.imread(...)</a:t>
            </a:r>
            <a:endParaRPr lang="en-US" sz="105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Loads the image straight into a NumPy 2D array.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263640" y="310896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0" y="3227832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cv2.threshold(...)</a:t>
            </a:r>
            <a:endParaRPr lang="en-US" sz="105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thresholding: one cutoff, two worlds — free or blocked.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836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54864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Grid IS a Graph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156448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4"/>
          <p:cNvSpPr/>
          <p:nvPr/>
        </p:nvSpPr>
        <p:spPr>
          <a:xfrm>
            <a:off x="8284464" y="256032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0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Shape 6"/>
          <p:cNvSpPr/>
          <p:nvPr/>
        </p:nvSpPr>
        <p:spPr>
          <a:xfrm>
            <a:off x="8156448" y="384048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0" name="Shape 7"/>
          <p:cNvSpPr/>
          <p:nvPr/>
        </p:nvSpPr>
        <p:spPr>
          <a:xfrm>
            <a:off x="8284464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0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Shape 9"/>
          <p:cNvSpPr/>
          <p:nvPr/>
        </p:nvSpPr>
        <p:spPr>
          <a:xfrm>
            <a:off x="8156448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0"/>
          <p:cNvSpPr/>
          <p:nvPr/>
        </p:nvSpPr>
        <p:spPr>
          <a:xfrm>
            <a:off x="8284464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0" y="512064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1234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 is the mental shift that unlocks everything: </a:t>
            </a:r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free cell is a node; every legal step to a free neighbour is an edge.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 never build the graph explicitly — it lives implicitly inside the matrix.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" y="2377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4-connectivity: each cell talks to its 4 cardinal neighbours only.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2834640"/>
            <a:ext cx="4846320" cy="960120"/>
          </a:xfrm>
          <a:prstGeom prst="roundRect">
            <a:avLst>
              <a:gd name="adj" fmla="val 5714"/>
            </a:avLst>
          </a:prstGeom>
          <a:solidFill>
            <a:srgbClr val="0B1826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" y="2926080"/>
            <a:ext cx="4517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E8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4 possible moves from any cell (x, y)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directions = [(1,0), (-1,0), (0,1), (0,-1)]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E8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 right  left    down   up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39776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right: the centre node connects to 4 neighbours. The blocked cell (dark) produces no edge — obstacles simply have no node.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035040" y="1554480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12280" y="1554480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589520" y="1554480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35040" y="2331720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812280" y="2331720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589520" y="2331720"/>
            <a:ext cx="777240" cy="777240"/>
          </a:xfrm>
          <a:prstGeom prst="rect">
            <a:avLst/>
          </a:prstGeom>
          <a:solidFill>
            <a:srgbClr val="10243E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035040" y="3108960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812280" y="3108960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589520" y="3108960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23660" y="2720340"/>
            <a:ext cx="77724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341364" y="2638044"/>
            <a:ext cx="164592" cy="164592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31" name="Shape 28"/>
          <p:cNvSpPr/>
          <p:nvPr/>
        </p:nvSpPr>
        <p:spPr>
          <a:xfrm>
            <a:off x="7200900" y="2720340"/>
            <a:ext cx="0" cy="77724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118604" y="3415284"/>
            <a:ext cx="164592" cy="164592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33" name="Shape 30"/>
          <p:cNvSpPr/>
          <p:nvPr/>
        </p:nvSpPr>
        <p:spPr>
          <a:xfrm>
            <a:off x="7200900" y="1943100"/>
            <a:ext cx="0" cy="77724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118604" y="1860804"/>
            <a:ext cx="164592" cy="164592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35" name="Shape 32"/>
          <p:cNvSpPr/>
          <p:nvPr/>
        </p:nvSpPr>
        <p:spPr>
          <a:xfrm>
            <a:off x="7100316" y="2619756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6" name="Text 33"/>
          <p:cNvSpPr/>
          <p:nvPr/>
        </p:nvSpPr>
        <p:spPr>
          <a:xfrm>
            <a:off x="7680960" y="2560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→ no edge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836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54864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Data Structures Every Search Needs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156448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4"/>
          <p:cNvSpPr/>
          <p:nvPr/>
        </p:nvSpPr>
        <p:spPr>
          <a:xfrm>
            <a:off x="8284464" y="256032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0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Shape 6"/>
          <p:cNvSpPr/>
          <p:nvPr/>
        </p:nvSpPr>
        <p:spPr>
          <a:xfrm>
            <a:off x="8156448" y="384048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0" name="Shape 7"/>
          <p:cNvSpPr/>
          <p:nvPr/>
        </p:nvSpPr>
        <p:spPr>
          <a:xfrm>
            <a:off x="8284464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0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Shape 9"/>
          <p:cNvSpPr/>
          <p:nvPr/>
        </p:nvSpPr>
        <p:spPr>
          <a:xfrm>
            <a:off x="8156448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0"/>
          <p:cNvSpPr/>
          <p:nvPr/>
        </p:nvSpPr>
        <p:spPr>
          <a:xfrm>
            <a:off x="8284464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0" y="512064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" y="128016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1F5F9"/>
          </a:solidFill>
          <a:ln/>
        </p:spPr>
      </p:sp>
      <p:sp>
        <p:nvSpPr>
          <p:cNvPr id="16" name="Shape 13"/>
          <p:cNvSpPr/>
          <p:nvPr/>
        </p:nvSpPr>
        <p:spPr>
          <a:xfrm>
            <a:off x="658368" y="1591056"/>
            <a:ext cx="457200" cy="457200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1591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98448" y="138988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set (frontier)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298448" y="1700784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 we have discovered but not yet explored. In A*, this is a priority queue ordered by f-score — the most promising node always pops first.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72200" y="1627632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0B1826"/>
          </a:solidFill>
          <a:ln/>
        </p:spPr>
      </p:sp>
      <p:sp>
        <p:nvSpPr>
          <p:cNvPr id="21" name="Text 18"/>
          <p:cNvSpPr/>
          <p:nvPr/>
        </p:nvSpPr>
        <p:spPr>
          <a:xfrm>
            <a:off x="6336792" y="1719072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open_set = PriorityQueue()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7200" y="2487168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8368" y="2798064"/>
            <a:ext cx="457200" cy="457200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24" name="Text 21"/>
          <p:cNvSpPr/>
          <p:nvPr/>
        </p:nvSpPr>
        <p:spPr>
          <a:xfrm>
            <a:off x="658368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298448" y="259689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Came-from map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298448" y="2907792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node: which node did we arrive from? This chain of parent links is what lets us rebuild the path once the goal is reached.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172200" y="2834640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0B1826"/>
          </a:solidFill>
          <a:ln/>
        </p:spPr>
      </p:sp>
      <p:sp>
        <p:nvSpPr>
          <p:cNvPr id="28" name="Text 25"/>
          <p:cNvSpPr/>
          <p:nvPr/>
        </p:nvSpPr>
        <p:spPr>
          <a:xfrm>
            <a:off x="6336792" y="2926080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came_from[(x, y)] = current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57200" y="3694176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1F5F9"/>
          </a:solidFill>
          <a:ln/>
        </p:spPr>
      </p:sp>
      <p:sp>
        <p:nvSpPr>
          <p:cNvPr id="30" name="Shape 27"/>
          <p:cNvSpPr/>
          <p:nvPr/>
        </p:nvSpPr>
        <p:spPr>
          <a:xfrm>
            <a:off x="658368" y="4005072"/>
            <a:ext cx="457200" cy="457200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31" name="Text 28"/>
          <p:cNvSpPr/>
          <p:nvPr/>
        </p:nvSpPr>
        <p:spPr>
          <a:xfrm>
            <a:off x="658368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298448" y="38039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g-score map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1298448" y="4114800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cheapest cost found so far from start to each node. If we later find a cheaper way in, we update it and re-queue the node.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172200" y="4041648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0B1826"/>
          </a:solidFill>
          <a:ln/>
        </p:spPr>
      </p:sp>
      <p:sp>
        <p:nvSpPr>
          <p:cNvPr id="35" name="Text 32"/>
          <p:cNvSpPr/>
          <p:nvPr/>
        </p:nvSpPr>
        <p:spPr>
          <a:xfrm>
            <a:off x="6336792" y="4133088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g_score[start] = 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836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54864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Algorithm Family Tree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156448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4"/>
          <p:cNvSpPr/>
          <p:nvPr/>
        </p:nvSpPr>
        <p:spPr>
          <a:xfrm>
            <a:off x="8284464" y="256032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0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Shape 6"/>
          <p:cNvSpPr/>
          <p:nvPr/>
        </p:nvSpPr>
        <p:spPr>
          <a:xfrm>
            <a:off x="8156448" y="384048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0" name="Shape 7"/>
          <p:cNvSpPr/>
          <p:nvPr/>
        </p:nvSpPr>
        <p:spPr>
          <a:xfrm>
            <a:off x="8284464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0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Shape 9"/>
          <p:cNvSpPr/>
          <p:nvPr/>
        </p:nvSpPr>
        <p:spPr>
          <a:xfrm>
            <a:off x="8156448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0"/>
          <p:cNvSpPr/>
          <p:nvPr/>
        </p:nvSpPr>
        <p:spPr>
          <a:xfrm>
            <a:off x="8284464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0" y="512064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1188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relatives, one difference: how each one picks the next node to explore.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834640"/>
                <a:gridCol w="155448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Algorithm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Picks next node by…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Optimal?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BFS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First-in-first-out queue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(uniform cost)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— floods equally in all directions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Dijkstra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Lowest actual cost  g(n)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— ignores where the goal is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 Best-First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Lowest estimate  h(n)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Fast, but can pick bad paths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8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A*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Lowest  g(n) + h(n)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— best of both worlds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457200" y="416052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10243E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361688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43000" y="4233672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 is the sweet spot: </a:t>
            </a:r>
            <a:pPr indent="0" marL="0">
              <a:buNone/>
            </a:pPr>
            <a:r>
              <a:rPr lang="en-US" sz="1250" dirty="0">
                <a:solidFill>
                  <a:srgbClr val="D9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AND efficient, because it balances what it knows (cost so far) with what it estimates (cost remaining).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A* Core Formula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f(n) = g(n) + h(n)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16304F"/>
          </a:solidFill>
          <a:ln w="12700">
            <a:solidFill>
              <a:srgbClr val="2340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g(n)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2735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3566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cost of the cheapest path found so far from start → 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9272" y="260604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16304F"/>
          </a:solidFill>
          <a:ln w="12700">
            <a:solidFill>
              <a:srgbClr val="2340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2743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h(n)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19272" y="32735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47872" y="3566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 guess of the remaining cost from n → goal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1344" y="260604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16304F"/>
          </a:solidFill>
          <a:ln w="12700">
            <a:solidFill>
              <a:srgbClr val="2340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2743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f(n)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81344" y="32735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9944" y="3566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total cost of the best path through n — lowest f pops next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priority queue's only job: always hand us the node with the lowest f-score.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836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54864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Heuristic: Manhattan Distance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156448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4"/>
          <p:cNvSpPr/>
          <p:nvPr/>
        </p:nvSpPr>
        <p:spPr>
          <a:xfrm>
            <a:off x="8284464" y="256032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0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Shape 6"/>
          <p:cNvSpPr/>
          <p:nvPr/>
        </p:nvSpPr>
        <p:spPr>
          <a:xfrm>
            <a:off x="8156448" y="384048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0" name="Shape 7"/>
          <p:cNvSpPr/>
          <p:nvPr/>
        </p:nvSpPr>
        <p:spPr>
          <a:xfrm>
            <a:off x="8284464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0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Shape 9"/>
          <p:cNvSpPr/>
          <p:nvPr/>
        </p:nvSpPr>
        <p:spPr>
          <a:xfrm>
            <a:off x="8156448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0"/>
          <p:cNvSpPr/>
          <p:nvPr/>
        </p:nvSpPr>
        <p:spPr>
          <a:xfrm>
            <a:off x="8284464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0" y="512064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" y="123444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0B1826"/>
          </a:solidFill>
          <a:ln/>
        </p:spPr>
      </p:sp>
      <p:sp>
        <p:nvSpPr>
          <p:cNvPr id="16" name="Text 13"/>
          <p:cNvSpPr/>
          <p:nvPr/>
        </p:nvSpPr>
        <p:spPr>
          <a:xfrm>
            <a:off x="621792" y="1325880"/>
            <a:ext cx="4608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heuristic(cell, goal):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abs(cell[0]-goal[0]) + abs(cell[1]-goal[1])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21945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Manhattan?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only horizontal/vertical moves you can never reach the goal in fewer than |Δx| + |Δy| steps. So this estimate </a:t>
            </a:r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overestimates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it is </a:t>
            </a:r>
            <a:pPr indent="0" marL="0">
              <a:buNone/>
            </a:pPr>
            <a:r>
              <a:rPr lang="en-US" sz="1350" b="1" dirty="0">
                <a:solidFill>
                  <a:srgbClr val="0D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admissible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57200" y="320040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FFF7E6"/>
          </a:solidFill>
          <a:ln/>
        </p:spPr>
      </p:sp>
      <p:sp>
        <p:nvSpPr>
          <p:cNvPr id="19" name="Text 16"/>
          <p:cNvSpPr/>
          <p:nvPr/>
        </p:nvSpPr>
        <p:spPr>
          <a:xfrm>
            <a:off x="658368" y="32918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admissibility matters: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h(n) ever overestimates, A* may skip the optimal path because it looks “too expensive.” Admissible h guarantees the shortest path.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623560" y="12801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heuristic that matches the movement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623560" y="1783080"/>
            <a:ext cx="3154680" cy="676656"/>
          </a:xfrm>
          <a:prstGeom prst="roundRect">
            <a:avLst>
              <a:gd name="adj" fmla="val 9459"/>
            </a:avLst>
          </a:prstGeom>
          <a:solidFill>
            <a:srgbClr val="F1F5F9"/>
          </a:solidFill>
          <a:ln/>
        </p:spPr>
      </p:sp>
      <p:sp>
        <p:nvSpPr>
          <p:cNvPr id="22" name="Text 19"/>
          <p:cNvSpPr/>
          <p:nvPr/>
        </p:nvSpPr>
        <p:spPr>
          <a:xfrm>
            <a:off x="5779008" y="185623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Manhattan  </a:t>
            </a:r>
            <a:pPr indent="0" marL="0">
              <a:buNone/>
            </a:pPr>
            <a:r>
              <a:rPr lang="en-US" sz="1000" dirty="0">
                <a:solidFill>
                  <a:srgbClr val="0D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|dx| + |dy|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4-directional grids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623560" y="2560320"/>
            <a:ext cx="3154680" cy="676656"/>
          </a:xfrm>
          <a:prstGeom prst="roundRect">
            <a:avLst>
              <a:gd name="adj" fmla="val 9459"/>
            </a:avLst>
          </a:prstGeom>
          <a:solidFill>
            <a:srgbClr val="F1F5F9"/>
          </a:solidFill>
          <a:ln/>
        </p:spPr>
      </p:sp>
      <p:sp>
        <p:nvSpPr>
          <p:cNvPr id="24" name="Text 21"/>
          <p:cNvSpPr/>
          <p:nvPr/>
        </p:nvSpPr>
        <p:spPr>
          <a:xfrm>
            <a:off x="5779008" y="263347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Euclidean  </a:t>
            </a:r>
            <a:pPr indent="0" marL="0">
              <a:buNone/>
            </a:pPr>
            <a:r>
              <a:rPr lang="en-US" sz="1000" dirty="0">
                <a:solidFill>
                  <a:srgbClr val="0D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√(dx² + dy²)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diagonal movement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623560" y="3337560"/>
            <a:ext cx="3154680" cy="676656"/>
          </a:xfrm>
          <a:prstGeom prst="roundRect">
            <a:avLst>
              <a:gd name="adj" fmla="val 9459"/>
            </a:avLst>
          </a:prstGeom>
          <a:solidFill>
            <a:srgbClr val="F1F5F9"/>
          </a:solidFill>
          <a:ln/>
        </p:spPr>
      </p:sp>
      <p:sp>
        <p:nvSpPr>
          <p:cNvPr id="26" name="Text 23"/>
          <p:cNvSpPr/>
          <p:nvPr/>
        </p:nvSpPr>
        <p:spPr>
          <a:xfrm>
            <a:off x="5779008" y="341071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Chebyshev  </a:t>
            </a:r>
            <a:pPr indent="0" marL="0">
              <a:buNone/>
            </a:pPr>
            <a:r>
              <a:rPr lang="en-US" sz="1000" dirty="0">
                <a:solidFill>
                  <a:srgbClr val="0D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max(|dx|, |dy|)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8-dir, uniform diagonals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623560" y="4114800"/>
            <a:ext cx="3154680" cy="676656"/>
          </a:xfrm>
          <a:prstGeom prst="roundRect">
            <a:avLst>
              <a:gd name="adj" fmla="val 9459"/>
            </a:avLst>
          </a:prstGeom>
          <a:solidFill>
            <a:srgbClr val="F1F5F9"/>
          </a:solidFill>
          <a:ln/>
        </p:spPr>
      </p:sp>
      <p:sp>
        <p:nvSpPr>
          <p:cNvPr id="28" name="Text 25"/>
          <p:cNvSpPr/>
          <p:nvPr/>
        </p:nvSpPr>
        <p:spPr>
          <a:xfrm>
            <a:off x="5779008" y="418795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h(n) = 0  </a:t>
            </a:r>
            <a:pPr indent="0" marL="0">
              <a:buNone/>
            </a:pPr>
            <a:r>
              <a:rPr lang="en-US" sz="1000" dirty="0">
                <a:solidFill>
                  <a:srgbClr val="0D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 everywhere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 becomes Dijkstra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836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54864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 Pseudocode — Learn This Shape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156448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4"/>
          <p:cNvSpPr/>
          <p:nvPr/>
        </p:nvSpPr>
        <p:spPr>
          <a:xfrm>
            <a:off x="8284464" y="256032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0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Shape 6"/>
          <p:cNvSpPr/>
          <p:nvPr/>
        </p:nvSpPr>
        <p:spPr>
          <a:xfrm>
            <a:off x="8156448" y="384048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0" name="Shape 7"/>
          <p:cNvSpPr/>
          <p:nvPr/>
        </p:nvSpPr>
        <p:spPr>
          <a:xfrm>
            <a:off x="8284464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0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Shape 9"/>
          <p:cNvSpPr/>
          <p:nvPr/>
        </p:nvSpPr>
        <p:spPr>
          <a:xfrm>
            <a:off x="8156448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0"/>
          <p:cNvSpPr/>
          <p:nvPr/>
        </p:nvSpPr>
        <p:spPr>
          <a:xfrm>
            <a:off x="8284464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0" y="512064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" y="1234440"/>
            <a:ext cx="5806440" cy="3611880"/>
          </a:xfrm>
          <a:prstGeom prst="roundRect">
            <a:avLst>
              <a:gd name="adj" fmla="val 1519"/>
            </a:avLst>
          </a:prstGeom>
          <a:solidFill>
            <a:srgbClr val="0B1826"/>
          </a:solidFill>
          <a:ln/>
        </p:spPr>
      </p:sp>
      <p:sp>
        <p:nvSpPr>
          <p:cNvPr id="16" name="Text 13"/>
          <p:cNvSpPr/>
          <p:nvPr/>
        </p:nvSpPr>
        <p:spPr>
          <a:xfrm>
            <a:off x="621792" y="1325880"/>
            <a:ext cx="547725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INITIALIZE: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open_set  &lt;- priority queue with (f=0, start)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came_from &lt;- empty dictionary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g_score[all cells] &lt;- infinity ;  g_score[start] &lt;- 0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while open_set is not empty: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current &lt;- pop node with lowest f-score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current == goal:  RETURN reconstruct_path(...)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each neighbor of current: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neighbor is in-bounds AND free (grid value == 1):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tentative_g = g_score[current] + 1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tentative_g &lt; g_score[neighbor]:      # better path?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came_from[neighbor] = current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g_score[neighbor]  = tentative_g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 = tentative_g + heuristic(neighbor, goal)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add (f, neighbor) to open_set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None   # queue exhausted -&gt; no path exists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446520" y="1280160"/>
            <a:ext cx="2286000" cy="786384"/>
          </a:xfrm>
          <a:prstGeom prst="roundRect">
            <a:avLst>
              <a:gd name="adj" fmla="val 8140"/>
            </a:avLst>
          </a:prstGeom>
          <a:solidFill>
            <a:srgbClr val="F1F5F9"/>
          </a:solidFill>
          <a:ln/>
        </p:spPr>
      </p:sp>
      <p:sp>
        <p:nvSpPr>
          <p:cNvPr id="18" name="Text 15"/>
          <p:cNvSpPr/>
          <p:nvPr/>
        </p:nvSpPr>
        <p:spPr>
          <a:xfrm>
            <a:off x="6583680" y="135331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Cheapest promise first — the priority queue guarantees it.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46520" y="2176272"/>
            <a:ext cx="2286000" cy="786384"/>
          </a:xfrm>
          <a:prstGeom prst="roundRect">
            <a:avLst>
              <a:gd name="adj" fmla="val 8140"/>
            </a:avLst>
          </a:prstGeom>
          <a:solidFill>
            <a:srgbClr val="F1F5F9"/>
          </a:solidFill>
          <a:ln/>
        </p:spPr>
      </p:sp>
      <p:sp>
        <p:nvSpPr>
          <p:cNvPr id="20" name="Text 17"/>
          <p:cNvSpPr/>
          <p:nvPr/>
        </p:nvSpPr>
        <p:spPr>
          <a:xfrm>
            <a:off x="6583680" y="224942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Relax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accept a neighbour if we found a cheaper way in.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46520" y="3072384"/>
            <a:ext cx="2286000" cy="786384"/>
          </a:xfrm>
          <a:prstGeom prst="roundRect">
            <a:avLst>
              <a:gd name="adj" fmla="val 8140"/>
            </a:avLst>
          </a:prstGeom>
          <a:solidFill>
            <a:srgbClr val="F1F5F9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0" y="314553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link + new g-score + push with fresh f.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446520" y="3968496"/>
            <a:ext cx="2286000" cy="786384"/>
          </a:xfrm>
          <a:prstGeom prst="roundRect">
            <a:avLst>
              <a:gd name="adj" fmla="val 8140"/>
            </a:avLst>
          </a:prstGeom>
          <a:solidFill>
            <a:srgbClr val="F1F5F9"/>
          </a:solidFill>
          <a:ln/>
        </p:spPr>
      </p:sp>
      <p:sp>
        <p:nvSpPr>
          <p:cNvPr id="24" name="Text 21"/>
          <p:cNvSpPr/>
          <p:nvPr/>
        </p:nvSpPr>
        <p:spPr>
          <a:xfrm>
            <a:off x="6583680" y="404164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loudly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queue means no path — return None, never loop forever.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836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54864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It By Hand: 5 × 5 Example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156448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4"/>
          <p:cNvSpPr/>
          <p:nvPr/>
        </p:nvSpPr>
        <p:spPr>
          <a:xfrm>
            <a:off x="8284464" y="256032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0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Shape 6"/>
          <p:cNvSpPr/>
          <p:nvPr/>
        </p:nvSpPr>
        <p:spPr>
          <a:xfrm>
            <a:off x="8156448" y="384048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0" name="Shape 7"/>
          <p:cNvSpPr/>
          <p:nvPr/>
        </p:nvSpPr>
        <p:spPr>
          <a:xfrm>
            <a:off x="8284464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0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Shape 9"/>
          <p:cNvSpPr/>
          <p:nvPr/>
        </p:nvSpPr>
        <p:spPr>
          <a:xfrm>
            <a:off x="8156448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0"/>
          <p:cNvSpPr/>
          <p:nvPr/>
        </p:nvSpPr>
        <p:spPr>
          <a:xfrm>
            <a:off x="8284464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0" y="512064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5" name="Shape 12"/>
          <p:cNvSpPr/>
          <p:nvPr/>
        </p:nvSpPr>
        <p:spPr>
          <a:xfrm>
            <a:off x="640080" y="1417320"/>
            <a:ext cx="621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261872" y="1417320"/>
            <a:ext cx="621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883664" y="1417320"/>
            <a:ext cx="621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505456" y="1417320"/>
            <a:ext cx="621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127248" y="1417320"/>
            <a:ext cx="621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0080" y="2039112"/>
            <a:ext cx="621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261872" y="2039112"/>
            <a:ext cx="621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83664" y="2039112"/>
            <a:ext cx="621792" cy="621792"/>
          </a:xfrm>
          <a:prstGeom prst="rect">
            <a:avLst/>
          </a:prstGeom>
          <a:solidFill>
            <a:srgbClr val="10243E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05456" y="2039112"/>
            <a:ext cx="621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127248" y="2039112"/>
            <a:ext cx="621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0080" y="2660904"/>
            <a:ext cx="621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261872" y="2660904"/>
            <a:ext cx="621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83664" y="2660904"/>
            <a:ext cx="621792" cy="621792"/>
          </a:xfrm>
          <a:prstGeom prst="rect">
            <a:avLst/>
          </a:prstGeom>
          <a:solidFill>
            <a:srgbClr val="10243E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505456" y="2660904"/>
            <a:ext cx="621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127248" y="2660904"/>
            <a:ext cx="621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080" y="3282696"/>
            <a:ext cx="621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261872" y="3282696"/>
            <a:ext cx="621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883664" y="3282696"/>
            <a:ext cx="621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505456" y="3282696"/>
            <a:ext cx="621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127248" y="3282696"/>
            <a:ext cx="621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40080" y="3904488"/>
            <a:ext cx="621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261872" y="3904488"/>
            <a:ext cx="621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883664" y="3904488"/>
            <a:ext cx="621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505456" y="3904488"/>
            <a:ext cx="621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127248" y="3904488"/>
            <a:ext cx="621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460845" y="1616293"/>
            <a:ext cx="223845" cy="223845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1" name="Shape 38"/>
          <p:cNvSpPr/>
          <p:nvPr/>
        </p:nvSpPr>
        <p:spPr>
          <a:xfrm>
            <a:off x="1460845" y="2238085"/>
            <a:ext cx="223845" cy="223845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2" name="Shape 39"/>
          <p:cNvSpPr/>
          <p:nvPr/>
        </p:nvSpPr>
        <p:spPr>
          <a:xfrm>
            <a:off x="1460845" y="2859877"/>
            <a:ext cx="223845" cy="223845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3" name="Shape 40"/>
          <p:cNvSpPr/>
          <p:nvPr/>
        </p:nvSpPr>
        <p:spPr>
          <a:xfrm>
            <a:off x="1460845" y="3481669"/>
            <a:ext cx="223845" cy="223845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4" name="Shape 41"/>
          <p:cNvSpPr/>
          <p:nvPr/>
        </p:nvSpPr>
        <p:spPr>
          <a:xfrm>
            <a:off x="2082637" y="3481669"/>
            <a:ext cx="223845" cy="223845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5" name="Shape 42"/>
          <p:cNvSpPr/>
          <p:nvPr/>
        </p:nvSpPr>
        <p:spPr>
          <a:xfrm>
            <a:off x="2704429" y="3481669"/>
            <a:ext cx="223845" cy="223845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6" name="Shape 43"/>
          <p:cNvSpPr/>
          <p:nvPr/>
        </p:nvSpPr>
        <p:spPr>
          <a:xfrm>
            <a:off x="3326221" y="3481669"/>
            <a:ext cx="223845" cy="223845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7" name="Shape 44"/>
          <p:cNvSpPr/>
          <p:nvPr/>
        </p:nvSpPr>
        <p:spPr>
          <a:xfrm>
            <a:off x="2704429" y="4103461"/>
            <a:ext cx="223845" cy="223845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8" name="Shape 45"/>
          <p:cNvSpPr/>
          <p:nvPr/>
        </p:nvSpPr>
        <p:spPr>
          <a:xfrm>
            <a:off x="733349" y="1510589"/>
            <a:ext cx="435254" cy="435254"/>
          </a:xfrm>
          <a:prstGeom prst="ellipse">
            <a:avLst/>
          </a:prstGeom>
          <a:solidFill>
            <a:srgbClr val="22A06B"/>
          </a:solidFill>
          <a:ln/>
        </p:spPr>
      </p:sp>
      <p:sp>
        <p:nvSpPr>
          <p:cNvPr id="49" name="Text 46"/>
          <p:cNvSpPr/>
          <p:nvPr/>
        </p:nvSpPr>
        <p:spPr>
          <a:xfrm>
            <a:off x="640080" y="14173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768" dirty="0"/>
          </a:p>
        </p:txBody>
      </p:sp>
      <p:sp>
        <p:nvSpPr>
          <p:cNvPr id="50" name="Shape 47"/>
          <p:cNvSpPr/>
          <p:nvPr/>
        </p:nvSpPr>
        <p:spPr>
          <a:xfrm>
            <a:off x="3220517" y="3997757"/>
            <a:ext cx="435254" cy="43525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1" name="Text 48"/>
          <p:cNvSpPr/>
          <p:nvPr/>
        </p:nvSpPr>
        <p:spPr>
          <a:xfrm>
            <a:off x="3127248" y="39044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768" dirty="0"/>
          </a:p>
        </p:txBody>
      </p:sp>
      <p:sp>
        <p:nvSpPr>
          <p:cNvPr id="52" name="Text 49"/>
          <p:cNvSpPr/>
          <p:nvPr/>
        </p:nvSpPr>
        <p:spPr>
          <a:xfrm>
            <a:off x="502920" y="4617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S=(0,0)  G=(4,4)  dark = obstacle wall in column 2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4206240" y="1371600"/>
            <a:ext cx="4572000" cy="804672"/>
          </a:xfrm>
          <a:prstGeom prst="roundRect">
            <a:avLst>
              <a:gd name="adj" fmla="val 7955"/>
            </a:avLst>
          </a:prstGeom>
          <a:solidFill>
            <a:srgbClr val="F1F5F9"/>
          </a:solidFill>
          <a:ln/>
        </p:spPr>
      </p:sp>
      <p:sp>
        <p:nvSpPr>
          <p:cNvPr id="54" name="Text 51"/>
          <p:cNvSpPr/>
          <p:nvPr/>
        </p:nvSpPr>
        <p:spPr>
          <a:xfrm>
            <a:off x="4370832" y="1444752"/>
            <a:ext cx="4251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at S(0,0) with g=0. Discover neighbours (1,0) and (0,1); both get g=1.</a:t>
            </a:r>
            <a:endParaRPr lang="en-US" sz="1150" dirty="0"/>
          </a:p>
        </p:txBody>
      </p:sp>
      <p:sp>
        <p:nvSpPr>
          <p:cNvPr id="55" name="Shape 52"/>
          <p:cNvSpPr/>
          <p:nvPr/>
        </p:nvSpPr>
        <p:spPr>
          <a:xfrm>
            <a:off x="4206240" y="2286000"/>
            <a:ext cx="4572000" cy="804672"/>
          </a:xfrm>
          <a:prstGeom prst="roundRect">
            <a:avLst>
              <a:gd name="adj" fmla="val 7955"/>
            </a:avLst>
          </a:prstGeom>
          <a:solidFill>
            <a:srgbClr val="F1F5F9"/>
          </a:solidFill>
          <a:ln/>
        </p:spPr>
      </p:sp>
      <p:sp>
        <p:nvSpPr>
          <p:cNvPr id="56" name="Text 53"/>
          <p:cNvSpPr/>
          <p:nvPr/>
        </p:nvSpPr>
        <p:spPr>
          <a:xfrm>
            <a:off x="4370832" y="2359152"/>
            <a:ext cx="4251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f(1,0) = 1 + |1−4| + |0−4| = 8.  f(0,1) is also 8. Tie — pick either.</a:t>
            </a:r>
            <a:endParaRPr lang="en-US" sz="1150" dirty="0"/>
          </a:p>
        </p:txBody>
      </p:sp>
      <p:sp>
        <p:nvSpPr>
          <p:cNvPr id="57" name="Shape 54"/>
          <p:cNvSpPr/>
          <p:nvPr/>
        </p:nvSpPr>
        <p:spPr>
          <a:xfrm>
            <a:off x="4206240" y="3200400"/>
            <a:ext cx="4572000" cy="804672"/>
          </a:xfrm>
          <a:prstGeom prst="roundRect">
            <a:avLst>
              <a:gd name="adj" fmla="val 7955"/>
            </a:avLst>
          </a:prstGeom>
          <a:solidFill>
            <a:srgbClr val="F1F5F9"/>
          </a:solidFill>
          <a:ln/>
        </p:spPr>
      </p:sp>
      <p:sp>
        <p:nvSpPr>
          <p:cNvPr id="58" name="Text 55"/>
          <p:cNvSpPr/>
          <p:nvPr/>
        </p:nvSpPr>
        <p:spPr>
          <a:xfrm>
            <a:off x="4370832" y="3273552"/>
            <a:ext cx="4251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3+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popping the lowest-f node. The wall in column 2 forces the search around it; far-away nodes collect high f-scores and simply wait in the queue.</a:t>
            </a:r>
            <a:endParaRPr lang="en-US" sz="1150" dirty="0"/>
          </a:p>
        </p:txBody>
      </p:sp>
      <p:sp>
        <p:nvSpPr>
          <p:cNvPr id="59" name="Shape 56"/>
          <p:cNvSpPr/>
          <p:nvPr/>
        </p:nvSpPr>
        <p:spPr>
          <a:xfrm>
            <a:off x="4206240" y="4160520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10243E"/>
          </a:solidFill>
          <a:ln/>
        </p:spPr>
      </p:sp>
      <p:sp>
        <p:nvSpPr>
          <p:cNvPr id="60" name="Text 57"/>
          <p:cNvSpPr/>
          <p:nvPr/>
        </p:nvSpPr>
        <p:spPr>
          <a:xfrm>
            <a:off x="4389120" y="4233672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</a:t>
            </a:r>
            <a:pPr indent="0" marL="0">
              <a:buNone/>
            </a:pPr>
            <a:r>
              <a:rPr lang="en-US" sz="1150" dirty="0">
                <a:solidFill>
                  <a:srgbClr val="D9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heuristic is a compass — nodes pointing away from the goal get higher f and are deprioritised.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836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54864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A* (Python)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156448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4"/>
          <p:cNvSpPr/>
          <p:nvPr/>
        </p:nvSpPr>
        <p:spPr>
          <a:xfrm>
            <a:off x="8284464" y="256032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0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Shape 6"/>
          <p:cNvSpPr/>
          <p:nvPr/>
        </p:nvSpPr>
        <p:spPr>
          <a:xfrm>
            <a:off x="8156448" y="384048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0" name="Shape 7"/>
          <p:cNvSpPr/>
          <p:nvPr/>
        </p:nvSpPr>
        <p:spPr>
          <a:xfrm>
            <a:off x="8284464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0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Shape 9"/>
          <p:cNvSpPr/>
          <p:nvPr/>
        </p:nvSpPr>
        <p:spPr>
          <a:xfrm>
            <a:off x="8156448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0"/>
          <p:cNvSpPr/>
          <p:nvPr/>
        </p:nvSpPr>
        <p:spPr>
          <a:xfrm>
            <a:off x="8284464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0" y="512064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" y="1234440"/>
            <a:ext cx="4160520" cy="3611880"/>
          </a:xfrm>
          <a:prstGeom prst="roundRect">
            <a:avLst>
              <a:gd name="adj" fmla="val 1519"/>
            </a:avLst>
          </a:prstGeom>
          <a:solidFill>
            <a:srgbClr val="0B1826"/>
          </a:solidFill>
          <a:ln/>
        </p:spPr>
      </p:sp>
      <p:sp>
        <p:nvSpPr>
          <p:cNvPr id="16" name="Text 13"/>
          <p:cNvSpPr/>
          <p:nvPr/>
        </p:nvSpPr>
        <p:spPr>
          <a:xfrm>
            <a:off x="621792" y="1325880"/>
            <a:ext cx="383133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queue import PriorityQueue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a_star_search(occupancy_grid, start, goal):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heuristic(cell, goal):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abs(cell[0]-goal[0]) + abs(cell[1]-goal[1])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open_set = PriorityQueue()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open_set.put((0, start))                 # (f-score, node)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came_from = {}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g_score = {c: float('inf')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for c in np.ndindex(occupancy_grid.shape)}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g_score[start] = 0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not open_set.empty():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_, current = open_set.get()          # lowest f pops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current == goal: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reconstruct_path(came_from, current)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754880" y="1234440"/>
            <a:ext cx="4023360" cy="3611880"/>
          </a:xfrm>
          <a:prstGeom prst="roundRect">
            <a:avLst>
              <a:gd name="adj" fmla="val 1519"/>
            </a:avLst>
          </a:prstGeom>
          <a:solidFill>
            <a:srgbClr val="0B1826"/>
          </a:solidFill>
          <a:ln/>
        </p:spPr>
      </p:sp>
      <p:sp>
        <p:nvSpPr>
          <p:cNvPr id="18" name="Text 15"/>
          <p:cNvSpPr/>
          <p:nvPr/>
        </p:nvSpPr>
        <p:spPr>
          <a:xfrm>
            <a:off x="4919472" y="1325880"/>
            <a:ext cx="369417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dx, dy in [(1,0),(-1,0),(0,1),(0,-1)]: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x, y = current[0]+dx, current[1]+dy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6E8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bounds check AND obstacle check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(0 &lt;= x &lt; occupancy_grid.shape[1] and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0 &lt;= y &lt; occupancy_grid.shape[0] and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occupancy_grid[y, x] == 1):   # free?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tentative_g = g_score[current] + 1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tentative_g &lt; g_score[(x, y)]: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came_from[(x, y)] = current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g_score[(x, y)]  = tentative_g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f = tentative_g + heuristic((x,y), goal)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open_set.put((f, (x, y)))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None    # no path exists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left column first, then right — it is one function.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836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669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Coordinate Convention — The #1 Bug Source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single mix-up causes more failed submissions at RAIN than everything else combined: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874520"/>
            <a:ext cx="4023360" cy="1554480"/>
          </a:xfrm>
          <a:prstGeom prst="roundRect">
            <a:avLst>
              <a:gd name="adj" fmla="val 5294"/>
            </a:avLst>
          </a:prstGeom>
          <a:solidFill>
            <a:srgbClr val="16304F"/>
          </a:solidFill>
          <a:ln w="12700">
            <a:solidFill>
              <a:srgbClr val="2340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2011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Cells are stored as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2286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(x, y)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8580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column,  y = row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63440" y="1874520"/>
            <a:ext cx="4023360" cy="1554480"/>
          </a:xfrm>
          <a:prstGeom prst="roundRect">
            <a:avLst>
              <a:gd name="adj" fmla="val 5294"/>
            </a:avLst>
          </a:prstGeom>
          <a:solidFill>
            <a:srgbClr val="16304F"/>
          </a:solidFill>
          <a:ln w="12700">
            <a:solidFill>
              <a:srgbClr val="2340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92040" y="2011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 indexes as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92040" y="2286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array[y, x]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89204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first — y before x!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361188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0A1830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37033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B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Free-cell check</a:t>
            </a:r>
            <a:endParaRPr lang="en-US" sz="105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occupancy_grid[y, x] == 1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C6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comes first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319272" y="361188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0A1830"/>
          </a:solidFill>
          <a:ln/>
        </p:spPr>
      </p:sp>
      <p:sp>
        <p:nvSpPr>
          <p:cNvPr id="18" name="Text 15"/>
          <p:cNvSpPr/>
          <p:nvPr/>
        </p:nvSpPr>
        <p:spPr>
          <a:xfrm>
            <a:off x="3502152" y="37033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B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Bounds: columns</a:t>
            </a:r>
            <a:endParaRPr lang="en-US" sz="105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 grid.shape[1]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C6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shape[1] = number of columns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181344" y="361188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0A1830"/>
          </a:solidFill>
          <a:ln/>
        </p:spPr>
      </p:sp>
      <p:sp>
        <p:nvSpPr>
          <p:cNvPr id="20" name="Text 17"/>
          <p:cNvSpPr/>
          <p:nvPr/>
        </p:nvSpPr>
        <p:spPr>
          <a:xfrm>
            <a:off x="6364224" y="37033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B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Bounds: rows</a:t>
            </a:r>
            <a:endParaRPr lang="en-US" sz="105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&lt; grid.shape[0]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C6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shape[0] = number of rows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your path goes through walls — this is almost certainly the bug.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836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54864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Reconstruction: Walking Home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156448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4"/>
          <p:cNvSpPr/>
          <p:nvPr/>
        </p:nvSpPr>
        <p:spPr>
          <a:xfrm>
            <a:off x="8284464" y="256032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0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Shape 6"/>
          <p:cNvSpPr/>
          <p:nvPr/>
        </p:nvSpPr>
        <p:spPr>
          <a:xfrm>
            <a:off x="8156448" y="384048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0" name="Shape 7"/>
          <p:cNvSpPr/>
          <p:nvPr/>
        </p:nvSpPr>
        <p:spPr>
          <a:xfrm>
            <a:off x="8284464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0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Shape 9"/>
          <p:cNvSpPr/>
          <p:nvPr/>
        </p:nvSpPr>
        <p:spPr>
          <a:xfrm>
            <a:off x="8156448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0"/>
          <p:cNvSpPr/>
          <p:nvPr/>
        </p:nvSpPr>
        <p:spPr>
          <a:xfrm>
            <a:off x="8284464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0" y="512064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improvement A* finds records a parent link: </a:t>
            </a:r>
            <a:pPr indent="0" marL="0">
              <a:buNone/>
            </a:pPr>
            <a:r>
              <a:rPr lang="en-US" sz="1200" b="1" dirty="0">
                <a:solidFill>
                  <a:srgbClr val="0D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came_from[(x,y)] = current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result is a chain: goal → parent → grandparent → … → start. To get the path, walk the chain backwards.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7200" y="2148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version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57200" y="2468880"/>
            <a:ext cx="4114800" cy="1737360"/>
          </a:xfrm>
          <a:prstGeom prst="roundRect">
            <a:avLst>
              <a:gd name="adj" fmla="val 3158"/>
            </a:avLst>
          </a:prstGeom>
          <a:solidFill>
            <a:srgbClr val="0B1826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" y="2560320"/>
            <a:ext cx="37856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reconstruct_path(came_from, current):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 = [current]        # start at goal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current in came_from: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current = came_from[current]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path.insert(0, current)  # prepend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path   # [start, ..., goal]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800600" y="21488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version (large maps)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800600" y="2468880"/>
            <a:ext cx="3977640" cy="1737360"/>
          </a:xfrm>
          <a:prstGeom prst="roundRect">
            <a:avLst>
              <a:gd name="adj" fmla="val 3158"/>
            </a:avLst>
          </a:prstGeom>
          <a:solidFill>
            <a:srgbClr val="0B1826"/>
          </a:solidFill>
          <a:ln/>
        </p:spPr>
      </p:sp>
      <p:sp>
        <p:nvSpPr>
          <p:cNvPr id="21" name="Text 18"/>
          <p:cNvSpPr/>
          <p:nvPr/>
        </p:nvSpPr>
        <p:spPr>
          <a:xfrm>
            <a:off x="4965192" y="2560320"/>
            <a:ext cx="36484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reconstruct_path(came_from, current):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 = [current]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current in came_from: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current = came_from[current]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path.append(current)  # O(1)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path.reverse()  # one O(n) pass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path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7200" y="4343400"/>
            <a:ext cx="8321040" cy="566928"/>
          </a:xfrm>
          <a:prstGeom prst="roundRect">
            <a:avLst>
              <a:gd name="adj" fmla="val 12903"/>
            </a:avLst>
          </a:prstGeom>
          <a:solidFill>
            <a:srgbClr val="FFF7E6"/>
          </a:solidFill>
          <a:ln/>
        </p:spPr>
      </p:sp>
      <p:sp>
        <p:nvSpPr>
          <p:cNvPr id="23" name="Text 20"/>
          <p:cNvSpPr/>
          <p:nvPr/>
        </p:nvSpPr>
        <p:spPr>
          <a:xfrm>
            <a:off x="658368" y="43891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note: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path.insert(0, x) is O(n) per call → O(n²) total. append + one reverse is O(n). On a 400×400 map, that difference is real.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836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54864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Seeing Your Work: Matplotlib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156448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4"/>
          <p:cNvSpPr/>
          <p:nvPr/>
        </p:nvSpPr>
        <p:spPr>
          <a:xfrm>
            <a:off x="8284464" y="256032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0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Shape 6"/>
          <p:cNvSpPr/>
          <p:nvPr/>
        </p:nvSpPr>
        <p:spPr>
          <a:xfrm>
            <a:off x="8156448" y="384048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0" name="Shape 7"/>
          <p:cNvSpPr/>
          <p:nvPr/>
        </p:nvSpPr>
        <p:spPr>
          <a:xfrm>
            <a:off x="8284464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0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Shape 9"/>
          <p:cNvSpPr/>
          <p:nvPr/>
        </p:nvSpPr>
        <p:spPr>
          <a:xfrm>
            <a:off x="8156448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0"/>
          <p:cNvSpPr/>
          <p:nvPr/>
        </p:nvSpPr>
        <p:spPr>
          <a:xfrm>
            <a:off x="8284464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0" y="512064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" y="1234440"/>
            <a:ext cx="5212080" cy="3566160"/>
          </a:xfrm>
          <a:prstGeom prst="roundRect">
            <a:avLst>
              <a:gd name="adj" fmla="val 1538"/>
            </a:avLst>
          </a:prstGeom>
          <a:solidFill>
            <a:srgbClr val="0B1826"/>
          </a:solidFill>
          <a:ln/>
        </p:spPr>
      </p:sp>
      <p:sp>
        <p:nvSpPr>
          <p:cNvPr id="16" name="Text 13"/>
          <p:cNvSpPr/>
          <p:nvPr/>
        </p:nvSpPr>
        <p:spPr>
          <a:xfrm>
            <a:off x="621792" y="1325880"/>
            <a:ext cx="488289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plt.imshow(occupancy_grid, cmap='gray', origin='lower')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plt.colorbar(); plt.grid(True)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6E8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Green = Start, Red = Goal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plt.plot(start[0], start[1], 'go', label='Start')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plt.plot(goal[0],  goal[1],  'ro', label='Goal')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6E8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Blue = Path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plt.plot([c[0] for c in path],   # x-coordinates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[c[1] for c in path],   # y-coordinates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marker='o', markersize=4,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color='blue', label='Path')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plt.legend(); plt.title("A* Path on Occupancy Grid")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852160" y="1280160"/>
            <a:ext cx="2926080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/>
        </p:spPr>
      </p:sp>
      <p:sp>
        <p:nvSpPr>
          <p:cNvPr id="18" name="Text 15"/>
          <p:cNvSpPr/>
          <p:nvPr/>
        </p:nvSpPr>
        <p:spPr>
          <a:xfrm>
            <a:off x="6016752" y="141732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origin='lower' is crucial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it, row 0 appears at the top (image convention), not the bottom (maths convention). We want y increasing upward.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852160" y="3108960"/>
            <a:ext cx="2926080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/>
        </p:spPr>
      </p:sp>
      <p:sp>
        <p:nvSpPr>
          <p:cNvPr id="20" name="Text 17"/>
          <p:cNvSpPr/>
          <p:nvPr/>
        </p:nvSpPr>
        <p:spPr>
          <a:xfrm>
            <a:off x="6016752" y="324612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coordinates align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path stores (x, y) tuples and plt.plot takes (x_list, y_list) — so the lists line up naturally with no swapping.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836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54864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It Fast: Two Upgrades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156448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4"/>
          <p:cNvSpPr/>
          <p:nvPr/>
        </p:nvSpPr>
        <p:spPr>
          <a:xfrm>
            <a:off x="8284464" y="256032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0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Shape 6"/>
          <p:cNvSpPr/>
          <p:nvPr/>
        </p:nvSpPr>
        <p:spPr>
          <a:xfrm>
            <a:off x="8156448" y="384048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0" name="Shape 7"/>
          <p:cNvSpPr/>
          <p:nvPr/>
        </p:nvSpPr>
        <p:spPr>
          <a:xfrm>
            <a:off x="8284464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0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Shape 9"/>
          <p:cNvSpPr/>
          <p:nvPr/>
        </p:nvSpPr>
        <p:spPr>
          <a:xfrm>
            <a:off x="8156448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0"/>
          <p:cNvSpPr/>
          <p:nvPr/>
        </p:nvSpPr>
        <p:spPr>
          <a:xfrm>
            <a:off x="8284464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0" y="512064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123444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1 — Stop pre-allocating g_score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153619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dict comprehension creates 160,000 entries for a 400×400 grid before search even begins.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2148840"/>
            <a:ext cx="4160520" cy="1417320"/>
          </a:xfrm>
          <a:prstGeom prst="roundRect">
            <a:avLst>
              <a:gd name="adj" fmla="val 3871"/>
            </a:avLst>
          </a:prstGeom>
          <a:solidFill>
            <a:srgbClr val="0B1826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" y="2240280"/>
            <a:ext cx="38313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collections import defaultdict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g_score = defaultdict(lambda: float('inf'))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g_score[start] = 0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6E8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entries created only when accessed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892040" y="12344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2 — Add a closed set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892040" y="153619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tracking visited nodes, the same node can be popped and expanded multiple times.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92040" y="2148840"/>
            <a:ext cx="3886200" cy="1920240"/>
          </a:xfrm>
          <a:prstGeom prst="roundRect">
            <a:avLst>
              <a:gd name="adj" fmla="val 2857"/>
            </a:avLst>
          </a:prstGeom>
          <a:solidFill>
            <a:srgbClr val="0B1826"/>
          </a:solidFill>
          <a:ln/>
        </p:spPr>
      </p:sp>
      <p:sp>
        <p:nvSpPr>
          <p:cNvPr id="22" name="Text 19"/>
          <p:cNvSpPr/>
          <p:nvPr/>
        </p:nvSpPr>
        <p:spPr>
          <a:xfrm>
            <a:off x="5056632" y="2240280"/>
            <a:ext cx="35570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closed_set = set()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not open_set.empty():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_, current = open_set.get()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current in closed_set: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   # already explored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closed_set.add(current)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6E8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... rest of loop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57200" y="4251960"/>
            <a:ext cx="4160520" cy="685800"/>
          </a:xfrm>
          <a:prstGeom prst="roundRect">
            <a:avLst>
              <a:gd name="adj" fmla="val 10667"/>
            </a:avLst>
          </a:prstGeom>
          <a:solidFill>
            <a:srgbClr val="10243E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43159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thumb: </a:t>
            </a:r>
            <a:pPr indent="0" marL="0">
              <a:buNone/>
            </a:pPr>
            <a:r>
              <a:rPr lang="en-US" sz="1100" dirty="0">
                <a:solidFill>
                  <a:srgbClr val="D9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first. Run both versions on a 400×400 map and time them.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836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54864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Extension: Diagonal Movement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156448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4"/>
          <p:cNvSpPr/>
          <p:nvPr/>
        </p:nvSpPr>
        <p:spPr>
          <a:xfrm>
            <a:off x="8284464" y="256032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0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Shape 6"/>
          <p:cNvSpPr/>
          <p:nvPr/>
        </p:nvSpPr>
        <p:spPr>
          <a:xfrm>
            <a:off x="8156448" y="384048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0" name="Shape 7"/>
          <p:cNvSpPr/>
          <p:nvPr/>
        </p:nvSpPr>
        <p:spPr>
          <a:xfrm>
            <a:off x="8284464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0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Shape 9"/>
          <p:cNvSpPr/>
          <p:nvPr/>
        </p:nvSpPr>
        <p:spPr>
          <a:xfrm>
            <a:off x="8156448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0"/>
          <p:cNvSpPr/>
          <p:nvPr/>
        </p:nvSpPr>
        <p:spPr>
          <a:xfrm>
            <a:off x="8284464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0" y="512064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" y="1280160"/>
            <a:ext cx="5029200" cy="2377440"/>
          </a:xfrm>
          <a:prstGeom prst="roundRect">
            <a:avLst>
              <a:gd name="adj" fmla="val 2308"/>
            </a:avLst>
          </a:prstGeom>
          <a:solidFill>
            <a:srgbClr val="0B1826"/>
          </a:solidFill>
          <a:ln/>
        </p:spPr>
      </p:sp>
      <p:sp>
        <p:nvSpPr>
          <p:cNvPr id="16" name="Text 13"/>
          <p:cNvSpPr/>
          <p:nvPr/>
        </p:nvSpPr>
        <p:spPr>
          <a:xfrm>
            <a:off x="621792" y="1371600"/>
            <a:ext cx="470001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directions = [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(1,0), (-1,0), (0,1), (0,-1),    # cardinal: cost 1.0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(1,1), (1,-1), (-1,1), (-1,-1)   # diagonal: cost √2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dx, dy in directions: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step_cost   = math.sqrt(dx**2 + dy**2)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tentative_g = g_score[current] + step_cost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388620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FF7E6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977640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 must change too: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diagonals, Manhattan overestimates and breaks admissibility. Switch to Euclidean or Chebyshev.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263640" y="1737360"/>
            <a:ext cx="7132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976872" y="1737360"/>
            <a:ext cx="7132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690104" y="1737360"/>
            <a:ext cx="7132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63640" y="2450592"/>
            <a:ext cx="7132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976872" y="2450592"/>
            <a:ext cx="7132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690104" y="2450592"/>
            <a:ext cx="7132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63640" y="3163824"/>
            <a:ext cx="7132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976872" y="3163824"/>
            <a:ext cx="7132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690104" y="3163824"/>
            <a:ext cx="7132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4D0D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333488" y="2807208"/>
            <a:ext cx="713232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620256" y="2807208"/>
            <a:ext cx="713232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333488" y="2807208"/>
            <a:ext cx="0" cy="713232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333488" y="2093976"/>
            <a:ext cx="0" cy="713232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333488" y="2807208"/>
            <a:ext cx="713232" cy="713232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620256" y="2093976"/>
            <a:ext cx="713232" cy="713232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 flipV="1">
            <a:off x="7333488" y="2093976"/>
            <a:ext cx="713232" cy="713232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 flipV="1">
            <a:off x="6620256" y="2807208"/>
            <a:ext cx="713232" cy="713232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232904" y="2706624"/>
            <a:ext cx="201168" cy="201168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37" name="Text 34"/>
          <p:cNvSpPr/>
          <p:nvPr/>
        </p:nvSpPr>
        <p:spPr>
          <a:xfrm>
            <a:off x="5806440" y="40233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 = cost 1.0   </a:t>
            </a:r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= cost ≈1.414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836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54864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Ladder — Climb During the Week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156448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4"/>
          <p:cNvSpPr/>
          <p:nvPr/>
        </p:nvSpPr>
        <p:spPr>
          <a:xfrm>
            <a:off x="8284464" y="256032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0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Shape 6"/>
          <p:cNvSpPr/>
          <p:nvPr/>
        </p:nvSpPr>
        <p:spPr>
          <a:xfrm>
            <a:off x="8156448" y="384048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0" name="Shape 7"/>
          <p:cNvSpPr/>
          <p:nvPr/>
        </p:nvSpPr>
        <p:spPr>
          <a:xfrm>
            <a:off x="8284464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0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Shape 9"/>
          <p:cNvSpPr/>
          <p:nvPr/>
        </p:nvSpPr>
        <p:spPr>
          <a:xfrm>
            <a:off x="8156448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0"/>
          <p:cNvSpPr/>
          <p:nvPr/>
        </p:nvSpPr>
        <p:spPr>
          <a:xfrm>
            <a:off x="8284464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0" y="512064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" y="1234440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1F5F9"/>
          </a:solidFill>
          <a:ln/>
        </p:spPr>
      </p:sp>
      <p:sp>
        <p:nvSpPr>
          <p:cNvPr id="16" name="Shape 13"/>
          <p:cNvSpPr/>
          <p:nvPr/>
        </p:nvSpPr>
        <p:spPr>
          <a:xfrm>
            <a:off x="621792" y="1380744"/>
            <a:ext cx="365760" cy="365760"/>
          </a:xfrm>
          <a:prstGeom prst="ellipse">
            <a:avLst/>
          </a:prstGeom>
          <a:solidFill>
            <a:srgbClr val="22A06B"/>
          </a:solidFill>
          <a:ln/>
        </p:spPr>
      </p:sp>
      <p:sp>
        <p:nvSpPr>
          <p:cNvPr id="17" name="Text 14"/>
          <p:cNvSpPr/>
          <p:nvPr/>
        </p:nvSpPr>
        <p:spPr>
          <a:xfrm>
            <a:off x="621792" y="1380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43000" y="128930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grid   </a:t>
            </a:r>
            <a:pPr indent="0" marL="0">
              <a:buNone/>
            </a:pPr>
            <a:r>
              <a:rPr lang="en-US" sz="850" b="1" spc="150" kern="0" dirty="0">
                <a:solidFill>
                  <a:srgbClr val="22A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43000" y="1545336"/>
            <a:ext cx="7360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10×10 grid of ones; add walls with grid[3, 2:8] = 0 and grid[6, 2:8] = 0. Run A* from (1,1) to (8,8) and plot the result.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457200" y="1984248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1792" y="2130552"/>
            <a:ext cx="365760" cy="365760"/>
          </a:xfrm>
          <a:prstGeom prst="ellipse">
            <a:avLst/>
          </a:prstGeom>
          <a:solidFill>
            <a:srgbClr val="0D8478"/>
          </a:solidFill>
          <a:ln/>
        </p:spPr>
      </p:sp>
      <p:sp>
        <p:nvSpPr>
          <p:cNvPr id="22" name="Text 19"/>
          <p:cNvSpPr/>
          <p:nvPr/>
        </p:nvSpPr>
        <p:spPr>
          <a:xfrm>
            <a:off x="621792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143000" y="203911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BFS vs A*   </a:t>
            </a:r>
            <a:pPr indent="0" marL="0">
              <a:buNone/>
            </a:pPr>
            <a:r>
              <a:rPr lang="en-US" sz="850" b="1" spc="150" kern="0" dirty="0">
                <a:solidFill>
                  <a:srgbClr val="0D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43000" y="2295144"/>
            <a:ext cx="7360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both. Count nodes expanded by each; shade explored regions light blue. A* should visit far fewer nodes — prove it with numbers.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457200" y="2734056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1F5F9"/>
          </a:solidFill>
          <a:ln/>
        </p:spPr>
      </p:sp>
      <p:sp>
        <p:nvSpPr>
          <p:cNvPr id="26" name="Shape 23"/>
          <p:cNvSpPr/>
          <p:nvPr/>
        </p:nvSpPr>
        <p:spPr>
          <a:xfrm>
            <a:off x="621792" y="2880360"/>
            <a:ext cx="365760" cy="365760"/>
          </a:xfrm>
          <a:prstGeom prst="ellipse">
            <a:avLst/>
          </a:prstGeom>
          <a:solidFill>
            <a:srgbClr val="0D8478"/>
          </a:solidFill>
          <a:ln/>
        </p:spPr>
      </p:sp>
      <p:sp>
        <p:nvSpPr>
          <p:cNvPr id="27" name="Text 24"/>
          <p:cNvSpPr/>
          <p:nvPr/>
        </p:nvSpPr>
        <p:spPr>
          <a:xfrm>
            <a:off x="621792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143000" y="278892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Diagonal A*   </a:t>
            </a:r>
            <a:pPr indent="0" marL="0">
              <a:buNone/>
            </a:pPr>
            <a:r>
              <a:rPr lang="en-US" sz="850" b="1" spc="150" kern="0" dirty="0">
                <a:solidFill>
                  <a:srgbClr val="0D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143000" y="3044952"/>
            <a:ext cx="7360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8-directional movement with √2 diagonal cost and a Euclidean heuristic. Compare path length and shape against 4-directional.</a:t>
            </a:r>
            <a:endParaRPr lang="en-US" sz="980" dirty="0"/>
          </a:p>
        </p:txBody>
      </p:sp>
      <p:sp>
        <p:nvSpPr>
          <p:cNvPr id="30" name="Shape 27"/>
          <p:cNvSpPr/>
          <p:nvPr/>
        </p:nvSpPr>
        <p:spPr>
          <a:xfrm>
            <a:off x="457200" y="3483864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21792" y="3630168"/>
            <a:ext cx="365760" cy="36576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2" name="Text 29"/>
          <p:cNvSpPr/>
          <p:nvPr/>
        </p:nvSpPr>
        <p:spPr>
          <a:xfrm>
            <a:off x="621792" y="363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143000" y="353872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re-planning   </a:t>
            </a:r>
            <a:pPr indent="0" marL="0">
              <a:buNone/>
            </a:pPr>
            <a:r>
              <a:rPr lang="en-US" sz="850" b="1" spc="15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143000" y="3794760"/>
            <a:ext cx="7360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 path, then programmatically drop an obstacle onto it. Re-run A*. Plot old path (dashed red) and new path (solid blue) together.</a:t>
            </a:r>
            <a:endParaRPr lang="en-US" sz="980" dirty="0"/>
          </a:p>
        </p:txBody>
      </p:sp>
      <p:sp>
        <p:nvSpPr>
          <p:cNvPr id="35" name="Shape 32"/>
          <p:cNvSpPr/>
          <p:nvPr/>
        </p:nvSpPr>
        <p:spPr>
          <a:xfrm>
            <a:off x="457200" y="4233672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1F5F9"/>
          </a:solidFill>
          <a:ln/>
        </p:spPr>
      </p:sp>
      <p:sp>
        <p:nvSpPr>
          <p:cNvPr id="36" name="Shape 33"/>
          <p:cNvSpPr/>
          <p:nvPr/>
        </p:nvSpPr>
        <p:spPr>
          <a:xfrm>
            <a:off x="621792" y="4379976"/>
            <a:ext cx="365760" cy="36576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7" name="Text 34"/>
          <p:cNvSpPr/>
          <p:nvPr/>
        </p:nvSpPr>
        <p:spPr>
          <a:xfrm>
            <a:off x="621792" y="4379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1143000" y="428853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Obstacle inflation   </a:t>
            </a:r>
            <a:pPr indent="0" marL="0">
              <a:buNone/>
            </a:pPr>
            <a:r>
              <a:rPr lang="en-US" sz="850" b="1" spc="15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143000" y="4544568"/>
            <a:ext cx="7360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robots have width. Use scipy.ndimage.binary_dilation (iterations=5) to inflate obstacles by a safety margin before planning.</a:t>
            </a:r>
            <a:endParaRPr lang="en-US" sz="980" dirty="0"/>
          </a:p>
        </p:txBody>
      </p:sp>
      <p:sp>
        <p:nvSpPr>
          <p:cNvPr id="40" name="Text 37"/>
          <p:cNvSpPr/>
          <p:nvPr/>
        </p:nvSpPr>
        <p:spPr>
          <a:xfrm>
            <a:off x="457200" y="4864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Exercises 1–3 are due before Friday's lab. 4–5 earn bonus marks.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836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669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Weekend Practical A — Simulation Mission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298448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2984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OR PAIRS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148840" y="1298448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9" name="Text 6"/>
          <p:cNvSpPr/>
          <p:nvPr/>
        </p:nvSpPr>
        <p:spPr>
          <a:xfrm>
            <a:off x="2148840" y="12984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OPENCV + MATPLOTLIB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0" y="1298448"/>
            <a:ext cx="3657600" cy="292608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0" y="12984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SUBMIT: CODE + 60-SEC SCREEN RECORDING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17830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Warehouse Delivery Run”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502920" y="2331720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60120" y="2286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your own warehouse as a 400×400 image with cv2.rectangle shelving blocks (Exercise 6 code from the handout). Save as my_grid.png.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02920" y="2843784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2843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60120" y="279806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it to an occupancy grid with your thresholding function, then inflate obstacles by 5 cells — your “robot” has a body.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02920" y="3355848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0" name="Text 17"/>
          <p:cNvSpPr/>
          <p:nvPr/>
        </p:nvSpPr>
        <p:spPr>
          <a:xfrm>
            <a:off x="50292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60120" y="33101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A* between 3 pickup → drop-off pairs of your choice. Plot each route over the map with start/goal markers and a legend.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02920" y="3867912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3" name="Text 20"/>
          <p:cNvSpPr/>
          <p:nvPr/>
        </p:nvSpPr>
        <p:spPr>
          <a:xfrm>
            <a:off x="502920" y="3867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60120" y="38221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Mid-mission surprise: after the first route is found, drop a new obstacle across it and re-plan live. Show old (dashed red) vs new (solid blue).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02920" y="4379976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4379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60120" y="433425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Report: total path length, nodes expanded, and planning time for each run — printed neatly to the console.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 goal: animate the robot dot moving cell-by-cell along the path with plt.pause(0.05).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836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669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Weekend Practical B — Physical Build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29844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2984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OF 3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965960" y="1298448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9" name="Text 6"/>
          <p:cNvSpPr/>
          <p:nvPr/>
        </p:nvSpPr>
        <p:spPr>
          <a:xfrm>
            <a:off x="1965960" y="12984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+ MOTOR DRIVER + ULTRASONIC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394960" y="1298448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11" name="Text 8"/>
          <p:cNvSpPr/>
          <p:nvPr/>
        </p:nvSpPr>
        <p:spPr>
          <a:xfrm>
            <a:off x="5394960" y="12984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 LAB: TAPE, CARTONS, CHASSIS KITS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17830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“Grid Runner” — drive the path your planner computed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502920" y="2331720"/>
            <a:ext cx="310896" cy="3108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60120" y="2286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Tape a 6×6 grid on the lab floor (40 cm cells). Place carton “shelves” on 6–8 cells and photograph the arena from directly above.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02920" y="2843784"/>
            <a:ext cx="310896" cy="3108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2843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60120" y="279806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your photo to an occupancy grid (threshold + resize to 6×6). Verify the matrix matches reality — fix the threshold until it does.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02920" y="3355848"/>
            <a:ext cx="310896" cy="3108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50292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60120" y="33101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A* on your 6×6 matrix, then convert the path into motion commands: F (forward one cell), L / R (turn 90°).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02920" y="3867912"/>
            <a:ext cx="310896" cy="3108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502920" y="3867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60120" y="38221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the Arduino robot to execute the command string using timed moves. Calibrate: how many milliseconds = one 40 cm cell?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02920" y="4379976"/>
            <a:ext cx="310896" cy="3108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4379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60120" y="433425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layer: if the ultrasonic sensor sees an obstacle &lt; 15 cm mid-run, STOP — someone moved a box. (Bonus: re-photograph and re-plan.)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Deliverable: 2-minute video — arena photo, planned path plot, robot completing the run. Demo day: Monday 9 AM.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70432" y="2697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Artificial Intelligence Nigeria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836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54864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156448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4"/>
          <p:cNvSpPr/>
          <p:nvPr/>
        </p:nvSpPr>
        <p:spPr>
          <a:xfrm>
            <a:off x="8284464" y="256032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0" y="256032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Shape 6"/>
          <p:cNvSpPr/>
          <p:nvPr/>
        </p:nvSpPr>
        <p:spPr>
          <a:xfrm>
            <a:off x="8156448" y="384048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sp>
        <p:nvSpPr>
          <p:cNvPr id="10" name="Shape 7"/>
          <p:cNvSpPr/>
          <p:nvPr/>
        </p:nvSpPr>
        <p:spPr>
          <a:xfrm>
            <a:off x="8284464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0" y="384048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Shape 9"/>
          <p:cNvSpPr/>
          <p:nvPr/>
        </p:nvSpPr>
        <p:spPr>
          <a:xfrm>
            <a:off x="8156448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0"/>
          <p:cNvSpPr/>
          <p:nvPr/>
        </p:nvSpPr>
        <p:spPr>
          <a:xfrm>
            <a:off x="8284464" y="512064"/>
            <a:ext cx="100584" cy="10058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0" y="512064"/>
            <a:ext cx="100584" cy="100584"/>
          </a:xfrm>
          <a:prstGeom prst="rect">
            <a:avLst/>
          </a:prstGeom>
          <a:solidFill>
            <a:srgbClr val="DDE7F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68680" y="132588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Occupancy grids turn images into binary matrices a computer can reason about: 1 = free, 0 = blocked.</a:t>
            </a:r>
            <a:endParaRPr lang="en-US" sz="11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2140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680" y="207568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Thresholding is the bridge — it decides the cutoff between free and occupied.</a:t>
            </a:r>
            <a:endParaRPr lang="en-US" sz="11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71216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68680" y="2825496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 evaluates f(n) = g(n) + h(n): known cost so far plus estimated cost remaining.</a:t>
            </a:r>
            <a:endParaRPr lang="en-US" sz="11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21024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68680" y="3575304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Manhattan distance is the right heuristic for 4-directional grids because it is admissible.</a:t>
            </a:r>
            <a:endParaRPr lang="en-US" sz="11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1371600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074920" y="132588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priority queue guarantees we always expand the most promising node next.</a:t>
            </a:r>
            <a:endParaRPr lang="en-US" sz="115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2121408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074920" y="207568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reconstruction walks the came_from chain backwards, goal to start.</a:t>
            </a:r>
            <a:endParaRPr lang="en-US" sz="11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2871216"/>
            <a:ext cx="274320" cy="27432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074920" y="2825496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conventions — (x, y) vs [row, col] — are the most common source of bugs.</a:t>
            </a:r>
            <a:endParaRPr lang="en-US" sz="1150" dirty="0"/>
          </a:p>
        </p:txBody>
      </p:sp>
      <p:sp>
        <p:nvSpPr>
          <p:cNvPr id="29" name="Shape 19"/>
          <p:cNvSpPr/>
          <p:nvPr/>
        </p:nvSpPr>
        <p:spPr>
          <a:xfrm>
            <a:off x="4663440" y="3566160"/>
            <a:ext cx="4114800" cy="1234440"/>
          </a:xfrm>
          <a:prstGeom prst="roundRect">
            <a:avLst>
              <a:gd name="adj" fmla="val 6667"/>
            </a:avLst>
          </a:prstGeom>
          <a:solidFill>
            <a:srgbClr val="10243E"/>
          </a:solidFill>
          <a:ln/>
        </p:spPr>
      </p:sp>
      <p:sp>
        <p:nvSpPr>
          <p:cNvPr id="30" name="Text 20"/>
          <p:cNvSpPr/>
          <p:nvPr/>
        </p:nvSpPr>
        <p:spPr>
          <a:xfrm>
            <a:off x="4892040" y="3675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concept chain to master:</a:t>
            </a:r>
            <a:endParaRPr lang="en-US" sz="1100" dirty="0"/>
          </a:p>
        </p:txBody>
      </p:sp>
      <p:sp>
        <p:nvSpPr>
          <p:cNvPr id="31" name="Text 21"/>
          <p:cNvSpPr/>
          <p:nvPr/>
        </p:nvSpPr>
        <p:spPr>
          <a:xfrm>
            <a:off x="4892040" y="3950208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→ Threshold → Occupancy Grid → Implicit Graph → Search (BFS → Dijkstra → A*) → Heuristics → Priority Queue → Reconstruction → Visualization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Pathfinding on Occupancy Grids</dc:title>
  <dc:subject>PptxGenJS Presentation</dc:subject>
  <dc:creator>RAIN — Robotics and Artificial Intelligence Nigeria</dc:creator>
  <cp:lastModifiedBy>RAIN — Robotics and Artificial Intelligence Nigeria</cp:lastModifiedBy>
  <cp:revision>1</cp:revision>
  <dcterms:created xsi:type="dcterms:W3CDTF">2026-07-05T17:27:46Z</dcterms:created>
  <dcterms:modified xsi:type="dcterms:W3CDTF">2026-07-05T17:27:46Z</dcterms:modified>
</cp:coreProperties>
</file>