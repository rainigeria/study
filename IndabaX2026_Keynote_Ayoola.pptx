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INDABAX NIGERIA 2026  ·  UNIVERSITY OF IBADAN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Scalable AI That Works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Research to Development in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Resource-Constrained Environments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Dr. Olusola Ayoola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Robotics and Artificial Intelligence Nigeria (RAIN)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13–14,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</a:rPr>
              <a:t>SETTING THE SCENE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631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Cast Your Mind Back to 2021–2022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631936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508760"/>
            <a:ext cx="4206240" cy="132588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0624" y="1645920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is Coming for Your Jobs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" y="1984248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conference, every headline — fear dominated the room.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0016" y="1508760"/>
            <a:ext cx="4206240" cy="132588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1645920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 We Ready for the Revolution?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984248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 democratize AI from primary school upward.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3063240"/>
            <a:ext cx="4206240" cy="132588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0624" y="3200400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Privacy Anxieties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" y="3538728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nervous. Organizations protective. No one wanted to share.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0016" y="3063240"/>
            <a:ext cx="4206240" cy="132588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64608" y="3200400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'What If' Generation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3538728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Loud, anxious, full of hypotheticals — but AI was still theoretical.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CONVERSATION IS OVER.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we resolved it 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because the thing we were afraid of already happened.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1481328" cy="146304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71800"/>
            <a:ext cx="148132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906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AI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58444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21408" y="2971800"/>
            <a:ext cx="1481328" cy="146304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1" name="Shape 9"/>
          <p:cNvSpPr/>
          <p:nvPr/>
        </p:nvSpPr>
        <p:spPr>
          <a:xfrm>
            <a:off x="2121408" y="2971800"/>
            <a:ext cx="148132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30906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AI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21408" y="358444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85616" y="2971800"/>
            <a:ext cx="1481328" cy="146304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5" name="Shape 13"/>
          <p:cNvSpPr/>
          <p:nvPr/>
        </p:nvSpPr>
        <p:spPr>
          <a:xfrm>
            <a:off x="3785616" y="2971800"/>
            <a:ext cx="148132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30906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AI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85616" y="358444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9824" y="2971800"/>
            <a:ext cx="1481328" cy="146304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49824" y="2971800"/>
            <a:ext cx="148132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30906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AI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9824" y="358444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14032" y="2971800"/>
            <a:ext cx="1481328" cy="146304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114032" y="2971800"/>
            <a:ext cx="148132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30906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AI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14032" y="358444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THE PIVOT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631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 Has Changed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631936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508760"/>
            <a:ext cx="4206240" cy="292608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6642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BEFORE (2021)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AI take my job?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" y="2971800"/>
            <a:ext cx="32004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31272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Fear. Uncertainty. Avoidance.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0016" y="1508760"/>
            <a:ext cx="4206240" cy="2926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882896" y="16642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</a:rPr>
              <a:t>NOW (2026)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82896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I hold on to my job?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82896" y="297180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31272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Mastery. Application. Advantage.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" y="4617720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conversations prepare a nation for its future.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THE NEXT FRONTIER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5 years, nobody will be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impressed by cloud AI.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will be about what devices do WITHOUT the internet.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514600"/>
            <a:ext cx="2560320" cy="224028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514600"/>
            <a:ext cx="25603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743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Fridge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food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cloud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514600"/>
            <a:ext cx="2560320" cy="224028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2514600"/>
            <a:ext cx="25603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743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🚦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Light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514600"/>
            <a:ext cx="2560320" cy="224028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2514600"/>
            <a:ext cx="25603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743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connectivity needed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</a:rPr>
              <a:t>ACT 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Diagnosis: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Research Never Becomes Reality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graveyard between the lab and the real world.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THE DIAGNOSIS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631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Reasons African AI Stalls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631936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508760"/>
            <a:ext cx="8631936" cy="9875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508760"/>
            <a:ext cx="64008" cy="9875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6479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Fuel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19842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California and Beijing data fail on Yoruba accents, cassava leaves, and Naira transactions.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032" y="2624328"/>
            <a:ext cx="8631936" cy="9875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2" name="Shape 9"/>
          <p:cNvSpPr/>
          <p:nvPr/>
        </p:nvSpPr>
        <p:spPr>
          <a:xfrm>
            <a:off x="256032" y="2624328"/>
            <a:ext cx="64008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803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715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Pipeline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05840" y="309981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result is not a product. The journey from model to deployment is where ideas die.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56032" y="3739896"/>
            <a:ext cx="8631936" cy="9875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7" name="Shape 13"/>
          <p:cNvSpPr/>
          <p:nvPr/>
        </p:nvSpPr>
        <p:spPr>
          <a:xfrm>
            <a:off x="256032" y="3739896"/>
            <a:ext cx="64008" cy="9875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9592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831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Market Signal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005840" y="421538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hires outside consultants. Our best minds solve the wrong problems for the wrong people.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REDEFINING SUCCESS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631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Optimise for the Wrong Metric, You Build the Wrong Thing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631936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63040"/>
            <a:ext cx="2240280" cy="41148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463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1463040"/>
            <a:ext cx="28803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633472" y="14630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Lab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68112" y="1463040"/>
            <a:ext cx="3191256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559552" y="146304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Reality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920240"/>
            <a:ext cx="224028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9659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42032" y="1920240"/>
            <a:ext cx="288036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2633472" y="19659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on benchmark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68112" y="1920240"/>
            <a:ext cx="3191256" cy="512064"/>
          </a:xfrm>
          <a:prstGeom prst="rect">
            <a:avLst/>
          </a:prstGeom>
          <a:solidFill>
            <a:srgbClr val="D0EEF8"/>
          </a:solidFill>
          <a:ln/>
        </p:spPr>
      </p:sp>
      <p:sp>
        <p:nvSpPr>
          <p:cNvPr id="17" name="Text 15"/>
          <p:cNvSpPr/>
          <p:nvPr/>
        </p:nvSpPr>
        <p:spPr>
          <a:xfrm>
            <a:off x="5559552" y="196596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on real questions + 100% uptime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468880"/>
            <a:ext cx="2240280" cy="51206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25146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42032" y="2468880"/>
            <a:ext cx="2880360" cy="51206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1" name="Text 19"/>
          <p:cNvSpPr/>
          <p:nvPr/>
        </p:nvSpPr>
        <p:spPr>
          <a:xfrm>
            <a:off x="2633472" y="25146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 on A100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68112" y="2468880"/>
            <a:ext cx="3191256" cy="512064"/>
          </a:xfrm>
          <a:prstGeom prst="rect">
            <a:avLst/>
          </a:prstGeom>
          <a:solidFill>
            <a:srgbClr val="E0F4FC"/>
          </a:solidFill>
          <a:ln/>
        </p:spPr>
      </p:sp>
      <p:sp>
        <p:nvSpPr>
          <p:cNvPr id="23" name="Text 21"/>
          <p:cNvSpPr/>
          <p:nvPr/>
        </p:nvSpPr>
        <p:spPr>
          <a:xfrm>
            <a:off x="5559552" y="251460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5s on 3G network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017520"/>
            <a:ext cx="224028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30632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42032" y="3017520"/>
            <a:ext cx="288036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2633472" y="3063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$0.20 / query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68112" y="3017520"/>
            <a:ext cx="3191256" cy="512064"/>
          </a:xfrm>
          <a:prstGeom prst="rect">
            <a:avLst/>
          </a:prstGeom>
          <a:solidFill>
            <a:srgbClr val="D0EEF8"/>
          </a:solidFill>
          <a:ln/>
        </p:spPr>
      </p:sp>
      <p:sp>
        <p:nvSpPr>
          <p:cNvPr id="29" name="Text 27"/>
          <p:cNvSpPr/>
          <p:nvPr/>
        </p:nvSpPr>
        <p:spPr>
          <a:xfrm>
            <a:off x="5559552" y="306324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$0.01 / query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566160"/>
            <a:ext cx="2240280" cy="51206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36118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42032" y="3566160"/>
            <a:ext cx="2880360" cy="51206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3" name="Text 31"/>
          <p:cNvSpPr/>
          <p:nvPr/>
        </p:nvSpPr>
        <p:spPr>
          <a:xfrm>
            <a:off x="2633472" y="36118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ML PhDs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68112" y="3566160"/>
            <a:ext cx="3191256" cy="512064"/>
          </a:xfrm>
          <a:prstGeom prst="rect">
            <a:avLst/>
          </a:prstGeom>
          <a:solidFill>
            <a:srgbClr val="E0F4FC"/>
          </a:solidFill>
          <a:ln/>
        </p:spPr>
      </p:sp>
      <p:sp>
        <p:nvSpPr>
          <p:cNvPr id="35" name="Text 33"/>
          <p:cNvSpPr/>
          <p:nvPr/>
        </p:nvSpPr>
        <p:spPr>
          <a:xfrm>
            <a:off x="5559552" y="361188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engineers + 1 ops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6032" y="4251960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it cannot survive this table, it cannot survive Nigeria.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PILLAR 1 ·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631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an Army of Data Collectors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631936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417320"/>
            <a:ext cx="8631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on data. We need local, contextual data — from our schools, clinics, and markets.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2011680"/>
            <a:ext cx="2743200" cy="256032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201168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176272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3192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3192" y="3154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patterns, learning trajectories, assessment data. Instrument classrooms with lightweight apps.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82112" y="2011680"/>
            <a:ext cx="2743200" cy="256032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20116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17627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9272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319272" y="3154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logs, drug interaction data for African genetics, maternal health trajectories. Digitize nurses' notebooks.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08192" y="2011680"/>
            <a:ext cx="2743200" cy="256032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08192" y="201168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176272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45352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45352" y="3154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Logistics, agro-processing, informal finance. Economic intelligence no Western dataset can replicate.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PILLAR 2 · DATA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9436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 Without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Protection is Exploitation.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92024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134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221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Encrypted Gateways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5877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access controls — no one touches data without a logged reason.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278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136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3502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vault: who accessed it, when, and why.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4223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4050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Sharing Agreements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22960" y="44165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NDAs with teeth. Local IP protection. African data for African development.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56032" y="473659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patronage of locally built data infrastructure is not nationalism. It is economic self-preservation.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PILLAR 3 · EDGE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631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Constraints Are a Design Brief, Not a Disability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631936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417320"/>
            <a:ext cx="8631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you cannot rely on the cloud, you push intelligence to the edge."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965960"/>
            <a:ext cx="2743200" cy="260604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96596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1031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3192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TinyML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3192" y="312724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on microcontrollers with as little as 256KB of RAM. AI that runs on a solar cell.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82112" y="1965960"/>
            <a:ext cx="2743200" cy="260604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196596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1031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9272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Embedded AI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319272" y="312724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baked into hardware. Sensors that decide locally — no server in London needed.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08192" y="1965960"/>
            <a:ext cx="2743200" cy="260604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08192" y="196596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1031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45352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45352" y="312724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networks of devices aggregating and acting on local data — a nervous system for our cities.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PILLAR 4 · FEDERATED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Collaborate Without Surrendering Your Data.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103120" cy="118872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64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Hospital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patient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leaves)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25880" y="2834640"/>
            <a:ext cx="1828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600200"/>
            <a:ext cx="2103120" cy="118872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64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Hospital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9933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patient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leaves)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2834640"/>
            <a:ext cx="1828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600200"/>
            <a:ext cx="2103120" cy="118872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664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Hospital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19933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patient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leaves)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43800" y="2834640"/>
            <a:ext cx="1828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3337560"/>
            <a:ext cx="4572000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Model Updates Only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37673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data centralised · Privacy preserved · Model improves for all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" y="4553712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hospitals. Zero data shared. One better diagnostic model.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PILLAR 5 · DIGITAL TWINS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631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Things Cheaply in Software Before They Break in the Real World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631936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508760"/>
            <a:ext cx="4206240" cy="1353312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508760"/>
            <a:ext cx="64008" cy="1353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45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Factory Robot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20208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deployment before a single bolt is tightened.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0016" y="1508760"/>
            <a:ext cx="4206240" cy="1353312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1508760"/>
            <a:ext cx="64008" cy="1353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645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 Drone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82896" y="20208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flight paths, sensor fusion, fail-safes in virtual terrain.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3063240"/>
            <a:ext cx="4206240" cy="1353312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3063240"/>
            <a:ext cx="64008" cy="1353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Hospital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" y="35753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diagnostic models on synthetic patient data first.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0016" y="3063240"/>
            <a:ext cx="4206240" cy="1353312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3063240"/>
            <a:ext cx="64008" cy="1353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82896" y="35753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traffic systems before they go live on real roads.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PILLAR 6 · FRUGAL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943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Use a Sledgehammer for a Nail.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8631936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508760"/>
            <a:ext cx="2560320" cy="91440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Query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280160"/>
            <a:ext cx="73152" cy="27432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508760"/>
            <a:ext cx="256032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572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 · Small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FAQs, routine queries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from cache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606040"/>
            <a:ext cx="256032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670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 · Frontier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contextual,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reasoning-heavy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834640" cy="292608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37160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481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RAIN in Production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9202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8076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0" y="19202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$380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0664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28803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₦420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80760" y="3355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Student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28803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06640" y="3355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" y="466344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 cost us $47 in 2 hours. Always build circuit breakers.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ACT IV · THE CHINA LESSON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9436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Constraints, Handled by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Brilliant Engineers,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 Genius.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2606040"/>
            <a:ext cx="2743200" cy="224028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2606040"/>
            <a:ext cx="27432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2743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Assumption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31546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A100/H100 access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Chinese AI stalls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2606040"/>
            <a:ext cx="2743200" cy="224028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0" name="Shape 8"/>
          <p:cNvSpPr/>
          <p:nvPr/>
        </p:nvSpPr>
        <p:spPr>
          <a:xfrm>
            <a:off x="3182112" y="260604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2743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31546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optimisation,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quantisation, hardware-aware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→ matched results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fraction of the cost.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08192" y="2606040"/>
            <a:ext cx="2743200" cy="224028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4" name="Shape 12"/>
          <p:cNvSpPr/>
          <p:nvPr/>
        </p:nvSpPr>
        <p:spPr>
          <a:xfrm>
            <a:off x="6108192" y="26060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2743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Advantage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5352" y="31546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lack compute.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 have radical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knowledge.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languages. Our diseases.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markets.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PILLAR 7 · TALENT DEVELOPMENT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631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Cannot Learn to Swim by Reading About Water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631936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417320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 more from their mistakes than from our lectures.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920240"/>
            <a:ext cx="8631936" cy="62179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" y="1920240"/>
            <a:ext cx="6400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 real platform and watch it fail — noisy data, server crash, unexpected users.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2651760"/>
            <a:ext cx="8631936" cy="62179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2651760"/>
            <a:ext cx="6400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reality is the curriculum that no exam can test and no lecture can teach.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" y="3383280"/>
            <a:ext cx="8631936" cy="62179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" y="3383280"/>
            <a:ext cx="6400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474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testing communities — informed users who know they are part of the development cycle.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6032" y="4114800"/>
            <a:ext cx="8631936" cy="62179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56032" y="4114800"/>
            <a:ext cx="6400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makerspaces, and tech communities as living laboratories.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FROM NOTEBOOK TO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66928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Pipeline Every Student Must Walk Before They Graduate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8631936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508760"/>
            <a:ext cx="1325880" cy="31546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508760"/>
            <a:ext cx="13258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6276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1752" y="208483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7889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in a controlled environment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00784" y="1508760"/>
            <a:ext cx="1325880" cy="31546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12" name="Shape 10"/>
          <p:cNvSpPr/>
          <p:nvPr/>
        </p:nvSpPr>
        <p:spPr>
          <a:xfrm>
            <a:off x="1700784" y="1508760"/>
            <a:ext cx="13258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46504" y="16276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46504" y="208483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46504" y="27889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real, local questions — not a benchmark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45536" y="1508760"/>
            <a:ext cx="1325880" cy="315468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7" name="Shape 15"/>
          <p:cNvSpPr/>
          <p:nvPr/>
        </p:nvSpPr>
        <p:spPr>
          <a:xfrm>
            <a:off x="3145536" y="1508760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1256" y="16276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191256" y="208483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91256" y="27889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generates; humans review before sending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90288" y="1508760"/>
            <a:ext cx="1325880" cy="3154680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90288" y="1508760"/>
            <a:ext cx="1325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16276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36008" y="208483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36008" y="27889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real users, full monitoring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508760"/>
            <a:ext cx="1325880" cy="31546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27" name="Shape 25"/>
          <p:cNvSpPr/>
          <p:nvPr/>
        </p:nvSpPr>
        <p:spPr>
          <a:xfrm>
            <a:off x="6035040" y="1508760"/>
            <a:ext cx="13258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16276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080760" y="208483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Rollout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27889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gradually, watch every metric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79792" y="1508760"/>
            <a:ext cx="1325880" cy="31546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32" name="Shape 30"/>
          <p:cNvSpPr/>
          <p:nvPr/>
        </p:nvSpPr>
        <p:spPr>
          <a:xfrm>
            <a:off x="7479792" y="1508760"/>
            <a:ext cx="13258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25512" y="16276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525512" y="208483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25512" y="27889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improves the model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6032" y="473659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skip steps 2–4. That is how you lose trust — permanently.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ACT VI · OUR COMMUNITY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631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Not Starting From Zero — We Are Standing on Shoulders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631936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508760"/>
            <a:ext cx="4206240" cy="146304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508760"/>
            <a:ext cx="914400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9659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 Nigeria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203911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grassroots data science community on the continent. Thousands trained. Pathways created.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0016" y="1508760"/>
            <a:ext cx="4206240" cy="146304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0016" y="1508760"/>
            <a:ext cx="914400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0016" y="19659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NCAIR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05856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Nat'l Centre for AI &amp; Robotics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05856" y="203911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national AI capacity with institutional weight and government mandate.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3154680"/>
            <a:ext cx="4206240" cy="146304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154680"/>
            <a:ext cx="914400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36118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NINJA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61872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Nigeria Innovation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Startup Accelerator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61872" y="368503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ideas to investment and infrastructure across Nigeria.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0016" y="3154680"/>
            <a:ext cx="4206240" cy="146304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0016" y="3154680"/>
            <a:ext cx="914400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700016" y="36118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Indaba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05856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Indaba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05856" y="368503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African AI identity and intellectual pride. When Africans see African names on papers, something shifts.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ACT VII · THE INDUSTRY CALL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94360"/>
            <a:ext cx="8631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Ready. Bring Us the Problem.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444752"/>
            <a:ext cx="8631936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627632"/>
            <a:ext cx="8631936" cy="896112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627632"/>
            <a:ext cx="64008" cy="8961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84708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700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 Your Challenges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20665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ones. The one keeping your CTO awake. Not a sanitized hackathon problem.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032" y="2651760"/>
            <a:ext cx="8631936" cy="896112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2" name="Shape 9"/>
          <p:cNvSpPr/>
          <p:nvPr/>
        </p:nvSpPr>
        <p:spPr>
          <a:xfrm>
            <a:off x="256032" y="2651760"/>
            <a:ext cx="64008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87121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7249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 Your Data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60120" y="3090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real, messy, contextual operational data. We will govern it. Sign NDAs. Build the frameworks.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56032" y="3675888"/>
            <a:ext cx="8631936" cy="896112"/>
          </a:xfrm>
          <a:prstGeom prst="rect">
            <a:avLst/>
          </a:prstGeom>
          <a:solidFill>
            <a:srgbClr val="0D2340"/>
          </a:solidFill>
          <a:ln/>
        </p:spPr>
      </p:sp>
      <p:sp>
        <p:nvSpPr>
          <p:cNvPr id="17" name="Shape 13"/>
          <p:cNvSpPr/>
          <p:nvPr/>
        </p:nvSpPr>
        <p:spPr>
          <a:xfrm>
            <a:off x="256032" y="3675888"/>
            <a:ext cx="64008" cy="8961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89534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749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 Your Domain Experts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60120" y="4114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who know the machines. Clinicians who know the patients. AI without domain knowledge is just pattern matching.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56032" y="473659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money is where the problems are. Let us meet you there.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THE ARCHITECTURE OF POSSIBILITY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57200"/>
            <a:ext cx="8631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Seven Pillars of Scalable African AI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8631936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61872"/>
            <a:ext cx="4206240" cy="74980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261872"/>
            <a:ext cx="54864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307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Army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16550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in schools, clinics &amp; markets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148840"/>
            <a:ext cx="4206240" cy="74980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2148840"/>
            <a:ext cx="54864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" y="2194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Sovereignty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832" y="2542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gateways &amp; governance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035808"/>
            <a:ext cx="4206240" cy="74980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7" name="Shape 15"/>
          <p:cNvSpPr/>
          <p:nvPr/>
        </p:nvSpPr>
        <p:spPr>
          <a:xfrm>
            <a:off x="256032" y="3035808"/>
            <a:ext cx="54864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" y="3081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" y="3429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+ IoT — offline-capable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922776"/>
            <a:ext cx="4206240" cy="74980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56032" y="3922776"/>
            <a:ext cx="54864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" y="39684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Federated 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" y="43159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without sharing 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0016" y="1261872"/>
            <a:ext cx="4206240" cy="100584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0016" y="1261872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13533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85816" y="1307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Twins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85816" y="16550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before real-world deployment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0016" y="2432304"/>
            <a:ext cx="4206240" cy="10058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700016" y="2432304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7176" y="25237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85816" y="2478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Frugal Architecture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85816" y="28254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pattern · ₦420/student/month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0016" y="3602736"/>
            <a:ext cx="4206240" cy="100584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7" name="Shape 35"/>
          <p:cNvSpPr/>
          <p:nvPr/>
        </p:nvSpPr>
        <p:spPr>
          <a:xfrm>
            <a:off x="4700016" y="3602736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369417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816" y="3648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Partnership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85816" y="39959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+ real data = real solutions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need AI that is 99% accurate in a lab.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need AI that is 85% accurate,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99.9% available, and costs less than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sachet of water per student.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803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is the AI that changes lives.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4564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AE6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that transforms Africa will be built by Africans.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9502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Here. Now. Us.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4846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Olusola Ayoola  ·  RAIN  ·  rainigeria.com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Scalable AI That Works</dc:title>
  <dc:subject>PptxGenJS Presentation</dc:subject>
  <dc:creator>Dr. Olusola Ayoola</dc:creator>
  <cp:lastModifiedBy>Dr. Olusola Ayoola</cp:lastModifiedBy>
  <cp:revision>1</cp:revision>
  <dcterms:created xsi:type="dcterms:W3CDTF">2026-05-13T23:20:54Z</dcterms:created>
  <dcterms:modified xsi:type="dcterms:W3CDTF">2026-05-13T23:20:54Z</dcterms:modified>
</cp:coreProperties>
</file>